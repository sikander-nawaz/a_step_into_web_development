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141B2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41B2D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914400"/>
            <a:ext cx="868680" cy="868680"/>
          </a:xfrm>
          <a:prstGeom prst="ellipse">
            <a:avLst/>
          </a:prstGeom>
          <a:solidFill>
            <a:srgbClr val="141B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7" y="1140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FRONTEND DEEP DIVE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State &amp; Events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85800" y="36118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know: useState, re-renders, immutability,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SyntheticEvent, handlers, controlled forms, and best practices.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5074920"/>
            <a:ext cx="996696" cy="384048"/>
          </a:xfrm>
          <a:prstGeom prst="roundRect">
            <a:avLst>
              <a:gd name="adj" fmla="val 50000"/>
            </a:avLst>
          </a:prstGeom>
          <a:solidFill>
            <a:srgbClr val="141B2D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074920"/>
            <a:ext cx="996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865376" y="5074920"/>
            <a:ext cx="804672" cy="384048"/>
          </a:xfrm>
          <a:prstGeom prst="roundRect">
            <a:avLst>
              <a:gd name="adj" fmla="val 50000"/>
            </a:avLst>
          </a:prstGeom>
          <a:solidFill>
            <a:srgbClr val="141B2D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65376" y="5074920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852928" y="5074920"/>
            <a:ext cx="1764792" cy="384048"/>
          </a:xfrm>
          <a:prstGeom prst="roundRect">
            <a:avLst>
              <a:gd name="adj" fmla="val 50000"/>
            </a:avLst>
          </a:prstGeom>
          <a:solidFill>
            <a:srgbClr val="141B2D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52928" y="5074920"/>
            <a:ext cx="1764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Forms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800600" y="5074920"/>
            <a:ext cx="1380744" cy="384048"/>
          </a:xfrm>
          <a:prstGeom prst="roundRect">
            <a:avLst>
              <a:gd name="adj" fmla="val 50000"/>
            </a:avLst>
          </a:prstGeom>
          <a:solidFill>
            <a:srgbClr val="141B2D"/>
          </a:solidFill>
          <a:ln w="12700">
            <a:solidFill>
              <a:srgbClr val="2B3A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5074920"/>
            <a:ext cx="1380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3FAFD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61DA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Fundamentals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useState, re-renders, and how React tracks change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303520" y="1673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160020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3FAFD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rgbClr val="61DA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197144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7830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State Correctly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315200" y="216712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Immutability, functional updates, batching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1018520" y="1673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15468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3FAFD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3383280"/>
            <a:ext cx="548640" cy="548640"/>
          </a:xfrm>
          <a:prstGeom prst="ellipse">
            <a:avLst/>
          </a:prstGeom>
          <a:solidFill>
            <a:srgbClr val="61DAF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352592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337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State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600200" y="372160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Objects, arrays, multiple state variables, lifting state up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303520" y="3227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55080" y="315468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3FAFD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0" y="3383280"/>
            <a:ext cx="548640" cy="548640"/>
          </a:xfrm>
          <a:prstGeom prst="ellipse">
            <a:avLst/>
          </a:prstGeom>
          <a:solidFill>
            <a:srgbClr val="61DAF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352592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0" y="33375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in React</a:t>
            </a:r>
            <a:endParaRPr lang="en-US" sz="1650" dirty="0"/>
          </a:p>
        </p:txBody>
      </p:sp>
      <p:sp>
        <p:nvSpPr>
          <p:cNvPr id="26" name="Text 20"/>
          <p:cNvSpPr/>
          <p:nvPr/>
        </p:nvSpPr>
        <p:spPr>
          <a:xfrm>
            <a:off x="7315200" y="372160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SyntheticEvent, handler wiring, common event types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1018520" y="32278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0080" y="470916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3FAFD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68680" y="4937760"/>
            <a:ext cx="548640" cy="548640"/>
          </a:xfrm>
          <a:prstGeom prst="ellipse">
            <a:avLst/>
          </a:prstGeom>
          <a:solidFill>
            <a:srgbClr val="61DAF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" y="5080406"/>
            <a:ext cx="263347" cy="26334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00200" y="48920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&amp; Controlled Inputs</a:t>
            </a:r>
            <a:endParaRPr lang="en-US" sz="1650" dirty="0"/>
          </a:p>
        </p:txBody>
      </p:sp>
      <p:sp>
        <p:nvSpPr>
          <p:cNvPr id="32" name="Text 25"/>
          <p:cNvSpPr/>
          <p:nvPr/>
        </p:nvSpPr>
        <p:spPr>
          <a:xfrm>
            <a:off x="1600200" y="527608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onChange, onSubmit, two-way binding patterns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5303520" y="47823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355080" y="470916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3FAFD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583680" y="4937760"/>
            <a:ext cx="548640" cy="548640"/>
          </a:xfrm>
          <a:prstGeom prst="ellipse">
            <a:avLst/>
          </a:prstGeom>
          <a:solidFill>
            <a:srgbClr val="61DAFB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326" y="5080406"/>
            <a:ext cx="263347" cy="26334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315200" y="48920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1650" dirty="0"/>
          </a:p>
        </p:txBody>
      </p:sp>
      <p:sp>
        <p:nvSpPr>
          <p:cNvPr id="38" name="Text 30"/>
          <p:cNvSpPr/>
          <p:nvPr/>
        </p:nvSpPr>
        <p:spPr>
          <a:xfrm>
            <a:off x="7315200" y="527608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Pitfalls, performance tips, a full worked example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11018520" y="47823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FUNDAMENTALS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"state"?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760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data that a component owns and that can change over time.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state changes, React re-renders the component to reflect the new data on screen.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local and private to the component that declares it, unless explicitly passed down.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props: props are passed in from a parent and are read-only from the child's perspective; state is managed inside the component itself.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examples: a counter value, form input text, a toggle (open/closed), a list fetched from an API, the currently selected tab.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49440" y="1600200"/>
            <a:ext cx="4572000" cy="4480560"/>
          </a:xfrm>
          <a:prstGeom prst="roundRect">
            <a:avLst>
              <a:gd name="adj" fmla="val 2449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269480" y="1810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-&gt; UI LOOP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69480" y="2286000"/>
            <a:ext cx="402336" cy="402336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8" name="Text 6"/>
          <p:cNvSpPr/>
          <p:nvPr/>
        </p:nvSpPr>
        <p:spPr>
          <a:xfrm>
            <a:off x="7269480" y="2286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18120" y="2258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 set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818120" y="25054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count = 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70648" y="2688336"/>
            <a:ext cx="0" cy="329184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269480" y="3017520"/>
            <a:ext cx="402336" cy="402336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3017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18120" y="29900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818120" y="32369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type, submit...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70648" y="3419856"/>
            <a:ext cx="0" cy="329184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269480" y="3749040"/>
            <a:ext cx="402336" cy="402336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37490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18120" y="37216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setState() called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818120" y="39684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an update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70648" y="4151376"/>
            <a:ext cx="0" cy="329184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269480" y="4480560"/>
            <a:ext cx="402336" cy="402336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4480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18120" y="44531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re-renders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818120" y="47000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new state value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70648" y="4882896"/>
            <a:ext cx="0" cy="329184"/>
          </a:xfrm>
          <a:prstGeom prst="line">
            <a:avLst/>
          </a:prstGeom>
          <a:noFill/>
          <a:ln w="19050">
            <a:solidFill>
              <a:srgbClr val="334155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269480" y="5212080"/>
            <a:ext cx="402336" cy="402336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28" name="Text 26"/>
          <p:cNvSpPr/>
          <p:nvPr/>
        </p:nvSpPr>
        <p:spPr>
          <a:xfrm>
            <a:off x="7269480" y="5212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18120" y="51846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reflects new state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818120" y="54315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updates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FUNDAMENTALS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useState Hook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61DA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6733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536192"/>
            <a:ext cx="4773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5394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useState(initialValue) returns a pair: [currentValue, setterFunction].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destructuring lets you name both however you like.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value is only used on the very first render.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setter tells React to schedule a re-render with the new value.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to useState creates an independent, isolated piece of state.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19672" y="1737360"/>
            <a:ext cx="4745736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7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Counter()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useState(0);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onClick={() =&gt; setCount(count + 1)}&gt;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Clicked {count} times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STATE CORRECTLY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updating state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AFD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56232"/>
            <a:ext cx="457200" cy="457200"/>
          </a:xfrm>
          <a:prstGeom prst="ellipse">
            <a:avLst/>
          </a:prstGeom>
          <a:solidFill>
            <a:srgbClr val="61DA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7510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837944"/>
            <a:ext cx="4178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mutate state directly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push/splice/assign into existing arrays or objects. Always create a new copy.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9224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AFD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66560" y="1856232"/>
            <a:ext cx="457200" cy="457200"/>
          </a:xfrm>
          <a:prstGeom prst="ellipse">
            <a:avLst/>
          </a:prstGeom>
          <a:solidFill>
            <a:srgbClr val="61DA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32" y="197510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88352" y="1837944"/>
            <a:ext cx="4178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Updates may be asynchronous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766560" y="24688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can batch multiple setState calls into a single re-render for performance.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AFD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187952"/>
            <a:ext cx="457200" cy="457200"/>
          </a:xfrm>
          <a:prstGeom prst="ellipse">
            <a:avLst/>
          </a:prstGeom>
          <a:solidFill>
            <a:srgbClr val="61DA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3068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169664"/>
            <a:ext cx="4178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updates don't happen immediately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480060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state variable right after calling the setter still shows the old value in that render.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92240" y="39319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AFD"/>
          </a:solidFill>
          <a:ln/>
          <a:effectLst>
            <a:outerShdw sx="100000" sy="100000" kx="0" ky="0" algn="bl" rotWithShape="0" blurRad="889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66560" y="4187952"/>
            <a:ext cx="457200" cy="457200"/>
          </a:xfrm>
          <a:prstGeom prst="ellipse">
            <a:avLst/>
          </a:prstGeom>
          <a:solidFill>
            <a:srgbClr val="61DA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430682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88352" y="4169664"/>
            <a:ext cx="4178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functional updates when new state depends on old state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766560" y="480060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setCount(prev =&gt; prev + 1) is safer than setCount(count + 1) inside batched or async code.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STATE CORRECTLY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updates in practice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— relies on stale closure value of count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103120"/>
            <a:ext cx="488289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handleTripleClick()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setCount(count + 1);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setCount(count + 1);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setCount(count + 1);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7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Result: count only increases by 1!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15544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— functional form always sees latest value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2103120"/>
            <a:ext cx="47457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handleTripleClick()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setCount(prev =&gt; prev + 1);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setCount(prev =&gt; prev + 1);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setCount(prev =&gt; prev + 1);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7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Result: count increases by 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41B2D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800600"/>
            <a:ext cx="548640" cy="54864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4943246"/>
            <a:ext cx="263347" cy="26334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00200" y="4709160"/>
            <a:ext cx="9692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new state depends on the previous state, pass a function to the setter instead of a value. This guarantees correctness even when updates are batched.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STATE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with objects and arrays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— spread to copy, then override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057400"/>
            <a:ext cx="488289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[user, setUser] = useState({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'Ada', age: 28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setUser(prev =&gt; ({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...prev,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prev.age + 1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15087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— spread, map, or filter to a new array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2057400"/>
            <a:ext cx="474573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[todos, setTodos] = useState([]);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7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setTodos(prev =&gt; [...prev, newTodo]);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7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setTodos(prev =&gt;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prev.filter(t =&gt; t.id !== id));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1088136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0292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copy instead of mutate?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compares references to decide whether to re-render. Mutating the same object/array keeps the same reference, so React may not detect the change at all.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STATE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state variables &amp; lifting state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61DA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190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581912"/>
            <a:ext cx="4773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useState calls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fine — and idiomatic — to call useState multiple times in one component.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related values together in one object only if they always change together.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separate state variables when values update independently (e.g. name vs. isSubmitting).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61DA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5537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4416552"/>
            <a:ext cx="4773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Lifting state up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40080" y="50292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components need to share state, move it to their closest common parent.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passes the value down as a prop and a callback to update it.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92240" y="160020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0B1220"/>
          </a:solidFill>
          <a:ln/>
        </p:spPr>
      </p:sp>
      <p:sp>
        <p:nvSpPr>
          <p:cNvPr id="13" name="Text 9"/>
          <p:cNvSpPr/>
          <p:nvPr/>
        </p:nvSpPr>
        <p:spPr>
          <a:xfrm>
            <a:off x="6492240" y="16002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(owns state)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900416" y="2606040"/>
            <a:ext cx="0" cy="502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113264" y="2606040"/>
            <a:ext cx="0" cy="502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92240" y="2651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down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9509760" y="2651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up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492240" y="3108960"/>
            <a:ext cx="2212848" cy="868680"/>
          </a:xfrm>
          <a:prstGeom prst="roundRect">
            <a:avLst>
              <a:gd name="adj" fmla="val 10526"/>
            </a:avLst>
          </a:prstGeom>
          <a:solidFill>
            <a:srgbClr val="F3FAFD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92240" y="31089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(display)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9308592" y="3108960"/>
            <a:ext cx="2212848" cy="868680"/>
          </a:xfrm>
          <a:prstGeom prst="roundRect">
            <a:avLst>
              <a:gd name="adj" fmla="val 10526"/>
            </a:avLst>
          </a:prstGeom>
          <a:solidFill>
            <a:srgbClr val="F3FAFD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308592" y="3108960"/>
            <a:ext cx="22128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(controls)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492240" y="4206240"/>
            <a:ext cx="5029200" cy="2423160"/>
          </a:xfrm>
          <a:prstGeom prst="roundRect">
            <a:avLst>
              <a:gd name="adj" fmla="val 3019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748272" y="4389120"/>
            <a:ext cx="4517136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Parent()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[value, setValue] = useState('');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&lt;Display value={value} /&gt;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&lt;Controls onChange={setValue} /&gt;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IN REACT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events in React?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represent something that happened in the browser: a click, a keystroke, a form submission, a mouse move, and so on.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wraps native browser events in a SyntheticEvent — a cross-browser wrapper with a consistent API.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SyntheticEvents work identically across browsers, so you don't need to worry about vendor differences.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attach handlers directly in JSX using camelCase props like onClick, onChange, onSubmit — not addEventListener.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attaches one listener at the root and uses event delegation internally for performance; you don't need to manage this yourself.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20840" y="1600200"/>
            <a:ext cx="4800600" cy="4480560"/>
          </a:xfrm>
          <a:prstGeom prst="roundRect">
            <a:avLst>
              <a:gd name="adj" fmla="val 2449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81051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vs REACT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95160" y="2240280"/>
            <a:ext cx="4251960" cy="1371600"/>
          </a:xfrm>
          <a:prstGeom prst="roundRect">
            <a:avLst>
              <a:gd name="adj" fmla="val 5333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51192" y="2423160"/>
            <a:ext cx="37398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7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Plain HTML --&gt;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onclick="handleClick()"&gt;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95160" y="3749040"/>
            <a:ext cx="4251960" cy="1371600"/>
          </a:xfrm>
          <a:prstGeom prst="roundRect">
            <a:avLst>
              <a:gd name="adj" fmla="val 5333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51192" y="3931920"/>
            <a:ext cx="37398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7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React JSX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onClick={handleClick}&gt;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IN REACT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event handler props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572000"/>
        </p:xfrm>
        <a:graphic>
          <a:graphicData uri="http://schemas.openxmlformats.org/drawingml/2006/table">
            <a:tbl>
              <a:tblPr/>
              <a:tblGrid>
                <a:gridCol w="3017520"/>
                <a:gridCol w="4206240"/>
                <a:gridCol w="3657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Prop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 when...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onClick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element is clicked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Buttons, links, toggles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input's value changes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fields, checkboxes, selects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onSubmit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form is submitted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Validating &amp; sending form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onKeyDown / onKeyUp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key is pressed / released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 shortcuts, Enter-to-submit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onMouseEnter / onMouseLeave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 enters / leaves an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Hover effects, tooltips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onFocus / onBlur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gains / loses focus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validation, showing hints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onScroll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element is scrolled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Infinite scroll, sticky headers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IN REACT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 handlers &amp; passing arguments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function reference — don't call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103120"/>
            <a:ext cx="488289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7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Correct: passes a reference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onClick={handleClick}&gt;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Wrong: calls it during render!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onClick={handleClick()}&gt;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155448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arguments with an arrow function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19672" y="2103120"/>
            <a:ext cx="474573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handleDelete(id)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setTodos(t =&gt; t.filter(x =&gt; x.id !== id));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onClick={() =&gt; handleDelete(todo.id)}&gt;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34340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141B2D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617720"/>
            <a:ext cx="548640" cy="54864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4760366"/>
            <a:ext cx="263347" cy="26334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00200" y="4572000"/>
            <a:ext cx="9692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 expects a function, not the result of calling one. Writing onClick={handleClick()} invokes handleClick immediately during render — an inline arrow function like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=&gt; handleClick(arg)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defers the call until the event actually fires.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IN REACT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event object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61DA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190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581912"/>
            <a:ext cx="4864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Handlers receive an event object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2240280"/>
            <a:ext cx="5486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automatically passes a SyntheticEvent as the first argument to your handler.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e.target refers to the DOM element the event occurred on (e.g. the input being typed into).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e.preventDefault() stops the browser's default behavior — essential for form submissions.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e.stopPropagation() stops the event from bubbling up to parent handlers.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properties: e.target.value, e.target.checked, e.key, e.type.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56832" y="1783080"/>
            <a:ext cx="4608576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handleSubmit(e)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console.log('Submitting:', formData);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handleChange(e)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setValue(e.target.value);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handleKeyDown(e)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(e.key === 'Enter') submitForm();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CONTROLLED INPUTS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components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394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component's value is driven entirely by React state, not the DOM.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input's value comes from state; onChange updates that state on every keystroke.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you a single source of truth, making validation, formatting, and conditional logic easy.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components (using refs) exist too, but controlled is the recommended default for most forms.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63640" y="16002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19672" y="1783080"/>
            <a:ext cx="474573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NameForm()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[name, setName] = useState('');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handleSubmit(e)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e.preventDefault();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alert(`Submitted: ${name}`);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&lt;form onSubmit={handleSubmit}&gt;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value={name}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onChange={e =&gt; setName(e.target.value)}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type="submit"&gt;Send&lt;/button&gt;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&lt;/form&gt;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a simple todo list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943600" cy="4572000"/>
          </a:xfrm>
          <a:prstGeom prst="roundRect">
            <a:avLst>
              <a:gd name="adj" fmla="val 1600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737360"/>
            <a:ext cx="543153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TodoApp()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[todos, setTodos] = useState([]);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[text, setText] = useState('');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addTodo(e)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e.preventDefault();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(!text.trim()) return;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setTodos(prev =&gt; [...prev, { id: Date.now(), text }]);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setText('');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removeTodo(id)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setTodos(prev =&gt; prev.filter(t =&gt; t.id !== id));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720840" y="1554480"/>
            <a:ext cx="4800600" cy="4572000"/>
          </a:xfrm>
          <a:prstGeom prst="roundRect">
            <a:avLst>
              <a:gd name="adj" fmla="val 1600"/>
            </a:avLst>
          </a:prstGeom>
          <a:solidFill>
            <a:srgbClr val="141B2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76872" y="1737360"/>
            <a:ext cx="428853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&lt;form onSubmit={addTodo}&gt;</a:t>
            </a:r>
            <a:endParaRPr lang="en-US" sz="11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</a:t>
            </a:r>
            <a:endParaRPr lang="en-US" sz="11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value={text}</a:t>
            </a:r>
            <a:endParaRPr lang="en-US" sz="11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onChange={e =&gt; setText(e.target.value)}</a:t>
            </a:r>
            <a:endParaRPr lang="en-US" sz="11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1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 type="submit"&gt;Add&lt;/button&gt;</a:t>
            </a:r>
            <a:endParaRPr lang="en-US" sz="11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&lt;ul&gt;</a:t>
            </a:r>
            <a:endParaRPr lang="en-US" sz="11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{todos.map(t =&gt; (</a:t>
            </a:r>
            <a:endParaRPr lang="en-US" sz="11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&lt;li key={t.id}&gt;</a:t>
            </a:r>
            <a:endParaRPr lang="en-US" sz="11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{t.text}</a:t>
            </a:r>
            <a:endParaRPr lang="en-US" sz="11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&lt;button onClick={() =&gt; removeTodo(t.id)}&gt;x&lt;/button&gt;</a:t>
            </a:r>
            <a:endParaRPr lang="en-US" sz="11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F9D6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&lt;/li&gt;</a:t>
            </a:r>
            <a:endParaRPr lang="en-US" sz="112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2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))}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&amp; common pitfalls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EAF9F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019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64792"/>
            <a:ext cx="4133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state minimal — derive values from state instead of storing duplicates.</a:t>
            </a:r>
            <a:endParaRPr lang="en-US" sz="128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copy objects/arrays before modifying (spread syntax, map, filter).</a:t>
            </a:r>
            <a:endParaRPr lang="en-US" sz="128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functional updates when new state depends on the previous state.</a:t>
            </a:r>
            <a:endParaRPr lang="en-US" sz="128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list items a stable, unique key prop (not the array index when order can change).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DECEC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90195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64792"/>
            <a:ext cx="4133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46520" y="237744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7A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mutate state directly (push, splice, obj.prop = x).</a:t>
            </a:r>
            <a:endParaRPr lang="en-US" sz="128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7A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call the handler function in JSX — pass a reference, not onClick={fn()}.</a:t>
            </a:r>
            <a:endParaRPr lang="en-US" sz="128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7A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e.preventDefault() on form submits (page will reload).</a:t>
            </a:r>
            <a:endParaRPr lang="en-US" sz="128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80" dirty="0">
                <a:solidFill>
                  <a:srgbClr val="7A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store values in state that can be computed from existing state or props.</a:t>
            </a:r>
            <a:endParaRPr lang="en-US" sz="1280" dirty="0"/>
          </a:p>
        </p:txBody>
      </p:sp>
      <p:sp>
        <p:nvSpPr>
          <p:cNvPr id="14" name="Text 10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41B2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840480" cy="3840480"/>
          </a:xfrm>
          <a:prstGeom prst="ellipse">
            <a:avLst/>
          </a:prstGeom>
          <a:solidFill>
            <a:srgbClr val="141B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+ Events, in one sentence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the data a component owns; events are how the user changes it — and calling setState schedules a re-render that keeps your UI in sync.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3108960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22783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30449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useState(initial)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68680" y="36576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[value, setter]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89120" y="288036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/>
        </p:spPr>
      </p:sp>
      <p:sp>
        <p:nvSpPr>
          <p:cNvPr id="13" name="Shape 10"/>
          <p:cNvSpPr/>
          <p:nvPr/>
        </p:nvSpPr>
        <p:spPr>
          <a:xfrm>
            <a:off x="4617720" y="3108960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3227832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2080" y="30449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updates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617720" y="36576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don't mutate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38160" y="288036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/>
        </p:spPr>
      </p:sp>
      <p:sp>
        <p:nvSpPr>
          <p:cNvPr id="18" name="Shape 14"/>
          <p:cNvSpPr/>
          <p:nvPr/>
        </p:nvSpPr>
        <p:spPr>
          <a:xfrm>
            <a:off x="8366760" y="3108960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322783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61120" y="30449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setters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366760" y="36576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setX(prev =&gt; ...)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457200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/>
        </p:spPr>
      </p:sp>
      <p:sp>
        <p:nvSpPr>
          <p:cNvPr id="23" name="Shape 18"/>
          <p:cNvSpPr/>
          <p:nvPr/>
        </p:nvSpPr>
        <p:spPr>
          <a:xfrm>
            <a:off x="868680" y="4800600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91947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7365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SyntheticEvent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868680" y="5349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event object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389120" y="457200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/>
        </p:spPr>
      </p:sp>
      <p:sp>
        <p:nvSpPr>
          <p:cNvPr id="28" name="Shape 22"/>
          <p:cNvSpPr/>
          <p:nvPr/>
        </p:nvSpPr>
        <p:spPr>
          <a:xfrm>
            <a:off x="4617720" y="4800600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919472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12080" y="47365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inputs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4617720" y="5349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onChange together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8138160" y="457200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41B2D"/>
          </a:solidFill>
          <a:ln/>
        </p:spPr>
      </p:sp>
      <p:sp>
        <p:nvSpPr>
          <p:cNvPr id="33" name="Shape 26"/>
          <p:cNvSpPr/>
          <p:nvPr/>
        </p:nvSpPr>
        <p:spPr>
          <a:xfrm>
            <a:off x="8366760" y="4800600"/>
            <a:ext cx="457200" cy="457200"/>
          </a:xfrm>
          <a:prstGeom prst="ellipse">
            <a:avLst/>
          </a:prstGeom>
          <a:solidFill>
            <a:srgbClr val="0B1220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919472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961120" y="47365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state up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8366760" y="5349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state via common parent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State &amp; Events</dc:title>
  <dc:subject>PptxGenJS Presentation</dc:subject>
  <dc:creator>Claude</dc:creator>
  <cp:lastModifiedBy>Claude</cp:lastModifiedBy>
  <cp:revision>1</cp:revision>
  <dcterms:created xsi:type="dcterms:W3CDTF">2026-07-07T18:42:35Z</dcterms:created>
  <dcterms:modified xsi:type="dcterms:W3CDTF">2026-07-07T18:42:35Z</dcterms:modified>
</cp:coreProperties>
</file>