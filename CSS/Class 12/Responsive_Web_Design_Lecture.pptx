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Shape 2"/>
          <p:cNvSpPr/>
          <p:nvPr/>
        </p:nvSpPr>
        <p:spPr>
          <a:xfrm>
            <a:off x="6858000" y="1005840"/>
            <a:ext cx="2286000" cy="3108960"/>
          </a:xfrm>
          <a:prstGeom prst="rect">
            <a:avLst/>
          </a:prstGeom>
          <a:solidFill>
            <a:srgbClr val="065A82">
              <a:alpha val="40000"/>
            </a:srgbClr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188720"/>
            <a:ext cx="548640" cy="5486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920240"/>
            <a:ext cx="640080" cy="64008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43200"/>
            <a:ext cx="594360" cy="59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13716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F3FC"/>
                </a:solidFill>
              </a:rPr>
              <a:t>WEB DEVELOPMENT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65760" y="1097280"/>
            <a:ext cx="64008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Design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CSS Effects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365760" y="29718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65760" y="42062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</a:rPr>
              <a:t>Topics: Media Queries · Flexbox · Grid · Transitions · Animations · Transforms ·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Responsive Web Design?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1 · FOUNDATIONS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840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</a:rPr>
              <a:t>Responsive Web Design (RWD) is an approach where web pages render well on a variety of devices and window or screen sizes — from desktop monitors to mobile phones.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Key Principle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201168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0" name="Text 8"/>
          <p:cNvSpPr/>
          <p:nvPr/>
        </p:nvSpPr>
        <p:spPr>
          <a:xfrm>
            <a:off x="640080" y="280720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One codebase — all screen sizes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201168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Text 10"/>
          <p:cNvSpPr/>
          <p:nvPr/>
        </p:nvSpPr>
        <p:spPr>
          <a:xfrm>
            <a:off x="640080" y="33101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Fluid grids &amp; flexible images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201168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4" name="Text 12"/>
          <p:cNvSpPr/>
          <p:nvPr/>
        </p:nvSpPr>
        <p:spPr>
          <a:xfrm>
            <a:off x="640080" y="381304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CSS Media Queries for breakpoints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1371600" cy="100584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1005840" cy="777240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55448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0" y="274320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</a:rPr>
              <a:t>Same content. Any screen.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389120" y="3200400"/>
            <a:ext cx="4389120" cy="164592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20" name="Text 15"/>
          <p:cNvSpPr/>
          <p:nvPr/>
        </p:nvSpPr>
        <p:spPr>
          <a:xfrm>
            <a:off x="4572000" y="329184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📱  Why it matters today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0" y="3657600"/>
            <a:ext cx="182880" cy="1828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17"/>
          <p:cNvSpPr/>
          <p:nvPr/>
        </p:nvSpPr>
        <p:spPr>
          <a:xfrm>
            <a:off x="4846320" y="3639312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60%+ of web traffic is mobile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0" y="4005072"/>
            <a:ext cx="182880" cy="1828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19"/>
          <p:cNvSpPr/>
          <p:nvPr/>
        </p:nvSpPr>
        <p:spPr>
          <a:xfrm>
            <a:off x="4846320" y="3986784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Google uses mobile-first indexing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72000" y="4352544"/>
            <a:ext cx="182880" cy="1828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Text 21"/>
          <p:cNvSpPr/>
          <p:nvPr/>
        </p:nvSpPr>
        <p:spPr>
          <a:xfrm>
            <a:off x="4846320" y="4334256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Poor mobile UX = lost users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Viewport Meta Tag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1 · FOUNDATIONS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Every responsive page needs this in the &lt;head&gt;: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Text 6"/>
          <p:cNvSpPr/>
          <p:nvPr/>
        </p:nvSpPr>
        <p:spPr>
          <a:xfrm>
            <a:off x="475488" y="1554480"/>
            <a:ext cx="8193024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&lt;meta name="viewport" content="width=device-width, initial-scale=1.0"&gt;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2011680"/>
          </a:xfrm>
          <a:prstGeom prst="rect">
            <a:avLst/>
          </a:prstGeom>
          <a:solidFill>
            <a:srgbClr val="065A82">
              <a:alpha val="6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365760" y="2194560"/>
            <a:ext cx="4114800" cy="34747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475488" y="2212848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width=device-width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3840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Sets the viewport width to match the device screen width (instead of a default 960px).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4114800" cy="2011680"/>
          </a:xfrm>
          <a:prstGeom prst="rect">
            <a:avLst/>
          </a:prstGeom>
          <a:solidFill>
            <a:srgbClr val="065A82">
              <a:alpha val="6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846320" y="2194560"/>
            <a:ext cx="4114800" cy="34747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5" name="Text 13"/>
          <p:cNvSpPr/>
          <p:nvPr/>
        </p:nvSpPr>
        <p:spPr>
          <a:xfrm>
            <a:off x="4956048" y="2212848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initial-scale=1.0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633472"/>
            <a:ext cx="3840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Sets initial zoom level to 1 — no zoom in or out when page first loads.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172554">
              <a:alpha val="7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02920" y="43891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⚠️  Without this tag, mobile browsers zoom out to fit the desktop layout — making text tiny and unusable!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Responsive CSS Units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1 · FOUNDATIONS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1783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8" name="Text 6"/>
          <p:cNvSpPr/>
          <p:nvPr/>
        </p:nvSpPr>
        <p:spPr>
          <a:xfrm>
            <a:off x="365760" y="10515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09728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Percentage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2560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Relative to parent element. Great for widths.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Example: width: 50% → half the parent.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1783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3" name="Text 11"/>
          <p:cNvSpPr/>
          <p:nvPr/>
        </p:nvSpPr>
        <p:spPr>
          <a:xfrm>
            <a:off x="3291840" y="10515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6240" y="109728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Viewport Width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554480"/>
            <a:ext cx="2560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1vw = 1% of browser window width.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Example: font-size: 4vw → scales with screen.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1783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8" name="Text 16"/>
          <p:cNvSpPr/>
          <p:nvPr/>
        </p:nvSpPr>
        <p:spPr>
          <a:xfrm>
            <a:off x="6217920" y="10515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109728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Viewport Height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554480"/>
            <a:ext cx="2560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1vh = 1% of browser window height.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Example: height: 100vh → full screen height.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2743200" cy="1783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71800"/>
            <a:ext cx="27432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365760" y="3017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06324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Root 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2560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Relative to root &lt;html&gt; font size (default 16px).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Example: 1rem = 16px, 2rem = 32px.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971800"/>
            <a:ext cx="2743200" cy="4572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8" name="Text 26"/>
          <p:cNvSpPr/>
          <p:nvPr/>
        </p:nvSpPr>
        <p:spPr>
          <a:xfrm>
            <a:off x="3291840" y="3017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206240" y="306324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3520440"/>
            <a:ext cx="2560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Relative to parent element font size.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Example: If parent=16px, 1.5em = 24px.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2971800"/>
            <a:ext cx="2743200" cy="1783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971800"/>
            <a:ext cx="2743200" cy="4572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3" name="Text 31"/>
          <p:cNvSpPr/>
          <p:nvPr/>
        </p:nvSpPr>
        <p:spPr>
          <a:xfrm>
            <a:off x="6217920" y="3017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px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306324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Pixel (Fixed!)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520440"/>
            <a:ext cx="2560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Fixed unit — does NOT scale.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Use sparingly; avoid for font sizes &amp; widths.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CSS Media Queries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2 · LAYOUTS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Apply different CSS rules based on device properties like screen width.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Syntax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114800" cy="8229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9" name="Text 7"/>
          <p:cNvSpPr/>
          <p:nvPr/>
        </p:nvSpPr>
        <p:spPr>
          <a:xfrm>
            <a:off x="475488" y="1874520"/>
            <a:ext cx="389534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(condition)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CSS rules here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Common Breakpoints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1280160" cy="2743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Text 10"/>
          <p:cNvSpPr/>
          <p:nvPr/>
        </p:nvSpPr>
        <p:spPr>
          <a:xfrm>
            <a:off x="4754880" y="180136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Mobile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1801368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 576px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130552"/>
            <a:ext cx="1280160" cy="2743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5" name="Text 13"/>
          <p:cNvSpPr/>
          <p:nvPr/>
        </p:nvSpPr>
        <p:spPr>
          <a:xfrm>
            <a:off x="4754880" y="214884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576–768px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78024"/>
            <a:ext cx="1280160" cy="2743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8" name="Text 16"/>
          <p:cNvSpPr/>
          <p:nvPr/>
        </p:nvSpPr>
        <p:spPr>
          <a:xfrm>
            <a:off x="4754880" y="2496312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Laptop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2496312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768–1024px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25496"/>
            <a:ext cx="1280160" cy="27432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21" name="Text 19"/>
          <p:cNvSpPr/>
          <p:nvPr/>
        </p:nvSpPr>
        <p:spPr>
          <a:xfrm>
            <a:off x="4754880" y="2843784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Desktop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843784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 1024px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6974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Examples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8412480" cy="1828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5" name="Text 23"/>
          <p:cNvSpPr/>
          <p:nvPr/>
        </p:nvSpPr>
        <p:spPr>
          <a:xfrm>
            <a:off x="475488" y="3154680"/>
            <a:ext cx="8193024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Mobile First — base styles for mobile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.container { padding: 10px; font-size: 14px;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Tablet and up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(min-width: 768px)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.container { padding: 20px; font-size: 16px;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Desktop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(min-width: 1024px)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.container { padding: 40px; display: flex;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</a:rPr>
              <a:t>Mobile-First vs Desktop-First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2 · LAYOUTS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8" name="Text 6"/>
          <p:cNvSpPr/>
          <p:nvPr/>
        </p:nvSpPr>
        <p:spPr>
          <a:xfrm>
            <a:off x="365760" y="97840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Mobile-First ✅ (Recommended)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114800" cy="3931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0" name="Shape 8"/>
          <p:cNvSpPr/>
          <p:nvPr/>
        </p:nvSpPr>
        <p:spPr>
          <a:xfrm>
            <a:off x="4846320" y="960120"/>
            <a:ext cx="4114800" cy="384048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11" name="Text 9"/>
          <p:cNvSpPr/>
          <p:nvPr/>
        </p:nvSpPr>
        <p:spPr>
          <a:xfrm>
            <a:off x="4937760" y="97840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Desktop-First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463040"/>
            <a:ext cx="182880" cy="1828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3" name="Text 11"/>
          <p:cNvSpPr/>
          <p:nvPr/>
        </p:nvSpPr>
        <p:spPr>
          <a:xfrm>
            <a:off x="658368" y="143560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</a:rPr>
              <a:t>Start styles for small screens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011680"/>
            <a:ext cx="182880" cy="1828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5" name="Text 13"/>
          <p:cNvSpPr/>
          <p:nvPr/>
        </p:nvSpPr>
        <p:spPr>
          <a:xfrm>
            <a:off x="658368" y="198424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</a:rPr>
              <a:t>Use min-width media queries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560320"/>
            <a:ext cx="182880" cy="1828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7" name="Text 15"/>
          <p:cNvSpPr/>
          <p:nvPr/>
        </p:nvSpPr>
        <p:spPr>
          <a:xfrm>
            <a:off x="658368" y="253288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</a:rPr>
              <a:t>Better performance on mobile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108960"/>
            <a:ext cx="182880" cy="1828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9" name="Text 17"/>
          <p:cNvSpPr/>
          <p:nvPr/>
        </p:nvSpPr>
        <p:spPr>
          <a:xfrm>
            <a:off x="658368" y="30815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</a:rPr>
              <a:t>Progressive enhancement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182880" cy="1828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1" name="Text 19"/>
          <p:cNvSpPr/>
          <p:nvPr/>
        </p:nvSpPr>
        <p:spPr>
          <a:xfrm>
            <a:off x="658368" y="363016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</a:rPr>
              <a:t>Google-recommended approach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1463040"/>
            <a:ext cx="182880" cy="18288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3" name="Text 21"/>
          <p:cNvSpPr/>
          <p:nvPr/>
        </p:nvSpPr>
        <p:spPr>
          <a:xfrm>
            <a:off x="5138928" y="143560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Start styles for large screens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011680"/>
            <a:ext cx="182880" cy="18288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5" name="Text 23"/>
          <p:cNvSpPr/>
          <p:nvPr/>
        </p:nvSpPr>
        <p:spPr>
          <a:xfrm>
            <a:off x="5138928" y="198424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Use max-width media queries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560320"/>
            <a:ext cx="182880" cy="18288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7" name="Text 25"/>
          <p:cNvSpPr/>
          <p:nvPr/>
        </p:nvSpPr>
        <p:spPr>
          <a:xfrm>
            <a:off x="5138928" y="253288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May load unneeded CSS on mobile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108960"/>
            <a:ext cx="182880" cy="18288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9" name="Text 27"/>
          <p:cNvSpPr/>
          <p:nvPr/>
        </p:nvSpPr>
        <p:spPr>
          <a:xfrm>
            <a:off x="5138928" y="30815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Graceful degradation approach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657600"/>
            <a:ext cx="182880" cy="18288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31" name="Text 29"/>
          <p:cNvSpPr/>
          <p:nvPr/>
        </p:nvSpPr>
        <p:spPr>
          <a:xfrm>
            <a:off x="5138928" y="363016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Harder to maintain long-term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3" name="Text 31"/>
          <p:cNvSpPr/>
          <p:nvPr/>
        </p:nvSpPr>
        <p:spPr>
          <a:xfrm>
            <a:off x="384048" y="4617720"/>
            <a:ext cx="8375904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Mobile-First */          /* Desktop-First */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(min-width: 768px)   @media (max-width: 768px)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CSS Flexbox for Responsive Layouts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2 · LAYOUTS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Flexbox makes it easy to align items in a row or column — perfect for responsive navigation, cards &amp; forms.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1417320"/>
          <a:ext cx="8412480" cy="196596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  <a:gridCol w="3657600"/>
              </a:tblGrid>
              <a:tr h="2808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display: flex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Enables Flexbox on the container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flex-direction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row | column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Stacks children horizontally or vertically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justify-content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center | space-between | ...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Aligns items along the main axis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align-items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center | stretch | ...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Aligns items along the cross axis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flex-wrap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wrap | nowrap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Allows items to wrap to new lines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flex: 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number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Child grows/shrinks to fill space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520440"/>
            <a:ext cx="8412480" cy="1463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7" name="Text 6"/>
          <p:cNvSpPr/>
          <p:nvPr/>
        </p:nvSpPr>
        <p:spPr>
          <a:xfrm>
            <a:off x="475488" y="3611880"/>
            <a:ext cx="8193024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.container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flex;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flex-wrap: wrap;          /* items wrap on small screens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gap: 16px;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flex: 1 1 280px;          /* grow, shrink, min 280px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(max-width: 600px)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.container { flex-direction: column;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CSS Grid for Responsive Layouts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2 · LAYOUTS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CSS Grid is a 2-dimensional layout system — ideal for page structure, dashboards, and photo galleries.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18872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8" name="Text 6"/>
          <p:cNvSpPr/>
          <p:nvPr/>
        </p:nvSpPr>
        <p:spPr>
          <a:xfrm>
            <a:off x="365760" y="1417320"/>
            <a:ext cx="1188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91640" y="1417320"/>
            <a:ext cx="1188720" cy="59436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1691640" y="1417320"/>
            <a:ext cx="1188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17520" y="1417320"/>
            <a:ext cx="1188720" cy="59436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Text 10"/>
          <p:cNvSpPr/>
          <p:nvPr/>
        </p:nvSpPr>
        <p:spPr>
          <a:xfrm>
            <a:off x="3017520" y="1417320"/>
            <a:ext cx="1188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1188720" cy="5943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365760" y="2103120"/>
            <a:ext cx="1188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691640" y="2103120"/>
            <a:ext cx="1188720" cy="5943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6" name="Text 14"/>
          <p:cNvSpPr/>
          <p:nvPr/>
        </p:nvSpPr>
        <p:spPr>
          <a:xfrm>
            <a:off x="1691640" y="2103120"/>
            <a:ext cx="1188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17520" y="2103120"/>
            <a:ext cx="1188720" cy="5943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8" name="Text 16"/>
          <p:cNvSpPr/>
          <p:nvPr/>
        </p:nvSpPr>
        <p:spPr>
          <a:xfrm>
            <a:off x="3017520" y="2103120"/>
            <a:ext cx="1188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1188720" cy="59436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20" name="Text 18"/>
          <p:cNvSpPr/>
          <p:nvPr/>
        </p:nvSpPr>
        <p:spPr>
          <a:xfrm>
            <a:off x="365760" y="2788920"/>
            <a:ext cx="1188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91640" y="2788920"/>
            <a:ext cx="1188720" cy="5943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20"/>
          <p:cNvSpPr/>
          <p:nvPr/>
        </p:nvSpPr>
        <p:spPr>
          <a:xfrm>
            <a:off x="1691640" y="2788920"/>
            <a:ext cx="1188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017520" y="2788920"/>
            <a:ext cx="1188720" cy="5943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3017520" y="2788920"/>
            <a:ext cx="1188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434840" y="21031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3-column grid 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1417320"/>
            <a:ext cx="4389120" cy="2971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7" name="Text 25"/>
          <p:cNvSpPr/>
          <p:nvPr/>
        </p:nvSpPr>
        <p:spPr>
          <a:xfrm>
            <a:off x="4498848" y="1508760"/>
            <a:ext cx="4169664" cy="278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.grid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grid;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grid-template-columns: repeat(3, 1fr); /* 3 equal columns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gap: 20px;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Responsive: auto-fill columns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.grid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grid-template-columns: repeat(auto-fill, minmax(250px, 1fr));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On mobile: single column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(max-width: 600px)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.grid { grid-template-columns: 1fr;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Responsive Images &amp; Media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2 · LAYOUTS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920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206240" cy="3200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8" name="Text 6"/>
          <p:cNvSpPr/>
          <p:nvPr/>
        </p:nvSpPr>
        <p:spPr>
          <a:xfrm>
            <a:off x="365760" y="99669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Fluid Images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3977640" cy="14173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0" name="Text 8"/>
          <p:cNvSpPr/>
          <p:nvPr/>
        </p:nvSpPr>
        <p:spPr>
          <a:xfrm>
            <a:off x="475488" y="1444752"/>
            <a:ext cx="3758184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img { max-width: 100%; height: auto; 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206240" cy="1920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60120"/>
            <a:ext cx="4206240" cy="3200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3" name="Text 11"/>
          <p:cNvSpPr/>
          <p:nvPr/>
        </p:nvSpPr>
        <p:spPr>
          <a:xfrm>
            <a:off x="4892040" y="99669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Responsive Video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1353312"/>
            <a:ext cx="3977640" cy="14173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5" name="Text 13"/>
          <p:cNvSpPr/>
          <p:nvPr/>
        </p:nvSpPr>
        <p:spPr>
          <a:xfrm>
            <a:off x="5001768" y="1444752"/>
            <a:ext cx="3758184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.video-wrap { position: relative; padding-top: 56.25%;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.video-wrap iframe { position: absolute; top:0; left:0; width:100%; height:100%; 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206240" cy="1920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4206240" cy="3200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8" name="Text 16"/>
          <p:cNvSpPr/>
          <p:nvPr/>
        </p:nvSpPr>
        <p:spPr>
          <a:xfrm>
            <a:off x="365760" y="305409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Object-fit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3977640" cy="14173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0" name="Text 18"/>
          <p:cNvSpPr/>
          <p:nvPr/>
        </p:nvSpPr>
        <p:spPr>
          <a:xfrm>
            <a:off x="475488" y="3502152"/>
            <a:ext cx="3758184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img { width: 100%; height: 200px; object-fit: cover; 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206240" cy="1920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17520"/>
            <a:ext cx="4206240" cy="3200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23" name="Text 21"/>
          <p:cNvSpPr/>
          <p:nvPr/>
        </p:nvSpPr>
        <p:spPr>
          <a:xfrm>
            <a:off x="4892040" y="305409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Picture Element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3410712"/>
            <a:ext cx="3977640" cy="14173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5" name="Text 23"/>
          <p:cNvSpPr/>
          <p:nvPr/>
        </p:nvSpPr>
        <p:spPr>
          <a:xfrm>
            <a:off x="5001768" y="3502152"/>
            <a:ext cx="3758184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&lt;picture&gt;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&lt;source media="(min-width:768px)" srcset="large.jpg"&gt;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&lt;img src="small.jpg" alt="Photo"&gt;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&lt;/picture&gt;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CSS Transitions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3 · EFFECTS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Transitions create smooth changes from one CSS state to another — triggered by hover, focus, or class changes.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Syntax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4572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9" name="Text 7"/>
          <p:cNvSpPr/>
          <p:nvPr/>
        </p:nvSpPr>
        <p:spPr>
          <a:xfrm>
            <a:off x="475488" y="1856232"/>
            <a:ext cx="8193024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transition: property  duration  timing-function  delay;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06240" cy="1097280"/>
          </a:xfrm>
          <a:prstGeom prst="rect">
            <a:avLst/>
          </a:prstGeom>
          <a:solidFill>
            <a:srgbClr val="1E1B4B">
              <a:alpha val="8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274320" y="2331720"/>
            <a:ext cx="137160" cy="10972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10"/>
          <p:cNvSpPr/>
          <p:nvPr/>
        </p:nvSpPr>
        <p:spPr>
          <a:xfrm>
            <a:off x="502920" y="24231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property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77063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Which CSS property to animate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(e.g. color, width, all)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331720"/>
            <a:ext cx="4206240" cy="1097280"/>
          </a:xfrm>
          <a:prstGeom prst="rect">
            <a:avLst/>
          </a:prstGeom>
          <a:solidFill>
            <a:srgbClr val="1E1B4B">
              <a:alpha val="8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800600" y="2331720"/>
            <a:ext cx="137160" cy="10972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6" name="Text 14"/>
          <p:cNvSpPr/>
          <p:nvPr/>
        </p:nvSpPr>
        <p:spPr>
          <a:xfrm>
            <a:off x="5029200" y="24231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7063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How long the transition takes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(e.g. 0.3s, 500ms)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4206240" cy="1097280"/>
          </a:xfrm>
          <a:prstGeom prst="rect">
            <a:avLst/>
          </a:prstGeom>
          <a:solidFill>
            <a:srgbClr val="1E1B4B">
              <a:alpha val="8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274320" y="3566160"/>
            <a:ext cx="137160" cy="10972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0" name="Text 18"/>
          <p:cNvSpPr/>
          <p:nvPr/>
        </p:nvSpPr>
        <p:spPr>
          <a:xfrm>
            <a:off x="502920" y="36576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timing-function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00507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Speed curve: ease, linear,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ease-in, ease-out, cubic-bezier()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3566160"/>
            <a:ext cx="4206240" cy="1097280"/>
          </a:xfrm>
          <a:prstGeom prst="rect">
            <a:avLst/>
          </a:prstGeom>
          <a:solidFill>
            <a:srgbClr val="1E1B4B">
              <a:alpha val="8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4800600" y="3566160"/>
            <a:ext cx="137160" cy="10972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4" name="Text 22"/>
          <p:cNvSpPr/>
          <p:nvPr/>
        </p:nvSpPr>
        <p:spPr>
          <a:xfrm>
            <a:off x="5029200" y="36576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delay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400507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Wait before starting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(e.g. 0s, 0.2s)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Transition Examples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3 · EFFECTS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261872"/>
          </a:xfrm>
          <a:prstGeom prst="rect">
            <a:avLst/>
          </a:prstGeom>
          <a:solidFill>
            <a:srgbClr val="F1F8FF"/>
          </a:solidFill>
        </p:spPr>
      </p:sp>
      <p:sp>
        <p:nvSpPr>
          <p:cNvPr id="7" name="Shape 5"/>
          <p:cNvSpPr/>
          <p:nvPr/>
        </p:nvSpPr>
        <p:spPr>
          <a:xfrm>
            <a:off x="365760" y="960120"/>
            <a:ext cx="164592" cy="12618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8" name="Text 6"/>
          <p:cNvSpPr/>
          <p:nvPr/>
        </p:nvSpPr>
        <p:spPr>
          <a:xfrm>
            <a:off x="621792" y="1014984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</a:rPr>
              <a:t>Button Hover Effect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" y="1344168"/>
            <a:ext cx="8092440" cy="7772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0" name="Text 8"/>
          <p:cNvSpPr/>
          <p:nvPr/>
        </p:nvSpPr>
        <p:spPr>
          <a:xfrm>
            <a:off x="731520" y="1435608"/>
            <a:ext cx="7872984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.btn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#065A82;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color: white;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transition: background 0.3s ease, transform 0.2s;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.btn:hover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#02C39A;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transform: translateY(-3px);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1261872"/>
          </a:xfrm>
          <a:prstGeom prst="rect">
            <a:avLst/>
          </a:prstGeom>
          <a:solidFill>
            <a:srgbClr val="F1F8FF"/>
          </a:solidFill>
        </p:spPr>
      </p:sp>
      <p:sp>
        <p:nvSpPr>
          <p:cNvPr id="12" name="Shape 10"/>
          <p:cNvSpPr/>
          <p:nvPr/>
        </p:nvSpPr>
        <p:spPr>
          <a:xfrm>
            <a:off x="365760" y="2331720"/>
            <a:ext cx="164592" cy="12618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3" name="Text 11"/>
          <p:cNvSpPr/>
          <p:nvPr/>
        </p:nvSpPr>
        <p:spPr>
          <a:xfrm>
            <a:off x="621792" y="2386584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</a:rPr>
              <a:t>Card Lift on Hover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2715768"/>
            <a:ext cx="8092440" cy="7772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5" name="Text 13"/>
          <p:cNvSpPr/>
          <p:nvPr/>
        </p:nvSpPr>
        <p:spPr>
          <a:xfrm>
            <a:off x="731520" y="2807208"/>
            <a:ext cx="7872984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box-shadow: 0 2px 8px rgba(0,0,0,0.1);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transition: box-shadow 0.3s, transform 0.3s;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.card:hover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box-shadow: 0 12px 24px rgba(0,0,0,0.2);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transform: translateY(-6px);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8412480" cy="1261872"/>
          </a:xfrm>
          <a:prstGeom prst="rect">
            <a:avLst/>
          </a:prstGeom>
          <a:solidFill>
            <a:srgbClr val="F1F8FF"/>
          </a:solidFill>
        </p:spPr>
      </p:sp>
      <p:sp>
        <p:nvSpPr>
          <p:cNvPr id="17" name="Shape 15"/>
          <p:cNvSpPr/>
          <p:nvPr/>
        </p:nvSpPr>
        <p:spPr>
          <a:xfrm>
            <a:off x="365760" y="3703320"/>
            <a:ext cx="164592" cy="12618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Text 16"/>
          <p:cNvSpPr/>
          <p:nvPr/>
        </p:nvSpPr>
        <p:spPr>
          <a:xfrm>
            <a:off x="621792" y="3758184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</a:rPr>
              <a:t>Smooth Nav Link Underline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4087368"/>
            <a:ext cx="8092440" cy="7772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0" name="Text 18"/>
          <p:cNvSpPr/>
          <p:nvPr/>
        </p:nvSpPr>
        <p:spPr>
          <a:xfrm>
            <a:off x="731520" y="4178808"/>
            <a:ext cx="7872984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.nav-link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text-decoration: none;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border-bottom: 2px solid transparent;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transition: border-color 0.2s ease;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.nav-link:hover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border-bottom-color: #02C39A;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CSS Animations with @keyframes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3 · EFFECTS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Animations run automatically (no hover needed) — defined with @keyframes and applied via the animation property.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19659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Text 6"/>
          <p:cNvSpPr/>
          <p:nvPr/>
        </p:nvSpPr>
        <p:spPr>
          <a:xfrm>
            <a:off x="475488" y="1554480"/>
            <a:ext cx="8193024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Step 1: Define the keyframes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@keyframes fadeIn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from { opacity: 0; transform: translateY(20px);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   { opacity: 1; transform: translateY(0);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Step 2: Apply to an element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.hero-text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animation: fadeIn  0.8s  ease-out  0.2s  forwards;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         name     dur   timing   delay  fill-mode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</a:rPr>
              <a:t>Animation Properties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365760" y="3840480"/>
          <a:ext cx="8412480" cy="1097280"/>
        </p:xfrm>
        <a:graphic>
          <a:graphicData uri="http://schemas.openxmlformats.org/drawingml/2006/table">
            <a:tbl>
              <a:tblPr/>
              <a:tblGrid>
                <a:gridCol w="3657600"/>
                <a:gridCol w="4754880"/>
              </a:tblGrid>
              <a:tr h="156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animation-name</a:t>
                      </a:r>
                      <a:endParaRPr lang="en-US" sz="9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 of the @keyframes rule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animation-duration</a:t>
                      </a:r>
                      <a:endParaRPr lang="en-US" sz="9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How long one cycle lasts (e.g. 1s)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animation-timing-function</a:t>
                      </a:r>
                      <a:endParaRPr lang="en-US" sz="9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Speed curve: ease, linear, etc.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animation-delay</a:t>
                      </a:r>
                      <a:endParaRPr lang="en-US" sz="9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Delay before the animation starts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animation-iteration-count</a:t>
                      </a:r>
                      <a:endParaRPr lang="en-US" sz="9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How many times: 1, 3, infinite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animation-direction</a:t>
                      </a:r>
                      <a:endParaRPr lang="en-US" sz="9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normal, reverse, alternate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animation-fill-mode</a:t>
                      </a:r>
                      <a:endParaRPr lang="en-US" sz="9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forwards → stays at end state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CSS Transforms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3 · EFFECTS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Transforms modify how elements look and are positioned — without affecting layout flow.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74980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137160" cy="74980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9" name="Text 7"/>
          <p:cNvSpPr/>
          <p:nvPr/>
        </p:nvSpPr>
        <p:spPr>
          <a:xfrm>
            <a:off x="594360" y="1472184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translate(x, 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Move an element without affecting other elements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1508760"/>
            <a:ext cx="4663440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2" name="Text 10"/>
          <p:cNvSpPr/>
          <p:nvPr/>
        </p:nvSpPr>
        <p:spPr>
          <a:xfrm>
            <a:off x="4041648" y="1600200"/>
            <a:ext cx="4443984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transform: translate(50px, 20px);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58568"/>
            <a:ext cx="8412480" cy="74980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58568"/>
            <a:ext cx="137160" cy="74980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5" name="Text 13"/>
          <p:cNvSpPr/>
          <p:nvPr/>
        </p:nvSpPr>
        <p:spPr>
          <a:xfrm>
            <a:off x="594360" y="231343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scale(x, 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70048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Zoom in or out (1 = normal, 1.5 = 50% bigger)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2350008"/>
            <a:ext cx="4663440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8" name="Text 16"/>
          <p:cNvSpPr/>
          <p:nvPr/>
        </p:nvSpPr>
        <p:spPr>
          <a:xfrm>
            <a:off x="4041648" y="2441448"/>
            <a:ext cx="4443984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transform: scale(1.2);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99816"/>
            <a:ext cx="8412480" cy="74980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99816"/>
            <a:ext cx="137160" cy="74980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1" name="Text 19"/>
          <p:cNvSpPr/>
          <p:nvPr/>
        </p:nvSpPr>
        <p:spPr>
          <a:xfrm>
            <a:off x="594360" y="315468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rotate(deg)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511296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Rotate by degrees (clockwise positive)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31920" y="3191256"/>
            <a:ext cx="4663440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4" name="Text 22"/>
          <p:cNvSpPr/>
          <p:nvPr/>
        </p:nvSpPr>
        <p:spPr>
          <a:xfrm>
            <a:off x="4041648" y="3282696"/>
            <a:ext cx="4443984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transform: rotate(45deg);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41064"/>
            <a:ext cx="8412480" cy="74980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41064"/>
            <a:ext cx="137160" cy="74980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7" name="Text 25"/>
          <p:cNvSpPr/>
          <p:nvPr/>
        </p:nvSpPr>
        <p:spPr>
          <a:xfrm>
            <a:off x="594360" y="399592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skew(x, y)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352544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Tilt element along X/Y axes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31920" y="4032504"/>
            <a:ext cx="4663440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0" name="Text 28"/>
          <p:cNvSpPr/>
          <p:nvPr/>
        </p:nvSpPr>
        <p:spPr>
          <a:xfrm>
            <a:off x="4041648" y="4123944"/>
            <a:ext cx="4443984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transform: skew(10deg, 5deg);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32" name="Text 30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</a:rPr>
              <a:t>💡  Combine transforms:  transform: translateY(-5px) scale(1.05) rotate(2deg);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</a:rPr>
              <a:t>CSS Hover Effects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3 · EFFECTS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Hover effects improve interactivity and user experience. Always pair with transition for smoothness!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206240" cy="11430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Shape 6"/>
          <p:cNvSpPr/>
          <p:nvPr/>
        </p:nvSpPr>
        <p:spPr>
          <a:xfrm>
            <a:off x="274320" y="1463040"/>
            <a:ext cx="4206240" cy="320040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9" name="Text 7"/>
          <p:cNvSpPr/>
          <p:nvPr/>
        </p:nvSpPr>
        <p:spPr>
          <a:xfrm>
            <a:off x="384048" y="149961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Color Change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3977640" cy="685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1" name="Text 9"/>
          <p:cNvSpPr/>
          <p:nvPr/>
        </p:nvSpPr>
        <p:spPr>
          <a:xfrm>
            <a:off x="475488" y="1920240"/>
            <a:ext cx="375818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.btn:hover { background: #02C39A; color: #0A2342; 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4206240" cy="11430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3" name="Shape 11"/>
          <p:cNvSpPr/>
          <p:nvPr/>
        </p:nvSpPr>
        <p:spPr>
          <a:xfrm>
            <a:off x="4846320" y="1463040"/>
            <a:ext cx="4206240" cy="320040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14" name="Text 12"/>
          <p:cNvSpPr/>
          <p:nvPr/>
        </p:nvSpPr>
        <p:spPr>
          <a:xfrm>
            <a:off x="4956048" y="149961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Lift + Shadow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3977640" cy="685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6" name="Text 14"/>
          <p:cNvSpPr/>
          <p:nvPr/>
        </p:nvSpPr>
        <p:spPr>
          <a:xfrm>
            <a:off x="5047488" y="1920240"/>
            <a:ext cx="375818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.card:hover { transform: translateY(-8px);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box-shadow: 0 16px 32px rgba(0,0,0,0.3); 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4206240" cy="11430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8" name="Shape 16"/>
          <p:cNvSpPr/>
          <p:nvPr/>
        </p:nvSpPr>
        <p:spPr>
          <a:xfrm>
            <a:off x="274320" y="2697480"/>
            <a:ext cx="4206240" cy="320040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19" name="Text 17"/>
          <p:cNvSpPr/>
          <p:nvPr/>
        </p:nvSpPr>
        <p:spPr>
          <a:xfrm>
            <a:off x="384048" y="273405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Image Zoom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3977640" cy="685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1" name="Text 19"/>
          <p:cNvSpPr/>
          <p:nvPr/>
        </p:nvSpPr>
        <p:spPr>
          <a:xfrm>
            <a:off x="475488" y="3154680"/>
            <a:ext cx="375818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.img-wrap { overflow: hidden;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.img-wrap img:hover { transform: scale(1.1); }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2697480"/>
            <a:ext cx="4206240" cy="11430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3" name="Shape 21"/>
          <p:cNvSpPr/>
          <p:nvPr/>
        </p:nvSpPr>
        <p:spPr>
          <a:xfrm>
            <a:off x="4846320" y="2697480"/>
            <a:ext cx="4206240" cy="320040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24" name="Text 22"/>
          <p:cNvSpPr/>
          <p:nvPr/>
        </p:nvSpPr>
        <p:spPr>
          <a:xfrm>
            <a:off x="4956048" y="273405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Underline Slide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3063240"/>
            <a:ext cx="3977640" cy="685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6" name="Text 24"/>
          <p:cNvSpPr/>
          <p:nvPr/>
        </p:nvSpPr>
        <p:spPr>
          <a:xfrm>
            <a:off x="5047488" y="3154680"/>
            <a:ext cx="375818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.link::after { content:''; width:0; height:2px;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background:#02C39A; transition: width .3s;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.link:hover::after { width: 100%; 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931920"/>
            <a:ext cx="4206240" cy="11430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8" name="Shape 26"/>
          <p:cNvSpPr/>
          <p:nvPr/>
        </p:nvSpPr>
        <p:spPr>
          <a:xfrm>
            <a:off x="274320" y="3931920"/>
            <a:ext cx="4206240" cy="320040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29" name="Text 27"/>
          <p:cNvSpPr/>
          <p:nvPr/>
        </p:nvSpPr>
        <p:spPr>
          <a:xfrm>
            <a:off x="384048" y="396849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Rotate Icon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3977640" cy="685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1" name="Text 29"/>
          <p:cNvSpPr/>
          <p:nvPr/>
        </p:nvSpPr>
        <p:spPr>
          <a:xfrm>
            <a:off x="475488" y="4389120"/>
            <a:ext cx="375818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.icon:hover { transform: rotate(360deg);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transition: transform 0.6s ease; }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3931920"/>
            <a:ext cx="4206240" cy="11430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3" name="Shape 31"/>
          <p:cNvSpPr/>
          <p:nvPr/>
        </p:nvSpPr>
        <p:spPr>
          <a:xfrm>
            <a:off x="4846320" y="3931920"/>
            <a:ext cx="4206240" cy="320040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34" name="Text 32"/>
          <p:cNvSpPr/>
          <p:nvPr/>
        </p:nvSpPr>
        <p:spPr>
          <a:xfrm>
            <a:off x="4956048" y="396849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Overlay Reveal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4297680"/>
            <a:ext cx="3977640" cy="685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6" name="Text 34"/>
          <p:cNvSpPr/>
          <p:nvPr/>
        </p:nvSpPr>
        <p:spPr>
          <a:xfrm>
            <a:off x="5047488" y="4389120"/>
            <a:ext cx="375818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 .overlay { opacity: 0; transition: opacity 0.3s;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.card:hover .overlay { opacity: 1; }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Box Shadow &amp; Text Shadow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3 · EFFECTS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box-shadow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Text 6"/>
          <p:cNvSpPr/>
          <p:nvPr/>
        </p:nvSpPr>
        <p:spPr>
          <a:xfrm>
            <a:off x="475488" y="1463040"/>
            <a:ext cx="8193024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box-shadow: offset-x  offset-y  blur  spread  color  [inset];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1920240" cy="2743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0" name="Text 8"/>
          <p:cNvSpPr/>
          <p:nvPr/>
        </p:nvSpPr>
        <p:spPr>
          <a:xfrm>
            <a:off x="365760" y="189280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Soft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920240" cy="38404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2" name="Text 10"/>
          <p:cNvSpPr/>
          <p:nvPr/>
        </p:nvSpPr>
        <p:spPr>
          <a:xfrm>
            <a:off x="475488" y="2286000"/>
            <a:ext cx="1700784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box-shadow: 0 4px 16px rgba(0,0,0,0.1);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14600" y="1874520"/>
            <a:ext cx="1920240" cy="2743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4" name="Text 12"/>
          <p:cNvSpPr/>
          <p:nvPr/>
        </p:nvSpPr>
        <p:spPr>
          <a:xfrm>
            <a:off x="2514600" y="189280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Raised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2194560"/>
            <a:ext cx="1920240" cy="38404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6" name="Text 14"/>
          <p:cNvSpPr/>
          <p:nvPr/>
        </p:nvSpPr>
        <p:spPr>
          <a:xfrm>
            <a:off x="2624328" y="2286000"/>
            <a:ext cx="1700784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box-shadow: 0 8px 24px rgba(0,0,0,0.25);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874520"/>
            <a:ext cx="1920240" cy="2743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8" name="Text 16"/>
          <p:cNvSpPr/>
          <p:nvPr/>
        </p:nvSpPr>
        <p:spPr>
          <a:xfrm>
            <a:off x="4663440" y="189280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Colored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194560"/>
            <a:ext cx="1920240" cy="38404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0" name="Text 18"/>
          <p:cNvSpPr/>
          <p:nvPr/>
        </p:nvSpPr>
        <p:spPr>
          <a:xfrm>
            <a:off x="4773168" y="2286000"/>
            <a:ext cx="1700784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box-shadow: 0 4px 20px rgba(2,195,154,0.4);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12280" y="1874520"/>
            <a:ext cx="1920240" cy="2743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22" name="Text 20"/>
          <p:cNvSpPr/>
          <p:nvPr/>
        </p:nvSpPr>
        <p:spPr>
          <a:xfrm>
            <a:off x="6812280" y="189280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2194560"/>
            <a:ext cx="1920240" cy="38404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4" name="Text 22"/>
          <p:cNvSpPr/>
          <p:nvPr/>
        </p:nvSpPr>
        <p:spPr>
          <a:xfrm>
            <a:off x="6922008" y="2286000"/>
            <a:ext cx="1700784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box-shadow: inset 0 2px 8px rgba(0,0,0,0.2);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text-shadow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090672"/>
            <a:ext cx="8412480" cy="4114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7" name="Text 25"/>
          <p:cNvSpPr/>
          <p:nvPr/>
        </p:nvSpPr>
        <p:spPr>
          <a:xfrm>
            <a:off x="475488" y="3182112"/>
            <a:ext cx="8193024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text-shadow: offset-x  offset-y  blur  color;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1920240" cy="2743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9" name="Text 27"/>
          <p:cNvSpPr/>
          <p:nvPr/>
        </p:nvSpPr>
        <p:spPr>
          <a:xfrm>
            <a:off x="365760" y="358444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Subtle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1920240" cy="530352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1" name="Text 29"/>
          <p:cNvSpPr/>
          <p:nvPr/>
        </p:nvSpPr>
        <p:spPr>
          <a:xfrm>
            <a:off x="475488" y="3977640"/>
            <a:ext cx="1700784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text-shadow: 1px 1px 2px rgba(0,0,0,0.3);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3566160"/>
            <a:ext cx="1920240" cy="2743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3" name="Text 31"/>
          <p:cNvSpPr/>
          <p:nvPr/>
        </p:nvSpPr>
        <p:spPr>
          <a:xfrm>
            <a:off x="2514600" y="358444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Glow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14600" y="3886200"/>
            <a:ext cx="1920240" cy="530352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5" name="Text 33"/>
          <p:cNvSpPr/>
          <p:nvPr/>
        </p:nvSpPr>
        <p:spPr>
          <a:xfrm>
            <a:off x="2624328" y="3977640"/>
            <a:ext cx="1700784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text-shadow: 0 0 10px #02C39A, 0 0 20px #02C39A;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3566160"/>
            <a:ext cx="1920240" cy="2743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7" name="Text 35"/>
          <p:cNvSpPr/>
          <p:nvPr/>
        </p:nvSpPr>
        <p:spPr>
          <a:xfrm>
            <a:off x="4663440" y="358444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Hard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886200"/>
            <a:ext cx="1920240" cy="530352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9" name="Text 37"/>
          <p:cNvSpPr/>
          <p:nvPr/>
        </p:nvSpPr>
        <p:spPr>
          <a:xfrm>
            <a:off x="4773168" y="3977640"/>
            <a:ext cx="1700784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text-shadow: 3px 3px 0 #065A82;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12280" y="3566160"/>
            <a:ext cx="1920240" cy="2743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41" name="Text 39"/>
          <p:cNvSpPr/>
          <p:nvPr/>
        </p:nvSpPr>
        <p:spPr>
          <a:xfrm>
            <a:off x="6812280" y="358444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12280" y="3886200"/>
            <a:ext cx="1920240" cy="530352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3" name="Text 41"/>
          <p:cNvSpPr/>
          <p:nvPr/>
        </p:nvSpPr>
        <p:spPr>
          <a:xfrm>
            <a:off x="6922008" y="3977640"/>
            <a:ext cx="1700784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text-shadow: 2px 2px #F59E0B,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-2px -2px #DC2626;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</a:rPr>
              <a:t>Pseudo-Classes &amp; Pseudo-Elements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3 · EFFECTS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Essential for creating interactive effects without JavaScript.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114800" cy="29260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8" name="Text 6"/>
          <p:cNvSpPr/>
          <p:nvPr/>
        </p:nvSpPr>
        <p:spPr>
          <a:xfrm>
            <a:off x="457200" y="143560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Pseudo-Classes  (:)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114800" cy="320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0" name="Text 8"/>
          <p:cNvSpPr/>
          <p:nvPr/>
        </p:nvSpPr>
        <p:spPr>
          <a:xfrm>
            <a:off x="457200" y="1764792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:hover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176479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Mouse over the element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4114800" cy="3200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3" name="Text 11"/>
          <p:cNvSpPr/>
          <p:nvPr/>
        </p:nvSpPr>
        <p:spPr>
          <a:xfrm>
            <a:off x="457200" y="211226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:focus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112264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Element is focused (input, button)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4114800" cy="320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6" name="Text 14"/>
          <p:cNvSpPr/>
          <p:nvPr/>
        </p:nvSpPr>
        <p:spPr>
          <a:xfrm>
            <a:off x="457200" y="2459736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:active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245973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Element is being clicked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4114800" cy="3200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9" name="Text 17"/>
          <p:cNvSpPr/>
          <p:nvPr/>
        </p:nvSpPr>
        <p:spPr>
          <a:xfrm>
            <a:off x="457200" y="280720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:visited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77440" y="280720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Visited link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127248"/>
            <a:ext cx="4114800" cy="320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2" name="Text 20"/>
          <p:cNvSpPr/>
          <p:nvPr/>
        </p:nvSpPr>
        <p:spPr>
          <a:xfrm>
            <a:off x="457200" y="31546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:nth-child(n)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77440" y="315468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Select specific children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114800" cy="3200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5" name="Text 23"/>
          <p:cNvSpPr/>
          <p:nvPr/>
        </p:nvSpPr>
        <p:spPr>
          <a:xfrm>
            <a:off x="457200" y="3502152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:not(selector)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77440" y="350215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Select everything except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822192"/>
            <a:ext cx="4114800" cy="320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8" name="Text 26"/>
          <p:cNvSpPr/>
          <p:nvPr/>
        </p:nvSpPr>
        <p:spPr>
          <a:xfrm>
            <a:off x="457200" y="384962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:first-child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77440" y="3849624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First child element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169664"/>
            <a:ext cx="4114800" cy="3200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1" name="Text 29"/>
          <p:cNvSpPr/>
          <p:nvPr/>
        </p:nvSpPr>
        <p:spPr>
          <a:xfrm>
            <a:off x="457200" y="4197096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:last-child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77440" y="419709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Last child element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417320"/>
            <a:ext cx="4114800" cy="292608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4" name="Text 32"/>
          <p:cNvSpPr/>
          <p:nvPr/>
        </p:nvSpPr>
        <p:spPr>
          <a:xfrm>
            <a:off x="4754880" y="143560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Pseudo-Elements (::)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1737360"/>
            <a:ext cx="4114800" cy="320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6" name="Text 34"/>
          <p:cNvSpPr/>
          <p:nvPr/>
        </p:nvSpPr>
        <p:spPr>
          <a:xfrm>
            <a:off x="4754880" y="1764792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::before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20840" y="176479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Insert content before element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084832"/>
            <a:ext cx="4114800" cy="3200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9" name="Text 37"/>
          <p:cNvSpPr/>
          <p:nvPr/>
        </p:nvSpPr>
        <p:spPr>
          <a:xfrm>
            <a:off x="4754880" y="2112264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::after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20840" y="2112264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Insert content after element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432304"/>
            <a:ext cx="4114800" cy="320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2" name="Text 40"/>
          <p:cNvSpPr/>
          <p:nvPr/>
        </p:nvSpPr>
        <p:spPr>
          <a:xfrm>
            <a:off x="4754880" y="2459736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::placeholder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20840" y="245973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Style input placeholder text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2779776"/>
            <a:ext cx="4114800" cy="3200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5" name="Text 43"/>
          <p:cNvSpPr/>
          <p:nvPr/>
        </p:nvSpPr>
        <p:spPr>
          <a:xfrm>
            <a:off x="4754880" y="2807208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::selection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20840" y="280720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Style selected/highlighted text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343400"/>
            <a:ext cx="8412480" cy="65836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8" name="Text 46"/>
          <p:cNvSpPr/>
          <p:nvPr/>
        </p:nvSpPr>
        <p:spPr>
          <a:xfrm>
            <a:off x="475488" y="4434840"/>
            <a:ext cx="8193024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.btn::before { content: '→ '; transition: transform 0.2s;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.btn:hover::before { transform: translateX(5px);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::selection { background: #02C39A; color: #0A2342; 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</a:rPr>
              <a:t>🚀  Mini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Responsive Card Gallery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</a:rPr>
              <a:t>with Hover Effects &amp; Animations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solidFill>
            <a:srgbClr val="065A82">
              <a:alpha val="6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914400" y="2011680"/>
            <a:ext cx="7315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we'll build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2606040"/>
            <a:ext cx="201168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9" name="Text 7"/>
          <p:cNvSpPr/>
          <p:nvPr/>
        </p:nvSpPr>
        <p:spPr>
          <a:xfrm>
            <a:off x="1508760" y="2578608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CSS Grid layout that adjusts from 3 → 2 → 1 column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88720" y="3063240"/>
            <a:ext cx="201168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1508760" y="3035808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Cards with image, title, tags, and description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88720" y="3520440"/>
            <a:ext cx="201168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3" name="Text 11"/>
          <p:cNvSpPr/>
          <p:nvPr/>
        </p:nvSpPr>
        <p:spPr>
          <a:xfrm>
            <a:off x="1508760" y="3493008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Smooth hover effect: card lifts + image zooms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88720" y="3977640"/>
            <a:ext cx="201168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5" name="Text 13"/>
          <p:cNvSpPr/>
          <p:nvPr/>
        </p:nvSpPr>
        <p:spPr>
          <a:xfrm>
            <a:off x="1508760" y="3950208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Fade-in animation on page load using @keyframes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88720" y="4434840"/>
            <a:ext cx="201168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7" name="Text 15"/>
          <p:cNvSpPr/>
          <p:nvPr/>
        </p:nvSpPr>
        <p:spPr>
          <a:xfrm>
            <a:off x="1508760" y="4407408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Fully responsive with 2 media query breakpoints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</a:rPr>
              <a:t>Time to code: ~10 minutes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Mini Project — HTML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4 · PROJECT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42062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7" name="Text 5"/>
          <p:cNvSpPr/>
          <p:nvPr/>
        </p:nvSpPr>
        <p:spPr>
          <a:xfrm>
            <a:off x="475488" y="841248"/>
            <a:ext cx="8193024" cy="4023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&lt;!DOCTYPE html&gt;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&lt;html lang="en"&gt;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&lt;head&gt;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&lt;meta charset="UTF-8"&gt;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&lt;meta name="viewport" content="width=device-width, initial-scale=1.0"&gt;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&lt;title&gt;Card Gallery&lt;/title&gt;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&lt;link rel="stylesheet" href="style.css"&gt;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&lt;/head&gt;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&lt;body&gt;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&lt;h1 class="gallery-title"&gt;My Gallery&lt;/h1&gt;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&lt;div class="gallery"&gt;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&lt;div class="card"&gt;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&lt;div class="card-img-wrap"&gt;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&lt;img src="image1.jpg" alt="Card Image"&gt;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&lt;div class="card-body"&gt;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&lt;span class="tag"&gt;Design&lt;/span&gt;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&lt;h3&gt;Card Title&lt;/h3&gt;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&lt;p&gt;Short description of this card item goes here.&lt;/p&gt;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&lt;!-- Repeat .card for more items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&lt;/div&gt;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&lt;/body&gt;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&lt;/html&gt;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Mini Project — CSS: Layout &amp; Responsiveness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4 · PROJECT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42062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7" name="Text 5"/>
          <p:cNvSpPr/>
          <p:nvPr/>
        </p:nvSpPr>
        <p:spPr>
          <a:xfrm>
            <a:off x="475488" y="841248"/>
            <a:ext cx="8193024" cy="4023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=== BASE STYLES ===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 { box-sizing: border-box; margin: 0; padding: 0;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body { font-family: 'Segoe UI', sans-serif; background: #f0f7ff; padding: 20px;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.gallery-title { text-align: center; margin-bottom: 30px; color: #065A82;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=== GRID LAYOUT ===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.gallery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grid;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grid-template-columns: repeat(3, 1fr);  /* 3 columns on desktop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gap: 24px;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max-width: 1200px;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margin: 0 auto;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=== TABLET: 2 columns ===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(max-width: 900px)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.gallery { grid-template-columns: repeat(2, 1fr);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=== MOBILE: 1 column ===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(max-width: 580px)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.gallery { grid-template-columns: 1fr; gap: 16px;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body     { padding: 12px;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Mini Project — CSS: Effects &amp; Animations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7315200" y="7132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</a:rPr>
              <a:t>PART 4 · PROJECT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42062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7" name="Text 5"/>
          <p:cNvSpPr/>
          <p:nvPr/>
        </p:nvSpPr>
        <p:spPr>
          <a:xfrm>
            <a:off x="475488" y="841248"/>
            <a:ext cx="8193024" cy="4023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=== CARD STYLES === */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white;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border-radius: 12px;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overflow: hidden;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box-shadow: 0 4px 16px rgba(0,0,0,0.1);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transition: transform 0.3s ease, box-shadow 0.3s ease;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animation: fadeUp 0.6s ease both;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=== HOVER EFFECT: Lift Card === */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.card:hover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transform: translateY(-8px);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box-shadow: 0 16px 32px rgba(0,0,0,0.2);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=== IMAGE ZOOM on Hover === */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.card-img-wrap { overflow: hidden; height: 200px;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.card-img-wrap img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width: 100%; height: 100%; object-fit: cover;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transition: transform 0.5s ease;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.card:hover .card-img-wrap img { transform: scale(1.1);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=== FADE IN ANIMATION === */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@keyframes fadeUp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from { opacity: 0; transform: translateY(30px);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   { opacity: 1; transform: translateY(0);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Stagger each card */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.card:nth-child(1) { animation-delay: 0.1s;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.card:nth-child(2) { animation-delay: 0.2s;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.card:nth-child(3) { animation-delay: 0.3s; }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Testing Responsiveness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1605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6400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384048" y="795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DD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896112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Browser DevTools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1554480"/>
            <a:ext cx="164592" cy="164592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9" name="Text 7"/>
          <p:cNvSpPr/>
          <p:nvPr/>
        </p:nvSpPr>
        <p:spPr>
          <a:xfrm>
            <a:off x="658368" y="152704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Press F12 (or Ctrl+Shift+I)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148840"/>
            <a:ext cx="164592" cy="164592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1" name="Text 9"/>
          <p:cNvSpPr/>
          <p:nvPr/>
        </p:nvSpPr>
        <p:spPr>
          <a:xfrm>
            <a:off x="658368" y="212140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Click the device toggle icon 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743200"/>
            <a:ext cx="164592" cy="164592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3" name="Text 11"/>
          <p:cNvSpPr/>
          <p:nvPr/>
        </p:nvSpPr>
        <p:spPr>
          <a:xfrm>
            <a:off x="658368" y="271576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Select device or enter custom width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337560"/>
            <a:ext cx="164592" cy="164592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5" name="Text 13"/>
          <p:cNvSpPr/>
          <p:nvPr/>
        </p:nvSpPr>
        <p:spPr>
          <a:xfrm>
            <a:off x="658368" y="331012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Drag the viewport to test live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2743200" cy="41605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777240"/>
            <a:ext cx="2743200" cy="64008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3310128" y="795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DD"/>
                </a:solidFill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896112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Common Test Sizes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4992" y="1554480"/>
            <a:ext cx="164592" cy="16459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1" name="Text 19"/>
          <p:cNvSpPr/>
          <p:nvPr/>
        </p:nvSpPr>
        <p:spPr>
          <a:xfrm>
            <a:off x="3584448" y="152704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320px — Small phones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64992" y="2148840"/>
            <a:ext cx="164592" cy="16459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3" name="Text 21"/>
          <p:cNvSpPr/>
          <p:nvPr/>
        </p:nvSpPr>
        <p:spPr>
          <a:xfrm>
            <a:off x="3584448" y="212140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375px — iPhone SE/standard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4992" y="2743200"/>
            <a:ext cx="164592" cy="16459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5" name="Text 23"/>
          <p:cNvSpPr/>
          <p:nvPr/>
        </p:nvSpPr>
        <p:spPr>
          <a:xfrm>
            <a:off x="3584448" y="271576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768px — iPad/Tablet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64992" y="3337560"/>
            <a:ext cx="164592" cy="16459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7" name="Text 25"/>
          <p:cNvSpPr/>
          <p:nvPr/>
        </p:nvSpPr>
        <p:spPr>
          <a:xfrm>
            <a:off x="3584448" y="331012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1024px — Laptop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3931920"/>
            <a:ext cx="164592" cy="16459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9" name="Text 27"/>
          <p:cNvSpPr/>
          <p:nvPr/>
        </p:nvSpPr>
        <p:spPr>
          <a:xfrm>
            <a:off x="3584448" y="390448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1440px — Desktop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777240"/>
            <a:ext cx="2743200" cy="41605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777240"/>
            <a:ext cx="2743200" cy="6400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2" name="Text 30"/>
          <p:cNvSpPr/>
          <p:nvPr/>
        </p:nvSpPr>
        <p:spPr>
          <a:xfrm>
            <a:off x="6236208" y="795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DD"/>
                </a:solidFill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896112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Online Tools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91072" y="1554480"/>
            <a:ext cx="164592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5" name="Text 33"/>
          <p:cNvSpPr/>
          <p:nvPr/>
        </p:nvSpPr>
        <p:spPr>
          <a:xfrm>
            <a:off x="6510528" y="152704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responsivedesignchecker.com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91072" y="2148840"/>
            <a:ext cx="164592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7" name="Text 35"/>
          <p:cNvSpPr/>
          <p:nvPr/>
        </p:nvSpPr>
        <p:spPr>
          <a:xfrm>
            <a:off x="6510528" y="212140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screenfly.org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91072" y="2743200"/>
            <a:ext cx="164592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9" name="Text 37"/>
          <p:cNvSpPr/>
          <p:nvPr/>
        </p:nvSpPr>
        <p:spPr>
          <a:xfrm>
            <a:off x="6510528" y="271576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viewport-resizer.com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91072" y="3337560"/>
            <a:ext cx="164592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1" name="Text 39"/>
          <p:cNvSpPr/>
          <p:nvPr/>
        </p:nvSpPr>
        <p:spPr>
          <a:xfrm>
            <a:off x="6510528" y="3310128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Google Mobile-Friendly Test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</a:rPr>
              <a:t>Quick Reference Cheatsheet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2011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" name="Shape 3"/>
          <p:cNvSpPr/>
          <p:nvPr/>
        </p:nvSpPr>
        <p:spPr>
          <a:xfrm>
            <a:off x="228600" y="804672"/>
            <a:ext cx="2743200" cy="310896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301752" y="841248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MEDIA QUERIES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(max-width: 768px) {}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(min-width: 768px) {}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865376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(orientation: landscape) {}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203704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@media print {}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804672"/>
            <a:ext cx="2743200" cy="2011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2" name="Shape 10"/>
          <p:cNvSpPr/>
          <p:nvPr/>
        </p:nvSpPr>
        <p:spPr>
          <a:xfrm>
            <a:off x="3154680" y="804672"/>
            <a:ext cx="2743200" cy="310896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3" name="Text 11"/>
          <p:cNvSpPr/>
          <p:nvPr/>
        </p:nvSpPr>
        <p:spPr>
          <a:xfrm>
            <a:off x="3227832" y="841248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FLEXBOX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46120" y="1188720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display: flex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46120" y="1527048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flex-direction: row | column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46120" y="1865376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justify-content: center | space-between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46120" y="2203704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align-items: center | stretch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46120" y="2542032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flex-wrap: wrap | nowrap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46120" y="2880360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flex: 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0760" y="804672"/>
            <a:ext cx="2743200" cy="2011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1" name="Shape 19"/>
          <p:cNvSpPr/>
          <p:nvPr/>
        </p:nvSpPr>
        <p:spPr>
          <a:xfrm>
            <a:off x="6080760" y="804672"/>
            <a:ext cx="2743200" cy="31089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2" name="Text 20"/>
          <p:cNvSpPr/>
          <p:nvPr/>
        </p:nvSpPr>
        <p:spPr>
          <a:xfrm>
            <a:off x="6153912" y="841248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GRID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72200" y="1188720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display: grid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72200" y="1527048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grid-template-columns: repeat(3,1fr)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72200" y="1865376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grid-template-columns: repeat(auto-fill, minmax(250px,1fr))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72200" y="2203704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gap: 20px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72200" y="2542032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grid-column: span 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2953512"/>
            <a:ext cx="2743200" cy="2011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9" name="Shape 27"/>
          <p:cNvSpPr/>
          <p:nvPr/>
        </p:nvSpPr>
        <p:spPr>
          <a:xfrm>
            <a:off x="228600" y="2953512"/>
            <a:ext cx="2743200" cy="31089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0" name="Text 28"/>
          <p:cNvSpPr/>
          <p:nvPr/>
        </p:nvSpPr>
        <p:spPr>
          <a:xfrm>
            <a:off x="301752" y="2990088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TRANSITIONS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3337560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transition: all 0.3s ease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3675888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transition: color 0.2s, transform 0.3s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" y="4014216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timing: ease | linear | ease-in | ease-out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54680" y="2953512"/>
            <a:ext cx="2743200" cy="2011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5" name="Shape 33"/>
          <p:cNvSpPr/>
          <p:nvPr/>
        </p:nvSpPr>
        <p:spPr>
          <a:xfrm>
            <a:off x="3154680" y="2953512"/>
            <a:ext cx="2743200" cy="310896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6" name="Text 34"/>
          <p:cNvSpPr/>
          <p:nvPr/>
        </p:nvSpPr>
        <p:spPr>
          <a:xfrm>
            <a:off x="3227832" y="2990088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ANIMATIONS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46120" y="3337560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@keyframes name { from {} to {} }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46120" y="3675888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animation: name 1s ease forwards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46120" y="4014216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animation-iteration-count: infinite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46120" y="4352544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animation-fill-mode: forwards | both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2953512"/>
            <a:ext cx="2743200" cy="2011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2" name="Shape 40"/>
          <p:cNvSpPr/>
          <p:nvPr/>
        </p:nvSpPr>
        <p:spPr>
          <a:xfrm>
            <a:off x="6080760" y="2953512"/>
            <a:ext cx="2743200" cy="31089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3" name="Text 41"/>
          <p:cNvSpPr/>
          <p:nvPr/>
        </p:nvSpPr>
        <p:spPr>
          <a:xfrm>
            <a:off x="6153912" y="2990088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TRANSFORMS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72200" y="3337560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transform: translate(x,y)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72200" y="3675888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transform: scale(1.2)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72200" y="4014216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transform: rotate(45deg)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72200" y="4352544"/>
            <a:ext cx="25603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transform: scale(1.1) translateY(-5px)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603504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18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850392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Always add the viewport meta tag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1133856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It's the foundation of every responsive page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499616"/>
            <a:ext cx="8412480" cy="603504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67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545336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Use Mobile-First with min-width queries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1828800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Better performance and easier to scale up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2194560"/>
            <a:ext cx="8412480" cy="603504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24028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Flexbox for 1D, Grid for 2D layouts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68680" y="2523744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Know when to use each — they complement each other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2889504"/>
            <a:ext cx="8412480" cy="603504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2666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2935224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Add transition to every interactive element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68680" y="3218688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Smooth &gt; instant. Users notice the difference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3584448"/>
            <a:ext cx="8412480" cy="603504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2160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3630168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Use @keyframes for load animations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68680" y="3913632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Fade-in effects make pages feel polished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65760" y="4279392"/>
            <a:ext cx="8412480" cy="603504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416552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68680" y="4325112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Test at 320px, 768px, and 1440px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868680" y="4608576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Cover the full range from tiny phone to wide desktop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Shape 1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Text 2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Questions &amp; Answers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Great job making it through the full lecture! 🎉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788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42900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Practice Assignment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3822192"/>
            <a:ext cx="8595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D5E1"/>
                </a:solidFill>
              </a:rPr>
              <a:t>WEB DEV LECTURE — Responsive Design &amp; CSS Effects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" y="4224528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Topics covered: Viewport · Units · Media Queries · Flexbox · Grid · Transitions · Animations · Transforms ·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Build the responsive card gallery from scratch, then add at least 3 unique hover effects!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13396</Words>
  <Application>WPS Presentation</Application>
  <PresentationFormat>On-screen Show (16:9)</PresentationFormat>
  <Paragraphs>855</Paragraphs>
  <Slides>24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Responsive Web Design &amp; CSS Effects</dc:title>
  <dc:creator>PptxGenJS</dc:creator>
  <dc:subject>PptxGenJS Presentation</dc:subject>
  <cp:lastModifiedBy>Tabinda Noor</cp:lastModifiedBy>
  <cp:revision>2</cp:revision>
  <dcterms:created xsi:type="dcterms:W3CDTF">2026-05-11T20:02:00Z</dcterms:created>
  <dcterms:modified xsi:type="dcterms:W3CDTF">2026-05-12T02:27:43Z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004D983E1DA241F09ECE528B901B58C6_12</vt:lpwstr>
  </property>
  <property fmtid="{D5CDD505-2E9C-101B-9397-08002B2CF9AE}" pid="3" name="KSOProductBuildVer">
    <vt:lpwstr>2057-12.2.0.23202</vt:lpwstr>
  </property>
</Properties>
</file>