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286000" cy="2286000"/>
          </a:xfrm>
          <a:prstGeom prst="ellipse">
            <a:avLst/>
          </a:prstGeom>
          <a:solidFill>
            <a:srgbClr val="6C3FC4">
              <a:alpha val="40000"/>
            </a:srgbClr>
          </a:solidFill>
          <a:ln w="12700">
            <a:solidFill>
              <a:srgbClr val="6C3FC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474720"/>
            <a:ext cx="2560320" cy="2560320"/>
          </a:xfrm>
          <a:prstGeom prst="ellipse">
            <a:avLst/>
          </a:prstGeom>
          <a:solidFill>
            <a:srgbClr val="E94FA0">
              <a:alpha val="35000"/>
            </a:srgbClr>
          </a:solidFill>
          <a:ln w="12700">
            <a:solidFill>
              <a:srgbClr val="E94FA0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1463040" cy="1463040"/>
          </a:xfrm>
          <a:prstGeom prst="ellipse">
            <a:avLst/>
          </a:prstGeom>
          <a:solidFill>
            <a:srgbClr val="F97316">
              <a:alpha val="45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686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E94FA0">
              <a:alpha val="80000"/>
            </a:srgbClr>
          </a:solidFill>
          <a:ln w="12700">
            <a:solidFill>
              <a:srgbClr val="E94FA0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CSS — Lesson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Selectors &amp;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AB3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 Styling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5B4FC"/>
                </a:solidFill>
              </a:rPr>
              <a:t>Learn how to target HTML elements and make text look awesome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6C4"/>
                </a:solidFill>
              </a:rPr>
              <a:t>⏱ 60 Minutes  ·  👨‍💻 Beginners  ·  📋 Theory + Code + Practice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We'll Learn Today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3474720"/>
          </a:xfrm>
          <a:prstGeom prst="rect">
            <a:avLst/>
          </a:prstGeom>
          <a:solidFill>
            <a:srgbClr val="EDE4FF"/>
          </a:solidFill>
          <a:ln w="12700">
            <a:solidFill>
              <a:srgbClr val="EDE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0" cy="54864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188720"/>
            <a:ext cx="640080" cy="640080"/>
          </a:xfrm>
          <a:prstGeom prst="ellipse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3FC4"/>
                </a:solidFill>
              </a:rPr>
              <a:t>CSS Selectors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Tag, Class, ID, Universal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56616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6C3FC4">
              <a:alpha val="85000"/>
            </a:srgbClr>
          </a:solidFill>
          <a:ln w="12700">
            <a:solidFill>
              <a:srgbClr val="6C3FC4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566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~15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914400"/>
            <a:ext cx="2011680" cy="3474720"/>
          </a:xfrm>
          <a:prstGeom prst="rect">
            <a:avLst/>
          </a:prstGeom>
          <a:solidFill>
            <a:srgbClr val="FDEAF4"/>
          </a:solidFill>
          <a:ln w="12700">
            <a:solidFill>
              <a:srgbClr val="FDEA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914400"/>
            <a:ext cx="2011680" cy="54864"/>
          </a:xfrm>
          <a:prstGeom prst="rect">
            <a:avLst/>
          </a:prstGeom>
          <a:solidFill>
            <a:srgbClr val="E94FA0"/>
          </a:solidFill>
          <a:ln w="12700">
            <a:solidFill>
              <a:srgbClr val="E94F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36392" y="1188720"/>
            <a:ext cx="640080" cy="640080"/>
          </a:xfrm>
          <a:prstGeom prst="ellipse">
            <a:avLst/>
          </a:prstGeom>
          <a:solidFill>
            <a:srgbClr val="E94FA0"/>
          </a:solidFill>
          <a:ln w="12700">
            <a:solidFill>
              <a:srgbClr val="E94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36392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42032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FA0"/>
                </a:solidFill>
              </a:rPr>
              <a:t>Text Styling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42032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7 essential properties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79192" y="356616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E94FA0">
              <a:alpha val="85000"/>
            </a:srgbClr>
          </a:solidFill>
          <a:ln w="12700">
            <a:solidFill>
              <a:srgbClr val="E94FA0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9192" y="3566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~20 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26864" y="914400"/>
            <a:ext cx="2011680" cy="3474720"/>
          </a:xfrm>
          <a:prstGeom prst="rect">
            <a:avLst/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914400"/>
            <a:ext cx="20116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12664" y="118872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12664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18304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Code Practice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18304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Live coding examples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55464" y="356616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5464" y="3566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~15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03136" y="914400"/>
            <a:ext cx="2011680" cy="3474720"/>
          </a:xfrm>
          <a:prstGeom prst="rect">
            <a:avLst/>
          </a:prstGeom>
          <a:solidFill>
            <a:srgbClr val="E0F7F5"/>
          </a:solidFill>
          <a:ln w="12700">
            <a:solidFill>
              <a:srgbClr val="E0F7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03136" y="91440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88936" y="118872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88936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④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94576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Mini Project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94576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Style a blog post page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31736" y="356616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31736" y="3566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~10 min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Slides include activities — participate and code along! 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⚡ Quick Recap — HTML + CSS Connection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51760" cy="3291840"/>
          </a:xfrm>
          <a:prstGeom prst="rect">
            <a:avLst/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6517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</a:rPr>
              <a:t>Inline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1828800" cy="384048"/>
          </a:xfrm>
          <a:prstGeom prst="roundRect">
            <a:avLst>
              <a:gd name="adj" fmla="val 952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style="…"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Written inside the HTML tag itself.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2286000" cy="347472"/>
          </a:xfrm>
          <a:prstGeom prst="roundRect">
            <a:avLst>
              <a:gd name="adj" fmla="val 10526"/>
            </a:avLst>
          </a:prstGeom>
          <a:solidFill>
            <a:srgbClr val="F97316">
              <a:alpha val="80000"/>
            </a:srgbClr>
          </a:solidFill>
          <a:ln w="12700">
            <a:solidFill>
              <a:srgbClr val="F97316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26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⚠️ Avoid for real projects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868680"/>
            <a:ext cx="2651760" cy="3291840"/>
          </a:xfrm>
          <a:prstGeom prst="rect">
            <a:avLst/>
          </a:prstGeom>
          <a:solidFill>
            <a:srgbClr val="EDE4FF"/>
          </a:solidFill>
          <a:ln w="12700">
            <a:solidFill>
              <a:srgbClr val="EDE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868680"/>
            <a:ext cx="2651760" cy="54864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3FC4"/>
                </a:solidFill>
              </a:rPr>
              <a:t>Internal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566160" y="1600200"/>
            <a:ext cx="1828800" cy="384048"/>
          </a:xfrm>
          <a:prstGeom prst="roundRect">
            <a:avLst>
              <a:gd name="adj" fmla="val 952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&lt;style&gt;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2103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Written inside &lt;style&gt; in the &lt;head&gt;.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37560" y="2926080"/>
            <a:ext cx="2286000" cy="347472"/>
          </a:xfrm>
          <a:prstGeom prst="roundRect">
            <a:avLst>
              <a:gd name="adj" fmla="val 10526"/>
            </a:avLst>
          </a:prstGeom>
          <a:solidFill>
            <a:srgbClr val="6C3FC4">
              <a:alpha val="80000"/>
            </a:srgbClr>
          </a:solidFill>
          <a:ln w="12700">
            <a:solidFill>
              <a:srgbClr val="6C3FC4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926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Good for practice today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868680"/>
            <a:ext cx="2651760" cy="3291840"/>
          </a:xfrm>
          <a:prstGeom prst="rect">
            <a:avLst/>
          </a:prstGeom>
          <a:solidFill>
            <a:srgbClr val="E0F7F5"/>
          </a:solidFill>
          <a:ln w="12700">
            <a:solidFill>
              <a:srgbClr val="E0F7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86868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External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46520" y="1600200"/>
            <a:ext cx="1828800" cy="384048"/>
          </a:xfrm>
          <a:prstGeom prst="roundRect">
            <a:avLst>
              <a:gd name="adj" fmla="val 952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.css file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2200" y="2103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 separate file linked with &lt;link&gt;.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2926080"/>
            <a:ext cx="2286000" cy="347472"/>
          </a:xfrm>
          <a:prstGeom prst="roundRect">
            <a:avLst>
              <a:gd name="adj" fmla="val 10526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926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Best for real projects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389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Today we'll use the Internal method (&lt;style&gt; in &lt;head&gt;) to practice.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a CSS Selector?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840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Think of it like...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🎯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A selector TARGETS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which HTML element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you want to style.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474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Without a selector, CSS doesn't know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where to apply the style!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822960"/>
            <a:ext cx="4297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FC4"/>
                </a:solidFill>
              </a:rPr>
              <a:t>CSS Rule Anatomy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114800" cy="13716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371600"/>
            <a:ext cx="4114800" cy="1371600"/>
          </a:xfrm>
          <a:prstGeom prst="rect">
            <a:avLst/>
          </a:prstGeom>
          <a:noFill/>
          <a:ln/>
        </p:spPr>
        <p:txBody>
          <a:bodyPr wrap="square" lIns="101600" tIns="203200" rIns="2032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buNone/>
            </a:pPr>
            <a:r>
              <a:rPr lang="en-US" sz="22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2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</a:t>
            </a:r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663440" y="2980944"/>
            <a:ext cx="137160" cy="137160"/>
          </a:xfrm>
          <a:prstGeom prst="ellipse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926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Selector — tells CSS WHAT to target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392424"/>
            <a:ext cx="137160" cy="137160"/>
          </a:xfrm>
          <a:prstGeom prst="ellipse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337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Property — what you want to change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803904"/>
            <a:ext cx="137160" cy="137160"/>
          </a:xfrm>
          <a:prstGeom prst="ellipse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749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Value — how you want to change 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4215384"/>
            <a:ext cx="137160" cy="137160"/>
          </a:xfrm>
          <a:prstGeom prst="ellipse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4160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{ } — always wrap rules in curly braces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4 Selectors You Need to Know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011680" cy="4114800"/>
          </a:xfrm>
          <a:prstGeom prst="rect">
            <a:avLst/>
          </a:prstGeom>
          <a:solidFill>
            <a:srgbClr val="E0F7F5"/>
          </a:solidFill>
          <a:ln w="12700">
            <a:solidFill>
              <a:srgbClr val="E0F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86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4447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Type Selector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1737360" cy="384048"/>
          </a:xfrm>
          <a:prstGeom prst="roundRect">
            <a:avLst>
              <a:gd name="adj" fmla="val 952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20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3957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Targets ALL elements of that tag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" y="2999232"/>
            <a:ext cx="1883664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35808"/>
            <a:ext cx="1828800" cy="1572768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color: blue;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Every &lt;p&gt; turns blue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04872" y="777240"/>
            <a:ext cx="2011680" cy="4114800"/>
          </a:xfrm>
          <a:prstGeom prst="rect">
            <a:avLst/>
          </a:prstGeom>
          <a:solidFill>
            <a:srgbClr val="FDEAF4"/>
          </a:solidFill>
          <a:ln w="12700">
            <a:solidFill>
              <a:srgbClr val="FDEA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04872" y="777240"/>
            <a:ext cx="2011680" cy="54864"/>
          </a:xfrm>
          <a:prstGeom prst="rect">
            <a:avLst/>
          </a:prstGeom>
          <a:solidFill>
            <a:srgbClr val="E94FA0"/>
          </a:solidFill>
          <a:ln w="12700">
            <a:solidFill>
              <a:srgbClr val="E94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886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50592" y="14447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FA0"/>
                </a:solidFill>
              </a:rPr>
              <a:t>Class Selector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42032" y="1920240"/>
            <a:ext cx="1737360" cy="384048"/>
          </a:xfrm>
          <a:prstGeom prst="roundRect">
            <a:avLst>
              <a:gd name="adj" fmla="val 952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1920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.box { 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96312" y="23957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Targets elements with a class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78024" y="2999232"/>
            <a:ext cx="1883664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4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3035808"/>
            <a:ext cx="1828800" cy="1572768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.box { color: red;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Only class='box'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81144" y="777240"/>
            <a:ext cx="2011680" cy="4114800"/>
          </a:xfrm>
          <a:prstGeom prst="rect">
            <a:avLst/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81144" y="777240"/>
            <a:ext cx="20116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81144" y="886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🪪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26864" y="14447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ID Selector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18304" y="1920240"/>
            <a:ext cx="1737360" cy="384048"/>
          </a:xfrm>
          <a:prstGeom prst="roundRect">
            <a:avLst>
              <a:gd name="adj" fmla="val 952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1920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#title { }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72584" y="23957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Targets ONE unique element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54296" y="2999232"/>
            <a:ext cx="1883664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72584" y="3035808"/>
            <a:ext cx="1828800" cy="1572768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#title { font-size: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40px; }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57416" y="777240"/>
            <a:ext cx="2011680" cy="4114800"/>
          </a:xfrm>
          <a:prstGeom prst="rect">
            <a:avLst/>
          </a:prstGeom>
          <a:solidFill>
            <a:srgbClr val="EDE4FF"/>
          </a:solidFill>
          <a:ln w="12700">
            <a:solidFill>
              <a:srgbClr val="EDE4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57416" y="777240"/>
            <a:ext cx="2011680" cy="54864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57416" y="886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03136" y="14447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FC4"/>
                </a:solidFill>
              </a:rPr>
              <a:t>Universal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94576" y="1920240"/>
            <a:ext cx="1737360" cy="384048"/>
          </a:xfrm>
          <a:prstGeom prst="roundRect">
            <a:avLst>
              <a:gd name="adj" fmla="val 952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94576" y="1920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 }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48856" y="23957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Targets EVERY element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30568" y="2999232"/>
            <a:ext cx="1883664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48856" y="3035808"/>
            <a:ext cx="1828800" cy="1572768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 font-family: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Arial; 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94FA0"/>
          </a:solidFill>
          <a:ln w="12700">
            <a:solidFill>
              <a:srgbClr val="E94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🤔 Class vs ID — What's the Difference?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4114800"/>
          </a:xfrm>
          <a:prstGeom prst="rect">
            <a:avLst/>
          </a:prstGeom>
          <a:solidFill>
            <a:srgbClr val="FDEAF4"/>
          </a:solidFill>
          <a:ln w="12700">
            <a:solidFill>
              <a:srgbClr val="FD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3931920" cy="54864"/>
          </a:xfrm>
          <a:prstGeom prst="rect">
            <a:avLst/>
          </a:prstGeom>
          <a:solidFill>
            <a:srgbClr val="E94FA0"/>
          </a:solidFill>
          <a:ln w="12700">
            <a:solidFill>
              <a:srgbClr val="E94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86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.class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1B4B"/>
                </a:solidFill>
              </a:rPr>
              <a:t>🏫 Like a school uniform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Many students wear the same uniform.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Many HTML elements can share one class.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560320"/>
            <a:ext cx="36576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60320"/>
            <a:ext cx="3657600" cy="914400"/>
          </a:xfrm>
          <a:prstGeom prst="rect">
            <a:avLst/>
          </a:prstGeom>
          <a:noFill/>
          <a:ln/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class="note"&gt;Hi&lt;/p&gt;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class="note"&gt;Bye&lt;/p&gt;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2743200" cy="347472"/>
          </a:xfrm>
          <a:prstGeom prst="roundRect">
            <a:avLst>
              <a:gd name="adj" fmla="val 10526"/>
            </a:avLst>
          </a:prstGeom>
          <a:solidFill>
            <a:srgbClr val="E94FA0">
              <a:alpha val="85000"/>
            </a:srgbClr>
          </a:solidFill>
          <a:ln w="12700">
            <a:solidFill>
              <a:srgbClr val="E94FA0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657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Multiple elements can share a class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777240"/>
            <a:ext cx="3931920" cy="4114800"/>
          </a:xfrm>
          <a:prstGeom prst="rect">
            <a:avLst/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777240"/>
            <a:ext cx="393192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886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#id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029200" y="14447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1B4B"/>
                </a:solidFill>
              </a:rPr>
              <a:t>🪪 Like a National ID Card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8745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Every person has ONE unique ID.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Every ID must appear only ONCE on a page.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74920" y="2560320"/>
            <a:ext cx="36576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560320"/>
            <a:ext cx="3657600" cy="914400"/>
          </a:xfrm>
          <a:prstGeom prst="rect">
            <a:avLst/>
          </a:prstGeom>
          <a:noFill/>
          <a:ln/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 id="title"&gt;Hello&lt;/h1&gt;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94960" y="3657600"/>
            <a:ext cx="2743200" cy="347472"/>
          </a:xfrm>
          <a:prstGeom prst="roundRect">
            <a:avLst>
              <a:gd name="adj" fmla="val 10526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3657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⚠️ Only ONE element per ID on a page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365760"/>
            <a:ext cx="1828800" cy="18288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" y="3474720"/>
            <a:ext cx="1645920" cy="1645920"/>
          </a:xfrm>
          <a:prstGeom prst="ellipse">
            <a:avLst/>
          </a:prstGeom>
          <a:solidFill>
            <a:srgbClr val="EAB308">
              <a:alpha val="40000"/>
            </a:srgbClr>
          </a:solidFill>
          <a:ln w="12700">
            <a:solidFill>
              <a:srgbClr val="EAB30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EAB308">
              <a:alpha val="95000"/>
            </a:srgbClr>
          </a:solidFill>
          <a:ln w="12700">
            <a:solidFill>
              <a:srgbClr val="EAB308">
                <a:alpha val="9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✏️ Activity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Practice: CSS Selectors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F3FC"/>
                </a:solidFill>
              </a:rPr>
              <a:t>⏱ 8 minutes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2834640"/>
          </a:xfrm>
          <a:prstGeom prst="rect">
            <a:avLst/>
          </a:prstGeom>
          <a:solidFill>
            <a:srgbClr val="2D2A5E"/>
          </a:solidFill>
          <a:ln w="12700">
            <a:solidFill>
              <a:srgbClr val="2D2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07568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01168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Create a page: one &lt;h1&gt;, two &lt;p&gt; tags, and a &lt;ul&gt; list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697480"/>
            <a:ext cx="274320" cy="274320"/>
          </a:xfrm>
          <a:prstGeom prst="ellipse">
            <a:avLst/>
          </a:prstGeom>
          <a:solidFill>
            <a:srgbClr val="E94FA0"/>
          </a:solidFill>
          <a:ln w="12700">
            <a:solidFill>
              <a:srgbClr val="E94F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63347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Use a type selector to make ALL &lt;p&gt; tags gray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319272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255264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Add class="special" to one &lt;p&gt; — make it bold and a new color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941064"/>
            <a:ext cx="274320" cy="27432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41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877056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Add id="main-title" to the &lt;h1&gt; — center it with text-align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C86C4"/>
                </a:solidFill>
              </a:rPr>
              <a:t>💡 Use the &lt;style&gt; tag inside your HTML &lt;head&gt; to write your CSS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E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94FA0"/>
          </a:solidFill>
          <a:ln w="12700">
            <a:solidFill>
              <a:srgbClr val="E94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CSS Text Styling — The Big 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These 7 properties are the most-used in CSS.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Master these and you'll style 90% of text on any webpage!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54864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91056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9105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59105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 / #FF0000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59105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Text color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258568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58568"/>
            <a:ext cx="54864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386584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8658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38658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24px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38658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Size of text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054096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054096"/>
            <a:ext cx="54864" cy="64008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182112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8211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font-family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31821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Arial, sans-serif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66160" y="318211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Typeface / font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849624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849624"/>
            <a:ext cx="54864" cy="640080"/>
          </a:xfrm>
          <a:prstGeom prst="rect">
            <a:avLst/>
          </a:prstGeom>
          <a:solidFill>
            <a:srgbClr val="E94FA0"/>
          </a:solidFill>
          <a:ln w="12700">
            <a:solidFill>
              <a:srgbClr val="E94F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977640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776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font-weight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03120" y="3977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bold / normal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66160" y="39776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Thin or bold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46304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463040"/>
            <a:ext cx="54864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1591056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59105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text-align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159105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/ center / right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159105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Alignment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258568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2258568"/>
            <a:ext cx="54864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2386584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38658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text-decoration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238658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underline / none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46720" y="238658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Underline etc.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054096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3054096"/>
            <a:ext cx="54864" cy="64008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92040" y="3182112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18211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line-height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83680" y="31821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046720" y="318211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Line spacing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Properties 1–3: color  /  font-size  /  font-family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651760" cy="4114800"/>
          </a:xfrm>
          <a:prstGeom prst="rect">
            <a:avLst/>
          </a:prstGeom>
          <a:solidFill>
            <a:srgbClr val="E0F7F5"/>
          </a:solidFill>
          <a:ln w="12700">
            <a:solidFill>
              <a:srgbClr val="E0F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86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Changes text color.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Start with named colors,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then learn hex codes later.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2468880" cy="21945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68880"/>
            <a:ext cx="2468880" cy="2194560"/>
          </a:xfrm>
          <a:prstGeom prst="rect">
            <a:avLst/>
          </a:prstGeom>
          <a:noFill/>
          <a:ln/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red;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or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#FF0000;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651760" cy="4114800"/>
          </a:xfrm>
          <a:prstGeom prst="rect">
            <a:avLst/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777240"/>
            <a:ext cx="26517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886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46120" y="13716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Controls text size.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Use px for now.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em &amp; rem come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in later lessons.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2468880"/>
            <a:ext cx="2468880" cy="21945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468880"/>
            <a:ext cx="2468880" cy="2194560"/>
          </a:xfrm>
          <a:prstGeom prst="rect">
            <a:avLst/>
          </a:prstGeom>
          <a:noFill/>
          <a:ln/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36px;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16px;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777240"/>
            <a:ext cx="2651760" cy="4114800"/>
          </a:xfrm>
          <a:prstGeom prst="rect">
            <a:avLst/>
          </a:prstGeom>
          <a:solidFill>
            <a:srgbClr val="EDE4FF"/>
          </a:solidFill>
          <a:ln w="12700">
            <a:solidFill>
              <a:srgbClr val="EDE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777240"/>
            <a:ext cx="2651760" cy="54864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886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3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font-family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26480" y="13716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Sets the typeface.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Always add a fallback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font after a comma.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468880"/>
            <a:ext cx="2468880" cy="21945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468880"/>
            <a:ext cx="2468880" cy="2194560"/>
          </a:xfrm>
          <a:prstGeom prst="rect">
            <a:avLst/>
          </a:prstGeom>
          <a:noFill/>
          <a:ln/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Arial,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sans-serif;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Properties 4–7: font-weight / text-align / text-decoration / line-height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011680" cy="4114800"/>
          </a:xfrm>
          <a:prstGeom prst="rect">
            <a:avLst/>
          </a:prstGeom>
          <a:solidFill>
            <a:srgbClr val="FDEAF4"/>
          </a:solidFill>
          <a:ln w="12700">
            <a:solidFill>
              <a:srgbClr val="FD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2011680" cy="54864"/>
          </a:xfrm>
          <a:prstGeom prst="rect">
            <a:avLst/>
          </a:prstGeom>
          <a:solidFill>
            <a:srgbClr val="E94FA0"/>
          </a:solidFill>
          <a:ln w="12700">
            <a:solidFill>
              <a:srgbClr val="E94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8696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4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font-weight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Bold or normal weight.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" y="2103120"/>
            <a:ext cx="1883664" cy="2651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2103120"/>
            <a:ext cx="1883664" cy="2651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font-weight: bold;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font-weight: normal;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04872" y="777240"/>
            <a:ext cx="2011680" cy="4114800"/>
          </a:xfrm>
          <a:prstGeom prst="rect">
            <a:avLst/>
          </a:prstGeom>
          <a:solidFill>
            <a:srgbClr val="E0F7F5"/>
          </a:solidFill>
          <a:ln w="12700">
            <a:solidFill>
              <a:srgbClr val="E0F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04872" y="77724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88696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text-align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96312" y="14173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Align left, center, or right.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78024" y="2103120"/>
            <a:ext cx="1883664" cy="2651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78024" y="2103120"/>
            <a:ext cx="1883664" cy="2651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left;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81144" y="777240"/>
            <a:ext cx="2011680" cy="4114800"/>
          </a:xfrm>
          <a:prstGeom prst="rect">
            <a:avLst/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81144" y="777240"/>
            <a:ext cx="20116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88696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text-decoration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72584" y="14173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Underlines and strikethrough.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54296" y="2103120"/>
            <a:ext cx="1883664" cy="2651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296" y="2103120"/>
            <a:ext cx="1883664" cy="2651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text-decoration: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none;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Removes underline */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57416" y="777240"/>
            <a:ext cx="2011680" cy="4114800"/>
          </a:xfrm>
          <a:prstGeom prst="rect">
            <a:avLst/>
          </a:prstGeom>
          <a:solidFill>
            <a:srgbClr val="EDE4FF"/>
          </a:solidFill>
          <a:ln w="12700">
            <a:solidFill>
              <a:srgbClr val="EDE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57416" y="777240"/>
            <a:ext cx="2011680" cy="54864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88696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line-height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48856" y="14173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Space between lines.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1.5 is very readable.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30568" y="2103120"/>
            <a:ext cx="1883664" cy="2651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0568" y="2103120"/>
            <a:ext cx="1883664" cy="2651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line-height: 1.6;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Try 1 vs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to see the diff! */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🖥️ Putting It All Together — Full Example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2D2A5E"/>
          </a:solidFill>
          <a:ln w="12700">
            <a:solidFill>
              <a:srgbClr val="2D2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86C4"/>
                </a:solidFill>
              </a:rPr>
              <a:t>style.css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4023360" cy="3657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Arial, sans-serif;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darkblue;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36px;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16px;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line-height: 1.6;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.intro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purple;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font-weight: bold;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Browser Preview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207008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25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8B"/>
                </a:solidFill>
              </a:rPr>
              <a:t>My Blog Post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1920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80"/>
                </a:solidFill>
              </a:rPr>
              <a:t>Welcome to my first post!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3774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This paragraph has comfortable line spacing and a readable size.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3063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Another paragraph — same style applied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457200"/>
            <a:ext cx="2011680" cy="2011680"/>
          </a:xfrm>
          <a:prstGeom prst="ellipse">
            <a:avLst/>
          </a:prstGeom>
          <a:solidFill>
            <a:srgbClr val="E94FA0">
              <a:alpha val="35000"/>
            </a:srgbClr>
          </a:solidFill>
          <a:ln w="12700">
            <a:solidFill>
              <a:srgbClr val="E94FA0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3291840"/>
            <a:ext cx="1828800" cy="1828800"/>
          </a:xfrm>
          <a:prstGeom prst="ellipse">
            <a:avLst/>
          </a:prstGeom>
          <a:solidFill>
            <a:srgbClr val="F97316">
              <a:alpha val="35000"/>
            </a:srgbClr>
          </a:solidFill>
          <a:ln w="1270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E94FA0">
              <a:alpha val="95000"/>
            </a:srgbClr>
          </a:solidFill>
          <a:ln w="12700">
            <a:solidFill>
              <a:srgbClr val="E94FA0">
                <a:alpha val="9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✏️ Activity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 Styling Practice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F3FC"/>
                </a:solidFill>
              </a:rPr>
              <a:t>⏱ 10 minutes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2926080"/>
          </a:xfrm>
          <a:prstGeom prst="rect">
            <a:avLst/>
          </a:prstGeom>
          <a:solidFill>
            <a:srgbClr val="2D2A5E"/>
          </a:solidFill>
          <a:ln w="12700">
            <a:solidFill>
              <a:srgbClr val="2D2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07568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B4B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0116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Set the whole page to font-family: Arial, sans-serif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606040"/>
            <a:ext cx="274320" cy="274320"/>
          </a:xfrm>
          <a:prstGeom prst="ellipse">
            <a:avLst/>
          </a:prstGeom>
          <a:solidFill>
            <a:srgbClr val="E94FA0"/>
          </a:solidFill>
          <a:ln w="12700">
            <a:solidFill>
              <a:srgbClr val="E94F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B4B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2542032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Make &lt;h1&gt;: centered, font-size 36px, dark blue color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136392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B4B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3072384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Set all &lt;p&gt;: font-size 16px and line-height 1.6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666744"/>
            <a:ext cx="274320" cy="27432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B4B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3602736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Create .highlight: different color, bold, underline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4197096"/>
            <a:ext cx="274320" cy="274320"/>
          </a:xfrm>
          <a:prstGeom prst="ellipse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197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B4B"/>
                </a:solidFill>
              </a:rPr>
              <a:t>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" y="413308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Bonus: Remove underline from &lt;a&gt; with text-decoration: none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🚀 Mini Project — Style a Blog Page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Put EVERYTHING together! Build and style this page from scratch.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931920" cy="36118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393192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984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What to build (HTML)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83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An &lt;h1&gt; with id="main-title"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286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Two &lt;p&gt; tags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788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One &lt;p&gt; with class="intro"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291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A &lt;ul&gt; list with 3 items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794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An &lt;a href="#"&gt; link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1188720"/>
            <a:ext cx="3931920" cy="3611880"/>
          </a:xfrm>
          <a:prstGeom prst="rect">
            <a:avLst/>
          </a:prstGeom>
          <a:solidFill>
            <a:srgbClr val="EDE4FF"/>
          </a:solidFill>
          <a:ln w="12700">
            <a:solidFill>
              <a:srgbClr val="EDE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1188720"/>
            <a:ext cx="3931920" cy="54864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2984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FC4"/>
                </a:solidFill>
              </a:rPr>
              <a:t>What to style (CSS)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20640" y="1828800"/>
            <a:ext cx="182880" cy="182880"/>
          </a:xfrm>
          <a:prstGeom prst="ellipse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783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body → font-family, background-color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0" y="2331720"/>
            <a:ext cx="182880" cy="182880"/>
          </a:xfrm>
          <a:prstGeom prst="ellipse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2286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#main-title → color, font-size, text-align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20640" y="2834640"/>
            <a:ext cx="182880" cy="182880"/>
          </a:xfrm>
          <a:prstGeom prst="ellipse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2788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p → font-size, line-height, color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20640" y="3337560"/>
            <a:ext cx="182880" cy="182880"/>
          </a:xfrm>
          <a:prstGeom prst="ellipse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3291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.intro → bold, different color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20640" y="3840480"/>
            <a:ext cx="182880" cy="182880"/>
          </a:xfrm>
          <a:prstGeom prst="ellipse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3794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a → remove underline with text-decoration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371600" y="4663440"/>
            <a:ext cx="6400800" cy="347472"/>
          </a:xfrm>
          <a:prstGeom prst="roundRect">
            <a:avLst>
              <a:gd name="adj" fmla="val 13158"/>
            </a:avLst>
          </a:prstGeom>
          <a:solidFill>
            <a:srgbClr val="16A34A">
              <a:alpha val="85000"/>
            </a:srgbClr>
          </a:solidFill>
          <a:ln w="12700">
            <a:solidFill>
              <a:srgbClr val="16A34A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46634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⏱ 15 minutes — Show your result to the class when done!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6C3FC4">
              <a:alpha val="30000"/>
            </a:srgbClr>
          </a:solidFill>
          <a:ln w="12700">
            <a:solidFill>
              <a:srgbClr val="6C3FC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E94FA0">
              <a:alpha val="30000"/>
            </a:srgbClr>
          </a:solidFill>
          <a:ln w="12700">
            <a:solidFill>
              <a:srgbClr val="E94FA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AB3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🎉 Great Work Today!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B4FC"/>
                </a:solidFill>
              </a:rPr>
              <a:t>You learned today: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47472" cy="347472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🏷️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Type, Class, ID &amp; Universal selectors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347472" cy="347472"/>
          </a:xfrm>
          <a:prstGeom prst="ellipse">
            <a:avLst/>
          </a:prstGeom>
          <a:solidFill>
            <a:srgbClr val="E94FA0">
              <a:alpha val="80000"/>
            </a:srgbClr>
          </a:solidFill>
          <a:ln w="12700">
            <a:solidFill>
              <a:srgbClr val="E94FA0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color, font-size, font-family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47472" cy="347472"/>
          </a:xfrm>
          <a:prstGeom prst="ellipse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✏️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606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font-weight, text-align, text-decoration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347472" cy="347472"/>
          </a:xfrm>
          <a:prstGeom prst="ellipse">
            <a:avLst/>
          </a:prstGeom>
          <a:solidFill>
            <a:srgbClr val="9B6DD6">
              <a:alpha val="80000"/>
            </a:srgbClr>
          </a:solidFill>
          <a:ln w="12700">
            <a:solidFill>
              <a:srgbClr val="9B6DD6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line-height for comfortable reading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114800" cy="3200400"/>
          </a:xfrm>
          <a:prstGeom prst="rect">
            <a:avLst/>
          </a:prstGeom>
          <a:solidFill>
            <a:srgbClr val="2D2A5E"/>
          </a:solidFill>
          <a:ln w="12700">
            <a:solidFill>
              <a:srgbClr val="2D2A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914400"/>
            <a:ext cx="4114800" cy="54864"/>
          </a:xfrm>
          <a:prstGeom prst="rect">
            <a:avLst/>
          </a:prstGeom>
          <a:solidFill>
            <a:srgbClr val="E94FA0"/>
          </a:solidFill>
          <a:ln w="12700">
            <a:solidFill>
              <a:srgbClr val="E94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02412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FA0"/>
                </a:solidFill>
              </a:rPr>
              <a:t>Coming up next...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→  The Box Model (margin, padding, border)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1214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→  Background colors &amp; images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68833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→  Styling lists &amp; links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25526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→  CSS Specificity explained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EAB308">
              <a:alpha val="85000"/>
            </a:srgbClr>
          </a:solidFill>
          <a:ln w="12700">
            <a:solidFill>
              <a:srgbClr val="EAB308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📝 Homework: Style a page about your favorite topic using only today's properties!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Selectors &amp; Text Styling</dc:title>
  <dc:subject>PptxGenJS Presentation</dc:subject>
  <dc:creator>PptxGenJS</dc:creator>
  <cp:lastModifiedBy>PptxGenJS</cp:lastModifiedBy>
  <cp:revision>1</cp:revision>
  <dcterms:created xsi:type="dcterms:W3CDTF">2026-05-07T03:17:43Z</dcterms:created>
  <dcterms:modified xsi:type="dcterms:W3CDTF">2026-05-07T03:17:43Z</dcterms:modified>
</cp:coreProperties>
</file>