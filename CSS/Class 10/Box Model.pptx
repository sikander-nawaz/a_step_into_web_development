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560320" cy="2560320"/>
          </a:xfrm>
          <a:prstGeom prst="ellipse">
            <a:avLst/>
          </a:prstGeom>
          <a:solidFill>
            <a:srgbClr val="0D9488">
              <a:alpha val="38000"/>
            </a:srgbClr>
          </a:solidFill>
          <a:ln w="12700">
            <a:solidFill>
              <a:srgbClr val="0D9488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91840"/>
            <a:ext cx="2377440" cy="2377440"/>
          </a:xfrm>
          <a:prstGeom prst="ellipse">
            <a:avLst/>
          </a:prstGeom>
          <a:solidFill>
            <a:srgbClr val="E94FA0">
              <a:alpha val="35000"/>
            </a:srgbClr>
          </a:solidFill>
          <a:ln w="12700">
            <a:solidFill>
              <a:srgbClr val="E94FA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1554480" cy="1554480"/>
          </a:xfrm>
          <a:prstGeom prst="ellipse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4206240"/>
            <a:ext cx="1097280" cy="1097280"/>
          </a:xfrm>
          <a:prstGeom prst="ellipse">
            <a:avLst/>
          </a:prstGeom>
          <a:solidFill>
            <a:srgbClr val="6C3FC4">
              <a:alpha val="40000"/>
            </a:srgbClr>
          </a:solidFill>
          <a:ln w="12700">
            <a:solidFill>
              <a:srgbClr val="6C3FC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7772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D9488">
              <a:alpha val="90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77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 — Lesson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Deep Dive: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Box, Backgrounds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5F3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Lists &amp; Specificity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5B4FC"/>
                </a:solidFill>
              </a:rPr>
              <a:t>Everything you need to control layout, style, and priority in CSS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4622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6C4"/>
                </a:solidFill>
              </a:rPr>
              <a:t>⏱ 60 Minutes  ·  👨‍💻 Beginners  ·  📋 Theory + Code +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We'll Cover Today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29968" cy="384048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41248"/>
            <a:ext cx="20299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07899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9184" y="190195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The Box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23774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Padding · Border ·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382219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~18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32304" y="841248"/>
            <a:ext cx="2029968" cy="384048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841248"/>
            <a:ext cx="2029968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078992"/>
            <a:ext cx="640080" cy="640080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05456" y="190195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FC4"/>
                </a:solidFill>
              </a:rPr>
              <a:t>Background &amp; Images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05456" y="23774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Colors &amp; bg-image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70048" y="382219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6C3FC4">
              <a:alpha val="85000"/>
            </a:srgbClr>
          </a:solidFill>
          <a:ln w="12700">
            <a:solidFill>
              <a:srgbClr val="6C3FC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~12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841248"/>
            <a:ext cx="2029968" cy="384048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841248"/>
            <a:ext cx="20299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078992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③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81728" y="190195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Lists &amp; Links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1728" y="23774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Bullet styles &amp; link states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82219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~12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841248"/>
            <a:ext cx="2029968" cy="384048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84848" y="841248"/>
            <a:ext cx="2029968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9792" y="1078992"/>
            <a:ext cx="640080" cy="640080"/>
          </a:xfrm>
          <a:prstGeom prst="ellipse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④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58000" y="1901952"/>
            <a:ext cx="18836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FA0"/>
                </a:solidFill>
              </a:rPr>
              <a:t>CSS Specificity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377440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Which rule wins?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3822192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E94FA0">
              <a:alpha val="85000"/>
            </a:srgbClr>
          </a:solidFill>
          <a:ln w="12700">
            <a:solidFill>
              <a:srgbClr val="E94FA0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~10 min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🚀 Final Mini Project — put all 4 topics together (last 8 min)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📦  The Box Model — Every Element is a Box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In CSS, every HTML element is treated as a rectangular box made of 4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1148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72768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572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The actual text / image inside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6400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322576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0D9488">
              <a:alpha val="90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225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Padding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92224" y="23225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Space INSIDE the border around content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41148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44368"/>
            <a:ext cx="6400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072384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723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Border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92224" y="3072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The visible line around the padding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94176"/>
            <a:ext cx="4114800" cy="62179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94176"/>
            <a:ext cx="64008" cy="621792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822192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6C3FC4">
              <a:alpha val="90000"/>
            </a:srgbClr>
          </a:solidFill>
          <a:ln w="12700">
            <a:solidFill>
              <a:srgbClr val="6C3FC4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221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Margin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92224" y="38221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</a:rPr>
              <a:t>Space OUTSIDE the border (between elements)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804672"/>
            <a:ext cx="4206240" cy="3383280"/>
          </a:xfrm>
          <a:prstGeom prst="rect">
            <a:avLst/>
          </a:prstGeom>
          <a:solidFill>
            <a:srgbClr val="F3E8FF"/>
          </a:solidFill>
          <a:ln w="12700">
            <a:solidFill>
              <a:srgbClr val="6C3FC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736592" y="8412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FC4"/>
                </a:solidFill>
              </a:rPr>
              <a:t>MARGIN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47488" y="1170432"/>
            <a:ext cx="3419856" cy="2651760"/>
          </a:xfrm>
          <a:prstGeom prst="rect">
            <a:avLst/>
          </a:prstGeom>
          <a:solidFill>
            <a:srgbClr val="FFF0E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2070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BORDER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31536" y="1517904"/>
            <a:ext cx="2651760" cy="1938528"/>
          </a:xfrm>
          <a:prstGeom prst="rect">
            <a:avLst/>
          </a:prstGeom>
          <a:solidFill>
            <a:srgbClr val="E0F7F5"/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486400" y="155448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PADDING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15584" y="1883664"/>
            <a:ext cx="1883664" cy="122529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15584" y="22494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CONTENT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40740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💡 Tip: Open DevTools → right-click any element → Inspect → see the box model live!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📐  Padding — Space INSIDE the Border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E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Padding pushes the content away from the border. It adds breathing room inside the element.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91056"/>
            <a:ext cx="3474720" cy="1664208"/>
          </a:xfrm>
          <a:prstGeom prst="rect">
            <a:avLst/>
          </a:prstGeom>
          <a:solidFill>
            <a:srgbClr val="E0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2763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padding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15568" y="1901952"/>
            <a:ext cx="2706624" cy="1042416"/>
          </a:xfrm>
          <a:prstGeom prst="rect">
            <a:avLst/>
          </a:prstGeom>
          <a:solidFill>
            <a:srgbClr val="A7F3D0"/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115568" y="1901952"/>
            <a:ext cx="27066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Content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Shorthand values: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749040"/>
            <a:ext cx="3931920" cy="310896"/>
          </a:xfrm>
          <a:prstGeom prst="roundRect">
            <a:avLst>
              <a:gd name="adj" fmla="val 88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490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20px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37490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All 4 sides = 20px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4096512"/>
            <a:ext cx="3931920" cy="310896"/>
          </a:xfrm>
          <a:prstGeom prst="roundRect">
            <a:avLst>
              <a:gd name="adj" fmla="val 88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965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10px 20px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40965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Top+Bottom=10 · Left+Right=20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4443984"/>
            <a:ext cx="3931920" cy="310896"/>
          </a:xfrm>
          <a:prstGeom prst="roundRect">
            <a:avLst>
              <a:gd name="adj" fmla="val 882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439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5px 10px 15px 20px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44439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Top Right Bottom Left (clockwise)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822960"/>
            <a:ext cx="4206240" cy="40416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6C4"/>
                </a:solidFill>
              </a:rPr>
              <a:t>padding examples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207008"/>
            <a:ext cx="4041648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All sides */
</a:t>
            </a:r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Individual sides */
</a:t>
            </a:r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10px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padding-right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padding-bottom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10px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padding-left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🔲  Border — The Visible Line Around an Element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A border needs 3 values: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93192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36192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Width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14081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2px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64208" y="171907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How thick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393192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76272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40864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0D9488">
              <a:alpha val="90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40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Style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64208" y="221284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 / dashed / dotted / double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64208" y="252374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Line type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80944"/>
            <a:ext cx="393192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80944"/>
            <a:ext cx="54864" cy="676656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4553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6C3FC4">
              <a:alpha val="90000"/>
            </a:srgbClr>
          </a:solidFill>
          <a:ln w="12700">
            <a:solidFill>
              <a:srgbClr val="6C3FC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64208" y="301752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/ #FF0000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64208" y="3328416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Border color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803904"/>
            <a:ext cx="3931920" cy="658368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803904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BONUS  border-radius: 8px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Rounds the corners — used everywhere in modern design!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822960"/>
            <a:ext cx="4206240" cy="40416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6C4"/>
                </a:solidFill>
              </a:rPr>
              <a:t>border examples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1207008"/>
            <a:ext cx="4041648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Shorthand (most common)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2px solid red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Different sides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border-top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3px dashed blue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1px solid gray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Rounded corners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1px solid #ccc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12px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↔️  Margin — Space OUTSIDE the Element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062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8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Margin pushes elements away from each other. It's invisible — it has no color.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solidFill>
            <a:srgbClr val="EDE4FF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FC4"/>
                </a:solidFill>
              </a:rPr>
              <a:t>Box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157984"/>
            <a:ext cx="2194560" cy="402336"/>
          </a:xfrm>
          <a:prstGeom prst="rect">
            <a:avLst/>
          </a:prstGeom>
          <a:solidFill>
            <a:srgbClr val="F3E8FF"/>
          </a:solidFill>
          <a:ln w="12700">
            <a:solidFill>
              <a:srgbClr val="6C3F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80160" y="21579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3FC4"/>
                </a:solidFill>
              </a:rPr>
              <a:t>← margin: 20px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3474720" cy="548640"/>
          </a:xfrm>
          <a:prstGeom prst="rect">
            <a:avLst/>
          </a:prstGeom>
          <a:solidFill>
            <a:srgbClr val="EDE4FF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1518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FC4"/>
                </a:solidFill>
              </a:rPr>
              <a:t>Box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364992"/>
            <a:ext cx="3931920" cy="768096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364992"/>
            <a:ext cx="54864" cy="768096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4"/>
                </a:solidFill>
              </a:rPr>
              <a:t>⭐ CENTERING TRICK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94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 auto   →  centers a block element horizontally!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3931920" cy="51206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29768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📌 Padding = inside the box    |    Margin = outside the 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06240" cy="40416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6C4"/>
                </a:solidFill>
              </a:rPr>
              <a:t>margin examples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207008"/>
            <a:ext cx="4041648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All sides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Top/Bottom + Left/Right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10px 30px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Center a div */
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800px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auto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📦  Box Model — Quick Reference Cheatsheet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206240" cy="2011680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Padding Shorthand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68496" cy="142646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16736"/>
            <a:ext cx="3858768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10px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5px 10px 15px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padding-top: 10px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804672"/>
            <a:ext cx="4206240" cy="2011680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804672"/>
            <a:ext cx="4206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89611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Border Shorthand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91456" y="1280160"/>
            <a:ext cx="3968496" cy="142646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16736"/>
            <a:ext cx="3858768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2px solid 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border-top: 1px dashed blue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8px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none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999232"/>
            <a:ext cx="4206240" cy="2011680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999232"/>
            <a:ext cx="420624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FC4"/>
                </a:solidFill>
              </a:rPr>
              <a:t>Margin Shorthand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3968496" cy="142646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511296"/>
            <a:ext cx="3858768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10px 20px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0 auto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margin-bottom: 30px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2999232"/>
            <a:ext cx="4206240" cy="2011680"/>
          </a:xfrm>
          <a:prstGeom prst="rect">
            <a:avLst/>
          </a:prstGeom>
          <a:solidFill>
            <a:srgbClr val="FDEAF4"/>
          </a:solidFill>
          <a:ln w="12700">
            <a:solidFill>
              <a:srgbClr val="FD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999232"/>
            <a:ext cx="4206240" cy="54864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09067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FA0"/>
                </a:solidFill>
              </a:rPr>
              <a:t>All Together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3474720"/>
            <a:ext cx="3968496" cy="142646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511296"/>
            <a:ext cx="3858768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 20px;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  1px solid #ccc;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  10px auto;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💡 Remember: T R B L  (Top → Right → Bottom → Left) when using 4 values — clockwise!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🎨  Background — Color &amp; Images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187952" cy="4059936"/>
          </a:xfrm>
          <a:prstGeom prst="rect">
            <a:avLst/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4187952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0"/>
            <a:ext cx="4187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3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39502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26464"/>
            <a:ext cx="457200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517904"/>
            <a:ext cx="3291840" cy="329184"/>
          </a:xfrm>
          <a:prstGeom prst="roundRect">
            <a:avLst>
              <a:gd name="adj" fmla="val 8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5179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39502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84832"/>
            <a:ext cx="45720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2176272"/>
            <a:ext cx="3291840" cy="329184"/>
          </a:xfrm>
          <a:prstGeom prst="roundRect">
            <a:avLst>
              <a:gd name="adj" fmla="val 8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1762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#3B82F6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43200"/>
            <a:ext cx="39502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43200"/>
            <a:ext cx="45720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2834640"/>
            <a:ext cx="3291840" cy="329184"/>
          </a:xfrm>
          <a:prstGeom prst="roundRect">
            <a:avLst>
              <a:gd name="adj" fmla="val 8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2834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rgb(16,185,129)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401568"/>
            <a:ext cx="395020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01568"/>
            <a:ext cx="45720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" y="3493008"/>
            <a:ext cx="3291840" cy="329184"/>
          </a:xfrm>
          <a:prstGeom prst="roundRect">
            <a:avLst>
              <a:gd name="adj" fmla="val 83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493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transparent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4206240" cy="40599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91440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 &amp; more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73168" y="1408176"/>
            <a:ext cx="3986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444752"/>
            <a:ext cx="2084832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447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86016" y="1444752"/>
            <a:ext cx="1664208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14447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url("bg.jpg")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709928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Sets a background image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2029968"/>
            <a:ext cx="3986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066544"/>
            <a:ext cx="2084832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0665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86016" y="2066544"/>
            <a:ext cx="1664208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2066544"/>
            <a:ext cx="1664208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233172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Stretches to fill the element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2651760"/>
            <a:ext cx="3986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688336"/>
            <a:ext cx="2084832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6883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86016" y="2688336"/>
            <a:ext cx="1664208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86016" y="26883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953512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Fits without cropping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73168" y="3273552"/>
            <a:ext cx="3986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310128"/>
            <a:ext cx="2084832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310128"/>
            <a:ext cx="2084832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86016" y="3310128"/>
            <a:ext cx="1664208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6016" y="33101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no-repeat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575304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Stops image from tiling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73168" y="3895344"/>
            <a:ext cx="3986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3931920"/>
            <a:ext cx="2084832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9319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background-position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86016" y="3931920"/>
            <a:ext cx="1664208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6016" y="39319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4197096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Where image is anchored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💡 Common combo: cover + no-repeat + center = hero section background!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📋  Styling Lists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187952" cy="4059936"/>
          </a:xfrm>
          <a:prstGeom prst="rect">
            <a:avLst/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418795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0"/>
            <a:ext cx="4187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Key List Properties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9502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list-style-type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05456" y="141732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Changes bullet shape or removes 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728216"/>
            <a:ext cx="3950208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80136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013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25296" y="180136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18013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75104" y="180136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18013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24912" y="180136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8013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80136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80136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240280"/>
            <a:ext cx="39502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40280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list-style-position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05456" y="224028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Bullet inside or outside the box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551176"/>
            <a:ext cx="3950208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62432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62432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25296" y="262432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262432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outside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063240"/>
            <a:ext cx="39502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063240"/>
            <a:ext cx="2011680" cy="256032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 / margin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05456" y="306324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Reset browser defaults first!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374136"/>
            <a:ext cx="3950208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3447288"/>
            <a:ext cx="676656" cy="256032"/>
          </a:xfrm>
          <a:prstGeom prst="roundRect">
            <a:avLst>
              <a:gd name="adj" fmla="val 1428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4472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922776"/>
            <a:ext cx="3950208" cy="14630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3977640"/>
            <a:ext cx="3822192" cy="13167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Reset + custom style */
</a:t>
            </a:r>
            <a:pPr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list-style-type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822960"/>
            <a:ext cx="420624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Before vs After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73168" y="1408176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❌ Without styling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73168" y="1737360"/>
            <a:ext cx="3986784" cy="107899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17922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Home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56048" y="20299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About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56048" y="2267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Contact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56048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• Blog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73168" y="292608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After styling (nav menu!)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73168" y="3255264"/>
            <a:ext cx="3986784" cy="51206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328416"/>
            <a:ext cx="914400" cy="347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Home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97296" y="3328416"/>
            <a:ext cx="914400" cy="347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97296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About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66560" y="3328416"/>
            <a:ext cx="914400" cy="347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Contact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35824" y="3328416"/>
            <a:ext cx="914400" cy="347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35824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Blog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73168" y="3858768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→ Remove bullets + display inline-block + add padding!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73168" y="4224528"/>
            <a:ext cx="39867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{ display: inline-block; padding: 8px 16px; 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🔗  Styling Links — The 4 States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06240" cy="4059936"/>
          </a:xfrm>
          <a:prstGeom prst="rect">
            <a:avLst/>
          </a:prstGeom>
          <a:solidFill>
            <a:srgbClr val="E0F7F5"/>
          </a:solidFill>
          <a:ln w="12700">
            <a:solidFill>
              <a:srgbClr val="E0F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Pseudo-Classes for Links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54864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63624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636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a:link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48256" y="15636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 link not yet visited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185416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85416"/>
            <a:ext cx="54864" cy="64008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31720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48256" y="23317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A link already clicked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953512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53512"/>
            <a:ext cx="54864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99816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99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48256" y="309981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Mouse is hovering over 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721608"/>
            <a:ext cx="3950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21608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67912"/>
            <a:ext cx="1371600" cy="310896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67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a:active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48256" y="38679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Link being clicked right now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4553712"/>
            <a:ext cx="3950208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53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 matters: LoVe HAte  →  :link  :visited  :hover  :active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822960"/>
            <a:ext cx="4206240" cy="40599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6C4"/>
                </a:solidFill>
              </a:rPr>
              <a:t>link styling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1207008"/>
            <a:ext cx="4041648" cy="35661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Remove underline on all links */
</a:t>
            </a:r>
            <a:pPr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#2563EB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Change on hover */
</a:t>
            </a:r>
            <a:pPr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DDB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#E94FA0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text-decoration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underline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}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Visited links */
</a:t>
            </a:r>
            <a:pPr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DDB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: </a:t>
            </a:r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377440" cy="2377440"/>
          </a:xfrm>
          <a:prstGeom prst="ellipse">
            <a:avLst/>
          </a:prstGeom>
          <a:solidFill>
            <a:srgbClr val="E94FA0">
              <a:alpha val="32000"/>
            </a:srgbClr>
          </a:solidFill>
          <a:ln w="12700">
            <a:solidFill>
              <a:srgbClr val="E94FA0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EAB308">
              <a:alpha val="35000"/>
            </a:srgbClr>
          </a:solidFill>
          <a:ln w="1270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5603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E94FA0">
              <a:alpha val="90000"/>
            </a:srgbClr>
          </a:solidFill>
          <a:ln w="12700">
            <a:solidFill>
              <a:srgbClr val="E94FA0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CSS Specificity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rule wins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two rules conflict?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4114800" cy="2633472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48256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</a:rPr>
              <a:t>The conflict: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395728"/>
            <a:ext cx="3895344" cy="6400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Which wins? */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090672"/>
            <a:ext cx="3895344" cy="6400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.intro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Or this? */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3858768"/>
            <a:ext cx="3895344" cy="530352"/>
          </a:xfrm>
          <a:prstGeom prst="roundRect">
            <a:avLst>
              <a:gd name="adj" fmla="val 10345"/>
            </a:avLst>
          </a:prstGeom>
          <a:solidFill>
            <a:srgbClr val="E94FA0">
              <a:alpha val="80000"/>
            </a:srgbClr>
          </a:solidFill>
          <a:ln w="12700">
            <a:solidFill>
              <a:srgbClr val="E94FA0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5876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B308"/>
                </a:solidFill>
              </a:rPr>
              <a:t>→  .intro wins! Class &gt; Tag selector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160520" cy="2706624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0299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CSS decides using a score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Higher score = that rule is applied.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73168" y="2761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B308"/>
                </a:solidFill>
              </a:rPr>
              <a:t>Think of it like a points game: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3145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style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3182112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182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1000 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3511296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5112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 pts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803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3840480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8404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(p, h1…)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4169664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169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🏆  Specificity — The Priority Pyramid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0" y="868680"/>
            <a:ext cx="182880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9052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!important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216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Overrides everything (use sparingly!)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572768"/>
            <a:ext cx="3108960" cy="658368"/>
          </a:xfrm>
          <a:prstGeom prst="rect">
            <a:avLst/>
          </a:prstGeom>
          <a:solidFill>
            <a:srgbClr val="FFF0E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609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Inline style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style="…"  inside the HTML tag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276856"/>
            <a:ext cx="4572000" cy="658368"/>
          </a:xfrm>
          <a:prstGeom prst="rect">
            <a:avLst/>
          </a:prstGeom>
          <a:solidFill>
            <a:srgbClr val="EDE4FF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3134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FC4"/>
                </a:solidFill>
              </a:rPr>
              <a:t>#ID Selector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624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#header, #main, #footer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2980944"/>
            <a:ext cx="6035040" cy="658368"/>
          </a:xfrm>
          <a:prstGeom prst="rect">
            <a:avLst/>
          </a:prstGeom>
          <a:solidFill>
            <a:srgbClr val="E0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017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.Class / :pseudo / [attr]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3284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.nav, :hover, [type='text']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685032"/>
            <a:ext cx="74980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21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Tag / Element selector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32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h1, p, div, span, ul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868680"/>
            <a:ext cx="36576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" y="868680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← HIGHEST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" y="3685032"/>
            <a:ext cx="402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LOWEST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!important overrides everything — avoid it in real projects; fix specificity properly instead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🧮  Specificity — Calculating the Score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Each selector is given a score. The highest score wins the style conflict.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234440"/>
            <a:ext cx="1463040" cy="1463040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34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1000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Inline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234440"/>
            <a:ext cx="1463040" cy="1463040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234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</a:rPr>
              <a:t>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1463040" cy="14630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1463040" cy="146304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234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Score calculation examples: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218688"/>
            <a:ext cx="2029968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18688"/>
            <a:ext cx="202996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" y="331012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Score: 0,0,0,1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4164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tag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96312" y="3218688"/>
            <a:ext cx="2029968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3218688"/>
            <a:ext cx="20299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42616" y="331012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87752" y="37490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Score: 0,0,1,1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7752" y="404164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class + 1 tag = 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72584" y="3218688"/>
            <a:ext cx="2029968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2584" y="3218688"/>
            <a:ext cx="202996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331012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#header .nav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64024" y="37490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Score: 0,1,1,0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64024" y="404164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id + 1 class = 110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48856" y="3218688"/>
            <a:ext cx="2029968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8856" y="3218688"/>
            <a:ext cx="202996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95160" y="331012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style="…"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0296" y="37490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Score: 1,0,0,0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0296" y="404164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inline = 1000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solidFill>
            <a:srgbClr val="16A34A">
              <a:alpha val="32000"/>
            </a:srgbClr>
          </a:solidFill>
          <a:ln w="12700">
            <a:solidFill>
              <a:srgbClr val="16A34A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474720"/>
            <a:ext cx="2194560" cy="219456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9456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6A34A">
              <a:alpha val="90000"/>
            </a:srgbClr>
          </a:solidFill>
          <a:ln w="12700">
            <a:solidFill>
              <a:srgbClr val="16A34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Styled Profile Card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</a:rPr>
              <a:t>⏱ 8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078224" cy="2834640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756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029968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Create a &lt;div class="card"&gt; with a name, job title, short bio, and a &lt;ul&gt; skills 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35224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889504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 the Box Model: padding inside the card, border around it, margin to center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292608" cy="292608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3749040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Set a background-color on the card and a different one on &lt;body&gt;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0016" y="1901952"/>
            <a:ext cx="4078224" cy="2834640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075688"/>
            <a:ext cx="292608" cy="292608"/>
          </a:xfrm>
          <a:prstGeom prst="ellipse">
            <a:avLst/>
          </a:prstGeom>
          <a:solidFill>
            <a:srgbClr val="E94FA0"/>
          </a:solidFill>
          <a:ln w="12700">
            <a:solidFill>
              <a:srgbClr val="E94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029968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Style the &lt;ul&gt; — remove default bullets, give list items custom spacing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935224"/>
            <a:ext cx="292608" cy="29260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889504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Add a link — style it: remove underline, change color on :hover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794760"/>
            <a:ext cx="292608" cy="292608"/>
          </a:xfrm>
          <a:prstGeom prst="ellipse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749040"/>
            <a:ext cx="3438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⭐ Bonus: Use #card-title and .highlight and notice how specificity affects which style wins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86C4"/>
                </a:solidFill>
              </a:rPr>
              <a:t>Show your card to the class when done — no two should look the same! 🎨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560320" cy="2560320"/>
          </a:xfrm>
          <a:prstGeom prst="ellipse">
            <a:avLst/>
          </a:prstGeom>
          <a:solidFill>
            <a:srgbClr val="6C3FC4">
              <a:alpha val="30000"/>
            </a:srgbClr>
          </a:solidFill>
          <a:ln w="12700">
            <a:solidFill>
              <a:srgbClr val="6C3F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377440" cy="237744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023360"/>
            <a:ext cx="1280160" cy="1280160"/>
          </a:xfrm>
          <a:prstGeom prst="ellipse">
            <a:avLst/>
          </a:prstGeom>
          <a:solidFill>
            <a:srgbClr val="EAB308">
              <a:alpha val="32000"/>
            </a:srgbClr>
          </a:solidFill>
          <a:ln w="12700">
            <a:solidFill>
              <a:srgbClr val="EAB308">
                <a:alpha val="3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🎉  Amazing Work Today!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1060704"/>
            <a:ext cx="365760" cy="365760"/>
          </a:xfrm>
          <a:prstGeom prst="ellipse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60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0058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Box Model: padding (inside), border (line), margin (outside)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82496"/>
            <a:ext cx="365760" cy="365760"/>
          </a:xfrm>
          <a:prstGeom prst="ellipse">
            <a:avLst/>
          </a:prstGeom>
          <a:solidFill>
            <a:srgbClr val="6C3FC4">
              <a:alpha val="75000"/>
            </a:srgbClr>
          </a:solidFill>
          <a:ln w="12700">
            <a:solidFill>
              <a:srgbClr val="6C3FC4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162763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Background: background-color, background-image, size, repeat, position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365760" cy="365760"/>
          </a:xfrm>
          <a:prstGeom prst="ellipse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224942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Lists: list-style-type, remove bullets, style as navigation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926080"/>
            <a:ext cx="365760" cy="365760"/>
          </a:xfrm>
          <a:prstGeom prst="ellipse">
            <a:avLst/>
          </a:prstGeom>
          <a:solidFill>
            <a:srgbClr val="E94FA0">
              <a:alpha val="75000"/>
            </a:srgbClr>
          </a:solidFill>
          <a:ln w="12700">
            <a:solidFill>
              <a:srgbClr val="E94FA0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287121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Links: :link  :visited  :hover  :active pseudo-classes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3547872"/>
            <a:ext cx="365760" cy="365760"/>
          </a:xfrm>
          <a:prstGeom prst="ellipse">
            <a:avLst/>
          </a:prstGeom>
          <a:solidFill>
            <a:srgbClr val="EAB308">
              <a:alpha val="75000"/>
            </a:srgbClr>
          </a:solidFill>
          <a:ln w="12700">
            <a:solidFill>
              <a:srgbClr val="EAB308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4930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Specificity: inline &gt; #id &gt; .class &gt; tag — higher score wins!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4206240"/>
            <a:ext cx="8229600" cy="658368"/>
          </a:xfrm>
          <a:prstGeom prst="rect">
            <a:avLst/>
          </a:prstGeom>
          <a:solidFill>
            <a:srgbClr val="2D2A5E"/>
          </a:solidFill>
          <a:ln w="12700">
            <a:solidFill>
              <a:srgbClr val="2D2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206240"/>
            <a:ext cx="822960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</a:rPr>
              <a:t>📝 Homework: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2793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Recreate a simple webpage (like a product card or profile page) using all 4 topics from today.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2026-05-08T00:06:28Z</dcterms:created>
  <dcterms:modified xsi:type="dcterms:W3CDTF">2026-05-08T00:06:28Z</dcterms:modified>
</cp:coreProperties>
</file>