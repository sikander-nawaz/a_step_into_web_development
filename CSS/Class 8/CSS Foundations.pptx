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Inter ExtraBold"/>
      <p:bold r:id="rId25"/>
      <p:boldItalic r:id="rId26"/>
    </p:embeddedFont>
    <p:embeddedFont>
      <p:font typeface="JetBrains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ExtraBold-boldItalic.fntdata"/><Relationship Id="rId25" Type="http://schemas.openxmlformats.org/officeDocument/2006/relationships/font" Target="fonts/InterExtraBold-bold.fntdata"/><Relationship Id="rId28" Type="http://schemas.openxmlformats.org/officeDocument/2006/relationships/font" Target="fonts/JetBrainsMono-bold.fntdata"/><Relationship Id="rId27" Type="http://schemas.openxmlformats.org/officeDocument/2006/relationships/font" Target="fonts/JetBrains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etBrains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JetBrains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20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9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15277" y="3117056"/>
            <a:ext cx="11561445" cy="890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75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CSS </a:t>
            </a:r>
            <a:r>
              <a:rPr b="0" i="0" lang="en-US" sz="6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Foundations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90550" y="4198143"/>
            <a:ext cx="110109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Building the Visual Architecture of the Modern Web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90550" y="5331618"/>
            <a:ext cx="11010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selector { property: value; }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2381" y="983456"/>
            <a:ext cx="4567088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315277" y="1183481"/>
            <a:ext cx="11561445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Part 1: The Syntax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238750" y="2643187"/>
            <a:ext cx="1714500" cy="76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90550" y="3100387"/>
            <a:ext cx="110109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Rules, Selectors, and Property Declarations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89844"/>
            <a:ext cx="52197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2108894"/>
            <a:ext cx="5181600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90550" y="2547044"/>
            <a:ext cx="521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Selector:</a:t>
            </a: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Targets the HTML element you want to style (e.g., h1, .button).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90550" y="3490019"/>
            <a:ext cx="52197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Property:</a:t>
            </a: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The specific feature you want to change (e.g., color, font-size).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90550" y="4833044"/>
            <a:ext cx="521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Value:</a:t>
            </a: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The specific setting you apply (e.g., blue, 20px).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260895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" y="355193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" y="4894957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81050" y="969912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Anatomy of a CSS Rule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90550" y="969912"/>
            <a:ext cx="11430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2218432"/>
            <a:ext cx="3479750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6050" y="2218432"/>
            <a:ext cx="3479750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1550" y="2218432"/>
            <a:ext cx="3479750" cy="37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990600" y="2942332"/>
            <a:ext cx="281363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1. Inline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990600" y="3599557"/>
            <a:ext cx="26796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Applied directly to the HTML tag via the style attribute.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756100" y="2942332"/>
            <a:ext cx="281363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2. Internal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756100" y="3599557"/>
            <a:ext cx="26796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Defined inside the &lt;/div&gt; tag in the  section.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521600" y="2942332"/>
            <a:ext cx="281363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3. External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521600" y="3599557"/>
            <a:ext cx="267965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Linked via a separate .css file. The professional standard.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81050" y="969912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How to Connect CSS to HTML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90550" y="969912"/>
            <a:ext cx="11430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315277" y="1183481"/>
            <a:ext cx="11561445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Part 2: The Box Model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238750" y="2643187"/>
            <a:ext cx="1714500" cy="76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590550" y="3100387"/>
            <a:ext cx="110109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Most Important Concept in CSS Layout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98625"/>
            <a:ext cx="52197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590550" y="5484762"/>
            <a:ext cx="52197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Tip:</a:t>
            </a:r>
            <a:r>
              <a:rPr b="0" i="0" lang="en-US" sz="1650" u="none" cap="none" strike="noStrik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Use box-sizing: border-box to make sizing intuitive!</a:t>
            </a:r>
            <a:endParaRPr/>
          </a:p>
        </p:txBody>
      </p:sp>
      <p:pic>
        <p:nvPicPr>
          <p:cNvPr descr="image.png" id="143" name="Google Shape;14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2117675"/>
            <a:ext cx="5181600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590550" y="2065287"/>
            <a:ext cx="5219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Content:</a:t>
            </a: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The text or image itself.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590550" y="2608212"/>
            <a:ext cx="521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 Padding:</a:t>
            </a: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Clear space </a:t>
            </a:r>
            <a:r>
              <a:rPr b="0" i="1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around</a:t>
            </a: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the content (inside the border).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590550" y="3551187"/>
            <a:ext cx="521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Border:</a:t>
            </a: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 line surrounding the padding and content.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590550" y="4494162"/>
            <a:ext cx="5219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Margin:</a:t>
            </a: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Space </a:t>
            </a:r>
            <a:r>
              <a:rPr b="0" i="1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outside</a:t>
            </a: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the border (separates boxes).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781050" y="969912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Understanding the Box Model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590550" y="969912"/>
            <a:ext cx="11430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590550" y="5104507"/>
            <a:ext cx="110109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Element Selector (h1, p) Lowest Priority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590550" y="2561332"/>
            <a:ext cx="52197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0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01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590550" y="3609082"/>
            <a:ext cx="5219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ID SELECTOR (#)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590550" y="4047232"/>
            <a:ext cx="5219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strongest selector. Targets one unique element.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6381750" y="2561332"/>
            <a:ext cx="52197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0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02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6381750" y="3609082"/>
            <a:ext cx="5219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CLASS SELECTOR (.)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6381750" y="4047232"/>
            <a:ext cx="5219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Medium priority. Can target multiple elements.</a:t>
            </a:r>
            <a:endParaRPr/>
          </a:p>
        </p:txBody>
      </p:sp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2237" y="5171182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781050" y="969912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Specificity: The Priority System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590550" y="969912"/>
            <a:ext cx="11430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315277" y="1183481"/>
            <a:ext cx="11561445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Part 3: Layout &amp; Units</a:t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5238750" y="2643187"/>
            <a:ext cx="1714500" cy="76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90550" y="3100387"/>
            <a:ext cx="110109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Positioning Elements and Flexible Sizing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2013644"/>
            <a:ext cx="3479750" cy="415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6050" y="2013644"/>
            <a:ext cx="3479750" cy="415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1550" y="2013644"/>
            <a:ext cx="3479750" cy="41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990600" y="3366194"/>
            <a:ext cx="281363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Block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990600" y="4023419"/>
            <a:ext cx="26796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Starts on a new line and takes full width (e.g., , ).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4756100" y="3366194"/>
            <a:ext cx="281363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Inline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4756100" y="4023419"/>
            <a:ext cx="267965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Does not start on a new line. Takes only as much width as needed (e.g., ).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8521600" y="3366194"/>
            <a:ext cx="2813632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Flex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8521600" y="4023419"/>
            <a:ext cx="267965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1D layout powerhouse. Perfect for aligning items in a row or column.</a:t>
            </a:r>
            <a:endParaRPr/>
          </a:p>
        </p:txBody>
      </p:sp>
      <p:pic>
        <p:nvPicPr>
          <p:cNvPr descr="image.png" id="187" name="Google Shape;18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0600" y="2461319"/>
            <a:ext cx="4572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56100" y="2461319"/>
            <a:ext cx="4572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21600" y="2461319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781050" y="969912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Common Display Properties</a:t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590550" y="969912"/>
            <a:ext cx="11430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32707"/>
            <a:ext cx="5219700" cy="293727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590550" y="2399407"/>
            <a:ext cx="5219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Build a styled card with CSS.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790575" y="2989957"/>
            <a:ext cx="1809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971550" y="2989957"/>
            <a:ext cx="4838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Create a div with the class "card".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733425" y="3532882"/>
            <a:ext cx="2381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971550" y="3532882"/>
            <a:ext cx="4838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Set width: 350px and border-radius: 15px.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742950" y="4475857"/>
            <a:ext cx="228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971550" y="4475857"/>
            <a:ext cx="48387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Add padding: 20px and a box-shadow.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733425" y="5418832"/>
            <a:ext cx="2381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971550" y="5418832"/>
            <a:ext cx="4838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</a:t>
            </a: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Flexbox</a:t>
            </a: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to center the text inside.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781050" y="969912"/>
            <a:ext cx="113614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Lab: The Profile Card Challenge</a:t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590550" y="969912"/>
            <a:ext cx="114300" cy="5619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 txBox="1"/>
          <p:nvPr/>
        </p:nvSpPr>
        <p:spPr>
          <a:xfrm>
            <a:off x="315277" y="1222920"/>
            <a:ext cx="115614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Any Questions?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590550" y="2969716"/>
            <a:ext cx="11010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"CSS is not just about making things look pretty. It's about structure and performance."</a:t>
            </a:r>
            <a:endParaRPr/>
          </a:p>
        </p:txBody>
      </p:sp>
      <p:pic>
        <p:nvPicPr>
          <p:cNvPr descr="image.png" id="216" name="Google Shape;21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9336" y="4712791"/>
            <a:ext cx="2333178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