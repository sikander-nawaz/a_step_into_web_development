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0C2FF">
              <a:alpha val="12000"/>
            </a:srgbClr>
          </a:solidFill>
          <a:ln w="12700">
            <a:solidFill>
              <a:srgbClr val="00C2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B48EFF">
              <a:alpha val="12000"/>
            </a:srgbClr>
          </a:solidFill>
          <a:ln w="12700">
            <a:solidFill>
              <a:srgbClr val="B48EF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00C2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CSS LAYOUT MASTERY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Position · Flexbox · Grid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A96B0"/>
                </a:solidFill>
              </a:rPr>
              <a:t>A complete 1-hour lecture on CSS layout fundamentals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20240" y="329184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00C2FF">
              <a:alpha val="8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329184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📐 Position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329184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22D3A0">
              <a:alpha val="80000"/>
            </a:srgbClr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329184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Flexbox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329184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B48EFF">
              <a:alpha val="80000"/>
            </a:srgbClr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29184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🔲 Grid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6B0"/>
                </a:solidFill>
              </a:rPr>
              <a:t>Web Development Fundamentals — Full Lecture Deck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057400" cy="35204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20574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057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1874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CSS Position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2212848"/>
            <a:ext cx="1837944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6B0"/>
                </a:solidFill>
              </a:rPr>
              <a:t>static · relative · absolute · fixed · sticky · z-index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00C2FF">
              <a:alpha val="2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6908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FF"/>
                </a:solidFill>
              </a:rPr>
              <a:t>~18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87168" y="960120"/>
            <a:ext cx="2057400" cy="3520440"/>
          </a:xfrm>
          <a:prstGeom prst="rect">
            <a:avLst/>
          </a:prstGeom>
          <a:solidFill>
            <a:srgbClr val="1B2A3B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960120"/>
            <a:ext cx="2057400" cy="73152"/>
          </a:xfrm>
          <a:prstGeom prst="rect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097280"/>
            <a:ext cx="2057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A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78608" y="1691640"/>
            <a:ext cx="1874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CSS Flexbox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96896" y="2212848"/>
            <a:ext cx="1837944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6B0"/>
                </a:solidFill>
              </a:rPr>
              <a:t>containers · items · alignment · real-world layouts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61488" y="4069080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22D3A0">
              <a:alpha val="25000"/>
            </a:srgbClr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406908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A0"/>
                </a:solidFill>
              </a:rPr>
              <a:t>~20 min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0016" y="960120"/>
            <a:ext cx="2057400" cy="3520440"/>
          </a:xfrm>
          <a:prstGeom prst="rect">
            <a:avLst/>
          </a:prstGeom>
          <a:solidFill>
            <a:srgbClr val="1B2A3B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0016" y="960120"/>
            <a:ext cx="2057400" cy="73152"/>
          </a:xfrm>
          <a:prstGeom prst="rect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1097280"/>
            <a:ext cx="2057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48E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791456" y="1691640"/>
            <a:ext cx="1874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CSS Grid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9744" y="2212848"/>
            <a:ext cx="1837944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6B0"/>
                </a:solidFill>
              </a:rPr>
              <a:t>tracks · fr units · areas · responsive grids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74336" y="4069080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B48EFF">
              <a:alpha val="25000"/>
            </a:srgbClr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4336" y="406908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8EFF"/>
                </a:solidFill>
              </a:rPr>
              <a:t>~18 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12864" y="960120"/>
            <a:ext cx="2057400" cy="3520440"/>
          </a:xfrm>
          <a:prstGeom prst="rect">
            <a:avLst/>
          </a:prstGeom>
          <a:solidFill>
            <a:srgbClr val="1B2A3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12864" y="960120"/>
            <a:ext cx="20574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2864" y="1097280"/>
            <a:ext cx="2057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8C4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004304" y="1691640"/>
            <a:ext cx="1874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Mini Project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22592" y="2212848"/>
            <a:ext cx="1837944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6B0"/>
                </a:solidFill>
              </a:rPr>
              <a:t>Build a full portfolio page layout from scratch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87184" y="4069080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FF8C42">
              <a:alpha val="25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87184" y="406908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8C42"/>
                </a:solidFill>
              </a:rPr>
              <a:t>~4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C2FF">
              <a:alpha val="10000"/>
            </a:srgbClr>
          </a:solidFill>
          <a:ln w="12700">
            <a:solidFill>
              <a:srgbClr val="00C2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0C2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PART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CSS Position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96B0"/>
                </a:solidFill>
              </a:rPr>
              <a:t>Control where elements live — and stack — on your page.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1B2A3B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2900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65960" y="3429000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1B2A3B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342900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relative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3429000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1B2A3B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42900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absolute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3429000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1B2A3B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42900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fixed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3429000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1B2A3B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42900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sticky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35240" y="3429000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1B2A3B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342900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z-index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is CSS Position?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D5166"/>
                </a:solidFill>
              </a:rPr>
              <a:t>The position property defines how an element is placed in the document flow and whether it can be moved using top / right / bottom / left offset properties.</a:t>
            </a:r>
            <a:endParaRPr lang="en-US" sz="125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47472" y="1508760"/>
            <a:ext cx="8449056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347472" y="1508760"/>
            <a:ext cx="54864" cy="594360"/>
          </a:xfrm>
          <a:prstGeom prst="rect">
            <a:avLst/>
          </a:prstGeom>
          <a:solidFill>
            <a:srgbClr val="7A96B0"/>
          </a:solidFill>
          <a:ln w="12700">
            <a:solidFill>
              <a:srgbClr val="7A96B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512064" y="1636776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96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</a:t>
            </a:r>
            <a:endParaRPr lang="en-US" sz="12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901952" y="1636776"/>
            <a:ext cx="6766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</a:rPr>
              <a:t>Default — follows normal document flow. Offset props have no effect.</a:t>
            </a:r>
            <a:endParaRPr lang="en-US" sz="115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347472" y="2167128"/>
            <a:ext cx="8449056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347472" y="2167128"/>
            <a:ext cx="54864" cy="5943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512064" y="2295144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relative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1901952" y="2295144"/>
            <a:ext cx="6766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</a:rPr>
              <a:t>Positioned relative to its own normal position.</a:t>
            </a:r>
            <a:endParaRPr lang="en-US" sz="1150" dirty="0"/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347472" y="2825496"/>
            <a:ext cx="8449056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347472" y="2825496"/>
            <a:ext cx="54864" cy="594360"/>
          </a:xfrm>
          <a:prstGeom prst="rect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512064" y="2953512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absolute</a:t>
            </a:r>
            <a:endParaRPr lang="en-US" sz="120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1901952" y="2953512"/>
            <a:ext cx="6766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</a:rPr>
              <a:t>Removed from flow; positioned relative to nearest positioned ancestor.</a:t>
            </a:r>
            <a:endParaRPr lang="en-US" sz="115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347472" y="3483864"/>
            <a:ext cx="8449056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347472" y="3483864"/>
            <a:ext cx="54864" cy="5943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512064" y="361188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fixed</a:t>
            </a:r>
            <a:endParaRPr lang="en-US" sz="12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1901952" y="3611880"/>
            <a:ext cx="6766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</a:rPr>
              <a:t>Removed from flow; positioned relative to the viewport (screen).</a:t>
            </a:r>
            <a:endParaRPr lang="en-US" sz="1150" dirty="0"/>
          </a:p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347472" y="4142232"/>
            <a:ext cx="8449056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>
            <p:custDataLst>
              <p:tags r:id="rId18"/>
            </p:custDataLst>
          </p:nvPr>
        </p:nvSpPr>
        <p:spPr>
          <a:xfrm>
            <a:off x="347472" y="4142232"/>
            <a:ext cx="54864" cy="594360"/>
          </a:xfrm>
          <a:prstGeom prst="rect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512064" y="4270248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8E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sticky</a:t>
            </a:r>
            <a:endParaRPr lang="en-US" sz="1200" dirty="0"/>
          </a:p>
        </p:txBody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1901952" y="4270248"/>
            <a:ext cx="6766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166"/>
                </a:solidFill>
              </a:rPr>
              <a:t>Hybrid: relative until scroll threshold, then acts like fixed.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position: static  &amp;  position: relative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96B0"/>
                </a:solidFill>
              </a:rPr>
              <a:t>static (default)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84048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17320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18488"/>
            <a:ext cx="3657600" cy="10332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.box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static;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/* top/left/right/bottom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have NO effect here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384048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7A96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34640"/>
            <a:ext cx="3840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</a:rPr>
              <a:t>Box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384048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7A96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383280"/>
            <a:ext cx="3840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</a:rPr>
              <a:t>Box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384048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7A96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931920"/>
            <a:ext cx="3840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</a:rPr>
              <a:t>Box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48056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6B0"/>
                </a:solidFill>
              </a:rPr>
              <a:t>▲ Elements stack normally in document flow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96012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</a:rPr>
              <a:t>relative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411480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417320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417320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417320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618488"/>
            <a:ext cx="3931920" cy="11247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.box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relative;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top: 20px;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left: 30px;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/* moved from its OWN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normal position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11480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7A96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834640"/>
            <a:ext cx="4114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</a:rPr>
              <a:t>Box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364992"/>
            <a:ext cx="4114800" cy="475488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663440" y="3364992"/>
            <a:ext cx="4114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6B0"/>
                </a:solidFill>
              </a:rPr>
              <a:t>(original spot)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74920" y="3611880"/>
            <a:ext cx="3657600" cy="475488"/>
          </a:xfrm>
          <a:prstGeom prst="rect">
            <a:avLst/>
          </a:prstGeom>
          <a:solidFill>
            <a:srgbClr val="BDE8FF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611880"/>
            <a:ext cx="3657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</a:rPr>
              <a:t>Box 2 — moved ↓20px →30px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4206240"/>
            <a:ext cx="411480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7A96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4206240"/>
            <a:ext cx="4114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</a:rPr>
              <a:t>Box 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position: absolute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535"/>
                </a:solidFill>
              </a:rPr>
              <a:t>Key rules for absolute: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01168" cy="201168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44168"/>
            <a:ext cx="3657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Removed from the document flow (no space reserved)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201168" cy="201168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47088"/>
            <a:ext cx="3657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Positioned relative to the nearest ancestor with position ≠ static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201168" cy="201168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350008"/>
            <a:ext cx="3657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If no such ancestor exists, positions relative to &lt;html&gt;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201168" cy="201168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852928"/>
            <a:ext cx="3657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Use top / right / bottom / left to place it precisely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4206240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91840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291840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93008"/>
            <a:ext cx="4023360" cy="12618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.parent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relative; /* anchor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width: 300px;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height: 200px;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.child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absolute;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top: 10px;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right: 10px; /* ↗ top-right corner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96012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535"/>
                </a:solidFill>
              </a:rPr>
              <a:t>Visual Diagram: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937760" y="1371600"/>
            <a:ext cx="1645920" cy="411480"/>
          </a:xfrm>
          <a:prstGeom prst="rect">
            <a:avLst/>
          </a:prstGeom>
          <a:solidFill>
            <a:srgbClr val="E8F4FD"/>
          </a:solidFill>
          <a:ln w="12700">
            <a:solidFill>
              <a:srgbClr val="7A96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37160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166"/>
                </a:solidFill>
              </a:rPr>
              <a:t>Normal Box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1828800"/>
            <a:ext cx="1645920" cy="411480"/>
          </a:xfrm>
          <a:prstGeom prst="rect">
            <a:avLst/>
          </a:prstGeom>
          <a:solidFill>
            <a:srgbClr val="E8F4FD"/>
          </a:solidFill>
          <a:ln w="12700">
            <a:solidFill>
              <a:srgbClr val="7A96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82880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166"/>
                </a:solidFill>
              </a:rPr>
              <a:t>Normal Box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2286000"/>
            <a:ext cx="3749040" cy="2011680"/>
          </a:xfrm>
          <a:prstGeom prst="rect">
            <a:avLst/>
          </a:prstGeom>
          <a:solidFill>
            <a:srgbClr val="FFF8E1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33172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8C42"/>
                </a:solidFill>
              </a:rPr>
              <a:t>parent  { position: relative }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0" y="2651760"/>
            <a:ext cx="1371600" cy="411480"/>
          </a:xfrm>
          <a:prstGeom prst="rect">
            <a:avLst/>
          </a:prstGeom>
          <a:solidFill>
            <a:srgbClr val="E8F4FD"/>
          </a:solidFill>
          <a:ln w="12700">
            <a:solidFill>
              <a:srgbClr val="7A96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65176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166"/>
                </a:solidFill>
              </a:rPr>
              <a:t>Normal child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23760" y="2331720"/>
            <a:ext cx="1371600" cy="502920"/>
          </a:xfrm>
          <a:prstGeom prst="rect">
            <a:avLst/>
          </a:prstGeom>
          <a:solidFill>
            <a:srgbClr val="D4FAEA"/>
          </a:solidFill>
          <a:ln w="19050">
            <a:solidFill>
              <a:srgbClr val="22D3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23317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D3A0"/>
                </a:solidFill>
              </a:rPr>
              <a:t>absolute child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D3A0"/>
                </a:solidFill>
              </a:rPr>
              <a:t>top:5px right:5px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37760" y="443484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6B6B"/>
                </a:solidFill>
              </a:rPr>
              <a:t>⚠️ The absolute child is taken out of flow — the parent doesn't stretch around it!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position: fixed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5303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166"/>
                </a:solidFill>
              </a:rPr>
              <a:t>A fixed element is taken out of flow and always stays in the same spot on the screen, even when the user scrolls.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5303520" cy="3246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45920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47088"/>
            <a:ext cx="5120640" cy="28620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Sticky Navigation Bar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.navbar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fixed;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top: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left: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width: 100%;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z-index: 1000;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background: #fff;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box-shadow: 0 2px 8px rgba(0,0,0,.15);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Back-to-top Button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.btn-top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fixed;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bottom: 30px;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right: 30px;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Sidebar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.sidebar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fixed;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top: 60px;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left: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height: 100vh;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width: 240px;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868680"/>
            <a:ext cx="2743200" cy="3977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C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868680"/>
            <a:ext cx="2743200" cy="320040"/>
          </a:xfrm>
          <a:prstGeom prst="rect">
            <a:avLst/>
          </a:prstGeom>
          <a:solidFill>
            <a:srgbClr val="ECEFF4"/>
          </a:solidFill>
          <a:ln w="12700">
            <a:solidFill>
              <a:srgbClr val="CC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886968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6B0"/>
                </a:solidFill>
              </a:rPr>
              <a:t>● ● ●   mysite.com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743200" cy="34747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188720"/>
            <a:ext cx="2743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🔒 FIXED NAVBAR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627632"/>
            <a:ext cx="2468880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627632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6B0"/>
                </a:solidFill>
              </a:rPr>
              <a:t>Section 1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6B0"/>
                </a:solidFill>
              </a:rPr>
              <a:t>(scrolls normally)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72200" y="219456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19456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6B0"/>
                </a:solidFill>
              </a:rPr>
              <a:t>Section 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6B0"/>
                </a:solidFill>
              </a:rPr>
              <a:t>(scrolls normally)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72200" y="2761488"/>
            <a:ext cx="2468880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76148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6B0"/>
                </a:solidFill>
              </a:rPr>
              <a:t>Section 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6B0"/>
                </a:solidFill>
              </a:rPr>
              <a:t>(scrolls normally)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3328416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328416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6B0"/>
                </a:solidFill>
              </a:rPr>
              <a:t>Section 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6B0"/>
                </a:solidFill>
              </a:rPr>
              <a:t>(scrolls normally)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412480" y="4343400"/>
            <a:ext cx="320040" cy="3200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43434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▲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</a:rPr>
              <a:t>💡  Common use-cases: fixed navbars, sidebars, floating buttons, modal overlays, cookie banners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position: sticky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5120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166"/>
                </a:solidFill>
              </a:rPr>
              <a:t>Sticky is a hybrid: acts like relative until the element hits a scroll threshold, then it 'sticks' in place like fixed.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12064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00200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4937760" cy="2907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Section headers stick while scrolling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.section-header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sticky;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top: 60px;  /* sticks when 60px from top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background: #fff;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z-index: 100;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padding: 8px 16px;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Table header sticks at top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table thead th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sticky;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top: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background: #f4f7fb;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Sticky sidebar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.sidebar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sticky;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top: 80px;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align-self: flex-start; /* needed in flex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914400"/>
            <a:ext cx="960120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960120"/>
            <a:ext cx="960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5166"/>
                </a:solidFill>
              </a:rPr>
              <a:t>Before threshold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806440" y="152704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175564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1984248"/>
            <a:ext cx="868680" cy="164592"/>
          </a:xfrm>
          <a:prstGeom prst="rect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98424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section header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806440" y="225856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253288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280720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6440" y="308152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335584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363016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9712" y="914400"/>
            <a:ext cx="960120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960120"/>
            <a:ext cx="960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5166"/>
                </a:solidFill>
              </a:rPr>
              <a:t>At threshold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885432" y="152704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85432" y="175564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2148840"/>
            <a:ext cx="868680" cy="201168"/>
          </a:xfrm>
          <a:prstGeom prst="rect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214884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📌 Sticks! (fixed)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885432" y="225856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85432" y="253288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85432" y="280720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85432" y="308152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85432" y="335584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85432" y="363016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18704" y="914400"/>
            <a:ext cx="960120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18704" y="960120"/>
            <a:ext cx="960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5166"/>
                </a:solidFill>
              </a:rPr>
              <a:t>Scroll continues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964424" y="152704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64424" y="175564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64424" y="2148840"/>
            <a:ext cx="868680" cy="201168"/>
          </a:xfrm>
          <a:prstGeom prst="rect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64424" y="214884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📌 Still stuck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7964424" y="225856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64424" y="253288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64424" y="280720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64424" y="308152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64424" y="335584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64424" y="3630168"/>
            <a:ext cx="868680" cy="1645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6B6B"/>
                </a:solidFill>
              </a:rPr>
              <a:t>⚠️  Sticky only works if the parent element has enough height to scroll, and overflow is not hidden.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z-index — Stacking Order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937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166"/>
                </a:solidFill>
              </a:rPr>
              <a:t>z-index controls which elements appear in front of or behind others. Higher value = in front. Works only on positioned elements (not static).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846320" cy="3017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45920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47088"/>
            <a:ext cx="4663440" cy="2633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.modal-overlay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fixed;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z-index: 900;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inset: 0; /* top/right/bottom/left = 0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background: rgba(0,0,0,0.5);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.modal-box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fixed;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z-index: 1000; /* above overlay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top: 50%;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left: 50%;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transform: translate(-50%, -50%);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negative z-index puts behind parent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.watermark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absolute;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z-index: -1;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91440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</a:rPr>
              <a:t>Stacking Layers: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0" y="1353312"/>
            <a:ext cx="2926080" cy="475488"/>
          </a:xfrm>
          <a:prstGeom prst="rect">
            <a:avLst/>
          </a:prstGeom>
          <a:solidFill>
            <a:srgbClr val="FF8C42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353312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z-index: 1000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Modal Box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86984" y="1901952"/>
            <a:ext cx="2724912" cy="475488"/>
          </a:xfrm>
          <a:prstGeom prst="rect">
            <a:avLst/>
          </a:prstGeom>
          <a:solidFill>
            <a:srgbClr val="B48EFF">
              <a:alpha val="88000"/>
            </a:srgbClr>
          </a:solidFill>
          <a:ln w="19050">
            <a:solidFill>
              <a:srgbClr val="B48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6984" y="1901952"/>
            <a:ext cx="272491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z-index: 900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Overlay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87568" y="2450592"/>
            <a:ext cx="2523744" cy="475488"/>
          </a:xfrm>
          <a:prstGeom prst="rect">
            <a:avLst/>
          </a:prstGeom>
          <a:solidFill>
            <a:srgbClr val="00C2FF">
              <a:alpha val="76000"/>
            </a:srgbClr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2450592"/>
            <a:ext cx="252374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z-index: 10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Navbar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88152" y="2999232"/>
            <a:ext cx="2322576" cy="475488"/>
          </a:xfrm>
          <a:prstGeom prst="rect">
            <a:avLst/>
          </a:prstGeom>
          <a:solidFill>
            <a:srgbClr val="22D3A0">
              <a:alpha val="64000"/>
            </a:srgbClr>
          </a:solidFill>
          <a:ln w="19050">
            <a:solidFill>
              <a:srgbClr val="22D3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88152" y="2999232"/>
            <a:ext cx="23225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z-index: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88736" y="3547872"/>
            <a:ext cx="2121408" cy="475488"/>
          </a:xfrm>
          <a:prstGeom prst="rect">
            <a:avLst/>
          </a:prstGeom>
          <a:solidFill>
            <a:srgbClr val="7A96B0">
              <a:alpha val="52000"/>
            </a:srgbClr>
          </a:solidFill>
          <a:ln w="19050">
            <a:solidFill>
              <a:srgbClr val="7A96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88736" y="3547872"/>
            <a:ext cx="212140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166"/>
                </a:solidFill>
              </a:rPr>
              <a:t>z-index: -1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5166"/>
                </a:solidFill>
              </a:rPr>
              <a:t>Watermark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</a:rPr>
              <a:t>💡  Create a z-index scale in your project: --z-navbar: 100; --z-modal: 1000; etc.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CSS Position — Quick Reference Cheat Sheet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0D1B2A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11155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960120"/>
            <a:ext cx="8412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Flow?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960120"/>
            <a:ext cx="15727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Relative 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0" y="960120"/>
            <a:ext cx="1389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Scrolls With Page?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0" y="960120"/>
            <a:ext cx="25786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Use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18488"/>
            <a:ext cx="11155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5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54480" y="1618488"/>
            <a:ext cx="8412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14600" y="1618488"/>
            <a:ext cx="15727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N/A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0" y="1618488"/>
            <a:ext cx="1389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715000" y="1618488"/>
            <a:ext cx="25786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 — no special use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231136"/>
            <a:ext cx="859536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76856"/>
            <a:ext cx="11155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relative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54480" y="2276856"/>
            <a:ext cx="8412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14600" y="2276856"/>
            <a:ext cx="15727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Itself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06240" y="2276856"/>
            <a:ext cx="1389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15000" y="2276856"/>
            <a:ext cx="25786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Minor nudges, stacking context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889504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935224"/>
            <a:ext cx="11155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absolute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54480" y="2935224"/>
            <a:ext cx="8412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No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14600" y="2935224"/>
            <a:ext cx="15727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Positioned parent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06240" y="2935224"/>
            <a:ext cx="1389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715000" y="2935224"/>
            <a:ext cx="25786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Tooltips, badges, dropdowns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547872"/>
            <a:ext cx="859536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93592"/>
            <a:ext cx="11155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fixed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554480" y="3593592"/>
            <a:ext cx="8412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No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14600" y="3593592"/>
            <a:ext cx="15727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Viewport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0" y="3593592"/>
            <a:ext cx="1389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No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15000" y="3593592"/>
            <a:ext cx="25786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Navbars, sidebars, toasts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251960"/>
            <a:ext cx="11155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8E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sticky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554480" y="4251960"/>
            <a:ext cx="8412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514600" y="4251960"/>
            <a:ext cx="15727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Scroll container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206240" y="4251960"/>
            <a:ext cx="1389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715000" y="4251960"/>
            <a:ext cx="25786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Sticky headers, table heads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22D3A0">
              <a:alpha val="10000"/>
            </a:srgbClr>
          </a:solidFill>
          <a:ln w="12700">
            <a:solidFill>
              <a:srgbClr val="22D3A0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22D3A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PART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CSS Flexbox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96B0"/>
                </a:solidFill>
              </a:rPr>
              <a:t>One-dimensional layout — align items along a row or column effortlessly.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47472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22D3A0">
              <a:alpha val="30000"/>
            </a:srgbClr>
          </a:solidFill>
          <a:ln w="19050">
            <a:solidFill>
              <a:srgbClr val="22D3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74720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D3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item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1720" y="3474720"/>
            <a:ext cx="2194560" cy="594360"/>
          </a:xfrm>
          <a:prstGeom prst="roundRect">
            <a:avLst>
              <a:gd name="adj" fmla="val 7692"/>
            </a:avLst>
          </a:prstGeom>
          <a:solidFill>
            <a:srgbClr val="22D3A0">
              <a:alpha val="30000"/>
            </a:srgbClr>
          </a:solidFill>
          <a:ln w="19050">
            <a:solidFill>
              <a:srgbClr val="22D3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347472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D3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item 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3474720"/>
            <a:ext cx="1371600" cy="594360"/>
          </a:xfrm>
          <a:prstGeom prst="roundRect">
            <a:avLst>
              <a:gd name="adj" fmla="val 7692"/>
            </a:avLst>
          </a:prstGeom>
          <a:solidFill>
            <a:srgbClr val="22D3A0">
              <a:alpha val="30000"/>
            </a:srgbClr>
          </a:solidFill>
          <a:ln w="19050">
            <a:solidFill>
              <a:srgbClr val="22D3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474720"/>
            <a:ext cx="1371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D3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item 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3474720"/>
            <a:ext cx="1737360" cy="594360"/>
          </a:xfrm>
          <a:prstGeom prst="roundRect">
            <a:avLst>
              <a:gd name="adj" fmla="val 7692"/>
            </a:avLst>
          </a:prstGeom>
          <a:solidFill>
            <a:srgbClr val="22D3A0">
              <a:alpha val="30000"/>
            </a:srgbClr>
          </a:solidFill>
          <a:ln w="19050">
            <a:solidFill>
              <a:srgbClr val="22D3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347472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D3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item 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6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display: flex  →  children become flex items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Flexbox Terminology &amp; Axis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14400"/>
            <a:ext cx="64008" cy="13716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987552"/>
            <a:ext cx="3858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Flex Container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261872"/>
            <a:ext cx="3858768" cy="9326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The parent element with display: flex. It controls the layout of its direct children.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45152" y="91440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45152" y="914400"/>
            <a:ext cx="64008" cy="1371600"/>
          </a:xfrm>
          <a:prstGeom prst="rect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987552"/>
            <a:ext cx="3858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Flex Items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9744" y="1261872"/>
            <a:ext cx="3858768" cy="9326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The direct children of the flex container. They are laid out along the main axis.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42316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423160"/>
            <a:ext cx="64008" cy="13716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496312"/>
            <a:ext cx="3858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Main Axis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" y="2770632"/>
            <a:ext cx="3858768" cy="9326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Direction items flow: row (→) or column (↓). Set by flex-direction.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45152" y="242316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2423160"/>
            <a:ext cx="64008" cy="1371600"/>
          </a:xfrm>
          <a:prstGeom prst="rect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2496312"/>
            <a:ext cx="3858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Cross Axis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9744" y="2770632"/>
            <a:ext cx="3858768" cy="9326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Perpendicular to the main axis. Items are aligned along this axis with align-items.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3931920"/>
            <a:ext cx="84490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7764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96B0"/>
                </a:solidFill>
              </a:rPr>
              <a:t>FLEX CONTAINER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371600" cy="502920"/>
          </a:xfrm>
          <a:prstGeom prst="rect">
            <a:avLst/>
          </a:prstGeom>
          <a:solidFill>
            <a:srgbClr val="E8F8F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0624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A0"/>
                </a:solidFill>
              </a:rPr>
              <a:t>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011680" y="4206240"/>
            <a:ext cx="1371600" cy="502920"/>
          </a:xfrm>
          <a:prstGeom prst="rect">
            <a:avLst/>
          </a:prstGeom>
          <a:solidFill>
            <a:srgbClr val="E8F8F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420624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A0"/>
                </a:solidFill>
              </a:rPr>
              <a:t>B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566160" y="4206240"/>
            <a:ext cx="1371600" cy="502920"/>
          </a:xfrm>
          <a:prstGeom prst="rect">
            <a:avLst/>
          </a:prstGeom>
          <a:solidFill>
            <a:srgbClr val="E8F8F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420624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A0"/>
                </a:solidFill>
              </a:rPr>
              <a:t>C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120640" y="4206240"/>
            <a:ext cx="1371600" cy="502920"/>
          </a:xfrm>
          <a:prstGeom prst="rect">
            <a:avLst/>
          </a:prstGeom>
          <a:solidFill>
            <a:srgbClr val="E8F8F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420624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A0"/>
                </a:solidFill>
              </a:rPr>
              <a:t>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75120" y="4206240"/>
            <a:ext cx="1371600" cy="502920"/>
          </a:xfrm>
          <a:prstGeom prst="rect">
            <a:avLst/>
          </a:prstGeom>
          <a:solidFill>
            <a:srgbClr val="E8F8F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20624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A0"/>
                </a:solidFill>
              </a:rPr>
              <a:t>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800600"/>
            <a:ext cx="7772400" cy="0"/>
          </a:xfrm>
          <a:prstGeom prst="line">
            <a:avLst/>
          </a:prstGeom>
          <a:noFill/>
          <a:ln w="25400">
            <a:solidFill>
              <a:srgbClr val="FF8C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4773168"/>
            <a:ext cx="1920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8C42"/>
                </a:solidFill>
              </a:rPr>
              <a:t>→ Main Axis (flex-direction: row)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796528" y="914400"/>
            <a:ext cx="0" cy="3886200"/>
          </a:xfrm>
          <a:prstGeom prst="line">
            <a:avLst/>
          </a:prstGeom>
          <a:noFill/>
          <a:ln w="25400">
            <a:solidFill>
              <a:srgbClr val="B48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41664" y="2377440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8EFF"/>
                </a:solidFill>
              </a:rPr>
              <a:t>↓ Cross Axis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flex-direction  &amp;  flex-wrap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896112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flex-direction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20624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35331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5331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35331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54480"/>
            <a:ext cx="4023360" cy="804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.container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display: flex;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flex-direction: row;          /* →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/* row-reverse | column | column-reverse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2606040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row →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926080"/>
            <a:ext cx="502920" cy="411480"/>
          </a:xfrm>
          <a:prstGeom prst="rect">
            <a:avLst/>
          </a:prstGeom>
          <a:solidFill>
            <a:srgbClr val="E8F6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926080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9264" y="2926080"/>
            <a:ext cx="502920" cy="411480"/>
          </a:xfrm>
          <a:prstGeom prst="rect">
            <a:avLst/>
          </a:prstGeom>
          <a:solidFill>
            <a:srgbClr val="E8F6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2926080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91056" y="2926080"/>
            <a:ext cx="502920" cy="411480"/>
          </a:xfrm>
          <a:prstGeom prst="rect">
            <a:avLst/>
          </a:prstGeom>
          <a:solidFill>
            <a:srgbClr val="E8F6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91056" y="2926080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33472" y="2606040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column ↓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33472" y="2926080"/>
            <a:ext cx="502920" cy="411480"/>
          </a:xfrm>
          <a:prstGeom prst="rect">
            <a:avLst/>
          </a:prstGeom>
          <a:solidFill>
            <a:srgbClr val="E8F6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2926080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33472" y="3429000"/>
            <a:ext cx="502920" cy="411480"/>
          </a:xfrm>
          <a:prstGeom prst="rect">
            <a:avLst/>
          </a:prstGeom>
          <a:solidFill>
            <a:srgbClr val="E8F6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3429000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33472" y="3931920"/>
            <a:ext cx="502920" cy="411480"/>
          </a:xfrm>
          <a:prstGeom prst="rect">
            <a:avLst/>
          </a:prstGeom>
          <a:solidFill>
            <a:srgbClr val="E8F6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3931920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896112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flex-wrap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261872"/>
            <a:ext cx="402336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35331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135331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135331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554480"/>
            <a:ext cx="3840480" cy="804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.container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display: flex;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flex-wrap: wrap;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/* nowrap (default) | wrap | wrap-reverse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gap: 8px; /* space between items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260604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</a:rPr>
              <a:t>nowrap (overflow)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92608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971800"/>
            <a:ext cx="548640" cy="411480"/>
          </a:xfrm>
          <a:prstGeom prst="rect">
            <a:avLst/>
          </a:prstGeom>
          <a:solidFill>
            <a:srgbClr val="FFE8E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971800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</a:rPr>
              <a:t>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22392" y="2971800"/>
            <a:ext cx="548640" cy="411480"/>
          </a:xfrm>
          <a:prstGeom prst="rect">
            <a:avLst/>
          </a:prstGeom>
          <a:solidFill>
            <a:srgbClr val="FFE8E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22392" y="2971800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</a:rPr>
              <a:t>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44184" y="2971800"/>
            <a:ext cx="548640" cy="411480"/>
          </a:xfrm>
          <a:prstGeom prst="rect">
            <a:avLst/>
          </a:prstGeom>
          <a:solidFill>
            <a:srgbClr val="FFE8E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44184" y="2971800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</a:rPr>
              <a:t>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65976" y="2971800"/>
            <a:ext cx="548640" cy="411480"/>
          </a:xfrm>
          <a:prstGeom prst="rect">
            <a:avLst/>
          </a:prstGeom>
          <a:solidFill>
            <a:srgbClr val="FFE8E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65976" y="2971800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</a:rPr>
              <a:t>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87768" y="2971800"/>
            <a:ext cx="548640" cy="411480"/>
          </a:xfrm>
          <a:prstGeom prst="rect">
            <a:avLst/>
          </a:prstGeom>
          <a:solidFill>
            <a:srgbClr val="FFE8E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87768" y="2971800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</a:rPr>
              <a:t>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09560" y="2971800"/>
            <a:ext cx="548640" cy="411480"/>
          </a:xfrm>
          <a:prstGeom prst="rect">
            <a:avLst/>
          </a:prstGeom>
          <a:solidFill>
            <a:srgbClr val="FFE8E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09560" y="2971800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38160" y="3017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6B"/>
                </a:solidFill>
              </a:rPr>
              <a:t>→ overflows container!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356616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A0"/>
                </a:solidFill>
              </a:rPr>
              <a:t>wrap ✅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3858768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3904488"/>
            <a:ext cx="777240" cy="411480"/>
          </a:xfrm>
          <a:prstGeom prst="rect">
            <a:avLst/>
          </a:prstGeom>
          <a:solidFill>
            <a:srgbClr val="E8FDF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904488"/>
            <a:ext cx="777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A0"/>
                </a:solidFill>
              </a:rPr>
              <a:t>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69280" y="3904488"/>
            <a:ext cx="777240" cy="411480"/>
          </a:xfrm>
          <a:prstGeom prst="rect">
            <a:avLst/>
          </a:prstGeom>
          <a:solidFill>
            <a:srgbClr val="E8FDF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0" y="3904488"/>
            <a:ext cx="777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A0"/>
                </a:solidFill>
              </a:rPr>
              <a:t>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37960" y="3904488"/>
            <a:ext cx="777240" cy="411480"/>
          </a:xfrm>
          <a:prstGeom prst="rect">
            <a:avLst/>
          </a:prstGeom>
          <a:solidFill>
            <a:srgbClr val="E8FDF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3904488"/>
            <a:ext cx="777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A0"/>
                </a:solidFill>
              </a:rPr>
              <a:t>3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06640" y="3904488"/>
            <a:ext cx="777240" cy="411480"/>
          </a:xfrm>
          <a:prstGeom prst="rect">
            <a:avLst/>
          </a:prstGeom>
          <a:solidFill>
            <a:srgbClr val="E8FDF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06640" y="3904488"/>
            <a:ext cx="777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A0"/>
                </a:solidFill>
              </a:rPr>
              <a:t>4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00600" y="4379976"/>
            <a:ext cx="777240" cy="411480"/>
          </a:xfrm>
          <a:prstGeom prst="rect">
            <a:avLst/>
          </a:prstGeom>
          <a:solidFill>
            <a:srgbClr val="E8FDF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0600" y="4379976"/>
            <a:ext cx="777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A0"/>
                </a:solidFill>
              </a:rPr>
              <a:t>5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69280" y="4379976"/>
            <a:ext cx="777240" cy="411480"/>
          </a:xfrm>
          <a:prstGeom prst="rect">
            <a:avLst/>
          </a:prstGeom>
          <a:solidFill>
            <a:srgbClr val="E8FDF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0" y="4379976"/>
            <a:ext cx="777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A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justify-content — Main Axis Alignment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896112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166"/>
                </a:solidFill>
              </a:rPr>
              <a:t>Controls how items are distributed along the main axis (horizontal in row direction).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47472" y="128016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2588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flex-start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93192" y="1627632"/>
            <a:ext cx="2743200" cy="594360"/>
          </a:xfrm>
          <a:prstGeom prst="rect">
            <a:avLst/>
          </a:prstGeom>
          <a:solidFill>
            <a:srgbClr val="F0F8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673352"/>
            <a:ext cx="777240" cy="41148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9304" y="167335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93976" y="167335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286000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justify-content: flex-start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19272" y="128016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32588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center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64992" y="1627632"/>
            <a:ext cx="2743200" cy="594360"/>
          </a:xfrm>
          <a:prstGeom prst="rect">
            <a:avLst/>
          </a:prstGeom>
          <a:solidFill>
            <a:srgbClr val="F0F8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50792" y="167335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55464" y="167335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0136" y="167335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286000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justify-content: center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91072" y="128016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132588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flex-end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36792" y="1627632"/>
            <a:ext cx="2743200" cy="594360"/>
          </a:xfrm>
          <a:prstGeom prst="rect">
            <a:avLst/>
          </a:prstGeom>
          <a:solidFill>
            <a:srgbClr val="F0F8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62672" y="167335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67344" y="167335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72016" y="167335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2286000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justify-content: flex-end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297180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01752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space-between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93192" y="3319272"/>
            <a:ext cx="2743200" cy="594360"/>
          </a:xfrm>
          <a:prstGeom prst="rect">
            <a:avLst/>
          </a:prstGeom>
          <a:solidFill>
            <a:srgbClr val="F0F8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" y="336499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83664" y="336499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28416" y="336499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3977640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justify-content: space-between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19272" y="297180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9272" y="301752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space-around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64992" y="3319272"/>
            <a:ext cx="2743200" cy="594360"/>
          </a:xfrm>
          <a:prstGeom prst="rect">
            <a:avLst/>
          </a:prstGeom>
          <a:solidFill>
            <a:srgbClr val="F0F8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22192" y="336499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55464" y="336499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88736" y="336499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3977640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justify-content: space-around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91072" y="297180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301752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space-evenly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36792" y="3319272"/>
            <a:ext cx="2743200" cy="594360"/>
          </a:xfrm>
          <a:prstGeom prst="rect">
            <a:avLst/>
          </a:prstGeom>
          <a:solidFill>
            <a:srgbClr val="F0F8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0840" y="336499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81544" y="336499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42248" y="3364992"/>
            <a:ext cx="713232" cy="457200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36792" y="3977640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justify-content: space-evenly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align-items  &amp;  align-self — Cross Axis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896112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166"/>
                </a:solidFill>
              </a:rPr>
              <a:t>align-items sets cross-axis alignment for all items. align-self overrides it per item.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8449056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98448"/>
            <a:ext cx="54864" cy="47548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6245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C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stretch (default)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60320" y="1362456"/>
            <a:ext cx="6126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</a:rPr>
              <a:t>Items stretch to fill container height.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844905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828800"/>
            <a:ext cx="54864" cy="47548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92808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flex-start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0320" y="1892808"/>
            <a:ext cx="6126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</a:rPr>
              <a:t>Items align to start of cross axis.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359152"/>
            <a:ext cx="8449056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359152"/>
            <a:ext cx="54864" cy="475488"/>
          </a:xfrm>
          <a:prstGeom prst="rect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center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0" y="2423160"/>
            <a:ext cx="6126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</a:rPr>
              <a:t>Items centered on cross axis.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2889504"/>
            <a:ext cx="844905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2889504"/>
            <a:ext cx="54864" cy="475488"/>
          </a:xfrm>
          <a:prstGeom prst="rect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5351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8E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flex-end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0" y="2953512"/>
            <a:ext cx="6126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</a:rPr>
              <a:t>Items align to end of cross axis.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419856"/>
            <a:ext cx="8449056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3419856"/>
            <a:ext cx="54864" cy="4754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8386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baseline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560320" y="3483864"/>
            <a:ext cx="6126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</a:rPr>
              <a:t>Items aligned to their text baseline.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4041648"/>
            <a:ext cx="8430768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413308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413308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13308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334256"/>
            <a:ext cx="8247888" cy="5760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.container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display: flex;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align-items: center; /* cross-axis for ALL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.special-item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align-self: flex-end; /* override for THIS item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Flex Item Properties — flex-grow, flex-shrink, flex-basis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60120"/>
            <a:ext cx="4754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60120"/>
            <a:ext cx="64008" cy="1188720"/>
          </a:xfrm>
          <a:prstGeom prst="rect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51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flex-grow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371600"/>
            <a:ext cx="4434840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How much an item grows relative to siblings when extra space is available. 0 = no grow.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12080" y="960120"/>
            <a:ext cx="356616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1051560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1051560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051560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252728"/>
            <a:ext cx="3383280" cy="804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Default: 0 (no grow)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.item { flex-grow: 1; }    /* equal share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.big  { flex-grow: 2; }    /* gets twice the extra space */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258568"/>
            <a:ext cx="4754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258568"/>
            <a:ext cx="64008" cy="1188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350008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flex-shrink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2670048"/>
            <a:ext cx="4434840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How much an item shrinks when there's not enough space. 0 = never shrink.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12080" y="2258568"/>
            <a:ext cx="356616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235000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235000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35000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551176"/>
            <a:ext cx="3383280" cy="804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Default: 1 (can shrink)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.item    { flex-shrink: 1; }   /* shrinks equally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.no-shrink { flex-shrink: 0; }   /* never shrinks */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557016"/>
            <a:ext cx="4754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557016"/>
            <a:ext cx="64008" cy="1188720"/>
          </a:xfrm>
          <a:prstGeom prst="rect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648456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8E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flex-basis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3968496"/>
            <a:ext cx="4434840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The initial main-size of an item before grow/shrink is applied.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12080" y="3557016"/>
            <a:ext cx="356616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3648456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3648456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0" y="3648456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3849624"/>
            <a:ext cx="3383280" cy="804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Default: auto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.item { flex-basis: 200px; } /* start at 200px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.item { flex-basis: 30%; }   /* start at 30% of container */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4800600"/>
            <a:ext cx="843076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818888"/>
            <a:ext cx="8321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💡  Shorthand: flex: &lt;grow&gt; &lt;shrink&gt; &lt;basis&gt;  →  e.g.  flex: 1 1 200px   or simply  flex: 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Flexbox in Practice — Navigation Bar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896112"/>
            <a:ext cx="4389120" cy="2286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8755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98755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98755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88720"/>
            <a:ext cx="4206240" cy="19019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HTML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&lt;nav class="navbar"&gt;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&lt;div class="logo"&gt;🚀 MyApp&lt;/div&gt;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&lt;ul class="nav-links"&gt;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&lt;li&gt;&lt;a href="#"&gt;Home&lt;/a&gt;&lt;/li&gt;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&lt;li&gt;&lt;a href="#"&gt;About&lt;/a&gt;&lt;/li&gt;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&lt;li&gt;&lt;a href="#"&gt;Work&lt;/a&gt;&lt;/li&gt;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&lt;/ul&gt;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&lt;button class="cta"&gt;Get Started&lt;/button&gt;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&lt;/nav&gt;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28032" y="896112"/>
            <a:ext cx="393192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9472" y="98755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98755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85232" y="98755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188720"/>
            <a:ext cx="3749040" cy="21762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.navbar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display: flex;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justify-content: space-between; /* logo | links | btn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align-items: center;            /* vertically centered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padding: 0 2rem;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height: 64px;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background: #0D1B2A;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.nav-links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display: flex;          /* links in a row too!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gap: 2rem;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list-style: none;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.cta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flex-shrink: 0;         /* never compress the button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3273552"/>
            <a:ext cx="8430768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01568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MyApp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3401568"/>
            <a:ext cx="1005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6B0"/>
                </a:solidFill>
              </a:rPr>
              <a:t>Home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3401568"/>
            <a:ext cx="1005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6B0"/>
                </a:solidFill>
              </a:rPr>
              <a:t>About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3401568"/>
            <a:ext cx="1005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6B0"/>
                </a:solidFill>
              </a:rPr>
              <a:t>Work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3429000"/>
            <a:ext cx="1280160" cy="411480"/>
          </a:xfrm>
          <a:prstGeom prst="roundRect">
            <a:avLst>
              <a:gd name="adj" fmla="val 11111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342900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Get Started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" y="4434840"/>
            <a:ext cx="8430768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6B0"/>
                </a:solidFill>
              </a:rPr>
              <a:t>← Preview of the rendered navbar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4389120"/>
            <a:ext cx="8430768" cy="0"/>
          </a:xfrm>
          <a:prstGeom prst="line">
            <a:avLst/>
          </a:prstGeom>
          <a:noFill/>
          <a:ln w="12700">
            <a:solidFill>
              <a:srgbClr val="22D3A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47472" y="466344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A0"/>
                </a:solidFill>
              </a:rPr>
              <a:t>↔ justify-content: space-between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4663440"/>
            <a:ext cx="1920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48EFF"/>
                </a:solidFill>
              </a:rPr>
              <a:t>↕ align-items: center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B48EFF">
              <a:alpha val="10000"/>
            </a:srgbClr>
          </a:solidFill>
          <a:ln w="12700">
            <a:solidFill>
              <a:srgbClr val="B48E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B48E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PART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CSS Grid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96B0"/>
                </a:solidFill>
              </a:rPr>
              <a:t>Two-dimensional layouts — rows AND columns at the same 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1188720" cy="548640"/>
          </a:xfrm>
          <a:prstGeom prst="rect">
            <a:avLst/>
          </a:prstGeom>
          <a:solidFill>
            <a:srgbClr val="B48EFF">
              <a:alpha val="30000"/>
            </a:srgbClr>
          </a:solidFill>
          <a:ln w="19050">
            <a:solidFill>
              <a:srgbClr val="B48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3429000"/>
            <a:ext cx="1188720" cy="548640"/>
          </a:xfrm>
          <a:prstGeom prst="rect">
            <a:avLst/>
          </a:prstGeom>
          <a:solidFill>
            <a:srgbClr val="B48EFF">
              <a:alpha val="30000"/>
            </a:srgbClr>
          </a:solidFill>
          <a:ln w="19050">
            <a:solidFill>
              <a:srgbClr val="B48E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3429000"/>
            <a:ext cx="1188720" cy="548640"/>
          </a:xfrm>
          <a:prstGeom prst="rect">
            <a:avLst/>
          </a:prstGeom>
          <a:solidFill>
            <a:srgbClr val="B48EFF">
              <a:alpha val="30000"/>
            </a:srgbClr>
          </a:solidFill>
          <a:ln w="19050">
            <a:solidFill>
              <a:srgbClr val="B48E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087368"/>
            <a:ext cx="1188720" cy="548640"/>
          </a:xfrm>
          <a:prstGeom prst="rect">
            <a:avLst/>
          </a:prstGeom>
          <a:solidFill>
            <a:srgbClr val="B48EFF">
              <a:alpha val="30000"/>
            </a:srgbClr>
          </a:solidFill>
          <a:ln w="19050">
            <a:solidFill>
              <a:srgbClr val="B48E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4087368"/>
            <a:ext cx="1188720" cy="548640"/>
          </a:xfrm>
          <a:prstGeom prst="rect">
            <a:avLst/>
          </a:prstGeom>
          <a:solidFill>
            <a:srgbClr val="B48EFF">
              <a:alpha val="30000"/>
            </a:srgbClr>
          </a:solidFill>
          <a:ln w="19050">
            <a:solidFill>
              <a:srgbClr val="B48E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4087368"/>
            <a:ext cx="1188720" cy="548640"/>
          </a:xfrm>
          <a:prstGeom prst="rect">
            <a:avLst/>
          </a:prstGeom>
          <a:solidFill>
            <a:srgbClr val="B48EFF">
              <a:alpha val="30000"/>
            </a:srgbClr>
          </a:solidFill>
          <a:ln w="19050">
            <a:solidFill>
              <a:srgbClr val="B48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52044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6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display: grid  →  rows &amp; columns defined by you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Defining a Grid — Columns &amp; Rows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896112"/>
            <a:ext cx="4572000" cy="3154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8755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98755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98755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88720"/>
            <a:ext cx="4389120" cy="2770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.grid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display: grid;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/* Define 3 equal columns using fr unit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grid-template-columns: 1fr 1fr 1fr;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/* or shorthand: repeat(3, 1fr) */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/* Define 2 rows with set heights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grid-template-rows: 100px auto;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/* Gap between cells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gap: 16px;          /* row-gap + column-gap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column-gap: 20px;   /* horizontal only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row-gap: 10px;      /* vertical only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0640" y="896112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</a:rPr>
              <a:t>What is the fr unit?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261872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</a:rPr>
              <a:t>fr = fraction of the available space in the grid container.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1737360"/>
            <a:ext cx="365760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8928" y="1783080"/>
            <a:ext cx="362102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grid-template-columns: 1fr 2fr 1fr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2286000"/>
            <a:ext cx="868680" cy="594360"/>
          </a:xfrm>
          <a:prstGeom prst="rect">
            <a:avLst/>
          </a:prstGeom>
          <a:solidFill>
            <a:srgbClr val="00C2FF">
              <a:alpha val="5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286000"/>
            <a:ext cx="868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1fr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57900" y="2286000"/>
            <a:ext cx="1783080" cy="594360"/>
          </a:xfrm>
          <a:prstGeom prst="rect">
            <a:avLst/>
          </a:prstGeom>
          <a:solidFill>
            <a:srgbClr val="B48EFF">
              <a:alpha val="50000"/>
            </a:srgbClr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7900" y="2286000"/>
            <a:ext cx="1783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2fr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09560" y="2286000"/>
            <a:ext cx="868680" cy="594360"/>
          </a:xfrm>
          <a:prstGeom prst="rect">
            <a:avLst/>
          </a:prstGeom>
          <a:solidFill>
            <a:srgbClr val="22D3A0">
              <a:alpha val="50000"/>
            </a:srgbClr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2286000"/>
            <a:ext cx="868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1fr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29718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</a:rPr>
              <a:t>Total = 4fr. The 2fr column gets twice the space.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33375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535"/>
                </a:solidFill>
              </a:rPr>
              <a:t>repeat() shorthand: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120640" y="3657600"/>
            <a:ext cx="3657600" cy="86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3749040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3749040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3749040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3950208"/>
            <a:ext cx="3474720" cy="484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repeat(3, 1fr)   = 1fr 1fr 1fr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repeat(4, 200px) = 200px 200px 200px 200px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repeat(auto-fit, minmax(200px, 1fr))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" y="4114800"/>
            <a:ext cx="4663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</a:rPr>
              <a:t>3-column grid (repeat(3, 1fr)):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4407408"/>
            <a:ext cx="1371600" cy="274320"/>
          </a:xfrm>
          <a:prstGeom prst="rect">
            <a:avLst/>
          </a:prstGeom>
          <a:solidFill>
            <a:srgbClr val="F3EEFF"/>
          </a:solidFill>
          <a:ln w="10160">
            <a:solidFill>
              <a:srgbClr val="B48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407408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8EFF"/>
                </a:solidFill>
              </a:rPr>
              <a:t>r1c1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0" y="4407408"/>
            <a:ext cx="1371600" cy="274320"/>
          </a:xfrm>
          <a:prstGeom prst="rect">
            <a:avLst/>
          </a:prstGeom>
          <a:solidFill>
            <a:srgbClr val="F3EEFF"/>
          </a:solidFill>
          <a:ln w="10160">
            <a:solidFill>
              <a:srgbClr val="B48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4407408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8EFF"/>
                </a:solidFill>
              </a:rPr>
              <a:t>r1c2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10128" y="4407408"/>
            <a:ext cx="1371600" cy="274320"/>
          </a:xfrm>
          <a:prstGeom prst="rect">
            <a:avLst/>
          </a:prstGeom>
          <a:solidFill>
            <a:srgbClr val="F3EEFF"/>
          </a:solidFill>
          <a:ln w="10160">
            <a:solidFill>
              <a:srgbClr val="B48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4407408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8EFF"/>
                </a:solidFill>
              </a:rPr>
              <a:t>r1c3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7472" y="4727448"/>
            <a:ext cx="1371600" cy="274320"/>
          </a:xfrm>
          <a:prstGeom prst="rect">
            <a:avLst/>
          </a:prstGeom>
          <a:solidFill>
            <a:srgbClr val="F3EEFF"/>
          </a:solidFill>
          <a:ln w="10160">
            <a:solidFill>
              <a:srgbClr val="B48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727448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8EFF"/>
                </a:solidFill>
              </a:rPr>
              <a:t>r2c1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28800" y="4727448"/>
            <a:ext cx="1371600" cy="274320"/>
          </a:xfrm>
          <a:prstGeom prst="rect">
            <a:avLst/>
          </a:prstGeom>
          <a:solidFill>
            <a:srgbClr val="F3EEFF"/>
          </a:solidFill>
          <a:ln w="10160">
            <a:solidFill>
              <a:srgbClr val="B48E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0" y="4727448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8EFF"/>
                </a:solidFill>
              </a:rPr>
              <a:t>r2c2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10128" y="4727448"/>
            <a:ext cx="1371600" cy="274320"/>
          </a:xfrm>
          <a:prstGeom prst="rect">
            <a:avLst/>
          </a:prstGeom>
          <a:solidFill>
            <a:srgbClr val="F3EEFF"/>
          </a:solidFill>
          <a:ln w="10160">
            <a:solidFill>
              <a:srgbClr val="B48E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4727448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8EFF"/>
                </a:solidFill>
              </a:rPr>
              <a:t>r2c3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Placing Grid Items — grid-column &amp; grid-row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896112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166"/>
                </a:solidFill>
              </a:rPr>
              <a:t>Grid lines are numbered from 1. You can span items across multiple tracks using line numbers or span keyword.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47472" y="1325880"/>
            <a:ext cx="4663440" cy="3337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417320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417320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417320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618488"/>
            <a:ext cx="4480560" cy="29535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.header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grid-column: 1 / 4;   /* from line 1 to line 4 (all 3 cols)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grid-row: 1;          /* row 1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.sidebar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grid-column: 1;       /* just column 1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grid-row: 2 / 4;      /* spans rows 2 and 3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.main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grid-column: 2 / 4;   /* columns 2-3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grid-row: 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shorthand: grid-area: row-start / col-start / row-end / col-end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.footer { grid-area: 4 / 1 / 5 / 4; 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66360" y="132588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5"/>
                </a:solidFill>
              </a:rPr>
              <a:t>Visual Placement: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93792" y="1719072"/>
            <a:ext cx="3602736" cy="749808"/>
          </a:xfrm>
          <a:prstGeom prst="rect">
            <a:avLst/>
          </a:prstGeom>
          <a:solidFill>
            <a:srgbClr val="00C2FF">
              <a:alpha val="50000"/>
            </a:srgbClr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1719072"/>
            <a:ext cx="3602736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header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93792" y="2523744"/>
            <a:ext cx="1161288" cy="1536192"/>
          </a:xfrm>
          <a:prstGeom prst="rect">
            <a:avLst/>
          </a:prstGeom>
          <a:solidFill>
            <a:srgbClr val="22D3A0">
              <a:alpha val="50000"/>
            </a:srgbClr>
          </a:solidFill>
          <a:ln w="19050">
            <a:solidFill>
              <a:srgbClr val="22D3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2523744"/>
            <a:ext cx="1161288" cy="1536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sidebar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9944" y="2523744"/>
            <a:ext cx="2386584" cy="740664"/>
          </a:xfrm>
          <a:prstGeom prst="rect">
            <a:avLst/>
          </a:prstGeom>
          <a:solidFill>
            <a:srgbClr val="B48EFF">
              <a:alpha val="50000"/>
            </a:srgbClr>
          </a:solidFill>
          <a:ln w="19050">
            <a:solidFill>
              <a:srgbClr val="B48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2523744"/>
            <a:ext cx="2386584" cy="7406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main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9944" y="3319272"/>
            <a:ext cx="2386584" cy="740664"/>
          </a:xfrm>
          <a:prstGeom prst="rect">
            <a:avLst/>
          </a:prstGeom>
          <a:solidFill>
            <a:srgbClr val="FF8C42">
              <a:alpha val="50000"/>
            </a:srgbClr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3319272"/>
            <a:ext cx="2386584" cy="7406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article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93792" y="4114800"/>
            <a:ext cx="3602736" cy="749808"/>
          </a:xfrm>
          <a:prstGeom prst="rect">
            <a:avLst/>
          </a:prstGeom>
          <a:solidFill>
            <a:srgbClr val="FF6B6B">
              <a:alpha val="50000"/>
            </a:srgbClr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4114800"/>
            <a:ext cx="3602736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footer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1435608"/>
            <a:ext cx="182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6B0"/>
                </a:solidFill>
              </a:rPr>
              <a:t>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91072" y="1435608"/>
            <a:ext cx="182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6B0"/>
                </a:solidFill>
              </a:rPr>
              <a:t>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516368" y="1435608"/>
            <a:ext cx="182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6B0"/>
                </a:solidFill>
              </a:rPr>
              <a:t>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732520" y="1435608"/>
            <a:ext cx="182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6B0"/>
                </a:solidFill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37760" y="1600200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6B0"/>
                </a:solidFill>
              </a:rPr>
              <a:t>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2404872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6B0"/>
                </a:solidFill>
              </a:rPr>
              <a:t>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37760" y="3200400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6B0"/>
                </a:solidFill>
              </a:rPr>
              <a:t>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0" y="3995928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6B0"/>
                </a:solidFill>
              </a:rPr>
              <a:t>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37760" y="4800600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6B0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grid-template-areas — Named Layout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868680"/>
            <a:ext cx="84124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166"/>
                </a:solidFill>
              </a:rPr>
              <a:t>One of the most powerful Grid features — define a layout visually using named areas!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475488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325880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25880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325880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27048"/>
            <a:ext cx="4572000" cy="32735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.layout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display: grid;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grid-template-columns: 220px 1fr;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grid-template-rows: 70px 1fr 60px;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grid-template-areas: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"header  header"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"sidebar main  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"footer  footer";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min-height: 100vh;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gap: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header  { grid-area: header;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.sidebar{ grid-area: sidebar;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main    { grid-area: main;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footer  { grid-area: footer;  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85232" y="123444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5"/>
                </a:solidFill>
              </a:rPr>
              <a:t>Layout Preview: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85232" y="1572768"/>
            <a:ext cx="3474720" cy="621792"/>
          </a:xfrm>
          <a:prstGeom prst="rect">
            <a:avLst/>
          </a:prstGeom>
          <a:solidFill>
            <a:srgbClr val="00C2FF">
              <a:alpha val="55000"/>
            </a:srgbClr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1572768"/>
            <a:ext cx="34747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header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85232" y="2240280"/>
            <a:ext cx="1097280" cy="2057400"/>
          </a:xfrm>
          <a:prstGeom prst="rect">
            <a:avLst/>
          </a:prstGeom>
          <a:solidFill>
            <a:srgbClr val="22D3A0">
              <a:alpha val="55000"/>
            </a:srgbClr>
          </a:solidFill>
          <a:ln w="19050">
            <a:solidFill>
              <a:srgbClr val="22D3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5232" y="2240280"/>
            <a:ext cx="1097280" cy="2057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sidebar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37376" y="2240280"/>
            <a:ext cx="2322576" cy="2057400"/>
          </a:xfrm>
          <a:prstGeom prst="rect">
            <a:avLst/>
          </a:prstGeom>
          <a:solidFill>
            <a:srgbClr val="B48EFF">
              <a:alpha val="55000"/>
            </a:srgbClr>
          </a:solidFill>
          <a:ln w="19050">
            <a:solidFill>
              <a:srgbClr val="B48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2240280"/>
            <a:ext cx="2322576" cy="2057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main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85232" y="4343400"/>
            <a:ext cx="3474720" cy="502920"/>
          </a:xfrm>
          <a:prstGeom prst="rect">
            <a:avLst/>
          </a:prstGeom>
          <a:solidFill>
            <a:srgbClr val="FF8C42">
              <a:alpha val="55000"/>
            </a:srgbClr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4343400"/>
            <a:ext cx="3474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footer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85232" y="4864608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D3A0"/>
                </a:solidFill>
              </a:rPr>
              <a:t>220px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37376" y="4864608"/>
            <a:ext cx="232257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8EFF"/>
                </a:solidFill>
              </a:rPr>
              <a:t>1fr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7472" y="4919472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5166"/>
                </a:solidFill>
              </a:rPr>
              <a:t>💡  Use a dot ( . ) to leave an area empty:  "sidebar ."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Responsive Grids — auto-fit &amp; minmax()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896112"/>
            <a:ext cx="84124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166"/>
                </a:solidFill>
              </a:rPr>
              <a:t>Create grids that automatically wrap and resize — no media queries needed!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47472" y="1280160"/>
            <a:ext cx="5029200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371600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71600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371600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72768"/>
            <a:ext cx="4846320" cy="2542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.card-grid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display: grid;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/* Automatically creates as many columns as fit,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each minimum 250px, max equal share of space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grid-template-columns: repeat(auto-fit, minmax(250px, 1fr));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gap: 1.5rem;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padding: 1rem;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auto-fill vs auto-fit: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auto-fill  → creates empty tracks if there's space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auto-fit   → collapses empty tracks (usually what you want) */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0" y="128016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</a:rPr>
              <a:t>Wide screen (4 columns fit):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600200"/>
            <a:ext cx="3291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1664208"/>
            <a:ext cx="713232" cy="804672"/>
          </a:xfrm>
          <a:prstGeom prst="rect">
            <a:avLst/>
          </a:prstGeom>
          <a:solidFill>
            <a:srgbClr val="F3E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664208"/>
            <a:ext cx="713232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8EFF"/>
                </a:solidFill>
              </a:rPr>
              <a:t>Card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28232" y="1664208"/>
            <a:ext cx="713232" cy="804672"/>
          </a:xfrm>
          <a:prstGeom prst="rect">
            <a:avLst/>
          </a:prstGeom>
          <a:solidFill>
            <a:srgbClr val="F3E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664208"/>
            <a:ext cx="713232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8EFF"/>
                </a:solidFill>
              </a:rPr>
              <a:t>Card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232904" y="1664208"/>
            <a:ext cx="713232" cy="804672"/>
          </a:xfrm>
          <a:prstGeom prst="rect">
            <a:avLst/>
          </a:prstGeom>
          <a:solidFill>
            <a:srgbClr val="F3E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2904" y="1664208"/>
            <a:ext cx="713232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8EFF"/>
                </a:solidFill>
              </a:rPr>
              <a:t>Card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37576" y="1664208"/>
            <a:ext cx="713232" cy="804672"/>
          </a:xfrm>
          <a:prstGeom prst="rect">
            <a:avLst/>
          </a:prstGeom>
          <a:solidFill>
            <a:srgbClr val="F3E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37576" y="1664208"/>
            <a:ext cx="713232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8EFF"/>
                </a:solidFill>
              </a:rPr>
              <a:t>Card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77840" y="269748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</a:rPr>
              <a:t>Medium screen (2 columns):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3017520"/>
            <a:ext cx="3291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3090672"/>
            <a:ext cx="1536192" cy="530352"/>
          </a:xfrm>
          <a:prstGeom prst="rect">
            <a:avLst/>
          </a:prstGeom>
          <a:solidFill>
            <a:srgbClr val="EFF9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3090672"/>
            <a:ext cx="1536192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FF"/>
                </a:solidFill>
              </a:rPr>
              <a:t>Card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51192" y="3090672"/>
            <a:ext cx="1536192" cy="530352"/>
          </a:xfrm>
          <a:prstGeom prst="rect">
            <a:avLst/>
          </a:prstGeom>
          <a:solidFill>
            <a:srgbClr val="EFF9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3090672"/>
            <a:ext cx="1536192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FF"/>
                </a:solidFill>
              </a:rPr>
              <a:t>Card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23560" y="3685032"/>
            <a:ext cx="1536192" cy="530352"/>
          </a:xfrm>
          <a:prstGeom prst="rect">
            <a:avLst/>
          </a:prstGeom>
          <a:solidFill>
            <a:srgbClr val="EFF9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3685032"/>
            <a:ext cx="1536192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FF"/>
                </a:solidFill>
              </a:rPr>
              <a:t>Card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51192" y="3685032"/>
            <a:ext cx="1536192" cy="530352"/>
          </a:xfrm>
          <a:prstGeom prst="rect">
            <a:avLst/>
          </a:prstGeom>
          <a:solidFill>
            <a:srgbClr val="EFF9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51192" y="3685032"/>
            <a:ext cx="1536192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FF"/>
                </a:solidFill>
              </a:rPr>
              <a:t>Card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4315968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</a:rPr>
              <a:t>Mobile (1 column):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77840" y="4617720"/>
            <a:ext cx="3291840" cy="3657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461772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8C42"/>
                </a:solidFill>
              </a:rPr>
              <a:t>Card  |  Card  |  Card  |  Card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4297680"/>
            <a:ext cx="50292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" y="4389120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" y="4389120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4389120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4590288"/>
            <a:ext cx="4846320" cy="2103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No media queries needed! Grid handles it all. */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Flexbox vs Grid — When to Use Which?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60120"/>
            <a:ext cx="41148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2D3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60120"/>
            <a:ext cx="4114800" cy="411480"/>
          </a:xfrm>
          <a:prstGeom prst="rect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6012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📦 Flexbox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490472"/>
            <a:ext cx="164592" cy="164592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53896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One-dimensional layouts (row OR column)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164592" cy="164592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956816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Navigation bars &amp; menus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496312"/>
            <a:ext cx="164592" cy="164592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459736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Card rows, icon groups, button sets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999232"/>
            <a:ext cx="164592" cy="164592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962656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Centering a single item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502152"/>
            <a:ext cx="164592" cy="164592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465576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Content-driven sizing (item size dictates layout)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005072"/>
            <a:ext cx="164592" cy="164592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968496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Aligning items within a line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81728" y="960120"/>
            <a:ext cx="41148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48E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960120"/>
            <a:ext cx="4114800" cy="411480"/>
          </a:xfrm>
          <a:prstGeom prst="rect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96012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🔲 Grid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28032" y="1490472"/>
            <a:ext cx="164592" cy="164592"/>
          </a:xfrm>
          <a:prstGeom prst="ellipse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453896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Two-dimensional layouts (rows AND columns)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28032" y="1993392"/>
            <a:ext cx="164592" cy="164592"/>
          </a:xfrm>
          <a:prstGeom prst="ellipse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956816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Full page layouts (header, sidebar, main)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28032" y="2496312"/>
            <a:ext cx="164592" cy="164592"/>
          </a:xfrm>
          <a:prstGeom prst="ellipse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459736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Image galleries, card grids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28032" y="2999232"/>
            <a:ext cx="164592" cy="164592"/>
          </a:xfrm>
          <a:prstGeom prst="ellipse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962656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Complex magazine-style layouts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28032" y="3502152"/>
            <a:ext cx="164592" cy="164592"/>
          </a:xfrm>
          <a:prstGeom prst="ellipse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465576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Layout-driven sizing (grid defines the space)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28032" y="4005072"/>
            <a:ext cx="164592" cy="164592"/>
          </a:xfrm>
          <a:prstGeom prst="ellipse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968496"/>
            <a:ext cx="3547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</a:rPr>
              <a:t>Overlapping elements (grid-area overlap)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" y="4572000"/>
            <a:ext cx="8430768" cy="320040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590288"/>
            <a:ext cx="8321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</a:rPr>
              <a:t>💡  Pro tip: Use Grid for the outer page layout, Flexbox for the components inside!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914400"/>
            <a:ext cx="6400800" cy="6400800"/>
          </a:xfrm>
          <a:prstGeom prst="ellipse">
            <a:avLst/>
          </a:prstGeom>
          <a:solidFill>
            <a:srgbClr val="FF8C42">
              <a:alpha val="10000"/>
            </a:srgbClr>
          </a:solidFill>
          <a:ln w="12700">
            <a:solidFill>
              <a:srgbClr val="FF8C42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7315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8C4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MINI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Portfolio Page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Layout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96B0"/>
                </a:solidFill>
              </a:rPr>
              <a:t>Combining Position + Flexbox + Grid to build a real webpage layout.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560320" cy="713232"/>
          </a:xfrm>
          <a:prstGeom prst="roundRect">
            <a:avLst>
              <a:gd name="adj" fmla="val 7692"/>
            </a:avLst>
          </a:prstGeom>
          <a:solidFill>
            <a:srgbClr val="1B2A3B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8620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8E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Grid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6B0"/>
                </a:solidFill>
              </a:rPr>
              <a:t>Page layout structure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3840480"/>
            <a:ext cx="2560320" cy="713232"/>
          </a:xfrm>
          <a:prstGeom prst="roundRect">
            <a:avLst>
              <a:gd name="adj" fmla="val 7692"/>
            </a:avLst>
          </a:prstGeom>
          <a:solidFill>
            <a:srgbClr val="1B2A3B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88620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A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Flexbox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416052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6B0"/>
                </a:solidFill>
              </a:rPr>
              <a:t>Navbar + card rows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3840480"/>
            <a:ext cx="2560320" cy="713232"/>
          </a:xfrm>
          <a:prstGeom prst="roundRect">
            <a:avLst>
              <a:gd name="adj" fmla="val 7692"/>
            </a:avLst>
          </a:prstGeom>
          <a:solidFill>
            <a:srgbClr val="1B2A3B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88620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Position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416052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6B0"/>
                </a:solidFill>
              </a:rPr>
              <a:t>Sticky nav + badges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Mini Project — HTML Structure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896112"/>
            <a:ext cx="8430768" cy="4206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8755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98755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98755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88720"/>
            <a:ext cx="8247888" cy="38221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&lt;!DOCTYPE html&gt;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&lt;html lang="en"&gt;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&lt;head&gt;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&lt;meta charset="UTF-8"&gt;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&lt;meta name="viewport" content="width=device-width, initial-scale=1.0"&gt;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&lt;title&gt;My Portfolio&lt;/title&gt;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&lt;link rel="stylesheet" href="style.css"&gt;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&lt;/head&gt;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&lt;body&gt;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&lt;!-- Fixed navbar using position: fixed --&gt;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&lt;nav class="navbar"&gt;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&lt;div class="logo"&gt;✦ Portfolio&lt;/div&gt;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&lt;ul class="nav-links"&gt;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&lt;li&gt;&lt;a href="#about"&gt;About&lt;/a&gt;&lt;/li&gt;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&lt;li&gt;&lt;a href="#work"&gt;Work&lt;/a&gt;&lt;/li&gt;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&lt;li&gt;&lt;a href="#contact"&gt;Contact&lt;/a&gt;&lt;/li&gt;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&lt;/ul&gt;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&lt;/nav&gt;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&lt;!-- Grid page layout --&gt;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&lt;div class="page-grid"&gt;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&lt;aside class="sidebar"&gt;Sidebar&lt;/aside&gt;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&lt;main class="content"&gt;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&lt;!-- Flexbox card grid --&gt;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&lt;section class="projects"&gt;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&lt;div class="project-card"&gt;Project 1&lt;/div&gt;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&lt;div class="project-card"&gt;Project 2&lt;/div&gt;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&lt;div class="project-card"&gt;Project 3&lt;/div&gt;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&lt;/section&gt;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&lt;/main&gt;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&lt;/div&gt;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&lt;footer class="footer"&gt;© 2025 My Portfolio&lt;/footer&gt;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&lt;/body&gt;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&lt;/html&gt;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Mini Project — CSS (style.css)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896112"/>
            <a:ext cx="8430768" cy="4206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8755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98755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98755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88720"/>
            <a:ext cx="8247888" cy="38221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── 1. NAVBAR (position: fixed + flexbox) ──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.navbar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fixed;        /* stays on screen while scrolling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top: 0; left: 0; width: 100%;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z-index: 1000;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display: flex;          /* flexbox for logo + links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justify-content: space-between;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align-items: center;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padding: 0 2rem;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height: 64px;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background: #0d1b2a;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.nav-links { display: flex; gap: 2rem; list-style: none;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── 2. PAGE LAYOUT (grid) ──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.page-grid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display: grid;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grid-template-columns: 240px 1fr;  /* sidebar | main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margin-top: 64px;                  /* account for fixed navbar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min-height: calc(100vh - 64px);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.sidebar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sticky;    /* sidebar sticks while main scrolls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top: 64px;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align-self: flex-start;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height: calc(100vh - 64px);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background: #1b2a3b;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padding: 1.5rem;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── 3. PROJECT CARDS (flexbox + wrap) ──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.projects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display: flex;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flex-wrap: wrap;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gap: 1.5rem;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padding: 2rem;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.project-card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flex: 1 1 280px;       /* grow, shrink, min 280px wide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background: white;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border-radius: 8px;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padding: 1.5rem;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relative;    /* for badge positioning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box-shadow: 0 4px 12px rgba(0,0,0,.1);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.project-card .badge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position: absolute;    /* badge in top-right corner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top: 12px; right: 12px;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F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Mini Project — Layout Preview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896112"/>
            <a:ext cx="8430768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CC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96112"/>
            <a:ext cx="8430768" cy="347472"/>
          </a:xfrm>
          <a:prstGeom prst="rect">
            <a:avLst/>
          </a:prstGeom>
          <a:solidFill>
            <a:srgbClr val="ECEFF4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6B0"/>
                </a:solidFill>
              </a:rPr>
              <a:t>● ● ●    localhost:3000/portfolio.html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8430768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✦ Portfolio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298448"/>
            <a:ext cx="822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6B0"/>
                </a:solidFill>
              </a:rPr>
              <a:t>About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0" y="1298448"/>
            <a:ext cx="822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6B0"/>
                </a:solidFill>
              </a:rPr>
              <a:t>Work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0" y="1298448"/>
            <a:ext cx="822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6B0"/>
                </a:solidFill>
              </a:rPr>
              <a:t>Contact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0" y="1298448"/>
            <a:ext cx="1188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C2FF"/>
                </a:solidFill>
              </a:rPr>
              <a:t>position: fixed  +  flexbox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47472" y="1664208"/>
            <a:ext cx="1645920" cy="28346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664208"/>
            <a:ext cx="164592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A0"/>
                </a:solidFill>
              </a:rPr>
              <a:t>Sidebar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D3A0"/>
                </a:solidFill>
              </a:rPr>
              <a:t>(sticky)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" y="397764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D3A0"/>
                </a:solidFill>
              </a:rPr>
              <a:t>position: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D3A0"/>
                </a:solidFill>
              </a:rPr>
              <a:t>sticky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029968" y="1664208"/>
            <a:ext cx="6720840" cy="2834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1691640"/>
            <a:ext cx="6583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6B0"/>
                </a:solidFill>
              </a:rPr>
              <a:t>Projects (display: flex; flex-wrap: wrap; gap: 1.5rem)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48840" y="2011680"/>
            <a:ext cx="196596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148840" y="2011680"/>
            <a:ext cx="1965960" cy="548640"/>
          </a:xfrm>
          <a:prstGeom prst="rect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205740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FF"/>
                </a:solidFill>
              </a:rPr>
              <a:t>Project 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31920" y="2039112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203911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NEW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148840" y="4114800"/>
            <a:ext cx="1965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6B0"/>
                </a:solidFill>
              </a:rPr>
              <a:t>flex: 1 1 280px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325112" y="2011680"/>
            <a:ext cx="196596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25112" y="2011680"/>
            <a:ext cx="1965960" cy="548640"/>
          </a:xfrm>
          <a:prstGeom prst="rect">
            <a:avLst/>
          </a:prstGeom>
          <a:solidFill>
            <a:srgbClr val="22D3A0">
              <a:alpha val="40000"/>
            </a:srgbClr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25112" y="205740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A0"/>
                </a:solidFill>
              </a:rPr>
              <a:t>Project 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08192" y="2039112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203911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NEW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325112" y="4114800"/>
            <a:ext cx="1965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6B0"/>
                </a:solidFill>
              </a:rPr>
              <a:t>flex: 1 1 280px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501384" y="2011680"/>
            <a:ext cx="196596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01384" y="2011680"/>
            <a:ext cx="1965960" cy="548640"/>
          </a:xfrm>
          <a:prstGeom prst="rect">
            <a:avLst/>
          </a:prstGeom>
          <a:solidFill>
            <a:srgbClr val="B48EFF">
              <a:alpha val="40000"/>
            </a:srgbClr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1384" y="205740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8EFF"/>
                </a:solidFill>
              </a:rPr>
              <a:t>Project 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84464" y="2039112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4464" y="203911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NEW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501384" y="4114800"/>
            <a:ext cx="1965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6B0"/>
                </a:solidFill>
              </a:rPr>
              <a:t>flex: 1 1 280px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029968" y="1664208"/>
            <a:ext cx="0" cy="2834640"/>
          </a:xfrm>
          <a:prstGeom prst="line">
            <a:avLst/>
          </a:prstGeom>
          <a:noFill/>
          <a:ln w="19050">
            <a:solidFill>
              <a:srgbClr val="B48EFF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457200" y="461772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48EFF"/>
                </a:solidFill>
              </a:rPr>
              <a:t>grid cols: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48EFF"/>
                </a:solidFill>
              </a:rPr>
              <a:t>240px | 1fr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C2FF">
              <a:alpha val="10000"/>
            </a:srgbClr>
          </a:solidFill>
          <a:ln w="12700">
            <a:solidFill>
              <a:srgbClr val="00C2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2761488" cy="38404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87552"/>
            <a:ext cx="2761488" cy="3840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87552"/>
            <a:ext cx="276148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CSS Position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508760"/>
            <a:ext cx="128016" cy="128016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463040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static = default, no offsets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" y="2002536"/>
            <a:ext cx="128016" cy="128016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1956816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relative = shift from own spot (stays in flow)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2496312"/>
            <a:ext cx="128016" cy="128016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450592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absolute = anchors to positioned parent (out of flow)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2990088"/>
            <a:ext cx="128016" cy="128016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944368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fixed = stays on screen, ignores scroll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3483864"/>
            <a:ext cx="128016" cy="128016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438144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sticky = relative until threshold, then fixed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977640"/>
            <a:ext cx="128016" cy="128016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931920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z-index controls stacking (only on positioned els)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55264" y="987552"/>
            <a:ext cx="2761488" cy="3840480"/>
          </a:xfrm>
          <a:prstGeom prst="rect">
            <a:avLst/>
          </a:prstGeom>
          <a:solidFill>
            <a:srgbClr val="1B2A3B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55264" y="987552"/>
            <a:ext cx="2761488" cy="384048"/>
          </a:xfrm>
          <a:prstGeom prst="rect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55264" y="987552"/>
            <a:ext cx="276148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CSS Flexbox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1508760"/>
            <a:ext cx="128016" cy="128016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1463040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display: flex activates on the container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2002536"/>
            <a:ext cx="128016" cy="128016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1956816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flex-direction sets main axis (row/column)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83280" y="2496312"/>
            <a:ext cx="128016" cy="128016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2450592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justify-content aligns along main axis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83280" y="2990088"/>
            <a:ext cx="128016" cy="128016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4448" y="2944368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align-items aligns along cross axis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0" y="3483864"/>
            <a:ext cx="128016" cy="128016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4448" y="3438144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flex: grow shrink basis controls item sizing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83280" y="3977640"/>
            <a:ext cx="128016" cy="128016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84448" y="3931920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Best for 1D: navbars, card rows, centering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63056" y="987552"/>
            <a:ext cx="2761488" cy="3840480"/>
          </a:xfrm>
          <a:prstGeom prst="rect">
            <a:avLst/>
          </a:prstGeom>
          <a:solidFill>
            <a:srgbClr val="1B2A3B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63056" y="987552"/>
            <a:ext cx="2761488" cy="384048"/>
          </a:xfrm>
          <a:prstGeom prst="rect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987552"/>
            <a:ext cx="276148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CSS Grid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91072" y="1508760"/>
            <a:ext cx="128016" cy="128016"/>
          </a:xfrm>
          <a:prstGeom prst="ellipse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1463040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display: grid activates on the container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91072" y="2002536"/>
            <a:ext cx="128016" cy="128016"/>
          </a:xfrm>
          <a:prstGeom prst="ellipse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1956816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grid-template-columns/rows define the tracks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91072" y="2496312"/>
            <a:ext cx="128016" cy="128016"/>
          </a:xfrm>
          <a:prstGeom prst="ellipse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2450592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fr unit = fraction of available space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91072" y="2990088"/>
            <a:ext cx="128016" cy="128016"/>
          </a:xfrm>
          <a:prstGeom prst="ellipse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2944368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grid-column/row places items by line numbers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91072" y="3483864"/>
            <a:ext cx="128016" cy="128016"/>
          </a:xfrm>
          <a:prstGeom prst="ellipse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3438144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grid-template-areas = named visual layout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91072" y="3977640"/>
            <a:ext cx="128016" cy="128016"/>
          </a:xfrm>
          <a:prstGeom prst="ellipse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3931920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0F7"/>
                </a:solidFill>
              </a:rPr>
              <a:t>Best for 2D: page layouts, galleries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7472" y="4828032"/>
            <a:ext cx="8430768" cy="256032"/>
          </a:xfrm>
          <a:prstGeom prst="roundRect">
            <a:avLst>
              <a:gd name="adj" fmla="val 14286"/>
            </a:avLst>
          </a:prstGeom>
          <a:solidFill>
            <a:srgbClr val="00C2FF">
              <a:alpha val="1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846320"/>
            <a:ext cx="8321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 Grid for the page shell · Use Flexbox for the components inside · Use Position for special placements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371600"/>
            <a:ext cx="4572000" cy="4572000"/>
          </a:xfrm>
          <a:prstGeom prst="ellipse">
            <a:avLst/>
          </a:prstGeom>
          <a:solidFill>
            <a:srgbClr val="22D3A0">
              <a:alpha val="10000"/>
            </a:srgbClr>
          </a:solidFill>
          <a:ln w="12700">
            <a:solidFill>
              <a:srgbClr val="22D3A0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4572000" cy="4572000"/>
          </a:xfrm>
          <a:prstGeom prst="ellipse">
            <a:avLst/>
          </a:prstGeom>
          <a:solidFill>
            <a:srgbClr val="B48EFF">
              <a:alpha val="10000"/>
            </a:srgbClr>
          </a:solidFill>
          <a:ln w="12700">
            <a:solidFill>
              <a:srgbClr val="B48EFF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❓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633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A96B0"/>
                </a:solidFill>
              </a:rPr>
              <a:t>Let's review, discuss, and make sure everyone understands!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" y="324612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1B2A3B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3291840"/>
            <a:ext cx="3749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MDN Web Docs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3502152"/>
            <a:ext cx="3749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6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developer.mozilla.org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45152" y="324612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1B2A3B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3291840"/>
            <a:ext cx="3749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A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CSS Tricks Guide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82312" y="3502152"/>
            <a:ext cx="3749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6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css-tricks.com/snippets/css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3867912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1B2A3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913632"/>
            <a:ext cx="3749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4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Flexbox Froggy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" y="4123944"/>
            <a:ext cx="3749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6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flexboxfroggy.com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45152" y="3867912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1B2A3B"/>
          </a:solidFill>
          <a:ln w="12700">
            <a:solidFill>
              <a:srgbClr val="B48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3913632"/>
            <a:ext cx="3749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8E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Grid Garden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82312" y="4123944"/>
            <a:ext cx="3749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6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cssgridgarden.com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</a:rPr>
              <a:t>Practice makes perfect — build something today! 🚀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2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3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4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5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6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7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8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9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10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11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12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13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14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15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16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17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18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19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ags/tag20.xml><?xml version="1.0" encoding="utf-8"?>
<p:tagLst xmlns:p="http://schemas.openxmlformats.org/presentationml/2006/main">
  <p:tag name="KSO_WM_DIAGRAM_VIRTUALLY_FRAME" val="{&quot;height&quot;:265.7,&quot;left&quot;:-18.59000000000001,&quot;top&quot;:118.8,&quot;width&quot;:711.23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14973</Words>
  <Application>WPS Presentation</Application>
  <PresentationFormat>On-screen Show (16:9)</PresentationFormat>
  <Paragraphs>1061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Arial</vt:lpstr>
      <vt:lpstr>SimSun</vt:lpstr>
      <vt:lpstr>Wingdings</vt:lpstr>
      <vt:lpstr>Trebuchet MS</vt:lpstr>
      <vt:lpstr>Trebuchet MS</vt:lpstr>
      <vt:lpstr>Trebuchet MS</vt:lpstr>
      <vt:lpstr>Consolas</vt:lpstr>
      <vt:lpstr>Consolas</vt:lpstr>
      <vt:lpstr>Consolas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Layout Mastery: Position, Flexbox &amp; Grid</dc:title>
  <dc:creator>PptxGenJS</dc:creator>
  <dc:subject>PptxGenJS Presentation</dc:subject>
  <cp:lastModifiedBy>Tabinda Noor</cp:lastModifiedBy>
  <cp:revision>2</cp:revision>
  <dcterms:created xsi:type="dcterms:W3CDTF">2026-05-08T09:43:00Z</dcterms:created>
  <dcterms:modified xsi:type="dcterms:W3CDTF">2026-05-11T03:53:26Z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5F3C5C329A054208AE6B09CAACCA217C_12</vt:lpwstr>
  </property>
  <property fmtid="{D5CDD505-2E9C-101B-9397-08002B2CF9AE}" pid="3" name="KSOProductBuildVer">
    <vt:lpwstr>2057-12.2.0.23202</vt:lpwstr>
  </property>
</Properties>
</file>