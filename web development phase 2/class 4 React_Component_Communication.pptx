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10193A"/>
          </a:solidFill>
        </p:spPr>
      </p:sp>
      <p:sp>
        <p:nvSpPr>
          <p:cNvPr id="3" name="Shape 1"/>
          <p:cNvSpPr/>
          <p:nvPr/>
        </p:nvSpPr>
        <p:spPr>
          <a:xfrm>
            <a:off x="9692640" y="-457200"/>
            <a:ext cx="3657600" cy="3657600"/>
          </a:xfrm>
          <a:prstGeom prst="ellipse">
            <a:avLst/>
          </a:prstGeom>
          <a:solidFill>
            <a:srgbClr val="132048"/>
          </a:solidFill>
        </p:spPr>
      </p:sp>
      <p:sp>
        <p:nvSpPr>
          <p:cNvPr id="4" name="Shape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0193A"/>
          </a:solidFill>
        </p:spPr>
      </p:sp>
      <p:pic>
        <p:nvPicPr>
          <p:cNvPr id="5" name="Image 0" descr="/home/claude/reactcomm/icons/react_cy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22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841248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  •  ADVANCED CONCEPTS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2286000"/>
            <a:ext cx="960120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Component Communication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 React JS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85800" y="4297680"/>
            <a:ext cx="7863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2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guide to passing data and events between components — props, callbacks, lifting state up, Context API, refs, and global state management.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13232" y="5349240"/>
            <a:ext cx="20116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5321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A0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Props  •  Callbacks  •  Context  •  Refs  •  State Managers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</p:spPr>
      </p:sp>
      <p:sp>
        <p:nvSpPr>
          <p:cNvPr id="5" name="Text 3"/>
          <p:cNvSpPr/>
          <p:nvPr/>
        </p:nvSpPr>
        <p:spPr>
          <a:xfrm>
            <a:off x="850392" y="1600200"/>
            <a:ext cx="5486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44348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Component Communication Matters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441448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</p:spPr>
      </p:sp>
      <p:sp>
        <p:nvSpPr>
          <p:cNvPr id="8" name="Text 6"/>
          <p:cNvSpPr/>
          <p:nvPr/>
        </p:nvSpPr>
        <p:spPr>
          <a:xfrm>
            <a:off x="850392" y="2441448"/>
            <a:ext cx="5486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441448"/>
            <a:ext cx="44348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 → Child: Props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282696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</p:spPr>
      </p:sp>
      <p:sp>
        <p:nvSpPr>
          <p:cNvPr id="11" name="Text 9"/>
          <p:cNvSpPr/>
          <p:nvPr/>
        </p:nvSpPr>
        <p:spPr>
          <a:xfrm>
            <a:off x="850392" y="3282696"/>
            <a:ext cx="5486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282696"/>
            <a:ext cx="44348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Child → Parent: Callback Functions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123944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</p:spPr>
      </p:sp>
      <p:sp>
        <p:nvSpPr>
          <p:cNvPr id="14" name="Text 12"/>
          <p:cNvSpPr/>
          <p:nvPr/>
        </p:nvSpPr>
        <p:spPr>
          <a:xfrm>
            <a:off x="850392" y="4123944"/>
            <a:ext cx="5486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123944"/>
            <a:ext cx="44348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Sibling Communication: Lifting State Up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65192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</p:spPr>
      </p:sp>
      <p:sp>
        <p:nvSpPr>
          <p:cNvPr id="17" name="Text 15"/>
          <p:cNvSpPr/>
          <p:nvPr/>
        </p:nvSpPr>
        <p:spPr>
          <a:xfrm>
            <a:off x="850392" y="4965192"/>
            <a:ext cx="5486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965192"/>
            <a:ext cx="44348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Prop Drilling Problem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1600200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</p:spPr>
      </p:sp>
      <p:sp>
        <p:nvSpPr>
          <p:cNvPr id="20" name="Text 18"/>
          <p:cNvSpPr/>
          <p:nvPr/>
        </p:nvSpPr>
        <p:spPr>
          <a:xfrm>
            <a:off x="6565392" y="1600200"/>
            <a:ext cx="5486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78040" y="1600200"/>
            <a:ext cx="44348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API (createContext, Provider, useContext)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2441448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</p:spPr>
      </p:sp>
      <p:sp>
        <p:nvSpPr>
          <p:cNvPr id="23" name="Text 21"/>
          <p:cNvSpPr/>
          <p:nvPr/>
        </p:nvSpPr>
        <p:spPr>
          <a:xfrm>
            <a:off x="6565392" y="2441448"/>
            <a:ext cx="5486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2441448"/>
            <a:ext cx="44348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useReducer + Context for Complex State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3282696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</p:spPr>
      </p:sp>
      <p:sp>
        <p:nvSpPr>
          <p:cNvPr id="26" name="Text 24"/>
          <p:cNvSpPr/>
          <p:nvPr/>
        </p:nvSpPr>
        <p:spPr>
          <a:xfrm>
            <a:off x="6565392" y="3282696"/>
            <a:ext cx="5486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3282696"/>
            <a:ext cx="44348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Refs: useRef, forwardRef, useImperativeHandle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4123944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</p:spPr>
      </p:sp>
      <p:sp>
        <p:nvSpPr>
          <p:cNvPr id="29" name="Text 27"/>
          <p:cNvSpPr/>
          <p:nvPr/>
        </p:nvSpPr>
        <p:spPr>
          <a:xfrm>
            <a:off x="6565392" y="4123944"/>
            <a:ext cx="5486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78040" y="4123944"/>
            <a:ext cx="44348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State: Redux, Zustand, Recoil, Jotai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4965192"/>
            <a:ext cx="5349240" cy="694944"/>
          </a:xfrm>
          <a:prstGeom prst="roundRect">
            <a:avLst>
              <a:gd name="adj" fmla="val 9211"/>
            </a:avLst>
          </a:prstGeom>
          <a:solidFill>
            <a:srgbClr val="10193A"/>
          </a:solidFill>
        </p:spPr>
      </p:sp>
      <p:sp>
        <p:nvSpPr>
          <p:cNvPr id="32" name="Text 30"/>
          <p:cNvSpPr/>
          <p:nvPr/>
        </p:nvSpPr>
        <p:spPr>
          <a:xfrm>
            <a:off x="6565392" y="4965192"/>
            <a:ext cx="5486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78040" y="4965192"/>
            <a:ext cx="44348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Comparison, Best Practices &amp; Key Takeaways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FUNDAMENTALS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Component Communication?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apps are built from a tree of independent, reusable components. Component communication is the set of patterns React provides for these components to share data, trigger updates, and coordinate behavior — while keeping each piece as isolated and predictable as possible.</a:t>
            </a:r>
            <a:endParaRPr lang="en-US" sz="1450" dirty="0"/>
          </a:p>
        </p:txBody>
      </p:sp>
      <p:pic>
        <p:nvPicPr>
          <p:cNvPr id="5" name="Image 0" descr="/home/claude/reactcomm/icons/check_cy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1071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310128"/>
            <a:ext cx="50292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Unidirectional data flow  </a:t>
            </a: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flows down via props; events flow up via callbacks. This keeps state predictable.</a:t>
            </a:r>
            <a:endParaRPr lang="en-US" sz="1350" dirty="0"/>
          </a:p>
        </p:txBody>
      </p:sp>
      <p:pic>
        <p:nvPicPr>
          <p:cNvPr id="7" name="Image 1" descr="/home/claude/reactcomm/icons/check_cy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3250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931920"/>
            <a:ext cx="50292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 are isolated  </a:t>
            </a: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component should not directly reach into another's internal state.</a:t>
            </a:r>
            <a:endParaRPr lang="en-US" sz="1350" dirty="0"/>
          </a:p>
        </p:txBody>
      </p:sp>
      <p:pic>
        <p:nvPicPr>
          <p:cNvPr id="9" name="Image 2" descr="/home/claude/reactcomm/icons/check_cy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65429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553712"/>
            <a:ext cx="50292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 = contracts  </a:t>
            </a: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Props and callback signatures define the 'API' between components.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675120" y="1417320"/>
            <a:ext cx="4846320" cy="4709160"/>
          </a:xfrm>
          <a:prstGeom prst="roundRect">
            <a:avLst>
              <a:gd name="adj" fmla="val 1942"/>
            </a:avLst>
          </a:prstGeom>
          <a:solidFill>
            <a:srgbClr val="F1F5F9"/>
          </a:solidFill>
        </p:spPr>
      </p:sp>
      <p:sp>
        <p:nvSpPr>
          <p:cNvPr id="12" name="Text 7"/>
          <p:cNvSpPr/>
          <p:nvPr/>
        </p:nvSpPr>
        <p:spPr>
          <a:xfrm>
            <a:off x="6949440" y="1600200"/>
            <a:ext cx="4297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TREE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8183880" y="205740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0A1128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183880" y="205740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406640" y="2560320"/>
            <a:ext cx="100584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784080" y="2560320"/>
            <a:ext cx="100584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995160" y="310896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0891B2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995160" y="310896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Header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464040" y="310896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0891B2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9464040" y="310896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464040" y="3611880"/>
            <a:ext cx="82296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378440" y="3611880"/>
            <a:ext cx="82296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732520" y="416052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1DAFB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732520" y="4160520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Sidebar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10515600" y="416052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1DAFB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10515600" y="4160520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Widget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949440" y="5669280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Props flow down ↓   •   Events flow up ↑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FUNDAMENTALS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Five Communication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39696" cy="42062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2011680"/>
            <a:ext cx="731520" cy="731520"/>
          </a:xfrm>
          <a:prstGeom prst="ellipse">
            <a:avLst/>
          </a:prstGeom>
          <a:solidFill>
            <a:srgbClr val="0A1128"/>
          </a:solidFill>
        </p:spPr>
      </p:sp>
      <p:pic>
        <p:nvPicPr>
          <p:cNvPr id="6" name="Image 0" descr="/home/claude/reactcomm/icons/arrow_down_cy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176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18653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 → Child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1773936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Props pass data downward into child components.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62656" y="1691640"/>
            <a:ext cx="2139696" cy="42062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66744" y="2011680"/>
            <a:ext cx="731520" cy="731520"/>
          </a:xfrm>
          <a:prstGeom prst="ellipse">
            <a:avLst/>
          </a:prstGeom>
          <a:solidFill>
            <a:srgbClr val="0A1128"/>
          </a:solidFill>
        </p:spPr>
      </p:sp>
      <p:pic>
        <p:nvPicPr>
          <p:cNvPr id="11" name="Image 1" descr="/home/claude/reactcomm/icons/arrow_up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36" y="21762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99816" y="2971800"/>
            <a:ext cx="18653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Child → Parent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145536" y="3611880"/>
            <a:ext cx="1773936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Callback functions passed as props let children notify parents.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285232" y="1691640"/>
            <a:ext cx="2139696" cy="42062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89320" y="2011680"/>
            <a:ext cx="731520" cy="731520"/>
          </a:xfrm>
          <a:prstGeom prst="ellipse">
            <a:avLst/>
          </a:prstGeom>
          <a:solidFill>
            <a:srgbClr val="0A1128"/>
          </a:solidFill>
        </p:spPr>
      </p:sp>
      <p:pic>
        <p:nvPicPr>
          <p:cNvPr id="16" name="Image 2" descr="/home/claude/reactcomm/icons/exchang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21762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22392" y="2971800"/>
            <a:ext cx="18653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Sibling ↔ Sibling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468112" y="3611880"/>
            <a:ext cx="1773936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Lift shared state up to the closest common parent.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607808" y="1691640"/>
            <a:ext cx="2139696" cy="42062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11896" y="2011680"/>
            <a:ext cx="731520" cy="731520"/>
          </a:xfrm>
          <a:prstGeom prst="ellipse">
            <a:avLst/>
          </a:prstGeom>
          <a:solidFill>
            <a:srgbClr val="0A1128"/>
          </a:solidFill>
        </p:spPr>
      </p:sp>
      <p:pic>
        <p:nvPicPr>
          <p:cNvPr id="21" name="Image 3" descr="/home/claude/reactcomm/icons/layers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21762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44968" y="2971800"/>
            <a:ext cx="18653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Cross-Tree (Context)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90688" y="3611880"/>
            <a:ext cx="1773936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API shares data without manual prop drilling.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930384" y="1691640"/>
            <a:ext cx="2139696" cy="42062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634472" y="2011680"/>
            <a:ext cx="731520" cy="731520"/>
          </a:xfrm>
          <a:prstGeom prst="ellipse">
            <a:avLst/>
          </a:prstGeom>
          <a:solidFill>
            <a:srgbClr val="0A1128"/>
          </a:solidFill>
        </p:spPr>
      </p:sp>
      <p:pic>
        <p:nvPicPr>
          <p:cNvPr id="26" name="Image 4" descr="/home/claude/reactcomm/icons/databas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9064" y="217627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67544" y="2971800"/>
            <a:ext cx="1865376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/ App-Wide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0113264" y="3611880"/>
            <a:ext cx="1773936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stores (Redux, Zustand) for large-scale state.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Parent → Child Communication: Props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212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Props (“properties”) are read-only values passed from a parent component into a child. They are the primary way data flows down the component tree.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87752"/>
            <a:ext cx="82296" cy="82296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6" name="Text 4"/>
          <p:cNvSpPr/>
          <p:nvPr/>
        </p:nvSpPr>
        <p:spPr>
          <a:xfrm>
            <a:off x="868680" y="2395728"/>
            <a:ext cx="5029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Passed as JSX attributes: &lt;Child name="Ana" /&gt;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82296" cy="82296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8" name="Text 6"/>
          <p:cNvSpPr/>
          <p:nvPr/>
        </p:nvSpPr>
        <p:spPr>
          <a:xfrm>
            <a:off x="868680" y="2962656"/>
            <a:ext cx="5029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Read-only — a child must never mutate props directly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721608"/>
            <a:ext cx="82296" cy="82296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0" name="Text 8"/>
          <p:cNvSpPr/>
          <p:nvPr/>
        </p:nvSpPr>
        <p:spPr>
          <a:xfrm>
            <a:off x="868680" y="3529584"/>
            <a:ext cx="5029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be any type: strings, numbers, objects, arrays, functions, even JSX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82296" cy="82296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2" name="Text 10"/>
          <p:cNvSpPr/>
          <p:nvPr/>
        </p:nvSpPr>
        <p:spPr>
          <a:xfrm>
            <a:off x="868680" y="4096512"/>
            <a:ext cx="5029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Re-render triggers automatically when prop values change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0F172A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581912"/>
            <a:ext cx="4800600" cy="43799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</a:t>
            </a:r>
            <a:r>
              <a:rPr lang="en-US" sz="120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UserCard</a:t>
            </a: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({ name, role })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(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&lt;div className=</a:t>
            </a:r>
            <a:r>
              <a:rPr lang="en-US" sz="1200" dirty="0">
                <a:solidFill>
                  <a:srgbClr val="A7F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"card"</a:t>
            </a: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&lt;h3&gt;{name}&lt;/h3&gt;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&lt;p&gt;{role}&lt;/p&gt;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&lt;/div&gt;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Parent component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</a:t>
            </a:r>
            <a:r>
              <a:rPr lang="en-US" sz="120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</a:t>
            </a: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(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&lt;UserCard </a:t>
            </a:r>
            <a:r>
              <a:rPr lang="en-US" sz="120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</a:t>
            </a: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200" dirty="0">
                <a:solidFill>
                  <a:srgbClr val="A7F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"Ana"</a:t>
            </a: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20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role</a:t>
            </a: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</a:t>
            </a:r>
            <a:r>
              <a:rPr lang="en-US" sz="1200" dirty="0">
                <a:solidFill>
                  <a:srgbClr val="A7F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"Admin"</a:t>
            </a: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/&gt;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1 – CONTINUED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Props Deep Dive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solidFill>
            <a:srgbClr val="0A1128"/>
          </a:solidFill>
        </p:spPr>
      </p:sp>
      <p:sp>
        <p:nvSpPr>
          <p:cNvPr id="5" name="Text 3"/>
          <p:cNvSpPr/>
          <p:nvPr/>
        </p:nvSpPr>
        <p:spPr>
          <a:xfrm>
            <a:off x="822960" y="155448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00400" y="15544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0" y="1554480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10881360" cy="786384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" name="Text 7"/>
          <p:cNvSpPr/>
          <p:nvPr/>
        </p:nvSpPr>
        <p:spPr>
          <a:xfrm>
            <a:off x="822960" y="2011680"/>
            <a:ext cx="219456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values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17520" y="2011680"/>
            <a:ext cx="37490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Btn({ size = "md" }) { ... 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2011680"/>
            <a:ext cx="44348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Fallback used when a prop is not supplied.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98064"/>
            <a:ext cx="10881360" cy="7863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822960" y="2798064"/>
            <a:ext cx="219456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children prop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17520" y="2798064"/>
            <a:ext cx="37490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&lt;Card&gt;&lt;p&gt;Nested content&lt;/p&gt;&lt;/Card&gt;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0" y="2798064"/>
            <a:ext cx="44348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Special prop for content nested between JSX tags.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84448"/>
            <a:ext cx="10881360" cy="786384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7" name="Text 15"/>
          <p:cNvSpPr/>
          <p:nvPr/>
        </p:nvSpPr>
        <p:spPr>
          <a:xfrm>
            <a:off x="822960" y="3584448"/>
            <a:ext cx="219456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 validation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17520" y="3584448"/>
            <a:ext cx="37490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Btn.propTypes = { size: PropTypes.string 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3584448"/>
            <a:ext cx="44348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Runtime type-checking with prop-types (or TypeScript).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70832"/>
            <a:ext cx="10881360" cy="7863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822960" y="4370832"/>
            <a:ext cx="219456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Spreading props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17520" y="4370832"/>
            <a:ext cx="37490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&lt;Child {...props} /&gt;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4370832"/>
            <a:ext cx="44348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Forwards every prop at once — use sparingly for clarity.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157216"/>
            <a:ext cx="10881360" cy="786384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5" name="Text 23"/>
          <p:cNvSpPr/>
          <p:nvPr/>
        </p:nvSpPr>
        <p:spPr>
          <a:xfrm>
            <a:off x="822960" y="5157216"/>
            <a:ext cx="219456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props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017520" y="5157216"/>
            <a:ext cx="37490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&lt;Button onClick={() =&gt; save()} /&gt;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5157216"/>
            <a:ext cx="44348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Passing functions down is how children later 'talk back' up.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Child → Parent Communication: Callbacks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2120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Since props only flow downward, a child “talks back” to its parent by calling a function the parent passed down as a prop. The child invokes it; the parent's state updates and re-renders.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0A1128"/>
          </a:solidFill>
        </p:spPr>
      </p:sp>
      <p:sp>
        <p:nvSpPr>
          <p:cNvPr id="6" name="Text 4"/>
          <p:cNvSpPr/>
          <p:nvPr/>
        </p:nvSpPr>
        <p:spPr>
          <a:xfrm>
            <a:off x="640080" y="2743200"/>
            <a:ext cx="2286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(owns state)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66160" y="27432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0891B2"/>
          </a:solidFill>
        </p:spPr>
      </p:sp>
      <p:sp>
        <p:nvSpPr>
          <p:cNvPr id="8" name="Text 6"/>
          <p:cNvSpPr/>
          <p:nvPr/>
        </p:nvSpPr>
        <p:spPr>
          <a:xfrm>
            <a:off x="3566160" y="2743200"/>
            <a:ext cx="2286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Child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(calls prop fn)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71800" y="2926080"/>
            <a:ext cx="54864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834640" y="245059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onClick prop ↓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1800" y="3291840"/>
            <a:ext cx="548640" cy="0"/>
          </a:xfrm>
          <a:prstGeom prst="line">
            <a:avLst/>
          </a:prstGeom>
          <a:noFill/>
          <a:ln w="22225">
            <a:solidFill>
              <a:srgbClr val="22D3A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834640" y="3310128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 fires ↑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5212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function reference travels down as a prop; the call/invocation travels back up as an event.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0F172A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581912"/>
            <a:ext cx="4800600" cy="43799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</a:t>
            </a:r>
            <a:r>
              <a:rPr lang="en-US" sz="11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const [count, setCount] = </a:t>
            </a:r>
            <a:r>
              <a:rPr lang="en-US" sz="115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useState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(0);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const handleIncrement = () =&gt;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setCount(c =&gt; c + 1);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&lt;Counter </a:t>
            </a:r>
            <a:r>
              <a:rPr lang="en-US" sz="115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onIncrement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={handleIncrement} /&gt;;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</a:t>
            </a:r>
            <a:r>
              <a:rPr lang="en-US" sz="11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Counter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({ onIncrement })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&lt;button onClick={onIncrement}&gt;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+1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&lt;/button&gt;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Sibling Communication: Lifting State 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sibling components can't talk to each other directly. The fix: move (“lift”) the shared state up to their closest common parent. The parent owns the state and passes it down as props — plus updater functions — to both children.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892040" y="26060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0A1128"/>
          </a:solidFill>
        </p:spPr>
      </p:sp>
      <p:sp>
        <p:nvSpPr>
          <p:cNvPr id="6" name="Text 4"/>
          <p:cNvSpPr/>
          <p:nvPr/>
        </p:nvSpPr>
        <p:spPr>
          <a:xfrm>
            <a:off x="4892040" y="2606040"/>
            <a:ext cx="2377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  (state: temp)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3246120"/>
            <a:ext cx="1920240" cy="5943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3246120"/>
            <a:ext cx="1920240" cy="5943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38404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0891B2"/>
          </a:solidFill>
        </p:spPr>
      </p:sp>
      <p:sp>
        <p:nvSpPr>
          <p:cNvPr id="10" name="Text 8"/>
          <p:cNvSpPr/>
          <p:nvPr/>
        </p:nvSpPr>
        <p:spPr>
          <a:xfrm>
            <a:off x="2331720" y="384048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(Celsius)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52360" y="38404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0891B2"/>
          </a:solidFill>
        </p:spPr>
      </p:sp>
      <p:sp>
        <p:nvSpPr>
          <p:cNvPr id="12" name="Text 10"/>
          <p:cNvSpPr/>
          <p:nvPr/>
        </p:nvSpPr>
        <p:spPr>
          <a:xfrm>
            <a:off x="7452360" y="384048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(Fahrenheit)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327355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props: value, onChange ↓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69480" y="327355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 props: value, onChange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4892040"/>
            <a:ext cx="10881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 to lift state up:  </a:t>
            </a: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1) Identify the shared value.  2) Move it (useState) to the common ancestor.  3) Pass the value + setter down as props to both children.  4) Children call the setter to update.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1722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 Drilling: When Props Go Too Deep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D2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trees grow deeper, passing a prop through many intermediate components — that don't need it themselves — just to reach a deeply nested child is called prop drilling. It clutters intermediate components and makes refactors risky.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1752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0" y="3401568"/>
            <a:ext cx="320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30175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0193A"/>
          </a:solidFill>
          <a:ln w="12700">
            <a:solidFill>
              <a:srgbClr val="344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301752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Layout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00600" y="3401568"/>
            <a:ext cx="320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30175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0193A"/>
          </a:solidFill>
          <a:ln w="12700">
            <a:solidFill>
              <a:srgbClr val="344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301752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Sidebar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40880" y="3401568"/>
            <a:ext cx="320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60920" y="30175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0193A"/>
          </a:solidFill>
          <a:ln w="12700">
            <a:solidFill>
              <a:srgbClr val="344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301752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01200" y="30175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301752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MenuItem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prop passed through every level — even components that never use it</a:t>
            </a:r>
            <a:endParaRPr lang="en-US" sz="1200" dirty="0"/>
          </a:p>
        </p:txBody>
      </p:sp>
      <p:pic>
        <p:nvPicPr>
          <p:cNvPr id="20" name="Image 0" descr="/home/claude/reactcomm/icons/warning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09160"/>
            <a:ext cx="237744" cy="2377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88720" y="4636008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3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Intermediate components carry props they never use</a:t>
            </a:r>
            <a:endParaRPr lang="en-US" sz="1250" dirty="0"/>
          </a:p>
        </p:txBody>
      </p:sp>
      <p:pic>
        <p:nvPicPr>
          <p:cNvPr id="22" name="Image 1" descr="/home/claude/reactcomm/icons/warning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166360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88720" y="5093208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3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Renaming or restructuring props means touching many files</a:t>
            </a:r>
            <a:endParaRPr lang="en-US" sz="1250" dirty="0"/>
          </a:p>
        </p:txBody>
      </p:sp>
      <p:pic>
        <p:nvPicPr>
          <p:cNvPr id="24" name="Image 2" descr="/home/claude/reactcomm/icons/warning_amb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623560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88720" y="5550408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3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Harder to trace where data actually originates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4 – 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Context API: Skip the Drilling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2120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React's Context API lets a value be shared with an entire subtree without manually passing it through every level. Any descendant can subscribe and read the value directly.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</p:spPr>
      </p:sp>
      <p:sp>
        <p:nvSpPr>
          <p:cNvPr id="6" name="Text 4"/>
          <p:cNvSpPr/>
          <p:nvPr/>
        </p:nvSpPr>
        <p:spPr>
          <a:xfrm>
            <a:off x="868680" y="2679192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createContext()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990088"/>
            <a:ext cx="4663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Context object with an optional default value.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</p:spPr>
      </p:sp>
      <p:sp>
        <p:nvSpPr>
          <p:cNvPr id="9" name="Text 7"/>
          <p:cNvSpPr/>
          <p:nvPr/>
        </p:nvSpPr>
        <p:spPr>
          <a:xfrm>
            <a:off x="868680" y="3685032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&lt;Context.Provider&gt;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995928"/>
            <a:ext cx="4663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 a subtree and pass the shared value via the value prop.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</p:spPr>
      </p:sp>
      <p:sp>
        <p:nvSpPr>
          <p:cNvPr id="12" name="Text 10"/>
          <p:cNvSpPr/>
          <p:nvPr/>
        </p:nvSpPr>
        <p:spPr>
          <a:xfrm>
            <a:off x="868680" y="4690872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useContext(Context)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001768"/>
            <a:ext cx="4663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nested component reads the value directly — no props needed.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257800" cy="5212080"/>
          </a:xfrm>
          <a:prstGeom prst="roundRect">
            <a:avLst>
              <a:gd name="adj" fmla="val 1404"/>
            </a:avLst>
          </a:prstGeom>
          <a:solidFill>
            <a:srgbClr val="0F172A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581912"/>
            <a:ext cx="4800600" cy="4882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1. Create the context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ThemeContext = </a:t>
            </a:r>
            <a:r>
              <a:rPr lang="en-US" sz="115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createContext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150" dirty="0">
                <a:solidFill>
                  <a:srgbClr val="A7F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"light"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2. Provide it high in the tree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</a:t>
            </a:r>
            <a:r>
              <a:rPr lang="en-US" sz="11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&lt;ThemeContext.Provider value=</a:t>
            </a:r>
            <a:r>
              <a:rPr lang="en-US" sz="1150" dirty="0">
                <a:solidFill>
                  <a:srgbClr val="A7F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"dark"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&lt;Layout /&gt;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&lt;/ThemeContext.Provider&gt;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3. Consume it anywhere below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</a:t>
            </a:r>
            <a:r>
              <a:rPr lang="en-US" sz="11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MenuItem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const theme = </a:t>
            </a:r>
            <a:r>
              <a:rPr lang="en-US" sz="115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useContext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(ThemeContext);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&lt;li className={theme}&gt;Item&lt;/li&gt;;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4 – CONTINUED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Scaling Context: useReducer +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complex, multi-part state (not just a single value), pair useReducer with Context. The reducer centralizes update logic; Context distributes both the state and the dispatch function — giving every descendant a Redux-like API without an external library.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989320" cy="402336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770632"/>
            <a:ext cx="5532120" cy="3694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CartContext = </a:t>
            </a:r>
            <a:r>
              <a:rPr lang="en-US" sz="115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createContext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</a:t>
            </a:r>
            <a:r>
              <a:rPr lang="en-US" sz="11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cartReducer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(state, action)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switch (action.type)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case </a:t>
            </a:r>
            <a:r>
              <a:rPr lang="en-US" sz="1150" dirty="0">
                <a:solidFill>
                  <a:srgbClr val="A7F3D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"ADD_ITEM"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return [...state, action.item];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default: return state;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</a:t>
            </a:r>
            <a:r>
              <a:rPr lang="en-US" sz="115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CartProvider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({ children })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const [state, dispatch] = </a:t>
            </a:r>
            <a:r>
              <a:rPr lang="en-US" sz="115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useReducer</a:t>
            </a: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(cartReducer, []);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&lt;CartContext.Provider value={{ state, dispatch }}&gt;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{children}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&lt;/CartContext.Provider&gt;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0" y="2606040"/>
            <a:ext cx="4663440" cy="4023360"/>
          </a:xfrm>
          <a:prstGeom prst="roundRect">
            <a:avLst>
              <a:gd name="adj" fmla="val 2045"/>
            </a:avLst>
          </a:prstGeom>
          <a:solidFill>
            <a:srgbClr val="F1F5F9"/>
          </a:solidFill>
        </p:spPr>
      </p:sp>
      <p:sp>
        <p:nvSpPr>
          <p:cNvPr id="8" name="Text 6"/>
          <p:cNvSpPr/>
          <p:nvPr/>
        </p:nvSpPr>
        <p:spPr>
          <a:xfrm>
            <a:off x="7132320" y="278892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pattern?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150608" y="3419856"/>
            <a:ext cx="73152" cy="73152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0" name="Text 8"/>
          <p:cNvSpPr/>
          <p:nvPr/>
        </p:nvSpPr>
        <p:spPr>
          <a:xfrm>
            <a:off x="7360920" y="3264408"/>
            <a:ext cx="38404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Centralizes all state transitions in one reducer function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50608" y="4023360"/>
            <a:ext cx="73152" cy="73152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2" name="Text 10"/>
          <p:cNvSpPr/>
          <p:nvPr/>
        </p:nvSpPr>
        <p:spPr>
          <a:xfrm>
            <a:off x="7360920" y="3867912"/>
            <a:ext cx="38404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 dispatch actions instead of calling many setters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50608" y="4626864"/>
            <a:ext cx="73152" cy="73152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4" name="Text 12"/>
          <p:cNvSpPr/>
          <p:nvPr/>
        </p:nvSpPr>
        <p:spPr>
          <a:xfrm>
            <a:off x="7360920" y="4471416"/>
            <a:ext cx="38404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descendant can read state or dispatch via useContext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50608" y="5230368"/>
            <a:ext cx="73152" cy="73152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6" name="Text 14"/>
          <p:cNvSpPr/>
          <p:nvPr/>
        </p:nvSpPr>
        <p:spPr>
          <a:xfrm>
            <a:off x="7360920" y="5074920"/>
            <a:ext cx="38404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lightweight alternative to Redux for medium-sized apps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50608" y="5833872"/>
            <a:ext cx="73152" cy="73152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8" name="Text 16"/>
          <p:cNvSpPr/>
          <p:nvPr/>
        </p:nvSpPr>
        <p:spPr>
          <a:xfrm>
            <a:off x="7360920" y="5678424"/>
            <a:ext cx="38404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Still React-native — no extra dependency required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Refs: Imperative Communication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2120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Refs offer an escape hatch outside the declarative props/state model — useful for reading a DOM node directly, or letting a parent imperatively call a method exposed by a child.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</p:spPr>
      </p:sp>
      <p:sp>
        <p:nvSpPr>
          <p:cNvPr id="6" name="Text 4"/>
          <p:cNvSpPr/>
          <p:nvPr/>
        </p:nvSpPr>
        <p:spPr>
          <a:xfrm>
            <a:off x="868680" y="2679192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useRef()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990088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a mutable ref object that persists across renders without causing re-renders.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630168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</p:spPr>
      </p:sp>
      <p:sp>
        <p:nvSpPr>
          <p:cNvPr id="9" name="Text 7"/>
          <p:cNvSpPr/>
          <p:nvPr/>
        </p:nvSpPr>
        <p:spPr>
          <a:xfrm>
            <a:off x="868680" y="3703320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forwardRef()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014216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Lets a parent attach a ref to a DOM node or instance inside a child component.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654296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</p:spPr>
      </p:sp>
      <p:sp>
        <p:nvSpPr>
          <p:cNvPr id="12" name="Text 10"/>
          <p:cNvSpPr/>
          <p:nvPr/>
        </p:nvSpPr>
        <p:spPr>
          <a:xfrm>
            <a:off x="868680" y="4727448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useImperativeHandle()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038344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Customizes exactly what a parent's ref exposes from a child (e.g. a focus() method).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257800" cy="5212080"/>
          </a:xfrm>
          <a:prstGeom prst="roundRect">
            <a:avLst>
              <a:gd name="adj" fmla="val 1404"/>
            </a:avLst>
          </a:prstGeom>
          <a:solidFill>
            <a:srgbClr val="0F172A"/>
          </a:solidFill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581912"/>
            <a:ext cx="4800600" cy="4882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FancyInput = </a:t>
            </a:r>
            <a:r>
              <a:rPr lang="en-US" sz="103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forwardRef</a:t>
            </a: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((props, ref) =&gt; {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const inputRef = </a:t>
            </a:r>
            <a:r>
              <a:rPr lang="en-US" sz="103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useRef</a:t>
            </a: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(null);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useImperativeHandle</a:t>
            </a: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(ref, () =&gt; ({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focus: () =&gt; inputRef.current.focus(),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}));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&lt;input ref={inputRef} /&gt;;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});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Parent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</a:t>
            </a:r>
            <a:r>
              <a:rPr lang="en-US" sz="1030" dirty="0">
                <a:solidFill>
                  <a:srgbClr val="F0AB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Form</a:t>
            </a: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 {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const ref = </a:t>
            </a:r>
            <a:r>
              <a:rPr lang="en-US" sz="1030" dirty="0">
                <a:solidFill>
                  <a:srgbClr val="61DA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useRef</a:t>
            </a: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(null);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(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&lt;&gt;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&lt;FancyInput ref={ref} /&gt;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&lt;button onClick={() =&gt; ref.current.focus()}&gt;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Focus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&lt;/button&gt;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&lt;/&gt;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);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Global State Management Libraries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2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large apps with deeply shared, frequently-updated state, dedicated state managers offer better performance and tooling than Context alone (Context re-renders every consumer on change; these libraries optimize subscriptions).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615184" cy="3566160"/>
          </a:xfrm>
          <a:prstGeom prst="roundRect">
            <a:avLst>
              <a:gd name="adj" fmla="val 3147"/>
            </a:avLst>
          </a:prstGeom>
          <a:solidFill>
            <a:srgbClr val="10193A"/>
          </a:solidFill>
        </p:spPr>
      </p:sp>
      <p:pic>
        <p:nvPicPr>
          <p:cNvPr id="6" name="Image 0" descr="/home/claude/reactcomm/icons/database_cy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51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2249424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Redux / Redux Toolkit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2249424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Predictable single store, strict unidirectional updates via actions/reducers. Best for large, complex apps with rigorous debugging needs (time-travel, DevTools).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456432" y="2423160"/>
            <a:ext cx="2615184" cy="3566160"/>
          </a:xfrm>
          <a:prstGeom prst="roundRect">
            <a:avLst>
              <a:gd name="adj" fmla="val 3147"/>
            </a:avLst>
          </a:prstGeom>
          <a:solidFill>
            <a:srgbClr val="10193A"/>
          </a:solidFill>
        </p:spPr>
      </p:sp>
      <p:pic>
        <p:nvPicPr>
          <p:cNvPr id="10" name="Image 1" descr="/home/claude/reactcomm/icons/database_cy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6517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39312" y="3108960"/>
            <a:ext cx="2249424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Zustand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639312" y="3657600"/>
            <a:ext cx="2249424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Minimal hook-based store with almost no boilerplate. Great middle-ground for small-to-medium apps.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6272784" y="2423160"/>
            <a:ext cx="2615184" cy="3566160"/>
          </a:xfrm>
          <a:prstGeom prst="roundRect">
            <a:avLst>
              <a:gd name="adj" fmla="val 3147"/>
            </a:avLst>
          </a:prstGeom>
          <a:solidFill>
            <a:srgbClr val="10193A"/>
          </a:solidFill>
        </p:spPr>
      </p:sp>
      <p:pic>
        <p:nvPicPr>
          <p:cNvPr id="14" name="Image 2" descr="/home/claude/reactcomm/icons/database_cy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2" y="26517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55664" y="3108960"/>
            <a:ext cx="2249424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Recoil / Jotai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55664" y="3657600"/>
            <a:ext cx="2249424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Atomic state model — state is split into small independent units, reducing unnecessary re-renders.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9089136" y="2423160"/>
            <a:ext cx="2615184" cy="3566160"/>
          </a:xfrm>
          <a:prstGeom prst="roundRect">
            <a:avLst>
              <a:gd name="adj" fmla="val 3147"/>
            </a:avLst>
          </a:prstGeom>
          <a:solidFill>
            <a:srgbClr val="10193A"/>
          </a:solidFill>
        </p:spPr>
      </p:sp>
      <p:pic>
        <p:nvPicPr>
          <p:cNvPr id="18" name="Image 3" descr="/home/claude/reactcomm/icons/database_cy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4" y="265176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72016" y="3108960"/>
            <a:ext cx="2249424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MobX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9272016" y="3657600"/>
            <a:ext cx="2249424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Observable state with automatic reactivity; components re-render when observed data changes.</a:t>
            </a:r>
            <a:endParaRPr lang="en-US" sz="108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Choosing the Right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789920" cy="457200"/>
          </a:xfrm>
          <a:prstGeom prst="rect">
            <a:avLst/>
          </a:prstGeom>
          <a:solidFill>
            <a:srgbClr val="0A1128"/>
          </a:solidFill>
        </p:spPr>
      </p:sp>
      <p:sp>
        <p:nvSpPr>
          <p:cNvPr id="5" name="Text 3"/>
          <p:cNvSpPr/>
          <p:nvPr/>
        </p:nvSpPr>
        <p:spPr>
          <a:xfrm>
            <a:off x="777240" y="155448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37560" y="155448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97880" y="1554480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For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29800" y="155448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10789920" cy="566928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" name="Text 8"/>
          <p:cNvSpPr/>
          <p:nvPr/>
        </p:nvSpPr>
        <p:spPr>
          <a:xfrm>
            <a:off x="777240" y="2011680"/>
            <a:ext cx="2377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2011680"/>
            <a:ext cx="2377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 → Child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97880" y="2011680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Simple, direct data passing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29800" y="2011680"/>
            <a:ext cx="15544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D3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78608"/>
            <a:ext cx="10789920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777240" y="2578608"/>
            <a:ext cx="2377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Callback functions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578608"/>
            <a:ext cx="2377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Child → Parent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2578608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Notifying parent of events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29800" y="2578608"/>
            <a:ext cx="15544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D3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145536"/>
            <a:ext cx="10789920" cy="566928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0" name="Text 18"/>
          <p:cNvSpPr/>
          <p:nvPr/>
        </p:nvSpPr>
        <p:spPr>
          <a:xfrm>
            <a:off x="777240" y="3145536"/>
            <a:ext cx="2377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Lifting state 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145536"/>
            <a:ext cx="2377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Sibling ↔ Sibling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97880" y="3145536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few closely related components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29800" y="3145536"/>
            <a:ext cx="15544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Low–Medium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712464"/>
            <a:ext cx="10789920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777240" y="3712464"/>
            <a:ext cx="2377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712464"/>
            <a:ext cx="2377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Cross-tree, any depth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3712464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Theme, auth, locale — rarely-changing data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29800" y="3712464"/>
            <a:ext cx="15544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279392"/>
            <a:ext cx="10789920" cy="566928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0" name="Text 28"/>
          <p:cNvSpPr/>
          <p:nvPr/>
        </p:nvSpPr>
        <p:spPr>
          <a:xfrm>
            <a:off x="777240" y="4279392"/>
            <a:ext cx="2377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useReducer + Context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37560" y="4279392"/>
            <a:ext cx="2377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Cross-tree, any depth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97880" y="4279392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apps with related state transitions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29800" y="4279392"/>
            <a:ext cx="15544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846320"/>
            <a:ext cx="10789920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5" name="Text 33"/>
          <p:cNvSpPr/>
          <p:nvPr/>
        </p:nvSpPr>
        <p:spPr>
          <a:xfrm>
            <a:off x="777240" y="4846320"/>
            <a:ext cx="2377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37560" y="4846320"/>
            <a:ext cx="2377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 → Child (imperative)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97880" y="4846320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Focus, animations, 3rd-party DOM libs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29800" y="4846320"/>
            <a:ext cx="15544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D3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413248"/>
            <a:ext cx="10789920" cy="566928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0" name="Text 38"/>
          <p:cNvSpPr/>
          <p:nvPr/>
        </p:nvSpPr>
        <p:spPr>
          <a:xfrm>
            <a:off x="777240" y="5413248"/>
            <a:ext cx="2377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Redux / Zustand / etc.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37560" y="5413248"/>
            <a:ext cx="2377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Global, any component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97880" y="5413248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apps, frequent updates, dev tooling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829800" y="5413248"/>
            <a:ext cx="15544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Medium–High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PRACTICES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Guidelines for Clean Communication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CFDF5"/>
          </a:solidFill>
        </p:spPr>
      </p:sp>
      <p:pic>
        <p:nvPicPr>
          <p:cNvPr id="5" name="Image 0" descr="/home/claude/reactcomm/icons/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288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Keep state as local as possible; lift only when it must be shared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3136392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Use Context for low-frequency, broadly-needed data (theme, auth, i18n)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849624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Name callback props with an 'on' prefix: onSave, onChange, onClose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4562856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Split large contexts into smaller, focused ones to limit re-renders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5276088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Reach for a state library only when Context truly becomes a bottleneck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EF2F2"/>
          </a:solidFill>
        </p:spPr>
      </p:sp>
      <p:pic>
        <p:nvPicPr>
          <p:cNvPr id="13" name="Image 1" descr="/home/claude/reactcomm/icons/warning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0" y="18288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DON'T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2423160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Don't mutate props directly — treat them as read-only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92240" y="3136392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Don't overuse Context for state that changes on every keystroke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92240" y="3849624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Don't drill props more than 2–3 levels — consider Context instead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92240" y="4562856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Don't use refs to bypass React's data flow for things props/state can do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92240" y="5276088"/>
            <a:ext cx="4800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Don't put everything in one giant global store 'just in case'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0193A"/>
          </a:solidFill>
        </p:spPr>
      </p:sp>
      <p:pic>
        <p:nvPicPr>
          <p:cNvPr id="5" name="Image 0" descr="/home/claude/reactcomm/icons/arrow_down_cy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6888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834640"/>
            <a:ext cx="30632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default: pass data parent → child.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0193A"/>
          </a:solidFill>
        </p:spPr>
      </p:sp>
      <p:pic>
        <p:nvPicPr>
          <p:cNvPr id="9" name="Image 1" descr="/home/claude/reactcomm/icons/arrow_up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9202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46888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Callbacks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17720" y="2834640"/>
            <a:ext cx="30632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passed as props let children signal parents.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3816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0193A"/>
          </a:solidFill>
        </p:spPr>
      </p:sp>
      <p:pic>
        <p:nvPicPr>
          <p:cNvPr id="13" name="Image 2" descr="/home/claude/reactcomm/icons/exchang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9202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66760" y="246888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Lift state up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366760" y="2834640"/>
            <a:ext cx="30632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siblings, share state via the nearest common ancestor.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7947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0193A"/>
          </a:solidFill>
        </p:spPr>
      </p:sp>
      <p:pic>
        <p:nvPicPr>
          <p:cNvPr id="17" name="Image 3" descr="/home/claude/reactcomm/icons/layers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2336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457200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API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68680" y="4937760"/>
            <a:ext cx="30632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Avoids prop drilling for broadly-needed, rarely-changing data.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89120" y="37947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0193A"/>
          </a:solidFill>
        </p:spPr>
      </p:sp>
      <p:pic>
        <p:nvPicPr>
          <p:cNvPr id="21" name="Image 4" descr="/home/claude/reactcomm/icons/link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02336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17720" y="457200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617720" y="4937760"/>
            <a:ext cx="30632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imperative escape hatch for DOM access and direct calls.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138160" y="37947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0193A"/>
          </a:solidFill>
        </p:spPr>
      </p:sp>
      <p:pic>
        <p:nvPicPr>
          <p:cNvPr id="25" name="Image 5" descr="/home/claude/reactcomm/icons/databas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023360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66760" y="457200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libraries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366760" y="4937760"/>
            <a:ext cx="30632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Redux/Zustand/etc. for large-scale, high-frequency global state.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Communication in React JS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10193A"/>
          </a:solidFill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0193A"/>
          </a:solidFill>
        </p:spPr>
      </p:sp>
      <p:pic>
        <p:nvPicPr>
          <p:cNvPr id="4" name="Image 0" descr="/home/claude/reactcomm/icons/react_cy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2860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383280"/>
            <a:ext cx="12161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1216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10557</Words>
  <Application>WPS Presentation</Application>
  <PresentationFormat>On-screen Show (16:9)</PresentationFormat>
  <Paragraphs>576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Component Communication in React JS</dc:title>
  <dc:creator>Claude</dc:creator>
  <dc:subject>PptxGenJS Presentation</dc:subject>
  <cp:lastModifiedBy>Tabinda Noor</cp:lastModifiedBy>
  <cp:revision>2</cp:revision>
  <dcterms:created xsi:type="dcterms:W3CDTF">2026-07-08T05:48:00Z</dcterms:created>
  <dcterms:modified xsi:type="dcterms:W3CDTF">2026-07-09T08:10:31Z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4418B542E0A644C2BC5DBB765828679F_12</vt:lpwstr>
  </property>
  <property fmtid="{D5CDD505-2E9C-101B-9397-08002B2CF9AE}" pid="3" name="KSOProductBuildVer">
    <vt:lpwstr>2057-12.2.0.23203</vt:lpwstr>
  </property>
</Properties>
</file>