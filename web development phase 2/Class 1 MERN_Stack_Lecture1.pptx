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.xml"/><Relationship Id="rId15" Type="http://schemas.openxmlformats.org/officeDocument/2006/relationships/image" Target="../media/image4.png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image" Target="../media/image3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image" Target="../media/image17.png"/><Relationship Id="rId45" Type="http://schemas.openxmlformats.org/officeDocument/2006/relationships/notesSlide" Target="../notesSlides/notesSlide5.xml"/><Relationship Id="rId44" Type="http://schemas.openxmlformats.org/officeDocument/2006/relationships/slideLayout" Target="../slideLayouts/slideLayout1.xml"/><Relationship Id="rId43" Type="http://schemas.openxmlformats.org/officeDocument/2006/relationships/tags" Target="../tags/tag50.xml"/><Relationship Id="rId42" Type="http://schemas.openxmlformats.org/officeDocument/2006/relationships/tags" Target="../tags/tag49.xml"/><Relationship Id="rId41" Type="http://schemas.openxmlformats.org/officeDocument/2006/relationships/image" Target="../media/image5.png"/><Relationship Id="rId40" Type="http://schemas.openxmlformats.org/officeDocument/2006/relationships/tags" Target="../tags/tag48.xml"/><Relationship Id="rId4" Type="http://schemas.openxmlformats.org/officeDocument/2006/relationships/tags" Target="../tags/tag16.xml"/><Relationship Id="rId39" Type="http://schemas.openxmlformats.org/officeDocument/2006/relationships/tags" Target="../tags/tag47.xml"/><Relationship Id="rId38" Type="http://schemas.openxmlformats.org/officeDocument/2006/relationships/tags" Target="../tags/tag46.xml"/><Relationship Id="rId37" Type="http://schemas.openxmlformats.org/officeDocument/2006/relationships/tags" Target="../tags/tag45.xml"/><Relationship Id="rId36" Type="http://schemas.openxmlformats.org/officeDocument/2006/relationships/tags" Target="../tags/tag44.xml"/><Relationship Id="rId35" Type="http://schemas.openxmlformats.org/officeDocument/2006/relationships/tags" Target="../tags/tag43.xml"/><Relationship Id="rId34" Type="http://schemas.openxmlformats.org/officeDocument/2006/relationships/tags" Target="../tags/tag42.xml"/><Relationship Id="rId33" Type="http://schemas.openxmlformats.org/officeDocument/2006/relationships/tags" Target="../tags/tag41.xml"/><Relationship Id="rId32" Type="http://schemas.openxmlformats.org/officeDocument/2006/relationships/image" Target="../media/image16.png"/><Relationship Id="rId31" Type="http://schemas.openxmlformats.org/officeDocument/2006/relationships/tags" Target="../tags/tag40.xml"/><Relationship Id="rId30" Type="http://schemas.openxmlformats.org/officeDocument/2006/relationships/tags" Target="../tags/tag39.xml"/><Relationship Id="rId3" Type="http://schemas.openxmlformats.org/officeDocument/2006/relationships/tags" Target="../tags/tag15.xml"/><Relationship Id="rId29" Type="http://schemas.openxmlformats.org/officeDocument/2006/relationships/tags" Target="../tags/tag38.xml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image" Target="../media/image19.png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image" Target="../media/image18.png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5" Type="http://schemas.openxmlformats.org/officeDocument/2006/relationships/notesSlide" Target="../notesSlides/notesSlide10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66.xml"/><Relationship Id="rId22" Type="http://schemas.openxmlformats.org/officeDocument/2006/relationships/image" Target="../media/image14.png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image" Target="../media/image19.png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image" Target="../media/image32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image" Target="../media/image31.png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image" Target="../media/image4.png"/><Relationship Id="rId3" Type="http://schemas.openxmlformats.org/officeDocument/2006/relationships/tags" Target="../tags/tag69.xml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image" Target="../media/image33.png"/><Relationship Id="rId2" Type="http://schemas.openxmlformats.org/officeDocument/2006/relationships/tags" Target="../tags/tag68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image" Target="../media/image25.png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image" Target="../media/image5.png"/><Relationship Id="rId32" Type="http://schemas.openxmlformats.org/officeDocument/2006/relationships/notesSlide" Target="../notesSlides/notesSlide16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111.xml"/><Relationship Id="rId3" Type="http://schemas.openxmlformats.org/officeDocument/2006/relationships/tags" Target="../tags/tag90.xml"/><Relationship Id="rId29" Type="http://schemas.openxmlformats.org/officeDocument/2006/relationships/image" Target="../media/image9.png"/><Relationship Id="rId28" Type="http://schemas.openxmlformats.org/officeDocument/2006/relationships/tags" Target="../tags/tag110.xml"/><Relationship Id="rId27" Type="http://schemas.openxmlformats.org/officeDocument/2006/relationships/tags" Target="../tags/tag109.xml"/><Relationship Id="rId26" Type="http://schemas.openxmlformats.org/officeDocument/2006/relationships/tags" Target="../tags/tag108.xml"/><Relationship Id="rId25" Type="http://schemas.openxmlformats.org/officeDocument/2006/relationships/tags" Target="../tags/tag107.xml"/><Relationship Id="rId24" Type="http://schemas.openxmlformats.org/officeDocument/2006/relationships/image" Target="../media/image8.png"/><Relationship Id="rId23" Type="http://schemas.openxmlformats.org/officeDocument/2006/relationships/tags" Target="../tags/tag106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tags" Target="../tags/tag89.xml"/><Relationship Id="rId19" Type="http://schemas.openxmlformats.org/officeDocument/2006/relationships/image" Target="../media/image3.png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image" Target="../media/image7.png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0E7490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22C55E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WEB DEVELOPMENT COURSE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MERN Stack Development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Lecture 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Web Development &amp; React Setup from Scratch</a:t>
            </a:r>
            <a:endParaRPr lang="en-US" sz="17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22960" y="4640580"/>
            <a:ext cx="868680" cy="86868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1D3A5F"/>
            </a:solidFill>
            <a:prstDash val="solid"/>
          </a:ln>
        </p:spPr>
      </p:sp>
      <p:pic>
        <p:nvPicPr>
          <p:cNvPr id="9" name="Image 0" descr="/home/claude/icons/mongo_green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8413" y="4836033"/>
            <a:ext cx="477774" cy="47777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571500" y="55824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12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3154680" y="4640580"/>
            <a:ext cx="868680" cy="86868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1D3A5F"/>
            </a:solidFill>
            <a:prstDash val="solid"/>
          </a:ln>
        </p:spPr>
      </p:sp>
      <p:pic>
        <p:nvPicPr>
          <p:cNvPr id="12" name="Image 1" descr="/home/claude/icons/express_whit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50133" y="483603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2903220" y="55824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</a:t>
            </a:r>
            <a:endParaRPr lang="en-US" sz="1200" dirty="0"/>
          </a:p>
        </p:txBody>
      </p:sp>
      <p:sp>
        <p:nvSpPr>
          <p:cNvPr id="14" name="Shape 10"/>
          <p:cNvSpPr/>
          <p:nvPr>
            <p:custDataLst>
              <p:tags r:id="rId9"/>
            </p:custDataLst>
          </p:nvPr>
        </p:nvSpPr>
        <p:spPr>
          <a:xfrm>
            <a:off x="5486400" y="4640580"/>
            <a:ext cx="868680" cy="86868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1D3A5F"/>
            </a:solidFill>
            <a:prstDash val="solid"/>
          </a:ln>
        </p:spPr>
      </p:sp>
      <p:pic>
        <p:nvPicPr>
          <p:cNvPr id="15" name="Image 2" descr="/home/claude/icons/react_cyan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681853" y="4836033"/>
            <a:ext cx="477774" cy="477774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2"/>
            </p:custDataLst>
          </p:nvPr>
        </p:nvSpPr>
        <p:spPr>
          <a:xfrm>
            <a:off x="5234940" y="55824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</a:t>
            </a:r>
            <a:endParaRPr lang="en-US" sz="1200" dirty="0"/>
          </a:p>
        </p:txBody>
      </p:sp>
      <p:sp>
        <p:nvSpPr>
          <p:cNvPr id="17" name="Shape 12"/>
          <p:cNvSpPr/>
          <p:nvPr>
            <p:custDataLst>
              <p:tags r:id="rId13"/>
            </p:custDataLst>
          </p:nvPr>
        </p:nvSpPr>
        <p:spPr>
          <a:xfrm>
            <a:off x="7818120" y="4640580"/>
            <a:ext cx="868680" cy="86868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1D3A5F"/>
            </a:solidFill>
            <a:prstDash val="solid"/>
          </a:ln>
        </p:spPr>
      </p:sp>
      <p:pic>
        <p:nvPicPr>
          <p:cNvPr id="18" name="Image 3" descr="/home/claude/icons/node_green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013573" y="4836033"/>
            <a:ext cx="477774" cy="477774"/>
          </a:xfrm>
          <a:prstGeom prst="rect">
            <a:avLst/>
          </a:prstGeom>
        </p:spPr>
      </p:pic>
      <p:sp>
        <p:nvSpPr>
          <p:cNvPr id="19" name="Text 13"/>
          <p:cNvSpPr/>
          <p:nvPr>
            <p:custDataLst>
              <p:tags r:id="rId16"/>
            </p:custDataLst>
          </p:nvPr>
        </p:nvSpPr>
        <p:spPr>
          <a:xfrm>
            <a:off x="7566660" y="55824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Will Learn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gentle, step-by-step journey — no experience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185416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7" name="Image 0" descr="/home/claude/icons/worl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95" y="2312975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89864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Web Works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3264408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Websites, browsers, and the internet explained simply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9659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185416"/>
            <a:ext cx="566928" cy="566928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13" name="Image 1" descr="/home/claude/icons/lay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127" y="2312975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53712" y="289864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vs Backend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53712" y="3264408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two sides of every website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10144" y="19659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2185416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9" name="Image 2" descr="/home/claude/icons/puzz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159" y="2312975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36224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38744" y="289864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MERN?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38744" y="3264408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4 technologies: MongoDB, Express, React, Node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4142232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59536" y="4361688"/>
            <a:ext cx="566928" cy="566928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25" name="Image 3" descr="/home/claude/icons/reac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5" y="4489247"/>
            <a:ext cx="311810" cy="31181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566160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68680" y="50749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React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68680" y="54406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tool we will use to build user interfaces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325112" y="4142232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44568" y="4361688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31" name="Image 4" descr="/home/claude/icons/downlo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127" y="4489247"/>
            <a:ext cx="311810" cy="31181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51192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553712" y="50749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the Tools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553712" y="54406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Node.js and a code editor on your computer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010144" y="4142232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29600" y="4361688"/>
            <a:ext cx="566928" cy="566928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37" name="Image 5" descr="/home/claude/icons/roc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159" y="4489247"/>
            <a:ext cx="311810" cy="31181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936224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238744" y="50749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Your First App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8238744" y="544068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and run a React project from scratch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Exactly Is a Website?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website is simply a collection of </a:t>
            </a:r>
            <a:r>
              <a:rPr lang="en-US" sz="155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</a:t>
            </a:r>
            <a:r>
              <a:rPr lang="en-US" sz="15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that you can open using a </a:t>
            </a:r>
            <a:r>
              <a:rPr lang="en-US" sz="155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browser</a:t>
            </a:r>
            <a:r>
              <a:rPr lang="en-US" sz="15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like Chrome or Safari.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4088" y="2606040"/>
            <a:ext cx="512064" cy="512064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6" name="Image 0" descr="/home/claude/icons/glo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272125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60604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 of it like a digital book with many pages, connected together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4088" y="3383280"/>
            <a:ext cx="512064" cy="512064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9" name="Image 1" descr="/home/claude/icons/mobi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3498494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832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 visit websites on a phone, tablet, or computer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04088" y="4160520"/>
            <a:ext cx="512064" cy="512064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2" name="Image 2" descr="/home/claude/icons/c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4275734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16052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Facebook, Amazon, Netflix — all are websites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537960" y="1417320"/>
            <a:ext cx="5029200" cy="4709160"/>
          </a:xfrm>
          <a:prstGeom prst="roundRect">
            <a:avLst>
              <a:gd name="adj" fmla="val 1165"/>
            </a:avLst>
          </a:prstGeom>
          <a:solidFill>
            <a:srgbClr val="0B1F3A"/>
          </a:solidFill>
          <a:effectLst>
            <a:outerShdw blurRad="177800" dist="635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537960" y="14173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081527"/>
          </a:solidFill>
        </p:spPr>
      </p:sp>
      <p:sp>
        <p:nvSpPr>
          <p:cNvPr id="16" name="Shape 11"/>
          <p:cNvSpPr/>
          <p:nvPr/>
        </p:nvSpPr>
        <p:spPr>
          <a:xfrm>
            <a:off x="6766560" y="1600200"/>
            <a:ext cx="146304" cy="146304"/>
          </a:xfrm>
          <a:prstGeom prst="ellipse">
            <a:avLst/>
          </a:prstGeom>
          <a:solidFill>
            <a:srgbClr val="E7534F"/>
          </a:solidFill>
        </p:spPr>
      </p:sp>
      <p:sp>
        <p:nvSpPr>
          <p:cNvPr id="17" name="Shape 12"/>
          <p:cNvSpPr/>
          <p:nvPr/>
        </p:nvSpPr>
        <p:spPr>
          <a:xfrm>
            <a:off x="7059168" y="1600200"/>
            <a:ext cx="146304" cy="146304"/>
          </a:xfrm>
          <a:prstGeom prst="ellipse">
            <a:avLst/>
          </a:prstGeom>
          <a:solidFill>
            <a:srgbClr val="F2C94C"/>
          </a:solidFill>
        </p:spPr>
      </p:sp>
      <p:sp>
        <p:nvSpPr>
          <p:cNvPr id="18" name="Shape 13"/>
          <p:cNvSpPr/>
          <p:nvPr/>
        </p:nvSpPr>
        <p:spPr>
          <a:xfrm>
            <a:off x="7351776" y="1600200"/>
            <a:ext cx="146304" cy="146304"/>
          </a:xfrm>
          <a:prstGeom prst="ellipse">
            <a:avLst/>
          </a:prstGeom>
          <a:solidFill>
            <a:srgbClr val="27C93F"/>
          </a:solidFill>
        </p:spPr>
      </p:sp>
      <p:sp>
        <p:nvSpPr>
          <p:cNvPr id="19" name="Shape 14"/>
          <p:cNvSpPr/>
          <p:nvPr/>
        </p:nvSpPr>
        <p:spPr>
          <a:xfrm>
            <a:off x="7726680" y="1545336"/>
            <a:ext cx="3566160" cy="256032"/>
          </a:xfrm>
          <a:prstGeom prst="roundRect">
            <a:avLst>
              <a:gd name="adj" fmla="val 50000"/>
            </a:avLst>
          </a:prstGeom>
          <a:solidFill>
            <a:srgbClr val="17325A"/>
          </a:solidFill>
        </p:spPr>
      </p:sp>
      <p:sp>
        <p:nvSpPr>
          <p:cNvPr id="20" name="Text 15"/>
          <p:cNvSpPr/>
          <p:nvPr/>
        </p:nvSpPr>
        <p:spPr>
          <a:xfrm>
            <a:off x="7818120" y="154533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www.mywebsite.com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641080" y="2560320"/>
            <a:ext cx="822960" cy="82296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2" name="Image 3" descr="/home/claude/icons/glo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246" y="2745486"/>
            <a:ext cx="452628" cy="45262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086600" y="3703320"/>
            <a:ext cx="3931920" cy="256032"/>
          </a:xfrm>
          <a:prstGeom prst="roundRect">
            <a:avLst>
              <a:gd name="adj" fmla="val 17857"/>
            </a:avLst>
          </a:prstGeom>
          <a:solidFill>
            <a:srgbClr val="17325A"/>
          </a:solidFill>
        </p:spPr>
      </p:sp>
      <p:sp>
        <p:nvSpPr>
          <p:cNvPr id="24" name="Shape 18"/>
          <p:cNvSpPr/>
          <p:nvPr/>
        </p:nvSpPr>
        <p:spPr>
          <a:xfrm>
            <a:off x="7086600" y="4114800"/>
            <a:ext cx="2834640" cy="201168"/>
          </a:xfrm>
          <a:prstGeom prst="roundRect">
            <a:avLst>
              <a:gd name="adj" fmla="val 22727"/>
            </a:avLst>
          </a:prstGeom>
          <a:solidFill>
            <a:srgbClr val="17325A"/>
          </a:solidFill>
        </p:spPr>
      </p:sp>
      <p:sp>
        <p:nvSpPr>
          <p:cNvPr id="25" name="Shape 19"/>
          <p:cNvSpPr/>
          <p:nvPr/>
        </p:nvSpPr>
        <p:spPr>
          <a:xfrm>
            <a:off x="7086600" y="4617720"/>
            <a:ext cx="1188720" cy="1234440"/>
          </a:xfrm>
          <a:prstGeom prst="roundRect">
            <a:avLst>
              <a:gd name="adj" fmla="val 4615"/>
            </a:avLst>
          </a:prstGeom>
          <a:solidFill>
            <a:srgbClr val="10294A"/>
          </a:solidFill>
        </p:spPr>
      </p:sp>
      <p:sp>
        <p:nvSpPr>
          <p:cNvPr id="26" name="Shape 20"/>
          <p:cNvSpPr/>
          <p:nvPr/>
        </p:nvSpPr>
        <p:spPr>
          <a:xfrm>
            <a:off x="7452360" y="4892040"/>
            <a:ext cx="457200" cy="45720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27" name="Image 4" descr="/home/claude/icons/c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230" y="4994910"/>
            <a:ext cx="251460" cy="25146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458200" y="4617720"/>
            <a:ext cx="1188720" cy="1234440"/>
          </a:xfrm>
          <a:prstGeom prst="roundRect">
            <a:avLst>
              <a:gd name="adj" fmla="val 4615"/>
            </a:avLst>
          </a:prstGeom>
          <a:solidFill>
            <a:srgbClr val="10294A"/>
          </a:solidFill>
        </p:spPr>
      </p:sp>
      <p:sp>
        <p:nvSpPr>
          <p:cNvPr id="29" name="Shape 22"/>
          <p:cNvSpPr/>
          <p:nvPr/>
        </p:nvSpPr>
        <p:spPr>
          <a:xfrm>
            <a:off x="8823960" y="4892040"/>
            <a:ext cx="457200" cy="457200"/>
          </a:xfrm>
          <a:prstGeom prst="ellipse">
            <a:avLst/>
          </a:prstGeom>
          <a:solidFill>
            <a:srgbClr val="0FA3B1"/>
          </a:solidFill>
        </p:spPr>
      </p:sp>
      <p:pic>
        <p:nvPicPr>
          <p:cNvPr id="30" name="Image 5" descr="/home/claude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6830" y="4994910"/>
            <a:ext cx="251460" cy="25146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829800" y="4617720"/>
            <a:ext cx="1188720" cy="1234440"/>
          </a:xfrm>
          <a:prstGeom prst="roundRect">
            <a:avLst>
              <a:gd name="adj" fmla="val 4615"/>
            </a:avLst>
          </a:prstGeom>
          <a:solidFill>
            <a:srgbClr val="10294A"/>
          </a:solidFill>
        </p:spPr>
      </p:sp>
      <p:sp>
        <p:nvSpPr>
          <p:cNvPr id="32" name="Shape 24"/>
          <p:cNvSpPr/>
          <p:nvPr/>
        </p:nvSpPr>
        <p:spPr>
          <a:xfrm>
            <a:off x="10195560" y="4892040"/>
            <a:ext cx="457200" cy="45720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33" name="Image 6" descr="/home/claude/icons/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8430" y="4994910"/>
            <a:ext cx="251460" cy="2514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Internet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time you open a website, two computers talk to each 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4540" y="2628900"/>
            <a:ext cx="868680" cy="86868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7" name="Image 0" descr="/home/claude/icons/deskt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9993" y="2824353"/>
            <a:ext cx="477774" cy="477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(You)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406908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browser asks: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"Please show me this website"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76895" y="228600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0B1F3A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288475" y="2628900"/>
            <a:ext cx="868680" cy="86868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12" name="Image 1" descr="/home/claude/icons/serv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928" y="282435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76895" y="3657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(Far Away Computer)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305495" y="406908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server replies: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"Here is the website you asked for"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251960" y="3063240"/>
            <a:ext cx="3687775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4114800" y="2743200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4160520"/>
            <a:ext cx="3687775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4114800" y="4251960"/>
            <a:ext cx="39620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(the website)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844388" y="1714500"/>
            <a:ext cx="502920" cy="502920"/>
          </a:xfrm>
          <a:prstGeom prst="ellipse">
            <a:avLst/>
          </a:prstGeom>
          <a:solidFill>
            <a:srgbClr val="0FA3B1"/>
          </a:solidFill>
        </p:spPr>
      </p:sp>
      <p:pic>
        <p:nvPicPr>
          <p:cNvPr id="20" name="Image 2" descr="/home/claude/icons/wor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45" y="1827657"/>
            <a:ext cx="276606" cy="27660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2960" y="53492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EFF6F9"/>
          </a:solidFill>
        </p:spPr>
      </p:sp>
      <p:sp>
        <p:nvSpPr>
          <p:cNvPr id="22" name="Text 17"/>
          <p:cNvSpPr/>
          <p:nvPr/>
        </p:nvSpPr>
        <p:spPr>
          <a:xfrm>
            <a:off x="1097280" y="534924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takeaway:  </a:t>
            </a:r>
            <a:r>
              <a:rPr lang="en-US" sz="12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asks a question, the server sends back an answer (the webpage). This happens in less than a second!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Happens When You Search a Website?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closer look at the full journey — from typing a name to seeing the page.</a:t>
            </a:r>
            <a:endParaRPr lang="en-US" sz="13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0080" y="1965960"/>
            <a:ext cx="1965960" cy="3383280"/>
          </a:xfrm>
          <a:prstGeom prst="roundRect">
            <a:avLst>
              <a:gd name="adj" fmla="val 4186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749808" y="20574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5A7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312164" y="2615184"/>
            <a:ext cx="621792" cy="621792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8" name="Image 0" descr="/home/claude/icons/keyboard_whit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52067" y="2755087"/>
            <a:ext cx="341986" cy="341986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749808" y="3474720"/>
            <a:ext cx="17465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Type a Name</a:t>
            </a:r>
            <a:endParaRPr lang="en-US" sz="115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786384" y="4023360"/>
            <a:ext cx="16733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FC3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enter "google.com" in the browser and press Enter</a:t>
            </a:r>
            <a:endParaRPr lang="en-US" sz="950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2560320" y="2798064"/>
            <a:ext cx="256032" cy="256032"/>
          </a:xfrm>
          <a:prstGeom prst="ellipse">
            <a:avLst/>
          </a:prstGeom>
          <a:solidFill>
            <a:srgbClr val="16304F"/>
          </a:solidFill>
        </p:spPr>
      </p:sp>
      <p:pic>
        <p:nvPicPr>
          <p:cNvPr id="12" name="Image 1" descr="/home/claude/icons/arrow_white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611526" y="2849270"/>
            <a:ext cx="153619" cy="153619"/>
          </a:xfrm>
          <a:prstGeom prst="rect">
            <a:avLst/>
          </a:prstGeom>
        </p:spPr>
      </p:pic>
      <p:sp>
        <p:nvSpPr>
          <p:cNvPr id="13" name="Shape 9"/>
          <p:cNvSpPr/>
          <p:nvPr>
            <p:custDataLst>
              <p:tags r:id="rId11"/>
            </p:custDataLst>
          </p:nvPr>
        </p:nvSpPr>
        <p:spPr>
          <a:xfrm>
            <a:off x="2770632" y="1965960"/>
            <a:ext cx="1965960" cy="3383280"/>
          </a:xfrm>
          <a:prstGeom prst="roundRect">
            <a:avLst>
              <a:gd name="adj" fmla="val 4186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2880360" y="20574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5A7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1"/>
          <p:cNvSpPr/>
          <p:nvPr>
            <p:custDataLst>
              <p:tags r:id="rId13"/>
            </p:custDataLst>
          </p:nvPr>
        </p:nvSpPr>
        <p:spPr>
          <a:xfrm>
            <a:off x="3442716" y="2615184"/>
            <a:ext cx="621792" cy="621792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16" name="Image 2" descr="/home/claude/icons/sitemap_whit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582619" y="275508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6"/>
            </p:custDataLst>
          </p:nvPr>
        </p:nvSpPr>
        <p:spPr>
          <a:xfrm>
            <a:off x="2880360" y="3474720"/>
            <a:ext cx="17465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Finds the Address</a:t>
            </a:r>
            <a:endParaRPr lang="en-US" sz="1150" dirty="0"/>
          </a:p>
        </p:txBody>
      </p:sp>
      <p:sp>
        <p:nvSpPr>
          <p:cNvPr id="18" name="Text 13"/>
          <p:cNvSpPr/>
          <p:nvPr>
            <p:custDataLst>
              <p:tags r:id="rId17"/>
            </p:custDataLst>
          </p:nvPr>
        </p:nvSpPr>
        <p:spPr>
          <a:xfrm>
            <a:off x="2916936" y="4023360"/>
            <a:ext cx="16733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FC3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works like a phone book — it turns the name into a numeric address (IP)</a:t>
            </a:r>
            <a:endParaRPr lang="en-US" sz="950" dirty="0"/>
          </a:p>
        </p:txBody>
      </p:sp>
      <p:sp>
        <p:nvSpPr>
          <p:cNvPr id="19" name="Shape 14"/>
          <p:cNvSpPr/>
          <p:nvPr>
            <p:custDataLst>
              <p:tags r:id="rId18"/>
            </p:custDataLst>
          </p:nvPr>
        </p:nvSpPr>
        <p:spPr>
          <a:xfrm>
            <a:off x="4690872" y="2798064"/>
            <a:ext cx="256032" cy="256032"/>
          </a:xfrm>
          <a:prstGeom prst="ellipse">
            <a:avLst/>
          </a:prstGeom>
          <a:solidFill>
            <a:srgbClr val="16304F"/>
          </a:solidFill>
        </p:spPr>
      </p:sp>
      <p:pic>
        <p:nvPicPr>
          <p:cNvPr id="20" name="Image 3" descr="/home/claude/icons/arrow_white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42078" y="2849270"/>
            <a:ext cx="153619" cy="153619"/>
          </a:xfrm>
          <a:prstGeom prst="rect">
            <a:avLst/>
          </a:prstGeom>
        </p:spPr>
      </p:pic>
      <p:sp>
        <p:nvSpPr>
          <p:cNvPr id="21" name="Shape 15"/>
          <p:cNvSpPr/>
          <p:nvPr>
            <p:custDataLst>
              <p:tags r:id="rId20"/>
            </p:custDataLst>
          </p:nvPr>
        </p:nvSpPr>
        <p:spPr>
          <a:xfrm>
            <a:off x="4901184" y="1965960"/>
            <a:ext cx="1965960" cy="3383280"/>
          </a:xfrm>
          <a:prstGeom prst="roundRect">
            <a:avLst>
              <a:gd name="adj" fmla="val 4186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2" name="Text 16"/>
          <p:cNvSpPr/>
          <p:nvPr>
            <p:custDataLst>
              <p:tags r:id="rId21"/>
            </p:custDataLst>
          </p:nvPr>
        </p:nvSpPr>
        <p:spPr>
          <a:xfrm>
            <a:off x="5010912" y="20574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5A7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7"/>
          <p:cNvSpPr/>
          <p:nvPr>
            <p:custDataLst>
              <p:tags r:id="rId22"/>
            </p:custDataLst>
          </p:nvPr>
        </p:nvSpPr>
        <p:spPr>
          <a:xfrm>
            <a:off x="5573268" y="2615184"/>
            <a:ext cx="621792" cy="621792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4" name="Image 4" descr="/home/claude/icons/arrow_white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713171" y="2755087"/>
            <a:ext cx="341986" cy="341986"/>
          </a:xfrm>
          <a:prstGeom prst="rect">
            <a:avLst/>
          </a:prstGeom>
        </p:spPr>
      </p:pic>
      <p:sp>
        <p:nvSpPr>
          <p:cNvPr id="25" name="Text 18"/>
          <p:cNvSpPr/>
          <p:nvPr>
            <p:custDataLst>
              <p:tags r:id="rId24"/>
            </p:custDataLst>
          </p:nvPr>
        </p:nvSpPr>
        <p:spPr>
          <a:xfrm>
            <a:off x="5010912" y="3474720"/>
            <a:ext cx="17465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Sends a Request</a:t>
            </a:r>
            <a:endParaRPr lang="en-US" sz="1150" dirty="0"/>
          </a:p>
        </p:txBody>
      </p:sp>
      <p:sp>
        <p:nvSpPr>
          <p:cNvPr id="26" name="Text 19"/>
          <p:cNvSpPr/>
          <p:nvPr>
            <p:custDataLst>
              <p:tags r:id="rId25"/>
            </p:custDataLst>
          </p:nvPr>
        </p:nvSpPr>
        <p:spPr>
          <a:xfrm>
            <a:off x="5047488" y="4023360"/>
            <a:ext cx="16733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FC3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browser asks that address: "Please send me this website"</a:t>
            </a:r>
            <a:endParaRPr lang="en-US" sz="950" dirty="0"/>
          </a:p>
        </p:txBody>
      </p:sp>
      <p:sp>
        <p:nvSpPr>
          <p:cNvPr id="27" name="Shape 20"/>
          <p:cNvSpPr/>
          <p:nvPr>
            <p:custDataLst>
              <p:tags r:id="rId26"/>
            </p:custDataLst>
          </p:nvPr>
        </p:nvSpPr>
        <p:spPr>
          <a:xfrm>
            <a:off x="6821424" y="2798064"/>
            <a:ext cx="256032" cy="256032"/>
          </a:xfrm>
          <a:prstGeom prst="ellipse">
            <a:avLst/>
          </a:prstGeom>
          <a:solidFill>
            <a:srgbClr val="16304F"/>
          </a:solidFill>
        </p:spPr>
      </p:sp>
      <p:pic>
        <p:nvPicPr>
          <p:cNvPr id="28" name="Image 5" descr="/home/claude/icons/arrow_white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872630" y="2849270"/>
            <a:ext cx="153619" cy="153619"/>
          </a:xfrm>
          <a:prstGeom prst="rect">
            <a:avLst/>
          </a:prstGeom>
        </p:spPr>
      </p:pic>
      <p:sp>
        <p:nvSpPr>
          <p:cNvPr id="29" name="Shape 21"/>
          <p:cNvSpPr/>
          <p:nvPr>
            <p:custDataLst>
              <p:tags r:id="rId28"/>
            </p:custDataLst>
          </p:nvPr>
        </p:nvSpPr>
        <p:spPr>
          <a:xfrm>
            <a:off x="7031736" y="1965960"/>
            <a:ext cx="1965960" cy="3383280"/>
          </a:xfrm>
          <a:prstGeom prst="roundRect">
            <a:avLst>
              <a:gd name="adj" fmla="val 4186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30" name="Text 22"/>
          <p:cNvSpPr/>
          <p:nvPr>
            <p:custDataLst>
              <p:tags r:id="rId29"/>
            </p:custDataLst>
          </p:nvPr>
        </p:nvSpPr>
        <p:spPr>
          <a:xfrm>
            <a:off x="7141464" y="20574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5A7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3"/>
          <p:cNvSpPr/>
          <p:nvPr>
            <p:custDataLst>
              <p:tags r:id="rId30"/>
            </p:custDataLst>
          </p:nvPr>
        </p:nvSpPr>
        <p:spPr>
          <a:xfrm>
            <a:off x="7703820" y="2615184"/>
            <a:ext cx="621792" cy="621792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32" name="Image 6" descr="/home/claude/icons/server_white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843723" y="2755087"/>
            <a:ext cx="341986" cy="341986"/>
          </a:xfrm>
          <a:prstGeom prst="rect">
            <a:avLst/>
          </a:prstGeom>
        </p:spPr>
      </p:pic>
      <p:sp>
        <p:nvSpPr>
          <p:cNvPr id="33" name="Text 24"/>
          <p:cNvSpPr/>
          <p:nvPr>
            <p:custDataLst>
              <p:tags r:id="rId33"/>
            </p:custDataLst>
          </p:nvPr>
        </p:nvSpPr>
        <p:spPr>
          <a:xfrm>
            <a:off x="7141464" y="3474720"/>
            <a:ext cx="17465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Prepares a Response</a:t>
            </a:r>
            <a:endParaRPr lang="en-US" sz="1150" dirty="0"/>
          </a:p>
        </p:txBody>
      </p:sp>
      <p:sp>
        <p:nvSpPr>
          <p:cNvPr id="34" name="Text 25"/>
          <p:cNvSpPr/>
          <p:nvPr>
            <p:custDataLst>
              <p:tags r:id="rId34"/>
            </p:custDataLst>
          </p:nvPr>
        </p:nvSpPr>
        <p:spPr>
          <a:xfrm>
            <a:off x="7178040" y="4023360"/>
            <a:ext cx="16733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FC3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server gathers the page's files (text, images, style)</a:t>
            </a:r>
            <a:endParaRPr lang="en-US" sz="950" dirty="0"/>
          </a:p>
        </p:txBody>
      </p:sp>
      <p:sp>
        <p:nvSpPr>
          <p:cNvPr id="35" name="Shape 26"/>
          <p:cNvSpPr/>
          <p:nvPr>
            <p:custDataLst>
              <p:tags r:id="rId35"/>
            </p:custDataLst>
          </p:nvPr>
        </p:nvSpPr>
        <p:spPr>
          <a:xfrm>
            <a:off x="8951976" y="2798064"/>
            <a:ext cx="256032" cy="256032"/>
          </a:xfrm>
          <a:prstGeom prst="ellipse">
            <a:avLst/>
          </a:prstGeom>
          <a:solidFill>
            <a:srgbClr val="16304F"/>
          </a:solidFill>
        </p:spPr>
      </p:sp>
      <p:pic>
        <p:nvPicPr>
          <p:cNvPr id="36" name="Image 7" descr="/home/claude/icons/arrow_white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003182" y="2849270"/>
            <a:ext cx="153619" cy="153619"/>
          </a:xfrm>
          <a:prstGeom prst="rect">
            <a:avLst/>
          </a:prstGeom>
        </p:spPr>
      </p:pic>
      <p:sp>
        <p:nvSpPr>
          <p:cNvPr id="37" name="Shape 27"/>
          <p:cNvSpPr/>
          <p:nvPr>
            <p:custDataLst>
              <p:tags r:id="rId37"/>
            </p:custDataLst>
          </p:nvPr>
        </p:nvSpPr>
        <p:spPr>
          <a:xfrm>
            <a:off x="9162288" y="1965960"/>
            <a:ext cx="1965960" cy="3383280"/>
          </a:xfrm>
          <a:prstGeom prst="roundRect">
            <a:avLst>
              <a:gd name="adj" fmla="val 4186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38" name="Text 28"/>
          <p:cNvSpPr/>
          <p:nvPr>
            <p:custDataLst>
              <p:tags r:id="rId38"/>
            </p:custDataLst>
          </p:nvPr>
        </p:nvSpPr>
        <p:spPr>
          <a:xfrm>
            <a:off x="9272016" y="20574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5A7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29"/>
          <p:cNvSpPr/>
          <p:nvPr>
            <p:custDataLst>
              <p:tags r:id="rId39"/>
            </p:custDataLst>
          </p:nvPr>
        </p:nvSpPr>
        <p:spPr>
          <a:xfrm>
            <a:off x="9834372" y="2615184"/>
            <a:ext cx="621792" cy="621792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40" name="Image 8" descr="/home/claude/icons/world_white.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9974275" y="2755087"/>
            <a:ext cx="341986" cy="341986"/>
          </a:xfrm>
          <a:prstGeom prst="rect">
            <a:avLst/>
          </a:prstGeom>
        </p:spPr>
      </p:pic>
      <p:sp>
        <p:nvSpPr>
          <p:cNvPr id="41" name="Text 30"/>
          <p:cNvSpPr/>
          <p:nvPr>
            <p:custDataLst>
              <p:tags r:id="rId42"/>
            </p:custDataLst>
          </p:nvPr>
        </p:nvSpPr>
        <p:spPr>
          <a:xfrm>
            <a:off x="9272016" y="3474720"/>
            <a:ext cx="17465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Shows the Page</a:t>
            </a:r>
            <a:endParaRPr lang="en-US" sz="1150" dirty="0"/>
          </a:p>
        </p:txBody>
      </p:sp>
      <p:sp>
        <p:nvSpPr>
          <p:cNvPr id="42" name="Text 31"/>
          <p:cNvSpPr/>
          <p:nvPr>
            <p:custDataLst>
              <p:tags r:id="rId43"/>
            </p:custDataLst>
          </p:nvPr>
        </p:nvSpPr>
        <p:spPr>
          <a:xfrm>
            <a:off x="9308592" y="4023360"/>
            <a:ext cx="16733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AFC3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browser reads the files and displays the finished webpage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640080" y="5623560"/>
            <a:ext cx="10488168" cy="658368"/>
          </a:xfrm>
          <a:prstGeom prst="roundRect">
            <a:avLst>
              <a:gd name="adj" fmla="val 11111"/>
            </a:avLst>
          </a:prstGeom>
          <a:solidFill>
            <a:srgbClr val="0F2A4A"/>
          </a:solidFill>
        </p:spPr>
      </p:sp>
      <p:sp>
        <p:nvSpPr>
          <p:cNvPr id="44" name="Text 33"/>
          <p:cNvSpPr/>
          <p:nvPr/>
        </p:nvSpPr>
        <p:spPr>
          <a:xfrm>
            <a:off x="914400" y="5623560"/>
            <a:ext cx="9939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to know:  </a:t>
            </a:r>
            <a:r>
              <a:rPr lang="en-US" sz="12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five steps usually finish in well under a second — that's why websites feel instant!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 vs Backend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website has two sides working together, like a restaurant.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EFF6F9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231136"/>
            <a:ext cx="658368" cy="65836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7" name="Image 0" descr="/home/claude/icons/brus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37926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4028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83080" y="2624328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user SEES and CLICKS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182112"/>
            <a:ext cx="310896" cy="310896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1" name="Image 1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32" y="3252064"/>
            <a:ext cx="170993" cy="1709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Buttons, colors, and images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68680" y="3749040"/>
            <a:ext cx="310896" cy="310896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4" name="Image 2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32" y="3818992"/>
            <a:ext cx="170993" cy="1709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7673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layout, and menus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68680" y="4315968"/>
            <a:ext cx="310896" cy="310896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7" name="Image 3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32" y="4385920"/>
            <a:ext cx="170993" cy="1709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33425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using HTML, CSS &amp; React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68680" y="4882896"/>
            <a:ext cx="310896" cy="310896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0" name="Image 4" descr="/home/claude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32" y="4952848"/>
            <a:ext cx="170993" cy="1709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490118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dining area of a restaurant"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080760" y="196596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0B1F3A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91656" y="2231136"/>
            <a:ext cx="658368" cy="658368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24" name="Image 5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2379269"/>
            <a:ext cx="362102" cy="36210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224028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7223760" y="2624328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happens BEHIND the scenes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309360" y="3182112"/>
            <a:ext cx="310896" cy="310896"/>
          </a:xfrm>
          <a:prstGeom prst="ellipse">
            <a:avLst/>
          </a:prstGeom>
          <a:solidFill>
            <a:srgbClr val="081527"/>
          </a:solidFill>
        </p:spPr>
      </p:sp>
      <p:pic>
        <p:nvPicPr>
          <p:cNvPr id="28" name="Image 6" descr="/home/claude/icons/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312" y="3252064"/>
            <a:ext cx="170993" cy="17099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6656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and manages data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309360" y="3749040"/>
            <a:ext cx="310896" cy="310896"/>
          </a:xfrm>
          <a:prstGeom prst="ellipse">
            <a:avLst/>
          </a:prstGeom>
          <a:solidFill>
            <a:srgbClr val="081527"/>
          </a:solidFill>
        </p:spPr>
      </p:sp>
      <p:pic>
        <p:nvPicPr>
          <p:cNvPr id="31" name="Image 7" descr="/home/claude/icons/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312" y="3818992"/>
            <a:ext cx="170993" cy="17099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66560" y="37673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logins &amp; security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309360" y="4315968"/>
            <a:ext cx="310896" cy="310896"/>
          </a:xfrm>
          <a:prstGeom prst="ellipse">
            <a:avLst/>
          </a:prstGeom>
          <a:solidFill>
            <a:srgbClr val="081527"/>
          </a:solidFill>
        </p:spPr>
      </p:sp>
      <p:pic>
        <p:nvPicPr>
          <p:cNvPr id="34" name="Image 8" descr="/home/claude/icons/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312" y="4385920"/>
            <a:ext cx="170993" cy="17099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766560" y="433425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using Node, Express &amp; MongoDB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6309360" y="4882896"/>
            <a:ext cx="310896" cy="310896"/>
          </a:xfrm>
          <a:prstGeom prst="ellipse">
            <a:avLst/>
          </a:prstGeom>
          <a:solidFill>
            <a:srgbClr val="081527"/>
          </a:solidFill>
        </p:spPr>
      </p:sp>
      <p:pic>
        <p:nvPicPr>
          <p:cNvPr id="37" name="Image 9" descr="/home/claude/icons/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312" y="4952848"/>
            <a:ext cx="170993" cy="17099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766560" y="490118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kitchen of a restaurant"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5623560" y="3771900"/>
            <a:ext cx="548640" cy="548640"/>
          </a:xfrm>
          <a:prstGeom prst="ellipse">
            <a:avLst/>
          </a:prstGeom>
          <a:solidFill>
            <a:srgbClr val="0FA3B1"/>
          </a:solidFill>
        </p:spPr>
      </p:sp>
      <p:pic>
        <p:nvPicPr>
          <p:cNvPr id="40" name="Image 10" descr="/home/claude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004" y="3895344"/>
            <a:ext cx="301752" cy="301752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4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Programming, Really?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means giving a computer clear, step-by-step </a:t>
            </a:r>
            <a:r>
              <a:rPr lang="en-US" sz="150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instructions</a:t>
            </a:r>
            <a:r>
              <a:rPr lang="en-US" sz="15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 follow — written in a special language it understands.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2926080"/>
            <a:ext cx="731520" cy="73152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7" name="Image 0" descr="/home/claude/icons/clipboar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30906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157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the Steps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233672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a recipe: "first do this, then do that"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90772" y="3593592"/>
            <a:ext cx="310896" cy="310896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2" name="Image 1" descr="/home/claude/icons/arrow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724" y="3663544"/>
            <a:ext cx="170993" cy="17099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06240" y="260604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63540" y="2926080"/>
            <a:ext cx="731520" cy="73152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15" name="Image 2" descr="/home/claude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132" y="309067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43400" y="27157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389120" y="384048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 Code Language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434840" y="4233672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type instructions using JavaScript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56932" y="3593592"/>
            <a:ext cx="310896" cy="310896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3" descr="/home/claude/icons/arrow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884" y="3663544"/>
            <a:ext cx="170993" cy="170993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772400" y="260604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029700" y="2926080"/>
            <a:ext cx="731520" cy="73152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3" name="Image 4" descr="/home/claude/icons/pl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292" y="309067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09560" y="27157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D5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7955280" y="384048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Follows Them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001000" y="4233672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computer runs your instructions exactly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</p:spPr>
      </p:sp>
      <p:sp>
        <p:nvSpPr>
          <p:cNvPr id="28" name="Shape 21"/>
          <p:cNvSpPr/>
          <p:nvPr/>
        </p:nvSpPr>
        <p:spPr>
          <a:xfrm>
            <a:off x="982980" y="5440680"/>
            <a:ext cx="502920" cy="50292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29" name="Image 5" descr="/home/claude/icons/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137" y="5553837"/>
            <a:ext cx="276606" cy="27660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691640" y="525780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worry — you don't need to know math or be a "genius" to learn programming. Everyone starts at zero!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" y="-1371600"/>
            <a:ext cx="5486400" cy="5486400"/>
          </a:xfrm>
          <a:prstGeom prst="ellipse">
            <a:avLst/>
          </a:prstGeom>
          <a:solidFill>
            <a:srgbClr val="0E7490">
              <a:alpha val="1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the MERN Stack?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is a set of 4 popular technologies used together to build full websites — from what users see to how data is stored.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5292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691640" y="3589020"/>
            <a:ext cx="777240" cy="777240"/>
          </a:xfrm>
          <a:prstGeom prst="ellipse">
            <a:avLst/>
          </a:prstGeom>
          <a:solidFill>
            <a:schemeClr val="accent6"/>
          </a:solidFill>
        </p:spPr>
      </p:sp>
      <p:pic>
        <p:nvPicPr>
          <p:cNvPr id="9" name="Image 0" descr="/home/claude/icons/mongo_gre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519" y="3763899"/>
            <a:ext cx="427482" cy="4274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486460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52578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the website's data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38728" y="274320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21608" y="285292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4407408" y="3589020"/>
            <a:ext cx="777240" cy="777240"/>
          </a:xfrm>
          <a:prstGeom prst="ellipse">
            <a:avLst/>
          </a:prstGeom>
          <a:solidFill>
            <a:schemeClr val="accent6"/>
          </a:solidFill>
        </p:spPr>
      </p:sp>
      <p:pic>
        <p:nvPicPr>
          <p:cNvPr id="16" name="Image 1" descr="/home/claude/icons/expre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287" y="3763899"/>
            <a:ext cx="427482" cy="4274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5262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675888" y="486460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721608" y="52578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the server logic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54496" y="274320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37376" y="285292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7123176" y="3589020"/>
            <a:ext cx="777240" cy="777240"/>
          </a:xfrm>
          <a:prstGeom prst="ellipse">
            <a:avLst/>
          </a:prstGeom>
          <a:solidFill>
            <a:schemeClr val="accent6"/>
          </a:solidFill>
        </p:spPr>
      </p:sp>
      <p:pic>
        <p:nvPicPr>
          <p:cNvPr id="23" name="Image 2" descr="/home/claude/icons/reac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055" y="3763899"/>
            <a:ext cx="427482" cy="4274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91656" y="45262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91656" y="486460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Library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37376" y="52578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what users see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970264" y="2743200"/>
            <a:ext cx="2514600" cy="3337560"/>
          </a:xfrm>
          <a:prstGeom prst="roundRect">
            <a:avLst>
              <a:gd name="adj" fmla="val 3273"/>
            </a:avLst>
          </a:prstGeom>
          <a:solidFill>
            <a:srgbClr val="081527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153144" y="285292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</a:t>
            </a:r>
            <a:endParaRPr lang="en-US" sz="2600" dirty="0"/>
          </a:p>
        </p:txBody>
      </p:sp>
      <p:sp>
        <p:nvSpPr>
          <p:cNvPr id="29" name="Shape 24"/>
          <p:cNvSpPr/>
          <p:nvPr/>
        </p:nvSpPr>
        <p:spPr>
          <a:xfrm>
            <a:off x="9838944" y="3589020"/>
            <a:ext cx="777240" cy="777240"/>
          </a:xfrm>
          <a:prstGeom prst="ellipse">
            <a:avLst/>
          </a:prstGeom>
          <a:solidFill>
            <a:schemeClr val="accent6"/>
          </a:solidFill>
        </p:spPr>
      </p:sp>
      <p:pic>
        <p:nvPicPr>
          <p:cNvPr id="30" name="Image 3" descr="/home/claude/icons/nod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3823" y="3763899"/>
            <a:ext cx="427482" cy="4274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07424" y="45262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107424" y="486460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9153144" y="52578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JavaScript on the server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Learn the MERN Stack?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FF6F9"/>
          </a:solidFill>
        </p:spPr>
      </p:sp>
      <p:sp>
        <p:nvSpPr>
          <p:cNvPr id="5" name="Shape 3"/>
          <p:cNvSpPr/>
          <p:nvPr/>
        </p:nvSpPr>
        <p:spPr>
          <a:xfrm>
            <a:off x="1028700" y="2103120"/>
            <a:ext cx="777240" cy="77724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6" name="Image 0" descr="/home/claude/icons/j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579" y="22779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Language for Everything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011680" y="23500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use JavaScript for both frontend and backend — learn once, use everywhere.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FF6F9"/>
          </a:solidFill>
        </p:spPr>
      </p:sp>
      <p:sp>
        <p:nvSpPr>
          <p:cNvPr id="10" name="Shape 7"/>
          <p:cNvSpPr/>
          <p:nvPr/>
        </p:nvSpPr>
        <p:spPr>
          <a:xfrm>
            <a:off x="6560820" y="2103120"/>
            <a:ext cx="777240" cy="77724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11" name="Image 1" descr="/home/claude/icons/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699" y="227799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Huge, Friendly Community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543800" y="23500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Millions of developers use MERN, so help and tutorials are easy to find.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FF6F9"/>
          </a:solidFill>
        </p:spPr>
      </p:sp>
      <p:sp>
        <p:nvSpPr>
          <p:cNvPr id="15" name="Shape 11"/>
          <p:cNvSpPr/>
          <p:nvPr/>
        </p:nvSpPr>
        <p:spPr>
          <a:xfrm>
            <a:off x="1028700" y="3794760"/>
            <a:ext cx="777240" cy="77724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6" name="Image 2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79" y="39696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3657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by Real Companies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011680" y="404164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Facebook, Netflix, and Uber use these exact technologies in production.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4747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EFF6F9"/>
          </a:solidFill>
        </p:spPr>
      </p:sp>
      <p:sp>
        <p:nvSpPr>
          <p:cNvPr id="20" name="Shape 15"/>
          <p:cNvSpPr/>
          <p:nvPr/>
        </p:nvSpPr>
        <p:spPr>
          <a:xfrm>
            <a:off x="6560820" y="3794760"/>
            <a:ext cx="777240" cy="77724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21" name="Image 3" descr="/home/claude/icons/gra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699" y="39696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657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 for Beginners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43800" y="404164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tools are well documented and designed to be approachable for new learners.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REACT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React?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is a </a:t>
            </a:r>
            <a:r>
              <a:rPr lang="en-US" sz="145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library</a:t>
            </a:r>
            <a:r>
              <a:rPr lang="en-US" sz="14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made by Facebook (Meta) for building the visual part of websites — buttons, forms, menus, and more.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" y="2788920"/>
            <a:ext cx="512064" cy="512064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6" name="Image 0" descr="/home/claude/icons/cu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290413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78892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pages using small, reusable "building blocks" called components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" y="3566160"/>
            <a:ext cx="512064" cy="512064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9" name="Image 1" descr="/home/claude/icons/sitema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3681374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Updates only the part of the page that changes — fast and smooth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4088" y="4343400"/>
            <a:ext cx="512064" cy="512064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2" name="Image 2" descr="/home/claude/icons/wor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4458614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34340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apps like Facebook, Instagram, and Netflix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583680" y="1463040"/>
            <a:ext cx="4937760" cy="4617720"/>
          </a:xfrm>
          <a:prstGeom prst="roundRect">
            <a:avLst>
              <a:gd name="adj" fmla="val 1584"/>
            </a:avLst>
          </a:prstGeom>
          <a:solidFill>
            <a:srgbClr val="0B1F3A"/>
          </a:solidFill>
          <a:effectLst>
            <a:outerShdw blurRad="177800" dist="635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595360" y="1783080"/>
            <a:ext cx="914400" cy="914400"/>
          </a:xfrm>
          <a:prstGeom prst="ellipse">
            <a:avLst/>
          </a:prstGeom>
          <a:solidFill>
            <a:schemeClr val="accent6"/>
          </a:solidFill>
        </p:spPr>
      </p:sp>
      <p:pic>
        <p:nvPicPr>
          <p:cNvPr id="16" name="Image 3" descr="/home/claude/icons/reac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198882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283464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Page = Many Components</a:t>
            </a:r>
            <a:endParaRPr lang="en-US" sz="1250" dirty="0"/>
          </a:p>
        </p:txBody>
      </p:sp>
      <p:sp>
        <p:nvSpPr>
          <p:cNvPr id="18" name="Shape 12"/>
          <p:cNvSpPr/>
          <p:nvPr>
            <p:custDataLst>
              <p:tags r:id="rId5"/>
            </p:custDataLst>
          </p:nvPr>
        </p:nvSpPr>
        <p:spPr>
          <a:xfrm>
            <a:off x="6858000" y="333756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0294A"/>
          </a:solidFill>
        </p:spPr>
      </p:sp>
      <p:sp>
        <p:nvSpPr>
          <p:cNvPr id="19" name="Shape 13"/>
          <p:cNvSpPr/>
          <p:nvPr>
            <p:custDataLst>
              <p:tags r:id="rId6"/>
            </p:custDataLst>
          </p:nvPr>
        </p:nvSpPr>
        <p:spPr>
          <a:xfrm>
            <a:off x="7658100" y="3566160"/>
            <a:ext cx="457200" cy="45720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20" name="Image 4" descr="/home/claude/icons/sitemap_white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60970" y="366903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>
            <p:custDataLst>
              <p:tags r:id="rId8"/>
            </p:custDataLst>
          </p:nvPr>
        </p:nvSpPr>
        <p:spPr>
          <a:xfrm>
            <a:off x="6858000" y="41605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</a:t>
            </a:r>
            <a:endParaRPr lang="en-US" sz="1100" dirty="0"/>
          </a:p>
        </p:txBody>
      </p:sp>
      <p:sp>
        <p:nvSpPr>
          <p:cNvPr id="22" name="Shape 15"/>
          <p:cNvSpPr/>
          <p:nvPr>
            <p:custDataLst>
              <p:tags r:id="rId9"/>
            </p:custDataLst>
          </p:nvPr>
        </p:nvSpPr>
        <p:spPr>
          <a:xfrm>
            <a:off x="9189720" y="333756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0294A"/>
          </a:solidFill>
        </p:spPr>
      </p:sp>
      <p:sp>
        <p:nvSpPr>
          <p:cNvPr id="23" name="Shape 16"/>
          <p:cNvSpPr/>
          <p:nvPr>
            <p:custDataLst>
              <p:tags r:id="rId10"/>
            </p:custDataLst>
          </p:nvPr>
        </p:nvSpPr>
        <p:spPr>
          <a:xfrm>
            <a:off x="9989820" y="3566160"/>
            <a:ext cx="457200" cy="45720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24" name="Image 5" descr="/home/claude/icons/list_white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092690" y="366903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/>
          <p:nvPr>
            <p:custDataLst>
              <p:tags r:id="rId13"/>
            </p:custDataLst>
          </p:nvPr>
        </p:nvSpPr>
        <p:spPr>
          <a:xfrm>
            <a:off x="9189720" y="41605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Sidebar</a:t>
            </a:r>
            <a:endParaRPr lang="en-US" sz="1100" dirty="0"/>
          </a:p>
        </p:txBody>
      </p:sp>
      <p:sp>
        <p:nvSpPr>
          <p:cNvPr id="26" name="Shape 18"/>
          <p:cNvSpPr/>
          <p:nvPr>
            <p:custDataLst>
              <p:tags r:id="rId14"/>
            </p:custDataLst>
          </p:nvPr>
        </p:nvSpPr>
        <p:spPr>
          <a:xfrm>
            <a:off x="6858000" y="480060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0294A"/>
          </a:solidFill>
        </p:spPr>
      </p:sp>
      <p:sp>
        <p:nvSpPr>
          <p:cNvPr id="27" name="Shape 19"/>
          <p:cNvSpPr/>
          <p:nvPr>
            <p:custDataLst>
              <p:tags r:id="rId15"/>
            </p:custDataLst>
          </p:nvPr>
        </p:nvSpPr>
        <p:spPr>
          <a:xfrm>
            <a:off x="7658100" y="5029200"/>
            <a:ext cx="457200" cy="45720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28" name="Image 6" descr="/home/claude/icons/filecode_white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760970" y="5132070"/>
            <a:ext cx="251460" cy="251460"/>
          </a:xfrm>
          <a:prstGeom prst="rect">
            <a:avLst/>
          </a:prstGeom>
        </p:spPr>
      </p:pic>
      <p:sp>
        <p:nvSpPr>
          <p:cNvPr id="29" name="Text 20"/>
          <p:cNvSpPr/>
          <p:nvPr>
            <p:custDataLst>
              <p:tags r:id="rId18"/>
            </p:custDataLst>
          </p:nvPr>
        </p:nvSpPr>
        <p:spPr>
          <a:xfrm>
            <a:off x="6858000" y="562356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</a:t>
            </a:r>
            <a:endParaRPr lang="en-US" sz="1100" dirty="0"/>
          </a:p>
        </p:txBody>
      </p:sp>
      <p:sp>
        <p:nvSpPr>
          <p:cNvPr id="30" name="Shape 21"/>
          <p:cNvSpPr/>
          <p:nvPr>
            <p:custDataLst>
              <p:tags r:id="rId19"/>
            </p:custDataLst>
          </p:nvPr>
        </p:nvSpPr>
        <p:spPr>
          <a:xfrm>
            <a:off x="9189720" y="480060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0294A"/>
          </a:solidFill>
        </p:spPr>
      </p:sp>
      <p:sp>
        <p:nvSpPr>
          <p:cNvPr id="31" name="Shape 22"/>
          <p:cNvSpPr/>
          <p:nvPr>
            <p:custDataLst>
              <p:tags r:id="rId20"/>
            </p:custDataLst>
          </p:nvPr>
        </p:nvSpPr>
        <p:spPr>
          <a:xfrm>
            <a:off x="9989820" y="5029200"/>
            <a:ext cx="457200" cy="45720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32" name="Image 7" descr="/home/claude/icons/comments_white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092690" y="5132070"/>
            <a:ext cx="251460" cy="251460"/>
          </a:xfrm>
          <a:prstGeom prst="rect">
            <a:avLst/>
          </a:prstGeom>
        </p:spPr>
      </p:pic>
      <p:sp>
        <p:nvSpPr>
          <p:cNvPr id="33" name="Text 23"/>
          <p:cNvSpPr/>
          <p:nvPr>
            <p:custDataLst>
              <p:tags r:id="rId23"/>
            </p:custDataLst>
          </p:nvPr>
        </p:nvSpPr>
        <p:spPr>
          <a:xfrm>
            <a:off x="9189720" y="562356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Footer</a:t>
            </a:r>
            <a:endParaRPr lang="en-US" sz="1100" dirty="0"/>
          </a:p>
        </p:txBody>
      </p:sp>
      <p:sp>
        <p:nvSpPr>
          <p:cNvPr id="34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REACT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Developers Love React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0B1F3A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48840"/>
            <a:ext cx="731520" cy="73152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6" name="Image 0" descr="/home/claude/icons/puzzl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Reusable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once, use everywhere in your app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EFF6F9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02252" y="2148840"/>
            <a:ext cx="731520" cy="73152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2" name="Image 1" descr="/home/claude/icons/exchan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632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Fast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547872" y="36118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39312" y="406908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re-draws what actually changed on screen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81344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0B1F3A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72884" y="2148840"/>
            <a:ext cx="731520" cy="73152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18" name="Image 2" descr="/home/claude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3134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30632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#1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318504" y="36118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Used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9944" y="406908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popular frontend library worldwide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51976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EFF6F9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43516" y="2148840"/>
            <a:ext cx="731520" cy="73152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4" name="Image 3" descr="/home/claude/icons/gra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108" y="231343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89136" y="30632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Easy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9089136" y="36118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Learn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80576" y="406908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ideas that build up step by step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GETTING READY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You Need Before We Start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Just three free tools — all easy to install on any computer.</a:t>
            </a:r>
            <a:endParaRPr lang="en-US" sz="14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0080" y="19202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920240" y="2354580"/>
            <a:ext cx="868680" cy="86868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</p:sp>
      <p:pic>
        <p:nvPicPr>
          <p:cNvPr id="7" name="Image 0" descr="/home/claude/icons/node_green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15693" y="2550033"/>
            <a:ext cx="477774" cy="477774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822960" y="34290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914400" y="3840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JavaScript run on your computer, outside the browser. Includes npm, a tool installer.</a:t>
            </a:r>
            <a:endParaRPr lang="en-US" sz="110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1577340" y="475488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E6F6EC"/>
          </a:solidFill>
        </p:spPr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1577340" y="47548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Required</a:t>
            </a:r>
            <a:endParaRPr lang="en-US" sz="950" dirty="0"/>
          </a:p>
        </p:txBody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4343400" y="19202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10"/>
            </p:custDataLst>
          </p:nvPr>
        </p:nvSpPr>
        <p:spPr>
          <a:xfrm>
            <a:off x="5623560" y="2354580"/>
            <a:ext cx="868680" cy="86868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</p:sp>
      <p:pic>
        <p:nvPicPr>
          <p:cNvPr id="14" name="Image 1" descr="/home/claude/icons/vscode_white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19013" y="2550033"/>
            <a:ext cx="477774" cy="477774"/>
          </a:xfrm>
          <a:prstGeom prst="rect">
            <a:avLst/>
          </a:prstGeom>
        </p:spPr>
      </p:pic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4526280" y="34290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4617720" y="3840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free, popular code editor where we will write all our code.</a:t>
            </a:r>
            <a:endParaRPr lang="en-US" sz="1100" dirty="0"/>
          </a:p>
        </p:txBody>
      </p:sp>
      <p:sp>
        <p:nvSpPr>
          <p:cNvPr id="17" name="Shape 13"/>
          <p:cNvSpPr/>
          <p:nvPr>
            <p:custDataLst>
              <p:tags r:id="rId15"/>
            </p:custDataLst>
          </p:nvPr>
        </p:nvSpPr>
        <p:spPr>
          <a:xfrm>
            <a:off x="5280660" y="475488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E6F6EC"/>
          </a:solidFill>
        </p:spPr>
      </p:sp>
      <p:sp>
        <p:nvSpPr>
          <p:cNvPr id="18" name="Text 14"/>
          <p:cNvSpPr/>
          <p:nvPr>
            <p:custDataLst>
              <p:tags r:id="rId16"/>
            </p:custDataLst>
          </p:nvPr>
        </p:nvSpPr>
        <p:spPr>
          <a:xfrm>
            <a:off x="5280660" y="47548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Required</a:t>
            </a:r>
            <a:endParaRPr lang="en-US" sz="950" dirty="0"/>
          </a:p>
        </p:txBody>
      </p:sp>
      <p:sp>
        <p:nvSpPr>
          <p:cNvPr id="19" name="Shape 15"/>
          <p:cNvSpPr/>
          <p:nvPr>
            <p:custDataLst>
              <p:tags r:id="rId17"/>
            </p:custDataLst>
          </p:nvPr>
        </p:nvSpPr>
        <p:spPr>
          <a:xfrm>
            <a:off x="8046720" y="192024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>
            <p:custDataLst>
              <p:tags r:id="rId18"/>
            </p:custDataLst>
          </p:nvPr>
        </p:nvSpPr>
        <p:spPr>
          <a:xfrm>
            <a:off x="9326880" y="2354580"/>
            <a:ext cx="868680" cy="86868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</p:sp>
      <p:pic>
        <p:nvPicPr>
          <p:cNvPr id="21" name="Image 2" descr="/home/claude/icons/chrome_white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522333" y="2550033"/>
            <a:ext cx="477774" cy="477774"/>
          </a:xfrm>
          <a:prstGeom prst="rect">
            <a:avLst/>
          </a:prstGeom>
        </p:spPr>
      </p:pic>
      <p:sp>
        <p:nvSpPr>
          <p:cNvPr id="22" name="Text 17"/>
          <p:cNvSpPr/>
          <p:nvPr>
            <p:custDataLst>
              <p:tags r:id="rId21"/>
            </p:custDataLst>
          </p:nvPr>
        </p:nvSpPr>
        <p:spPr>
          <a:xfrm>
            <a:off x="8229600" y="34290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Browser</a:t>
            </a:r>
            <a:endParaRPr lang="en-US" sz="1600" dirty="0"/>
          </a:p>
        </p:txBody>
      </p:sp>
      <p:sp>
        <p:nvSpPr>
          <p:cNvPr id="23" name="Text 18"/>
          <p:cNvSpPr/>
          <p:nvPr>
            <p:custDataLst>
              <p:tags r:id="rId22"/>
            </p:custDataLst>
          </p:nvPr>
        </p:nvSpPr>
        <p:spPr>
          <a:xfrm>
            <a:off x="8321040" y="384048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Chrome, Firefox, or Edge — used to view and test our website.</a:t>
            </a:r>
            <a:endParaRPr lang="en-US" sz="1100" dirty="0"/>
          </a:p>
        </p:txBody>
      </p:sp>
      <p:sp>
        <p:nvSpPr>
          <p:cNvPr id="24" name="Shape 19"/>
          <p:cNvSpPr/>
          <p:nvPr>
            <p:custDataLst>
              <p:tags r:id="rId23"/>
            </p:custDataLst>
          </p:nvPr>
        </p:nvSpPr>
        <p:spPr>
          <a:xfrm>
            <a:off x="8983980" y="475488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EFF6F9"/>
          </a:solidFill>
        </p:spPr>
      </p:sp>
      <p:sp>
        <p:nvSpPr>
          <p:cNvPr id="25" name="Text 20"/>
          <p:cNvSpPr/>
          <p:nvPr>
            <p:custDataLst>
              <p:tags r:id="rId24"/>
            </p:custDataLst>
          </p:nvPr>
        </p:nvSpPr>
        <p:spPr>
          <a:xfrm>
            <a:off x="8983980" y="47548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likely have this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GETTING READY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Installing Node.js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FF6F9"/>
          </a:solidFill>
        </p:spPr>
      </p:sp>
      <p:sp>
        <p:nvSpPr>
          <p:cNvPr id="5" name="Shape 3"/>
          <p:cNvSpPr/>
          <p:nvPr/>
        </p:nvSpPr>
        <p:spPr>
          <a:xfrm>
            <a:off x="1051560" y="2052828"/>
            <a:ext cx="512064" cy="512064"/>
          </a:xfrm>
          <a:prstGeom prst="ellipse">
            <a:avLst/>
          </a:prstGeom>
          <a:solidFill>
            <a:srgbClr val="0B1F3A"/>
          </a:solidFill>
        </p:spPr>
      </p:sp>
      <p:sp>
        <p:nvSpPr>
          <p:cNvPr id="6" name="Text 4"/>
          <p:cNvSpPr/>
          <p:nvPr/>
        </p:nvSpPr>
        <p:spPr>
          <a:xfrm>
            <a:off x="1051560" y="205282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73936" y="2025396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8" name="Image 0" descr="/home/claude/icons/worl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495" y="2152955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19476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 nodejs.org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577840" y="1828800"/>
            <a:ext cx="5486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your browser and go to the official Node.js website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2953512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FF6F9"/>
          </a:solidFill>
        </p:spPr>
      </p:sp>
      <p:sp>
        <p:nvSpPr>
          <p:cNvPr id="12" name="Shape 9"/>
          <p:cNvSpPr/>
          <p:nvPr/>
        </p:nvSpPr>
        <p:spPr>
          <a:xfrm>
            <a:off x="1051560" y="3177540"/>
            <a:ext cx="512064" cy="512064"/>
          </a:xfrm>
          <a:prstGeom prst="ellipse">
            <a:avLst/>
          </a:prstGeom>
          <a:solidFill>
            <a:srgbClr val="0B1F3A"/>
          </a:solidFill>
        </p:spPr>
      </p:sp>
      <p:sp>
        <p:nvSpPr>
          <p:cNvPr id="13" name="Text 10"/>
          <p:cNvSpPr/>
          <p:nvPr/>
        </p:nvSpPr>
        <p:spPr>
          <a:xfrm>
            <a:off x="1051560" y="31775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773936" y="3150108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5" name="Image 1" descr="/home/claude/icons/downloa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495" y="3277667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307238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the LTS Version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577840" y="2953512"/>
            <a:ext cx="5486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"LTS" means Long-Term Support — the most stable version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" y="4078224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FF6F9"/>
          </a:solidFill>
        </p:spPr>
      </p:sp>
      <p:sp>
        <p:nvSpPr>
          <p:cNvPr id="19" name="Shape 15"/>
          <p:cNvSpPr/>
          <p:nvPr/>
        </p:nvSpPr>
        <p:spPr>
          <a:xfrm>
            <a:off x="1051560" y="4302252"/>
            <a:ext cx="512064" cy="512064"/>
          </a:xfrm>
          <a:prstGeom prst="ellipse">
            <a:avLst/>
          </a:prstGeom>
          <a:solidFill>
            <a:srgbClr val="0B1F3A"/>
          </a:solidFill>
        </p:spPr>
      </p:sp>
      <p:sp>
        <p:nvSpPr>
          <p:cNvPr id="20" name="Text 16"/>
          <p:cNvSpPr/>
          <p:nvPr/>
        </p:nvSpPr>
        <p:spPr>
          <a:xfrm>
            <a:off x="1051560" y="430225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773936" y="4274820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2" name="Image 2" descr="/home/claude/icons/pla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495" y="440237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514600" y="419709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the Installer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577840" y="4078224"/>
            <a:ext cx="5486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downloaded file and click "Next" through the setup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22960" y="5202936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FF6F9"/>
          </a:solidFill>
        </p:spPr>
      </p:sp>
      <p:sp>
        <p:nvSpPr>
          <p:cNvPr id="26" name="Shape 21"/>
          <p:cNvSpPr/>
          <p:nvPr/>
        </p:nvSpPr>
        <p:spPr>
          <a:xfrm>
            <a:off x="1051560" y="5426964"/>
            <a:ext cx="512064" cy="512064"/>
          </a:xfrm>
          <a:prstGeom prst="ellipse">
            <a:avLst/>
          </a:prstGeom>
          <a:solidFill>
            <a:srgbClr val="0B1F3A"/>
          </a:solidFill>
        </p:spPr>
      </p:sp>
      <p:sp>
        <p:nvSpPr>
          <p:cNvPr id="27" name="Text 22"/>
          <p:cNvSpPr/>
          <p:nvPr/>
        </p:nvSpPr>
        <p:spPr>
          <a:xfrm>
            <a:off x="1051560" y="54269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1773936" y="5399532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9" name="Image 3" descr="/home/claude/icons/termin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495" y="5527091"/>
            <a:ext cx="311810" cy="31181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514600" y="53218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Installation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5577840" y="5202936"/>
            <a:ext cx="5486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a terminal and type: node -v to see the version number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Creating Your First React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will use a tool called Vite to create a new React project in seconds.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5101F"/>
          </a:solidFill>
          <a:effectLst>
            <a:outerShdw blurRad="177800" dist="635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6035040" cy="411480"/>
          </a:xfrm>
          <a:prstGeom prst="roundRect">
            <a:avLst>
              <a:gd name="adj" fmla="val 13333"/>
            </a:avLst>
          </a:prstGeom>
          <a:solidFill>
            <a:srgbClr val="081527"/>
          </a:solidFill>
        </p:spPr>
      </p:sp>
      <p:sp>
        <p:nvSpPr>
          <p:cNvPr id="7" name="Shape 5"/>
          <p:cNvSpPr/>
          <p:nvPr/>
        </p:nvSpPr>
        <p:spPr>
          <a:xfrm>
            <a:off x="841248" y="2057400"/>
            <a:ext cx="137160" cy="137160"/>
          </a:xfrm>
          <a:prstGeom prst="ellipse">
            <a:avLst/>
          </a:prstGeom>
          <a:solidFill>
            <a:srgbClr val="E7534F"/>
          </a:solidFill>
        </p:spPr>
      </p:sp>
      <p:sp>
        <p:nvSpPr>
          <p:cNvPr id="8" name="Shape 6"/>
          <p:cNvSpPr/>
          <p:nvPr/>
        </p:nvSpPr>
        <p:spPr>
          <a:xfrm>
            <a:off x="1097280" y="2057400"/>
            <a:ext cx="137160" cy="137160"/>
          </a:xfrm>
          <a:prstGeom prst="ellipse">
            <a:avLst/>
          </a:prstGeom>
          <a:solidFill>
            <a:srgbClr val="F2C94C"/>
          </a:solidFill>
        </p:spPr>
      </p:sp>
      <p:sp>
        <p:nvSpPr>
          <p:cNvPr id="9" name="Shape 7"/>
          <p:cNvSpPr/>
          <p:nvPr/>
        </p:nvSpPr>
        <p:spPr>
          <a:xfrm>
            <a:off x="1353312" y="2057400"/>
            <a:ext cx="137160" cy="137160"/>
          </a:xfrm>
          <a:prstGeom prst="ellipse">
            <a:avLst/>
          </a:prstGeom>
          <a:solidFill>
            <a:srgbClr val="27C93F"/>
          </a:solidFill>
        </p:spPr>
      </p:sp>
      <p:sp>
        <p:nvSpPr>
          <p:cNvPr id="10" name="Text 8"/>
          <p:cNvSpPr/>
          <p:nvPr/>
        </p:nvSpPr>
        <p:spPr>
          <a:xfrm>
            <a:off x="640080" y="199339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7F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npm create vite@latest my-app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new project folder called my-app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7F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cd my-app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88620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into the project folder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47141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7F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818888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Downloads all required packages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041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</a:t>
            </a:r>
            <a:r>
              <a:rPr lang="en-US" sz="1300" dirty="0">
                <a:solidFill>
                  <a:srgbClr val="E7F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751576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Starts your app in the browser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Just Happened?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077456" y="2523744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1" name="Image 0" descr="/home/claude/icons/fold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015" y="2651303"/>
            <a:ext cx="311810" cy="31181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772400" y="25146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new project folder was created with everything you need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077456" y="3483864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4" name="Image 1" descr="/home/claude/icons/downloa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015" y="3611423"/>
            <a:ext cx="311810" cy="31181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772400" y="34747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npm downloaded all the tools your app depends on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077456" y="4443984"/>
            <a:ext cx="566928" cy="566928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7" name="Image 2" descr="/home/claude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015" y="4571543"/>
            <a:ext cx="311810" cy="31181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772400" y="44348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app is now running at localhost:5173 in your browser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Understanding Your Project Folder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worry about every file — here are the ones that matter most for now.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167128"/>
            <a:ext cx="365760" cy="36576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7" name="Image 0" descr="/home/claude/icons/fold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4942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4884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my-app/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481328" y="2715768"/>
            <a:ext cx="365760" cy="365760"/>
          </a:xfrm>
          <a:prstGeom prst="ellipse">
            <a:avLst/>
          </a:prstGeom>
          <a:solidFill>
            <a:srgbClr val="64748B"/>
          </a:solidFill>
        </p:spPr>
      </p:sp>
      <p:pic>
        <p:nvPicPr>
          <p:cNvPr id="10" name="Image 1" descr="/home/claude/icons/fold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279806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69748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node_modules/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481328" y="3264408"/>
            <a:ext cx="365760" cy="36576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3" name="Image 2" descr="/home/claude/icons/fold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334670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324612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src/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984248" y="3813048"/>
            <a:ext cx="365760" cy="36576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16" name="Image 3" descr="/home/claude/icons/file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389534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23160" y="379476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App.jsx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1984248" y="4361688"/>
            <a:ext cx="365760" cy="36576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19" name="Image 4" descr="/home/claude/icons/file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444398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23160" y="434340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main.jsx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1481328" y="4910328"/>
            <a:ext cx="365760" cy="36576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22" name="Image 5" descr="/home/claude/icons/file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4992624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920240" y="489204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1481328" y="5458968"/>
            <a:ext cx="365760" cy="36576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25" name="Image 6" descr="/home/claude/icons/file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5541264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920240" y="5440680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package.json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5943600" y="196596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Text 19"/>
          <p:cNvSpPr/>
          <p:nvPr/>
        </p:nvSpPr>
        <p:spPr>
          <a:xfrm>
            <a:off x="6172200" y="207568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App.jsx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6172200" y="240487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main component — the heart of your website's content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5943600" y="3081528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6172200" y="3191256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main.jsx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6172200" y="3520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starting point that loads your app into the browser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5943600" y="4197096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Text 25"/>
          <p:cNvSpPr/>
          <p:nvPr/>
        </p:nvSpPr>
        <p:spPr>
          <a:xfrm>
            <a:off x="6172200" y="430682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172200" y="463600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single HTML page that your whole app lives inside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5943600" y="5312664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6172200" y="542239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package.json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172200" y="575157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list of your project's information and dependencies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4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Learned Today</a:t>
            </a:r>
            <a:endParaRPr lang="en-US" sz="3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6459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EFF6F9"/>
          </a:solidFill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960120" y="1956816"/>
            <a:ext cx="548640" cy="5486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</p:sp>
      <p:pic>
        <p:nvPicPr>
          <p:cNvPr id="6" name="Image 0" descr="/home/claude/icons/world_whit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3564" y="2080260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691640" y="1773936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Websites work through a request &amp; response between browser and server</a:t>
            </a:r>
            <a:endParaRPr lang="en-US" sz="1150" dirty="0"/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6080760" y="164592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EFF6F9"/>
          </a:solidFill>
        </p:spPr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400800" y="1956816"/>
            <a:ext cx="548640" cy="54864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0" name="Image 1" descr="/home/claude/icons/layers_whit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524244" y="2080260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10"/>
            </p:custDataLst>
          </p:nvPr>
        </p:nvSpPr>
        <p:spPr>
          <a:xfrm>
            <a:off x="7132320" y="1773936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is what users see; backend is what happens behind the scenes</a:t>
            </a:r>
            <a:endParaRPr lang="en-US" sz="1150" dirty="0"/>
          </a:p>
        </p:txBody>
      </p:sp>
      <p:sp>
        <p:nvSpPr>
          <p:cNvPr id="12" name="Shape 8"/>
          <p:cNvSpPr/>
          <p:nvPr>
            <p:custDataLst>
              <p:tags r:id="rId11"/>
            </p:custDataLst>
          </p:nvPr>
        </p:nvSpPr>
        <p:spPr>
          <a:xfrm>
            <a:off x="640080" y="2999232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EFF6F9"/>
          </a:solidFill>
        </p:spPr>
      </p:sp>
      <p:sp>
        <p:nvSpPr>
          <p:cNvPr id="13" name="Shape 9"/>
          <p:cNvSpPr/>
          <p:nvPr>
            <p:custDataLst>
              <p:tags r:id="rId12"/>
            </p:custDataLst>
          </p:nvPr>
        </p:nvSpPr>
        <p:spPr>
          <a:xfrm>
            <a:off x="960120" y="3310128"/>
            <a:ext cx="548640" cy="54864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14" name="Image 2" descr="/home/claude/icons/puzzle_white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83564" y="343357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>
            <p:custDataLst>
              <p:tags r:id="rId15"/>
            </p:custDataLst>
          </p:nvPr>
        </p:nvSpPr>
        <p:spPr>
          <a:xfrm>
            <a:off x="1691640" y="3127248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= MongoDB + Express + React + Node.js, working together</a:t>
            </a:r>
            <a:endParaRPr lang="en-US" sz="1150" dirty="0"/>
          </a:p>
        </p:txBody>
      </p:sp>
      <p:sp>
        <p:nvSpPr>
          <p:cNvPr id="16" name="Shape 11"/>
          <p:cNvSpPr/>
          <p:nvPr>
            <p:custDataLst>
              <p:tags r:id="rId16"/>
            </p:custDataLst>
          </p:nvPr>
        </p:nvSpPr>
        <p:spPr>
          <a:xfrm>
            <a:off x="6080760" y="2999232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EFF6F9"/>
          </a:solidFill>
        </p:spPr>
      </p:sp>
      <p:sp>
        <p:nvSpPr>
          <p:cNvPr id="17" name="Shape 12"/>
          <p:cNvSpPr/>
          <p:nvPr>
            <p:custDataLst>
              <p:tags r:id="rId17"/>
            </p:custDataLst>
          </p:nvPr>
        </p:nvSpPr>
        <p:spPr>
          <a:xfrm>
            <a:off x="6400800" y="3310128"/>
            <a:ext cx="548640" cy="5486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</p:sp>
      <p:pic>
        <p:nvPicPr>
          <p:cNvPr id="18" name="Image 3" descr="/home/claude/icons/react_navy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524244" y="3433572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>
            <p:custDataLst>
              <p:tags r:id="rId20"/>
            </p:custDataLst>
          </p:nvPr>
        </p:nvSpPr>
        <p:spPr>
          <a:xfrm>
            <a:off x="7132320" y="3127248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builds user interfaces using small, reusable components</a:t>
            </a:r>
            <a:endParaRPr lang="en-US" sz="1150" dirty="0"/>
          </a:p>
        </p:txBody>
      </p:sp>
      <p:sp>
        <p:nvSpPr>
          <p:cNvPr id="20" name="Shape 14"/>
          <p:cNvSpPr/>
          <p:nvPr>
            <p:custDataLst>
              <p:tags r:id="rId21"/>
            </p:custDataLst>
          </p:nvPr>
        </p:nvSpPr>
        <p:spPr>
          <a:xfrm>
            <a:off x="640080" y="4352544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EFF6F9"/>
          </a:solidFill>
        </p:spPr>
      </p:sp>
      <p:sp>
        <p:nvSpPr>
          <p:cNvPr id="21" name="Shape 15"/>
          <p:cNvSpPr/>
          <p:nvPr>
            <p:custDataLst>
              <p:tags r:id="rId22"/>
            </p:custDataLst>
          </p:nvPr>
        </p:nvSpPr>
        <p:spPr>
          <a:xfrm>
            <a:off x="960120" y="4663440"/>
            <a:ext cx="548640" cy="54864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22" name="Image 4" descr="/home/claude/icons/download_white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83564" y="478688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>
            <p:custDataLst>
              <p:tags r:id="rId25"/>
            </p:custDataLst>
          </p:nvPr>
        </p:nvSpPr>
        <p:spPr>
          <a:xfrm>
            <a:off x="1691640" y="448056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now know how to install Node.js and set up your tools</a:t>
            </a:r>
            <a:endParaRPr lang="en-US" sz="1150" dirty="0"/>
          </a:p>
        </p:txBody>
      </p:sp>
      <p:sp>
        <p:nvSpPr>
          <p:cNvPr id="24" name="Shape 17"/>
          <p:cNvSpPr/>
          <p:nvPr>
            <p:custDataLst>
              <p:tags r:id="rId26"/>
            </p:custDataLst>
          </p:nvPr>
        </p:nvSpPr>
        <p:spPr>
          <a:xfrm>
            <a:off x="6080760" y="4352544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EFF6F9"/>
          </a:solidFill>
        </p:spPr>
      </p:sp>
      <p:sp>
        <p:nvSpPr>
          <p:cNvPr id="25" name="Shape 18"/>
          <p:cNvSpPr/>
          <p:nvPr>
            <p:custDataLst>
              <p:tags r:id="rId27"/>
            </p:custDataLst>
          </p:nvPr>
        </p:nvSpPr>
        <p:spPr>
          <a:xfrm>
            <a:off x="6400800" y="4663440"/>
            <a:ext cx="548640" cy="548640"/>
          </a:xfrm>
          <a:prstGeom prst="ellipse">
            <a:avLst/>
          </a:prstGeom>
          <a:solidFill>
            <a:srgbClr val="22C55E"/>
          </a:solidFill>
        </p:spPr>
      </p:sp>
      <p:pic>
        <p:nvPicPr>
          <p:cNvPr id="26" name="Image 5" descr="/home/claude/icons/rocket_white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524244" y="478688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>
            <p:custDataLst>
              <p:tags r:id="rId30"/>
            </p:custDataLst>
          </p:nvPr>
        </p:nvSpPr>
        <p:spPr>
          <a:xfrm>
            <a:off x="7132320" y="448056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created and ran your very first React app with Vite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22C55E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7490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B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COMING UP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Lecture 2: React Components &amp; JSX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time, we will write our first lines of React code and learn how components come to life.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457200" cy="45720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8" name="Image 0" descr="/home/claude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5318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34290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 Bring them to our next session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050792"/>
            <a:ext cx="457200" cy="45720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1" name="Image 1" descr="/home/claude/icons/keyboar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15366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405079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Practice: try installing Node.js before we meet again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" y="4672584"/>
            <a:ext cx="457200" cy="457200"/>
          </a:xfrm>
          <a:prstGeom prst="ellipse">
            <a:avLst/>
          </a:prstGeom>
          <a:solidFill>
            <a:srgbClr val="0E7490"/>
          </a:solidFill>
        </p:spPr>
      </p:sp>
      <p:pic>
        <p:nvPicPr>
          <p:cNvPr id="14" name="Image 2" descr="/home/claude/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775454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672584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today's slides — repetition builds confidence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296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MERN Stack Development  |  Lecture 1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2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3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4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5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6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7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8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9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10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11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12.xml><?xml version="1.0" encoding="utf-8"?>
<p:tagLst xmlns:p="http://schemas.openxmlformats.org/presentationml/2006/main">
  <p:tag name="KSO_WM_DIAGRAM_VIRTUALLY_FRAME" val="{&quot;height&quot;:95.76000000000003,&quot;left&quot;:45,&quot;top&quot;:365.4,&quot;width&quot;:658.8}"/>
</p:tagLst>
</file>

<file path=ppt/tags/tag13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14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15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16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17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18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19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0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1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2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3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4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5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6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7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8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29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0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1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2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3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4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5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6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7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8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39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0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1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2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3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4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5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6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7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8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49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50.xml><?xml version="1.0" encoding="utf-8"?>
<p:tagLst xmlns:p="http://schemas.openxmlformats.org/presentationml/2006/main">
  <p:tag name="KSO_WM_DIAGRAM_VIRTUALLY_FRAME" val="{&quot;height&quot;:266.4,&quot;left&quot;:50.4,&quot;top&quot;:154.8,&quot;width&quot;:825.8399999999999}"/>
</p:tagLst>
</file>

<file path=ppt/tags/tag51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2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3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4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5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6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7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8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59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0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1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2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3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4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5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6.xml><?xml version="1.0" encoding="utf-8"?>
<p:tagLst xmlns:p="http://schemas.openxmlformats.org/presentationml/2006/main">
  <p:tag name="KSO_WM_DIAGRAM_VIRTUALLY_FRAME" val="{&quot;height&quot;:212.4,&quot;left&quot;:540,&quot;top&quot;:262.8,&quot;width&quot;:345.6}"/>
</p:tagLst>
</file>

<file path=ppt/tags/tag67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68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69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0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1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2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3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4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5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6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7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8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79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0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1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2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3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4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5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6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7.xml><?xml version="1.0" encoding="utf-8"?>
<p:tagLst xmlns:p="http://schemas.openxmlformats.org/presentationml/2006/main">
  <p:tag name="KSO_WM_DIAGRAM_VIRTUALLY_FRAME" val="{&quot;height&quot;:259.2,&quot;left&quot;:50.4,&quot;top&quot;:151.2,&quot;width&quot;:853.2}"/>
</p:tagLst>
</file>

<file path=ppt/tags/tag88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89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0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1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2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3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4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5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6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7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8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99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0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1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2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3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4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5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6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7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8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09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10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ags/tag111.xml><?xml version="1.0" encoding="utf-8"?>
<p:tagLst xmlns:p="http://schemas.openxmlformats.org/presentationml/2006/main">
  <p:tag name="KSO_WM_DIAGRAM_VIRTUALLY_FRAME" val="{&quot;height&quot;:305.28000000000003,&quot;left&quot;:50.4,&quot;top&quot;:129.6,&quot;width&quot;:83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7174</Words>
  <Application>WPS Presentation</Application>
  <PresentationFormat>On-screen Show (16:9)</PresentationFormat>
  <Paragraphs>510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MERN Stack Development - Lecture 1</dc:title>
  <dc:creator>MERN Stack Course</dc:creator>
  <dc:subject>PptxGenJS Presentation</dc:subject>
  <cp:lastModifiedBy>Tabinda Noor</cp:lastModifiedBy>
  <cp:revision>4</cp:revision>
  <dcterms:created xsi:type="dcterms:W3CDTF">2026-07-05T19:41:00Z</dcterms:created>
  <dcterms:modified xsi:type="dcterms:W3CDTF">2026-07-06T05:01:22Z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3FA88E50AFF2480A98BB95F02DDFB048_12</vt:lpwstr>
  </property>
  <property fmtid="{D5CDD505-2E9C-101B-9397-08002B2CF9AE}" pid="3" name="KSOProductBuildVer">
    <vt:lpwstr>2057-12.2.0.23203</vt:lpwstr>
  </property>
</Properties>
</file>