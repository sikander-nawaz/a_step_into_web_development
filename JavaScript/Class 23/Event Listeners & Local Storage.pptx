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Inter"/>
      <p:regular r:id="rId36"/>
      <p:bold r:id="rId37"/>
      <p:italic r:id="rId38"/>
      <p:boldItalic r:id="rId39"/>
    </p:embeddedFont>
    <p:embeddedFont>
      <p:font typeface="Urbanist"/>
      <p:regular r:id="rId40"/>
      <p:bold r:id="rId41"/>
      <p:italic r:id="rId42"/>
      <p:boldItalic r:id="rId43"/>
    </p:embeddedFont>
    <p:embeddedFont>
      <p:font typeface="Fira Code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regular.fntdata"/><Relationship Id="rId20" Type="http://schemas.openxmlformats.org/officeDocument/2006/relationships/slide" Target="slides/slide15.xml"/><Relationship Id="rId42" Type="http://schemas.openxmlformats.org/officeDocument/2006/relationships/font" Target="fonts/Urbanist-italic.fntdata"/><Relationship Id="rId41" Type="http://schemas.openxmlformats.org/officeDocument/2006/relationships/font" Target="fonts/Urbanist-bold.fntdata"/><Relationship Id="rId22" Type="http://schemas.openxmlformats.org/officeDocument/2006/relationships/slide" Target="slides/slide17.xml"/><Relationship Id="rId44" Type="http://schemas.openxmlformats.org/officeDocument/2006/relationships/font" Target="fonts/FiraCode-regular.fntdata"/><Relationship Id="rId21" Type="http://schemas.openxmlformats.org/officeDocument/2006/relationships/slide" Target="slides/slide16.xml"/><Relationship Id="rId43" Type="http://schemas.openxmlformats.org/officeDocument/2006/relationships/font" Target="fonts/Urbanis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FiraCod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Inter-bold.fntdata"/><Relationship Id="rId14" Type="http://schemas.openxmlformats.org/officeDocument/2006/relationships/slide" Target="slides/slide9.xml"/><Relationship Id="rId36" Type="http://schemas.openxmlformats.org/officeDocument/2006/relationships/font" Target="fonts/Inter-regular.fntdata"/><Relationship Id="rId17" Type="http://schemas.openxmlformats.org/officeDocument/2006/relationships/slide" Target="slides/slide12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1.xml"/><Relationship Id="rId38" Type="http://schemas.openxmlformats.org/officeDocument/2006/relationships/font" Target="fonts/Inter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28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29.png"/><Relationship Id="rId5" Type="http://schemas.openxmlformats.org/officeDocument/2006/relationships/image" Target="../media/image42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41.png"/><Relationship Id="rId6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45.png"/><Relationship Id="rId5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3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5" Type="http://schemas.openxmlformats.org/officeDocument/2006/relationships/image" Target="../media/image40.png"/><Relationship Id="rId6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20565" y="1022002"/>
            <a:ext cx="6950868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Logic &amp; </a:t>
            </a:r>
            <a:r>
              <a:rPr b="1" i="0" lang="en-US" sz="6375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Life-Cycle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138487" y="2326927"/>
            <a:ext cx="5915025" cy="44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Events, Listeners, and Persistent Storage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05112"/>
            <a:ext cx="52768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05112"/>
            <a:ext cx="527685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23925" y="3148012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Module 1: The Event System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23925" y="3557587"/>
            <a:ext cx="45910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Decoding the DOM interaction model, propagation mechanics, and efficient delegation strategies for high-performance UIs.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77025" y="3148012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Module 2: Browser Persistence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557587"/>
            <a:ext cx="45910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Architecting client-side data storage, security boundaries, and the JSON serialization bridge for state management.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Mastery Agenda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5619750" y="2624137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840593" y="2947987"/>
            <a:ext cx="65108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Event System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2995612" y="4052887"/>
            <a:ext cx="6200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Orchestrating user intent and browser response.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75" y="219551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0675" y="2233612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6524625" y="2500312"/>
            <a:ext cx="534066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Interaction Signals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524625" y="2909887"/>
            <a:ext cx="50863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Events are notifications that occur in the browser window. They range from physical inputs (mouse clicks) to lifecycle changes (page load) and logical transitions (animations).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524625" y="4205287"/>
            <a:ext cx="50863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JavaScript captures these signals to trigger specific logic, enabling the "Reactive" nature of the modern web.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What are DOM Events?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1581150" y="3238500"/>
            <a:ext cx="94583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Passive Observability: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Elements wait silently until a target event occurs.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1581150" y="3705225"/>
            <a:ext cx="94583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Function Binding: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Logic is attached to elements via the addEventListener method.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1581150" y="4171950"/>
            <a:ext cx="94583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Multi-Binding: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single element can respond to multiple events or have multiple listeners for one event.</a:t>
            </a:r>
            <a:endParaRPr/>
          </a:p>
        </p:txBody>
      </p:sp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525" y="3267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37338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420052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Mechanism of Listeners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67000"/>
            <a:ext cx="52768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67000"/>
            <a:ext cx="527685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923925" y="3009900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Essential Arguments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923925" y="3419475"/>
            <a:ext cx="45910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Type: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event string (e.g., 'click').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2.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Callback: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function to execute.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3.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Options: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Boolean or object for capture/once settings.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677025" y="3009900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Standard Call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677025" y="3571875"/>
            <a:ext cx="45910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method is preferred over inline onclick attributes as it maintains the separation of concerns.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EventListener Syntax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95550"/>
            <a:ext cx="34861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95550"/>
            <a:ext cx="34861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95550"/>
            <a:ext cx="348615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876300" y="34480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Click &amp; DblClick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876300" y="3914775"/>
            <a:ext cx="2895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Triggered on full press and release cycles.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4648200" y="34480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Hover States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4648200" y="3914775"/>
            <a:ext cx="28956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mouseenter and mouseleave track entry into element boundaries.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420100" y="34480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Movement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8420100" y="3914775"/>
            <a:ext cx="28956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mousemove triggers continuously as the cursor travels over a target.</a:t>
            </a:r>
            <a:endParaRPr/>
          </a:p>
        </p:txBody>
      </p:sp>
      <p:pic>
        <p:nvPicPr>
          <p:cNvPr descr="image.png" id="160" name="Google Shape;16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8289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8289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8289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Mouse Interaction Events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95550"/>
            <a:ext cx="34861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495550"/>
            <a:ext cx="34861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495550"/>
            <a:ext cx="348615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876300" y="34480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Sequencing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876300" y="3914775"/>
            <a:ext cx="28956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keydown, keypress, and keyup track the typing life-cycle.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648200" y="34480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Input Tracking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648200" y="3914775"/>
            <a:ext cx="28956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input triggers on every character change, ideal for live searching.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420100" y="34480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Focus Shifts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420100" y="3914775"/>
            <a:ext cx="2895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focus and blur detect when a user enters or leaves a field.</a:t>
            </a:r>
            <a:endParaRPr/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8289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8289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8289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Keyboard &amp; Input Logic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581025" y="2147887"/>
            <a:ext cx="52768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Working with forms requires intercepting the submit event. This is the single most critical event for data handling.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81025" y="3167062"/>
            <a:ext cx="52768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Unlike a click on a button, the submit event on a  captures enter-key presses and button interactions collectively.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Form Life-Cycle Events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581025" y="4557712"/>
            <a:ext cx="11029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browser passes a hidden object to every callback containing the context of the event (Target, Coordinates, Time, and Key Codes).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4495800" y="2424112"/>
            <a:ext cx="3200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100+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4495800" y="4043362"/>
            <a:ext cx="3200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Metadata Properties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The Event Object Structure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771525" y="581025"/>
            <a:ext cx="499062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Preventing Defaults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581025" y="1638300"/>
            <a:ext cx="49434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Browsers have built-in behaviors, such as refreshing the page on form submission or following a link URL.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581025" y="2571750"/>
            <a:ext cx="494347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e.preventDefault() is the tool used to suppress these behaviors, allowing JavaScript to handle the logic manually without a page reload.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/>
          <p:nvPr/>
        </p:nvSpPr>
        <p:spPr>
          <a:xfrm>
            <a:off x="581025" y="3357562"/>
            <a:ext cx="110299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1611213" y="311943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A0B10"/>
          </a:solidFill>
          <a:ln cap="flat" cmpd="sng" w="381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517605" y="3738562"/>
            <a:ext cx="26636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Capture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581025" y="4148137"/>
            <a:ext cx="25367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Flowing from Document down to Target.</a:t>
            </a: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4442221" y="311943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A0B10"/>
          </a:solidFill>
          <a:ln cap="flat" cmpd="sng" w="381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348614" y="3738562"/>
            <a:ext cx="26636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Target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3412033" y="4148137"/>
            <a:ext cx="25367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event reaches the interaction point.</a:t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7273230" y="311943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A0B10"/>
          </a:solidFill>
          <a:ln cap="flat" cmpd="sng" w="381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6179622" y="3738562"/>
            <a:ext cx="26636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Bubbling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6243042" y="4148137"/>
            <a:ext cx="25367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Flowing back up to the Document root.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10104239" y="3119437"/>
            <a:ext cx="476250" cy="476250"/>
          </a:xfrm>
          <a:prstGeom prst="roundRect">
            <a:avLst>
              <a:gd fmla="val 50000" name="adj"/>
            </a:avLst>
          </a:prstGeom>
          <a:solidFill>
            <a:srgbClr val="0A0B10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9010631" y="3738562"/>
            <a:ext cx="26636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Success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9074050" y="4148137"/>
            <a:ext cx="2536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Listener execution occurs.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The Propagation Phases</a:t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1676400" y="4838700"/>
            <a:ext cx="8839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e.stopPropagation() to prevent an event from triggering listeners on parent containers.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1533525" y="2800350"/>
            <a:ext cx="91249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"Propagation is the heartbeat of DOM architecture, but StopPropagation is the surgical tool to prevent unwanted side effects." 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866775" y="2514600"/>
            <a:ext cx="247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Breaking the Chain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05112"/>
            <a:ext cx="52768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05112"/>
            <a:ext cx="527685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/>
        </p:nvSpPr>
        <p:spPr>
          <a:xfrm>
            <a:off x="923925" y="3148012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923925" y="3557587"/>
            <a:ext cx="45910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Adding listeners to 1,000 list items creates massive memory overhead and fails to account for items added dynamically via the script.</a:t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6677025" y="3148012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6677025" y="3557587"/>
            <a:ext cx="45910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Attach one listener to the parent container and use e.target to identify which child was interacted with. This is efficient and future-proof.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Event Delegation Overview</a:t>
            </a:r>
            <a:endParaRPr/>
          </a:p>
        </p:txBody>
      </p:sp>
      <p:sp>
        <p:nvSpPr>
          <p:cNvPr id="255" name="Google Shape;255;p26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7"/>
          <p:cNvSpPr txBox="1"/>
          <p:nvPr/>
        </p:nvSpPr>
        <p:spPr>
          <a:xfrm>
            <a:off x="3257550" y="3238500"/>
            <a:ext cx="6105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Identify a stable parent container in the DOM.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3257550" y="3705225"/>
            <a:ext cx="6105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 Use e.target.matches('.child-selector') to filter clicks.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3257550" y="4171950"/>
            <a:ext cx="6105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 Execute logic only when the filter condition is met.</a:t>
            </a:r>
            <a:endParaRPr/>
          </a:p>
        </p:txBody>
      </p:sp>
      <p:pic>
        <p:nvPicPr>
          <p:cNvPr descr="image.png" id="264" name="Google Shape;26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8925" y="3267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8925" y="37338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28925" y="42005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Delegation Implementation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 txBox="1"/>
          <p:nvPr/>
        </p:nvSpPr>
        <p:spPr>
          <a:xfrm>
            <a:off x="847725" y="3152775"/>
            <a:ext cx="104965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Leaving event listeners on destroyed elements leads to memory leaks in complex Single Page Applications (SPAs).</a:t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914400" y="3810000"/>
            <a:ext cx="10363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removeEventListener with a named function reference to properly clean up after a component unmounts.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3800475" y="4562475"/>
            <a:ext cx="4591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target.removeEventListener('click', namedFunc);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Memory Management</a:t>
            </a: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/>
          <p:nvPr/>
        </p:nvSpPr>
        <p:spPr>
          <a:xfrm>
            <a:off x="5619750" y="2624137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2900600" y="2947987"/>
            <a:ext cx="639079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Local Storage API</a:t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3052762" y="4052887"/>
            <a:ext cx="60864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Architecting persistence in the stateless browser.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05112"/>
            <a:ext cx="52768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05112"/>
            <a:ext cx="527685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0"/>
          <p:cNvSpPr txBox="1"/>
          <p:nvPr/>
        </p:nvSpPr>
        <p:spPr>
          <a:xfrm>
            <a:off x="923925" y="3148012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Storage Mechanism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923925" y="3557587"/>
            <a:ext cx="45910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Local Storage allows applications to store key-value pairs locally in the user's browser with no expiration date.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6677025" y="3148012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Reliability</a:t>
            </a:r>
            <a:endParaRPr/>
          </a:p>
        </p:txBody>
      </p:sp>
      <p:sp>
        <p:nvSpPr>
          <p:cNvPr id="297" name="Google Shape;297;p30"/>
          <p:cNvSpPr txBox="1"/>
          <p:nvPr/>
        </p:nvSpPr>
        <p:spPr>
          <a:xfrm>
            <a:off x="6677025" y="3557587"/>
            <a:ext cx="45910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remains intact after the browser tab is closed, the application is refreshed, or the operating system is rebooted.</a:t>
            </a:r>
            <a:endParaRPr/>
          </a:p>
        </p:txBody>
      </p:sp>
      <p:sp>
        <p:nvSpPr>
          <p:cNvPr id="298" name="Google Shape;298;p30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Permanent Persistence</a:t>
            </a:r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05112"/>
            <a:ext cx="52768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805112"/>
            <a:ext cx="527685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/>
        </p:nvSpPr>
        <p:spPr>
          <a:xfrm>
            <a:off x="923925" y="3148012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Local (Permanent)</a:t>
            </a:r>
            <a:endParaRPr/>
          </a:p>
        </p:txBody>
      </p:sp>
      <p:sp>
        <p:nvSpPr>
          <p:cNvPr id="308" name="Google Shape;308;p31"/>
          <p:cNvSpPr txBox="1"/>
          <p:nvPr/>
        </p:nvSpPr>
        <p:spPr>
          <a:xfrm>
            <a:off x="923925" y="3557587"/>
            <a:ext cx="45910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Persists globally across the domain. Shared between all tabs. Ideal for settings and preferences.</a:t>
            </a:r>
            <a:endParaRPr/>
          </a:p>
        </p:txBody>
      </p:sp>
      <p:sp>
        <p:nvSpPr>
          <p:cNvPr id="309" name="Google Shape;309;p31"/>
          <p:cNvSpPr txBox="1"/>
          <p:nvPr/>
        </p:nvSpPr>
        <p:spPr>
          <a:xfrm>
            <a:off x="6677025" y="3148012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Session (Transient)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6677025" y="3557587"/>
            <a:ext cx="45910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Unique to the specific tab. Cleared immediately when the tab is closed. Ideal for sensitive form data.</a:t>
            </a:r>
            <a:endParaRPr/>
          </a:p>
        </p:txBody>
      </p:sp>
      <p:sp>
        <p:nvSpPr>
          <p:cNvPr id="311" name="Google Shape;311;p31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Local vs Session Storage</a:t>
            </a:r>
            <a:endParaRPr/>
          </a:p>
        </p:txBody>
      </p:sp>
      <p:sp>
        <p:nvSpPr>
          <p:cNvPr id="312" name="Google Shape;312;p31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33662"/>
            <a:ext cx="34861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33662"/>
            <a:ext cx="34861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33662"/>
            <a:ext cx="34861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2"/>
          <p:cNvSpPr txBox="1"/>
          <p:nvPr/>
        </p:nvSpPr>
        <p:spPr>
          <a:xfrm>
            <a:off x="876300" y="35861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setItem()</a:t>
            </a:r>
            <a:endParaRPr/>
          </a:p>
        </p:txBody>
      </p:sp>
      <p:sp>
        <p:nvSpPr>
          <p:cNvPr id="322" name="Google Shape;322;p32"/>
          <p:cNvSpPr txBox="1"/>
          <p:nvPr/>
        </p:nvSpPr>
        <p:spPr>
          <a:xfrm>
            <a:off x="876300" y="4052887"/>
            <a:ext cx="2895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Creates or updates a key-value entry.</a:t>
            </a:r>
            <a:endParaRPr/>
          </a:p>
        </p:txBody>
      </p:sp>
      <p:sp>
        <p:nvSpPr>
          <p:cNvPr id="323" name="Google Shape;323;p32"/>
          <p:cNvSpPr txBox="1"/>
          <p:nvPr/>
        </p:nvSpPr>
        <p:spPr>
          <a:xfrm>
            <a:off x="4648200" y="35861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getItem()</a:t>
            </a:r>
            <a:endParaRPr/>
          </a:p>
        </p:txBody>
      </p:sp>
      <p:sp>
        <p:nvSpPr>
          <p:cNvPr id="324" name="Google Shape;324;p32"/>
          <p:cNvSpPr txBox="1"/>
          <p:nvPr/>
        </p:nvSpPr>
        <p:spPr>
          <a:xfrm>
            <a:off x="4648200" y="4052887"/>
            <a:ext cx="2895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Retrieves a string value by its key.</a:t>
            </a:r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8420100" y="35861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removeItem()</a:t>
            </a:r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8420100" y="4052887"/>
            <a:ext cx="2895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Deletes a specific entry.</a:t>
            </a:r>
            <a:endParaRPr/>
          </a:p>
        </p:txBody>
      </p:sp>
      <p:pic>
        <p:nvPicPr>
          <p:cNvPr descr="image.png" id="327" name="Google Shape;32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9670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9670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9670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2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Core Storage Methods</a:t>
            </a:r>
            <a:endParaRPr/>
          </a:p>
        </p:txBody>
      </p:sp>
      <p:sp>
        <p:nvSpPr>
          <p:cNvPr id="331" name="Google Shape;331;p32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6" name="Google Shape;33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75" y="219551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0675" y="2233612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3"/>
          <p:cNvSpPr txBox="1"/>
          <p:nvPr/>
        </p:nvSpPr>
        <p:spPr>
          <a:xfrm>
            <a:off x="6524625" y="2638425"/>
            <a:ext cx="534066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Everything is Text</a:t>
            </a:r>
            <a:endParaRPr/>
          </a:p>
        </p:txBody>
      </p:sp>
      <p:sp>
        <p:nvSpPr>
          <p:cNvPr id="340" name="Google Shape;340;p33"/>
          <p:cNvSpPr txBox="1"/>
          <p:nvPr/>
        </p:nvSpPr>
        <p:spPr>
          <a:xfrm>
            <a:off x="6524625" y="3048000"/>
            <a:ext cx="50863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Web Storage API only accepts strings. If you try to store a number, boolean, or array directly, the browser will force-convert it to a string, often resulting in [object Object].</a:t>
            </a:r>
            <a:endParaRPr/>
          </a:p>
        </p:txBody>
      </p:sp>
      <p:sp>
        <p:nvSpPr>
          <p:cNvPr id="341" name="Google Shape;341;p33"/>
          <p:cNvSpPr txBox="1"/>
          <p:nvPr/>
        </p:nvSpPr>
        <p:spPr>
          <a:xfrm>
            <a:off x="6524625" y="4343400"/>
            <a:ext cx="50863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store complex data, we must use the JSON serialization bridge.</a:t>
            </a:r>
            <a:endParaRPr/>
          </a:p>
        </p:txBody>
      </p:sp>
      <p:sp>
        <p:nvSpPr>
          <p:cNvPr id="342" name="Google Shape;342;p33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The String Constraint</a:t>
            </a:r>
            <a:endParaRPr/>
          </a:p>
        </p:txBody>
      </p:sp>
      <p:sp>
        <p:nvSpPr>
          <p:cNvPr id="343" name="Google Shape;343;p33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90825"/>
            <a:ext cx="52768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90825"/>
            <a:ext cx="527685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4"/>
          <p:cNvSpPr txBox="1"/>
          <p:nvPr/>
        </p:nvSpPr>
        <p:spPr>
          <a:xfrm>
            <a:off x="923925" y="3133725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Storing (Stringify)</a:t>
            </a:r>
            <a:endParaRPr/>
          </a:p>
        </p:txBody>
      </p:sp>
      <p:sp>
        <p:nvSpPr>
          <p:cNvPr id="352" name="Google Shape;352;p34"/>
          <p:cNvSpPr txBox="1"/>
          <p:nvPr/>
        </p:nvSpPr>
        <p:spPr>
          <a:xfrm>
            <a:off x="923925" y="3648075"/>
            <a:ext cx="4591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Converts your live JS object into a flat string of text for storage.</a:t>
            </a:r>
            <a:endParaRPr/>
          </a:p>
        </p:txBody>
      </p:sp>
      <p:sp>
        <p:nvSpPr>
          <p:cNvPr id="353" name="Google Shape;353;p34"/>
          <p:cNvSpPr txBox="1"/>
          <p:nvPr/>
        </p:nvSpPr>
        <p:spPr>
          <a:xfrm>
            <a:off x="6677025" y="3133725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Retrieving (Parse)</a:t>
            </a:r>
            <a:endParaRPr/>
          </a:p>
        </p:txBody>
      </p:sp>
      <p:sp>
        <p:nvSpPr>
          <p:cNvPr id="354" name="Google Shape;354;p34"/>
          <p:cNvSpPr txBox="1"/>
          <p:nvPr/>
        </p:nvSpPr>
        <p:spPr>
          <a:xfrm>
            <a:off x="6677025" y="3848100"/>
            <a:ext cx="4591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Reconstructs the string back into a functional JavaScript object.</a:t>
            </a:r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JSON Serialization Bridge</a:t>
            </a:r>
            <a:endParaRPr/>
          </a:p>
        </p:txBody>
      </p:sp>
      <p:sp>
        <p:nvSpPr>
          <p:cNvPr id="356" name="Google Shape;356;p34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1" name="Google Shape;36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5"/>
          <p:cNvSpPr txBox="1"/>
          <p:nvPr/>
        </p:nvSpPr>
        <p:spPr>
          <a:xfrm>
            <a:off x="1395412" y="4695825"/>
            <a:ext cx="94011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Exceeding this limit throws a QuotaExceededError. Always manage your data footprints responsibly.</a:t>
            </a:r>
            <a:endParaRPr/>
          </a:p>
        </p:txBody>
      </p:sp>
      <p:sp>
        <p:nvSpPr>
          <p:cNvPr id="363" name="Google Shape;363;p35"/>
          <p:cNvSpPr txBox="1"/>
          <p:nvPr/>
        </p:nvSpPr>
        <p:spPr>
          <a:xfrm>
            <a:off x="4510087" y="2562225"/>
            <a:ext cx="31718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5MB</a:t>
            </a:r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4510087" y="4181475"/>
            <a:ext cx="31718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Standard Domain Limit</a:t>
            </a:r>
            <a:endParaRPr/>
          </a:p>
        </p:txBody>
      </p:sp>
      <p:sp>
        <p:nvSpPr>
          <p:cNvPr id="365" name="Google Shape;365;p3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Storage Limits &amp; Quotas</a:t>
            </a:r>
            <a:endParaRPr/>
          </a:p>
        </p:txBody>
      </p:sp>
      <p:sp>
        <p:nvSpPr>
          <p:cNvPr id="366" name="Google Shape;366;p35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1" name="Google Shape;3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305050"/>
            <a:ext cx="857250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6"/>
          <p:cNvSpPr txBox="1"/>
          <p:nvPr/>
        </p:nvSpPr>
        <p:spPr>
          <a:xfrm>
            <a:off x="1995487" y="2686050"/>
            <a:ext cx="82010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Security Constraints</a:t>
            </a:r>
            <a:endParaRPr/>
          </a:p>
        </p:txBody>
      </p:sp>
      <p:sp>
        <p:nvSpPr>
          <p:cNvPr id="374" name="Google Shape;374;p36"/>
          <p:cNvSpPr txBox="1"/>
          <p:nvPr/>
        </p:nvSpPr>
        <p:spPr>
          <a:xfrm>
            <a:off x="2190750" y="3152775"/>
            <a:ext cx="78105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Local Storage is vulnerable to Cross-Site Scripting (XSS). Any script running on your domain can read the storage. Never store secrets, passwords, or session tokens in plain text storage.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7"/>
          <p:cNvSpPr txBox="1"/>
          <p:nvPr/>
        </p:nvSpPr>
        <p:spPr>
          <a:xfrm>
            <a:off x="3405187" y="3238500"/>
            <a:ext cx="5810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Domain Bound: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site.com cannot see other.com storage.</a:t>
            </a:r>
            <a:endParaRPr/>
          </a:p>
        </p:txBody>
      </p:sp>
      <p:sp>
        <p:nvSpPr>
          <p:cNvPr id="381" name="Google Shape;381;p37"/>
          <p:cNvSpPr txBox="1"/>
          <p:nvPr/>
        </p:nvSpPr>
        <p:spPr>
          <a:xfrm>
            <a:off x="3405187" y="3705225"/>
            <a:ext cx="5810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Protocol Bound: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http cannot see https data.</a:t>
            </a:r>
            <a:endParaRPr/>
          </a:p>
        </p:txBody>
      </p:sp>
      <p:sp>
        <p:nvSpPr>
          <p:cNvPr id="382" name="Google Shape;382;p37"/>
          <p:cNvSpPr txBox="1"/>
          <p:nvPr/>
        </p:nvSpPr>
        <p:spPr>
          <a:xfrm>
            <a:off x="3405187" y="4171950"/>
            <a:ext cx="5810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Subdomain Bound: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api.site.com is distinct from site.com.</a:t>
            </a:r>
            <a:endParaRPr/>
          </a:p>
        </p:txBody>
      </p:sp>
      <p:pic>
        <p:nvPicPr>
          <p:cNvPr descr="image.png" id="383" name="Google Shape;38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6562" y="32670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6562" y="37338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6562" y="42005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7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Same-Origin Security</a:t>
            </a:r>
            <a:endParaRPr/>
          </a:p>
        </p:txBody>
      </p:sp>
      <p:sp>
        <p:nvSpPr>
          <p:cNvPr id="387" name="Google Shape;387;p37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738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8"/>
          <p:cNvSpPr txBox="1"/>
          <p:nvPr/>
        </p:nvSpPr>
        <p:spPr>
          <a:xfrm>
            <a:off x="581025" y="2147887"/>
            <a:ext cx="52768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storage is updated in one tab, the browser fires a storage event in all other tabs of the same domain.</a:t>
            </a:r>
            <a:endParaRPr/>
          </a:p>
        </p:txBody>
      </p:sp>
      <p:sp>
        <p:nvSpPr>
          <p:cNvPr id="395" name="Google Shape;395;p38"/>
          <p:cNvSpPr txBox="1"/>
          <p:nvPr/>
        </p:nvSpPr>
        <p:spPr>
          <a:xfrm>
            <a:off x="581025" y="2890837"/>
            <a:ext cx="52768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allows your application to sync UI states (like theme changes or cart updates) across multiple open windows instantly.</a:t>
            </a:r>
            <a:endParaRPr/>
          </a:p>
        </p:txBody>
      </p:sp>
      <p:pic>
        <p:nvPicPr>
          <p:cNvPr descr="image.png" id="396" name="Google Shape;39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66912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8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Multi-Tab Synchronization</a:t>
            </a:r>
            <a:endParaRPr/>
          </a:p>
        </p:txBody>
      </p:sp>
      <p:sp>
        <p:nvSpPr>
          <p:cNvPr id="398" name="Google Shape;398;p38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9"/>
          <p:cNvSpPr txBox="1"/>
          <p:nvPr/>
        </p:nvSpPr>
        <p:spPr>
          <a:xfrm>
            <a:off x="771525" y="581025"/>
            <a:ext cx="4990623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Case Study: Theme Toggle</a:t>
            </a:r>
            <a:endParaRPr/>
          </a:p>
        </p:txBody>
      </p:sp>
      <p:sp>
        <p:nvSpPr>
          <p:cNvPr id="405" name="Google Shape;405;p39"/>
          <p:cNvSpPr/>
          <p:nvPr/>
        </p:nvSpPr>
        <p:spPr>
          <a:xfrm>
            <a:off x="581025" y="581025"/>
            <a:ext cx="57150" cy="9715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6" name="Google Shape;40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9"/>
          <p:cNvSpPr txBox="1"/>
          <p:nvPr/>
        </p:nvSpPr>
        <p:spPr>
          <a:xfrm>
            <a:off x="581025" y="2124075"/>
            <a:ext cx="49434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Check storage on load: const theme = localStorage.getItem('theme');</a:t>
            </a:r>
            <a:endParaRPr/>
          </a:p>
        </p:txBody>
      </p:sp>
      <p:sp>
        <p:nvSpPr>
          <p:cNvPr id="408" name="Google Shape;408;p39"/>
          <p:cNvSpPr txBox="1"/>
          <p:nvPr/>
        </p:nvSpPr>
        <p:spPr>
          <a:xfrm>
            <a:off x="1885950" y="3057525"/>
            <a:ext cx="23336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 Apply saved class to .</a:t>
            </a:r>
            <a:endParaRPr/>
          </a:p>
        </p:txBody>
      </p:sp>
      <p:sp>
        <p:nvSpPr>
          <p:cNvPr id="409" name="Google Shape;409;p39"/>
          <p:cNvSpPr txBox="1"/>
          <p:nvPr/>
        </p:nvSpPr>
        <p:spPr>
          <a:xfrm>
            <a:off x="581025" y="3714750"/>
            <a:ext cx="49434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 On toggle click: Update UI and localStorage.setItem('theme', newTheme);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4" name="Google Shape;41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62275"/>
            <a:ext cx="34861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962275"/>
            <a:ext cx="34861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962275"/>
            <a:ext cx="348615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0"/>
          <p:cNvSpPr txBox="1"/>
          <p:nvPr/>
        </p:nvSpPr>
        <p:spPr>
          <a:xfrm>
            <a:off x="876300" y="32575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Listener</a:t>
            </a:r>
            <a:endParaRPr/>
          </a:p>
        </p:txBody>
      </p:sp>
      <p:sp>
        <p:nvSpPr>
          <p:cNvPr id="419" name="Google Shape;419;p40"/>
          <p:cNvSpPr txBox="1"/>
          <p:nvPr/>
        </p:nvSpPr>
        <p:spPr>
          <a:xfrm>
            <a:off x="876300" y="3724275"/>
            <a:ext cx="2895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Attach input event to the form fields.</a:t>
            </a:r>
            <a:endParaRPr/>
          </a:p>
        </p:txBody>
      </p:sp>
      <p:sp>
        <p:nvSpPr>
          <p:cNvPr id="420" name="Google Shape;420;p40"/>
          <p:cNvSpPr txBox="1"/>
          <p:nvPr/>
        </p:nvSpPr>
        <p:spPr>
          <a:xfrm>
            <a:off x="4648200" y="32575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Persistence</a:t>
            </a:r>
            <a:endParaRPr/>
          </a:p>
        </p:txBody>
      </p:sp>
      <p:sp>
        <p:nvSpPr>
          <p:cNvPr id="421" name="Google Shape;421;p40"/>
          <p:cNvSpPr txBox="1"/>
          <p:nvPr/>
        </p:nvSpPr>
        <p:spPr>
          <a:xfrm>
            <a:off x="4648200" y="3724275"/>
            <a:ext cx="2895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Stringify the field data into Local Storage every 500ms.</a:t>
            </a:r>
            <a:endParaRPr/>
          </a:p>
        </p:txBody>
      </p:sp>
      <p:sp>
        <p:nvSpPr>
          <p:cNvPr id="422" name="Google Shape;422;p40"/>
          <p:cNvSpPr txBox="1"/>
          <p:nvPr/>
        </p:nvSpPr>
        <p:spPr>
          <a:xfrm>
            <a:off x="8420100" y="32575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Recovery</a:t>
            </a:r>
            <a:endParaRPr/>
          </a:p>
        </p:txBody>
      </p:sp>
      <p:sp>
        <p:nvSpPr>
          <p:cNvPr id="423" name="Google Shape;423;p40"/>
          <p:cNvSpPr txBox="1"/>
          <p:nvPr/>
        </p:nvSpPr>
        <p:spPr>
          <a:xfrm>
            <a:off x="8420100" y="3724275"/>
            <a:ext cx="28956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Populate inputs from storage if a user accidentally refreshes.</a:t>
            </a:r>
            <a:endParaRPr/>
          </a:p>
        </p:txBody>
      </p:sp>
      <p:sp>
        <p:nvSpPr>
          <p:cNvPr id="424" name="Google Shape;424;p40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Case Study: Form Auto-Save</a:t>
            </a:r>
            <a:endParaRPr/>
          </a:p>
        </p:txBody>
      </p:sp>
      <p:sp>
        <p:nvSpPr>
          <p:cNvPr id="425" name="Google Shape;425;p40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0" name="Google Shape;43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1"/>
          <p:cNvSpPr txBox="1"/>
          <p:nvPr/>
        </p:nvSpPr>
        <p:spPr>
          <a:xfrm>
            <a:off x="2295525" y="3238500"/>
            <a:ext cx="8029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Limit Reads/Writes: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Storage operations are synchronous and can block the main thread.</a:t>
            </a:r>
            <a:endParaRPr/>
          </a:p>
        </p:txBody>
      </p:sp>
      <p:sp>
        <p:nvSpPr>
          <p:cNvPr id="432" name="Google Shape;432;p41"/>
          <p:cNvSpPr txBox="1"/>
          <p:nvPr/>
        </p:nvSpPr>
        <p:spPr>
          <a:xfrm>
            <a:off x="2295525" y="3705225"/>
            <a:ext cx="8029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Namespace Keys: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 prefixes like myapp_settings to avoid conflicts.</a:t>
            </a:r>
            <a:endParaRPr/>
          </a:p>
        </p:txBody>
      </p:sp>
      <p:sp>
        <p:nvSpPr>
          <p:cNvPr id="433" name="Google Shape;433;p41"/>
          <p:cNvSpPr txBox="1"/>
          <p:nvPr/>
        </p:nvSpPr>
        <p:spPr>
          <a:xfrm>
            <a:off x="2295525" y="4171950"/>
            <a:ext cx="8029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Batch Updates: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Save objects instead of calling setItem for every individual field.</a:t>
            </a:r>
            <a:endParaRPr/>
          </a:p>
        </p:txBody>
      </p:sp>
      <p:pic>
        <p:nvPicPr>
          <p:cNvPr descr="image.png" id="434" name="Google Shape;43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6900" y="3267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6900" y="37338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6900" y="42005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366F1"/>
                </a:solidFill>
                <a:latin typeface="Urbanist"/>
                <a:ea typeface="Urbanist"/>
                <a:cs typeface="Urbanist"/>
                <a:sym typeface="Urbanist"/>
              </a:rPr>
              <a:t>Performance Best Practices</a:t>
            </a:r>
            <a:endParaRPr/>
          </a:p>
        </p:txBody>
      </p:sp>
      <p:sp>
        <p:nvSpPr>
          <p:cNvPr id="438" name="Google Shape;438;p41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3" name="Google Shape;44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2"/>
          <p:cNvSpPr txBox="1"/>
          <p:nvPr/>
        </p:nvSpPr>
        <p:spPr>
          <a:xfrm>
            <a:off x="5205888" y="1945034"/>
            <a:ext cx="178022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/>
          </a:p>
        </p:txBody>
      </p:sp>
      <p:sp>
        <p:nvSpPr>
          <p:cNvPr id="445" name="Google Shape;445;p42"/>
          <p:cNvSpPr txBox="1"/>
          <p:nvPr/>
        </p:nvSpPr>
        <p:spPr>
          <a:xfrm>
            <a:off x="3381375" y="3316634"/>
            <a:ext cx="542925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Mastering Browser Events and Persistence</a:t>
            </a:r>
            <a:endParaRPr/>
          </a:p>
        </p:txBody>
      </p:sp>
      <p:sp>
        <p:nvSpPr>
          <p:cNvPr id="446" name="Google Shape;446;p42"/>
          <p:cNvSpPr txBox="1"/>
          <p:nvPr/>
        </p:nvSpPr>
        <p:spPr>
          <a:xfrm>
            <a:off x="3752850" y="4446240"/>
            <a:ext cx="4686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developer.mozilla.org/Web/API/Storage_API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