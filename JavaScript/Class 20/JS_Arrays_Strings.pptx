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0058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Arrays &amp; Strings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Built-in Methods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63040" y="3291840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32918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]  Arrays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0" y="3291840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32918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 "  Strings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3291840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0EA5E9">
              <a:alpha val="3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2918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  Methods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Development Fundamentals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an Array?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 structure to store multiple values in a single variable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120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array is an ordered, indexed collection of values. Each item has a numeric index starting at 0. Arrays can hold any data type — numbers, strings, objects, or even other arrays.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828800" cy="502920"/>
          </a:xfrm>
          <a:prstGeom prst="rect">
            <a:avLst/>
          </a:prstGeom>
          <a:solidFill>
            <a:srgbClr val="334155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'apple'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[0]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2560320"/>
            <a:ext cx="1828800" cy="502920"/>
          </a:xfrm>
          <a:prstGeom prst="rect">
            <a:avLst/>
          </a:prstGeom>
          <a:solidFill>
            <a:srgbClr val="334155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578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'banana'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8346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[1]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2560320"/>
            <a:ext cx="1828800" cy="502920"/>
          </a:xfrm>
          <a:prstGeom prst="rect">
            <a:avLst/>
          </a:prstGeom>
          <a:solidFill>
            <a:srgbClr val="334155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578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'cherry'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8346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[2]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2560320"/>
            <a:ext cx="1828800" cy="502920"/>
          </a:xfrm>
          <a:prstGeom prst="rect">
            <a:avLst/>
          </a:prstGeom>
          <a:solidFill>
            <a:srgbClr val="334155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57860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'date'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83464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[3]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337560"/>
            <a:ext cx="795528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Creating Arrays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fruits = ['apple', 'banana', 'cherry'];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nums   = [1, 2, 3, 4, 5];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mixed  = ['hello', 42, true, null];  // mixed types OK!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matrix = [[1,2], [3,4]];             // nested arrays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Accessing elements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console.log(fruits[0]);   // 'apple'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console.log(fruits[2]);   // 'cherry'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console.log(fruits.length); // 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Methods — Add &amp; Remove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Mutating methods that change the original array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7432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25880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push()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 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984248"/>
            <a:ext cx="23774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29968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arr.push('new')      // [1,2,3,'new']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7432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23444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325880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pop()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38728" y="167335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from 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38728" y="1984248"/>
            <a:ext cx="23774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029968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arr.pop()            // removes 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4496" y="1234440"/>
            <a:ext cx="27432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1234440"/>
            <a:ext cx="64008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325880"/>
            <a:ext cx="2514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unshift()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167335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 START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37376" y="1984248"/>
            <a:ext cx="237744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029968"/>
            <a:ext cx="224028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arr.unshift('x')    // ['x',1,2,3]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42062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00400"/>
            <a:ext cx="64008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91840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shift()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363931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from START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950208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99592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arr.shift()         // removes 1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10328" y="3200400"/>
            <a:ext cx="420624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3200400"/>
            <a:ext cx="6400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3291840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splice()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93208" y="3639312"/>
            <a:ext cx="3977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Add/Remove anywhere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93208" y="3950208"/>
            <a:ext cx="3840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99592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arr.splice(1,1,'b') // replace index 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Methods — Search &amp; Transform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Non-mutating methods that return new values or arrays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indexOf()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index of value (-1 if not found)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7568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[1,2,3].indexOf(2)        // → 1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234440"/>
            <a:ext cx="64008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includes()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38728" y="16550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if value exists → boolean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38728" y="202996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07568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[1,2,3].includes(4)      // → false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54496" y="123444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123444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find()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37376" y="16550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first matching element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37376" y="202996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07568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[4,9,16].find(n=&gt;n&gt;5)   // → 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821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filter()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0080" y="35295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all matching elements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90448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95020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[1,2,3,4].filter(n=&gt;n&gt;2) // → [3,4]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55848" y="310896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3108960"/>
            <a:ext cx="6400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31821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map()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538728" y="35295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 every element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38728" y="390448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95020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[1,2,3].map(n=&gt;n*2)     // → [2,4,6]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54496" y="310896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54496" y="3108960"/>
            <a:ext cx="64008" cy="16916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31821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reduce()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37376" y="35295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Accumulate to single value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37376" y="390448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95020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[1,2,3].reduce((a,b)=&gt;a+b) // → 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Methods — Sort, Slice &amp; More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Ordering, copying, and combining arrays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3794760"/>
          </a:xfrm>
          <a:prstGeom prst="roundRect">
            <a:avLst>
              <a:gd name="adj" fmla="val 19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nums = [3, 1, 4, 1, 5, 9, 2];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sort() — sorts in-place (use comparator for numbers!)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nums.sort((a, b) =&gt; a - b);   // [1, 1, 2, 3, 4, 5, 9]  ascending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nums.sort((a, b) =&gt; b - a);   // [9, 5, 4, 3, 2, 1, 1]  descending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slice(start, end) — copies a portion (non-mutating)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part = nums.slice(1, 3); // [5, 4]   (index 1 up to but not incl. 3)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concat() — merges arrays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a = [1, 2], b = [3, 4];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combined = a.concat(b);  // [1, 2, 3, 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Modern way with spread: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merged = [...a, ...b];   // [1, 2, 3, 4]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join() — converts array to string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['a', 'b', 'c'].join('-');     // 'a-b-c'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['a', 'b', 'c'].join('');      // 'abc'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flat() — flattens nested arrays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 [2, 3], [4, [5]]].flat();          // [1, 2, 3, 4, [5]]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 [2, 3], [4, [5]]].flat(Infinity);  // [1, 2, 3, 4, 5]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forEach() — iterate (returns undefined)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nums.forEach((n, i) =&gt; console.log(i, n));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String?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immutable sequence of characters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120640" cy="1188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string is an ordered, immutable sequence of characters. Strings are primitives in JavaScript but have auto-boxing methods. Each character has a numeric index starting at 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1371600" cy="502920"/>
          </a:xfrm>
          <a:prstGeom prst="rect">
            <a:avLst/>
          </a:prstGeom>
          <a:solidFill>
            <a:srgbClr val="134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"H"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[0]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03120" y="2560320"/>
            <a:ext cx="1371600" cy="502920"/>
          </a:xfrm>
          <a:prstGeom prst="rect">
            <a:avLst/>
          </a:prstGeom>
          <a:solidFill>
            <a:srgbClr val="134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5786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"e"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8346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[1]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2560320"/>
            <a:ext cx="1371600" cy="502920"/>
          </a:xfrm>
          <a:prstGeom prst="rect">
            <a:avLst/>
          </a:prstGeom>
          <a:solidFill>
            <a:srgbClr val="134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5786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"l"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49040" y="28346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[2]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94960" y="2560320"/>
            <a:ext cx="1371600" cy="502920"/>
          </a:xfrm>
          <a:prstGeom prst="rect">
            <a:avLst/>
          </a:prstGeom>
          <a:solidFill>
            <a:srgbClr val="134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5786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"l"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28346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[3]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40880" y="2560320"/>
            <a:ext cx="1371600" cy="502920"/>
          </a:xfrm>
          <a:prstGeom prst="rect">
            <a:avLst/>
          </a:prstGeom>
          <a:solidFill>
            <a:srgbClr val="134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57860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"o"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[4]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3337560"/>
            <a:ext cx="7955280" cy="1508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Creating strings — 3 ways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s1 = 'single quotes';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s2 = "double quotes";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name = "World";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s3 = `template literal: Hello ${name}!`;  // → 'Hello World!'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Accessing characters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str = "Hello";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console.log(str[0]);       // 'H'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console.log(str.length);   // 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console.log(str[str.length - 1]); // 'o'  (last char)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Methods — Case &amp; Search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and checking characters within a string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toUpperCase()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to ALL CAPS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7568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'hello'.toUpperCase()   // 'HELLO'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55848" y="1234440"/>
            <a:ext cx="64008" cy="1691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toLowerCase()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38728" y="16550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to all lowercase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38728" y="202996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207568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'HELLO'.toLowerCase()   // 'hello'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54496" y="123444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54496" y="1234440"/>
            <a:ext cx="64008" cy="1691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37376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includes()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165506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if substring exists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37376" y="202996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0528" y="207568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'hello'.includes('ell') // true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10896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1821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startsWith()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5295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beginning of string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90448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95020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'hello'.startsWith('he')// true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55848" y="310896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5848" y="3108960"/>
            <a:ext cx="6400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31821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endsWith()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38728" y="35295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end of string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538728" y="390448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11880" y="395020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'hello'.endsWith('lo')  // true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4496" y="3108960"/>
            <a:ext cx="265176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54496" y="3108960"/>
            <a:ext cx="64008" cy="16916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37376" y="318211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indexOf()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37376" y="3529584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position of substring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37376" y="3904488"/>
            <a:ext cx="2359152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10528" y="3950208"/>
            <a:ext cx="2212848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'hello'.indexOf('l')    //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Methods — Modify &amp; Extract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Slicing, replacing, trimming and splitting strings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3794760"/>
          </a:xfrm>
          <a:prstGeom prst="roundRect">
            <a:avLst>
              <a:gd name="adj" fmla="val 192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3611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str = "  Hello, World!  ";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trim / trimStart / trimEnd — remove whitespace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str.trim();                    // 'Hello, World!'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str.trimStart();               // 'Hello, World!  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slice(start, end) — extract portion (supports negative index)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'Hello'.slice(1, 3);           // 'el'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'Hello'.slice(-3);             // 'llo'  (last 3 chars)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substring(start, end) — like slice but no negative support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'Hello'.substring(1, 3);       // 'el'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replace(old, new) — replaces FIRST match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'aabbcc'.replace('b', 'X');    // 'aaXbcc'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replaceAll(old, new) — replaces ALL matches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'aabbcc'.replaceAll('b', 'X'); // 'aaXXcc'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split(separator) — string → array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'a,b,c'.split(',');            // ['a', 'b', 'c']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'hello'.split('');             // ['h','e','l','l','o']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repeat(n) — repeat string n times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'ha'.repeat(3);                // 'hahaha'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padStart / padEnd — pad to target length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'5'.padStart(3, '0');          // '005'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'hi'.padEnd(5, '.');           // 'hi...'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 Literals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modern way to build dynamic strings with backticks ( ` 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3337560"/>
          </a:xfrm>
          <a:prstGeom prst="roundRect">
            <a:avLst>
              <a:gd name="adj" fmla="val 219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34440"/>
            <a:ext cx="7955280" cy="3154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name  = "Alice";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score = 95;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items = ['apple', 'banana'];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✅ Template literal (modern)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msg = `Hello, ${name}! Your score is ${score}.`;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→ 'Hello, Alice! Your score is 95.'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❌ Old way (string concatenation)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old = "Hello, " + name + "! Your score is " + score + ".";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Expressions inside ${}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console.log(`Pass? ${score &gt;= 60 ? 'Yes' : 'No'}`);  // 'Pass? Yes'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console.log(`Items: ${items.join(', ')}`);             // 'Items: apple, banana'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console.log(`2 + 2 = ${2 + 2}`);                      // '2 + 2 = 4'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Multi-line strings (no \n needed!)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html = `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&lt;div class="card"&gt;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&lt;h2&gt;${name}&lt;/h2&gt;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&lt;p&gt;Score: ${score}&lt;/p&gt;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&lt;/div&gt;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`;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34E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636008"/>
            <a:ext cx="78638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Pro Tip: Template literals support any JavaScript expression inside ${ } — function calls, ternaries, math, and more!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↔ String Conversions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Switching between arrays and strings — a very common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0233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→ String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join(separator)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9385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029968"/>
            <a:ext cx="3337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['a','b','c'].join(',');   // 'a,b,c'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['a','b','c'].join(' ');   // 'a b c'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['a','b','c'].join('');    // 'abc'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['a','b','c'].join(' - '); // 'a - b - c'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toString()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547872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639312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[1,2,3].toString();  // '1,2,3'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2336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64008" cy="3566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2618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→ Array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6276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split(separator)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19385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029968"/>
            <a:ext cx="33375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'a,b,c'.split(',');  // ['a','b','c']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'hello'.split('');   // ['h','e','l','l','o']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 b c'.split(' ');  // ['a','b','c']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'abc'.split();       // ['abc']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Spread operator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547872"/>
            <a:ext cx="3611880" cy="594360"/>
          </a:xfrm>
          <a:prstGeom prst="roundRect">
            <a:avLst>
              <a:gd name="adj" fmla="val 1230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639312"/>
            <a:ext cx="33375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[...'hello'];  // ['h','e','l','l','o']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82296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Use Cases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you'll use these every day as a developer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 Validation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3591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737360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email = input.trim().toLowerCase();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(!email.includes('@')) { ... 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1234440"/>
            <a:ext cx="2651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23444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 Products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38728" y="1691640"/>
            <a:ext cx="23591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737360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cheap = products
  .filter(p =&gt; p.price &lt; 50);
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54496" y="1234440"/>
            <a:ext cx="2651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23444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30759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HTML Dynamically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37376" y="1691640"/>
            <a:ext cx="23591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737360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html = users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.map(u =&gt; `&lt;li&gt;${u.name}&lt;/li&gt;`)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.join('');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651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64008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2783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CSV Data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23591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657600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rows = csv.split('\n');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cols = rows.map(r=&gt;r.split(','));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55848" y="3154680"/>
            <a:ext cx="2651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154680"/>
            <a:ext cx="64008" cy="1737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22783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72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Shopping Cart Total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38728" y="3611880"/>
            <a:ext cx="23591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3657600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total = cart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.reduce((sum,p)=&gt;sum+p.price, 0);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54496" y="3154680"/>
            <a:ext cx="26517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154680"/>
            <a:ext cx="64008" cy="1737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3227832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&amp; Highlight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37376" y="3611880"/>
            <a:ext cx="2359152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3657600"/>
            <a:ext cx="2212848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 found = items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.filter(i=&gt;i.toLowerCase()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.includes(query));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Reference Cheat Sheet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key methods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3703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6187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]  ARRAY METHODS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64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push / pop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66420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Add/remove from end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188823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unshift / shift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1888236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Add/remove from start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11226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splice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11226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Add/remove anywhere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3362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23362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portion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256032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concat / spread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256032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arrays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278434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278434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 elements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300837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86000" y="3008376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matching elements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" y="323240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reduce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323240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Accumulate to one value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345643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find / findIndex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286000" y="345643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first match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" y="368046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includes / indexOf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368046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array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390448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3904488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 elements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" y="412851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join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4128516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Array → string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" y="435254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flat / flatMap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86000" y="435254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Flatten nested arrays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800" y="457657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forEach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286000" y="457657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Iterate (no return)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188720"/>
            <a:ext cx="4023360" cy="3703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188720"/>
            <a:ext cx="64008" cy="3703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26187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 "  STRING METHODS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92040" y="166420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toUpperCase / toLowerCase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22592" y="166420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case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188823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trim / trimStart / trimEnd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22592" y="188823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whitespace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211226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includes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22592" y="211226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if substring exists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233629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startsWith / endsWith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22592" y="233629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string edges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92040" y="256032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indexOf / lastIndexOf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22592" y="256032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position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278434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slice / substring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22592" y="278434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portion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300837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replace / replaceAll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22592" y="300837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&amp; replace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92040" y="323240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split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022592" y="323240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 → array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892040" y="3456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repeat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22592" y="345643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n times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92040" y="368046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padStart / padEnd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22592" y="3680460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Pad to length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892040" y="390448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charAt / charCodeAt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22592" y="3904488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char/code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92040" y="412851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22592" y="4128516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with negative idx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92040" y="435254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match / matchAll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22592" y="4352544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Regex search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892040" y="457657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Template literals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22592" y="4576572"/>
            <a:ext cx="1554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 expressions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Challenges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these to solidify your understanding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822960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81328"/>
            <a:ext cx="64008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1517904"/>
            <a:ext cx="475488" cy="512064"/>
          </a:xfrm>
          <a:prstGeom prst="rect">
            <a:avLst/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517904"/>
            <a:ext cx="4754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72768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 an array of numbers, return only the even ones sorted in descending order.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57984"/>
            <a:ext cx="822960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157984"/>
            <a:ext cx="64008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2194560"/>
            <a:ext cx="475488" cy="512064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194560"/>
            <a:ext cx="4754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249424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Capitalize the first letter of every word in a sentence string.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64008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2871216"/>
            <a:ext cx="475488" cy="512064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871216"/>
            <a:ext cx="4754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926080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 how many times a given character appears in a string.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511296"/>
            <a:ext cx="822960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11296"/>
            <a:ext cx="64008" cy="5852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547872"/>
            <a:ext cx="475488" cy="512064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547872"/>
            <a:ext cx="4754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602736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Flatten [1,[2,[3,[4]]]] into [1,2,3,4] using a single array method.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187952"/>
            <a:ext cx="8229600" cy="5852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187952"/>
            <a:ext cx="64008" cy="58521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" y="4224528"/>
            <a:ext cx="475488" cy="512064"/>
          </a:xfrm>
          <a:prstGeom prst="rect">
            <a:avLst/>
          </a:prstGeom>
          <a:solidFill>
            <a:srgbClr val="F472B6">
              <a:alpha val="7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4224528"/>
            <a:ext cx="47548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279392"/>
            <a:ext cx="73152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CSV string from an array of objects: [{name, age}, ...].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" y="4773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Happy Coding!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7962</Words>
  <Application>WPS Presentation</Application>
  <PresentationFormat>On-screen Show (16:9)</PresentationFormat>
  <Paragraphs>507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Arrays &amp; Strings</dc:title>
  <dc:creator>PptxGenJS</dc:creator>
  <dc:subject>PptxGenJS Presentation</dc:subject>
  <cp:lastModifiedBy>Tabinda Noor</cp:lastModifiedBy>
  <cp:revision>3</cp:revision>
  <dcterms:created xsi:type="dcterms:W3CDTF">2026-05-22T00:53:00Z</dcterms:created>
  <dcterms:modified xsi:type="dcterms:W3CDTF">2026-05-22T01:29:08Z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01D42DFCD1A94D49B6274712623DA4A4_12</vt:lpwstr>
  </property>
  <property fmtid="{D5CDD505-2E9C-101B-9397-08002B2CF9AE}" pid="3" name="KSOProductBuildVer">
    <vt:lpwstr>2057-12.2.0.23202</vt:lpwstr>
  </property>
</Properties>
</file>