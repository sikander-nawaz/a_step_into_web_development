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Space Grotesk Medium"/>
      <p:regular r:id="rId25"/>
      <p:bold r:id="rId26"/>
    </p:embeddedFont>
    <p:embeddedFont>
      <p:font typeface="Fira Code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Medium-bold.fntdata"/><Relationship Id="rId25" Type="http://schemas.openxmlformats.org/officeDocument/2006/relationships/font" Target="fonts/SpaceGroteskMedium-regular.fntdata"/><Relationship Id="rId28" Type="http://schemas.openxmlformats.org/officeDocument/2006/relationships/font" Target="fonts/FiraCode-bold.fntdata"/><Relationship Id="rId27" Type="http://schemas.openxmlformats.org/officeDocument/2006/relationships/font" Target="fonts/FiraCod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00525" y="547687"/>
            <a:ext cx="7590948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Core of </a:t>
            </a:r>
            <a:r>
              <a:rPr b="1" i="0" lang="en-US" sz="67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69728" y="2138362"/>
            <a:ext cx="60525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JavaScript Functions Masterclass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655093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5276" y="2978943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Foundation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403621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functions are the building blocks of applications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47950"/>
            <a:ext cx="53244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47950"/>
            <a:ext cx="5324475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23925" y="2990850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6366F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Logical Encapsulation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23925" y="3390900"/>
            <a:ext cx="463867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allow you to wrap complex logic into a single named block. This "black box" approach simplifies software architecture by hiding execution details from the rest of the application ecosystem.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29400" y="2990850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6366F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Unmatched Reusability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29400" y="3390900"/>
            <a:ext cx="46386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"DRY" (Don't Repeat Yourself) structural approach is fully powered by functions. Instead of redundant code, you call the logic with different arguments, keeping your codebase clean.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are Functions?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36031"/>
            <a:ext cx="3524250" cy="2576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536031"/>
            <a:ext cx="3524250" cy="2576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536031"/>
            <a:ext cx="3524250" cy="2576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57250" y="3364706"/>
            <a:ext cx="31203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Declarations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57250" y="3840956"/>
            <a:ext cx="29718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classic syntax. Hoisted fully by the JS engine, allowing execution even before definition in code flow.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10100" y="3364706"/>
            <a:ext cx="31203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Expressions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10100" y="3840956"/>
            <a:ext cx="29718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stored inside variables. Not hoisted; enforces strict sequence and scoping.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362950" y="3364706"/>
            <a:ext cx="31203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Arrow Functions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362950" y="3840956"/>
            <a:ext cx="29718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Introduced in ES6. Features shorter syntax and distinct lexical contextual binding of 'this'.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831306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831306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2831306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Primary Declaration Types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619750" y="2655093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05276" y="2978943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Modern Shift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403621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of syntax and execution patterns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71525" y="581025"/>
            <a:ext cx="499062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Arrow Functions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1571625"/>
            <a:ext cx="4943475" cy="900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Arrow functions represent more than just syntax shortcuts. They actively resolve context binding issues within nested callbacks and dynamic scopes.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81025" y="2671762"/>
            <a:ext cx="49434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enforcing a </a:t>
            </a:r>
            <a:r>
              <a:rPr b="1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scope</a:t>
            </a:r>
            <a:r>
              <a:rPr b="0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this value, they ensure references maintain logical integrity, removing the necessity of calling .bind() or saving scope context variables.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1109216" y="2976562"/>
            <a:ext cx="10354419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 vs Arguments: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Parameters act as structural placeholders inside definition signatures; Arguments are the active variables supplied.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1109216" y="3438525"/>
            <a:ext cx="10354419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Parameters: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 elegant fallback values inline inside parameters directly (e.g., function greet(name = 'Guest')).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1109216" y="3900487"/>
            <a:ext cx="10354419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Rest Parameter: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Captures indefinite trailing parameters using ...args, consolidating multiple inputs into an indexed array.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1109216" y="4362450"/>
            <a:ext cx="10354419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Return Statement: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Halts execution path immediately and passes computed data back. Unspecified returns result in undefined.</a:t>
            </a:r>
            <a:endParaRPr/>
          </a:p>
        </p:txBody>
      </p:sp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216" y="30051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216" y="34671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216" y="39290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216" y="43910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Handling Dynamic Data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81025" y="3081337"/>
            <a:ext cx="53244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6366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10k+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81025" y="4319587"/>
            <a:ext cx="5324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Stack Depth Limit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286500" y="2764631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LIFO Call Stack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286500" y="3164681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multiple active functions invoke nested dependencies, JS tracks execution steps using a stack. Infinite executions call recursive bounds until bounds exceed maximum threshold.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286500" y="4160043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call stacks is vital for tracking memory usage, isolating recursive blocks, and preventing system freezing.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/>
          <p:nvPr/>
        </p:nvSpPr>
        <p:spPr>
          <a:xfrm>
            <a:off x="5619750" y="2655093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305276" y="2978943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Advanced Patterns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81025" y="403621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Higher-order structures and functional composition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1102995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1314450" y="5742533"/>
            <a:ext cx="95631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continuous shift toward functional paradigms has accelerated exponentially with arrow constructs and declarative architectures.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Programming Trends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24062"/>
            <a:ext cx="35242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24062"/>
            <a:ext cx="35242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024062"/>
            <a:ext cx="35242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781050" y="4271962"/>
            <a:ext cx="32804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Callbacks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781050" y="4748212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nested inside parameters, called dynamically as logic finishes.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4533900" y="4271962"/>
            <a:ext cx="32804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Returned Functions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4533900" y="4748212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factories creating specialized dynamic execution blocks.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8286750" y="4271962"/>
            <a:ext cx="32804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Closures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8286750" y="4748212"/>
            <a:ext cx="31242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functions retain physical state definitions after leaving environments.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Higher-Order Functions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2381250" y="2792908"/>
            <a:ext cx="7429500" cy="15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"Programming is not about typing; it's about thinking. Functions are the crystallized thoughts of the engineer." 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1809750" y="4598491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366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Senior Software Architect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1619250" y="2507158"/>
            <a:ext cx="447675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"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Philosophy of Code</a:t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581025" y="3343275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1611213" y="3105150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517605" y="3771900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ES1: The Start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581025" y="42005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Declarations establish foundation.</a:t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4442221" y="3105150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3348614" y="3771900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ES5: Scoping</a:t>
            </a:r>
            <a:endParaRPr/>
          </a:p>
        </p:txBody>
      </p:sp>
      <p:sp>
        <p:nvSpPr>
          <p:cNvPr id="225" name="Google Shape;225;p25"/>
          <p:cNvSpPr txBox="1"/>
          <p:nvPr/>
        </p:nvSpPr>
        <p:spPr>
          <a:xfrm>
            <a:off x="3412033" y="42005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 mode and assigned block expressions.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7273230" y="3105150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6179622" y="3771900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ES6: Arrows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6243042" y="42005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 functional definitions and defaults.</a:t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10104239" y="3105150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9010631" y="3771900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Modern: Async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9074050" y="42005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Non-blocking loops and generator states.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Evolution of Logic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5619750" y="2655093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305276" y="2978943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Modern Execution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581025" y="403621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lifecycle control and design pattern integrations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74143"/>
            <a:ext cx="5324475" cy="12531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7"/>
          <p:cNvSpPr txBox="1"/>
          <p:nvPr/>
        </p:nvSpPr>
        <p:spPr>
          <a:xfrm>
            <a:off x="581025" y="2864643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Immediately Invoked Function Expression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runs instantly upon runtime evaluation.</a:t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581025" y="3779043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Encapsulates internal scope safely.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581025" y="4164806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global naming namespace pollution.</a:t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581025" y="4550568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Foundational design pattern before native modules.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6486525" y="2874168"/>
            <a:ext cx="2952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// Standard self-contained IIFE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9629775" y="2874168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function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10868025" y="2874168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7629525" y="3087439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"X98A1_PROD"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7629525" y="3300710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"Bootstrapped!"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6486525" y="3300710"/>
            <a:ext cx="4286250" cy="413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// Error: secureKey is not defined here</a:t>
            </a:r>
            <a:endParaRPr/>
          </a:p>
        </p:txBody>
      </p:sp>
      <p:pic>
        <p:nvPicPr>
          <p:cNvPr descr="image.png" id="258" name="Google Shape;25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12381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98143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583906"/>
            <a:ext cx="2000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Self-Executing Functions (IIFE)</a:t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19412"/>
            <a:ext cx="5324475" cy="125313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8"/>
          <p:cNvSpPr txBox="1"/>
          <p:nvPr/>
        </p:nvSpPr>
        <p:spPr>
          <a:xfrm>
            <a:off x="6286500" y="3109912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Currying transforms a multi-argument function signature into nested single-argument function returns.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6286500" y="4014787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facilitates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partial application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creating highly modular, contextual configurations before invoking computations.</a:t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781050" y="3119437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// Standard multi-parameter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3448050" y="311943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1447800" y="3332708"/>
            <a:ext cx="2762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// Curried sequential nesting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4305300" y="3332708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3924300" y="3545978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const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1733550" y="3759249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3924300" y="3759249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4400550" y="3759249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// Returns 10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Currying Patterns</a:t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244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67162"/>
            <a:ext cx="5324475" cy="82659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/>
        </p:nvSpPr>
        <p:spPr>
          <a:xfrm>
            <a:off x="581025" y="2205037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Generators can halt mid-execution lifecycle and later resume state computation, breaking the standard "run-to-completion" paradigm.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581025" y="3109912"/>
            <a:ext cx="53244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unique yield sequences paired with the asterisk function* signature.</a:t>
            </a:r>
            <a:endParaRPr/>
          </a:p>
        </p:txBody>
      </p:sp>
      <p:pic>
        <p:nvPicPr>
          <p:cNvPr descr="image.png" id="290" name="Google Shape;29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2024062"/>
            <a:ext cx="53054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 txBox="1"/>
          <p:nvPr/>
        </p:nvSpPr>
        <p:spPr>
          <a:xfrm>
            <a:off x="781050" y="4167187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function*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2590800" y="416718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yield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3162300" y="4167187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'Step 1'</a:t>
            </a:r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4114800" y="416718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yield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4686300" y="4167187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'Step 2'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Generator Functions</a:t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771525" y="581025"/>
            <a:ext cx="499062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Operations</a:t>
            </a:r>
            <a:endParaRPr/>
          </a:p>
        </p:txBody>
      </p:sp>
      <p:sp>
        <p:nvSpPr>
          <p:cNvPr id="304" name="Google Shape;304;p30"/>
          <p:cNvSpPr/>
          <p:nvPr/>
        </p:nvSpPr>
        <p:spPr>
          <a:xfrm>
            <a:off x="581025" y="581025"/>
            <a:ext cx="47625" cy="10096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0"/>
          <p:cNvSpPr txBox="1"/>
          <p:nvPr/>
        </p:nvSpPr>
        <p:spPr>
          <a:xfrm>
            <a:off x="581025" y="2066925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JavaScript operates on a single-threaded architecture, non-blocking flow control is essential to prevent user interface latency.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581025" y="3114675"/>
            <a:ext cx="49434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modern combination of async declarations and await operations handles background asynchronous tasks seamlessly, producing logical flow structures reminiscent of synchronous execution paths.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00300"/>
            <a:ext cx="35242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00300"/>
            <a:ext cx="35242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400300"/>
            <a:ext cx="35242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857250" y="3228975"/>
            <a:ext cx="31203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Single Focus</a:t>
            </a: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857250" y="3705225"/>
            <a:ext cx="2971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must handle only one specific logical task. If operations merge tasks, isolate dependencies into clean sub-methods.</a:t>
            </a:r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4610100" y="3228975"/>
            <a:ext cx="31203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Keep It Pure</a:t>
            </a:r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4610100" y="3705225"/>
            <a:ext cx="2971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for side-effect-free code. Supplying identical inputs should consistently return duplicate outputs without mutating outer scopes.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8362950" y="3228975"/>
            <a:ext cx="312039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Semantic Names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8362950" y="3705225"/>
            <a:ext cx="2971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functions descriptive of their primary actions. Use action verbs (e.g., fetchData, verifyEmail, computeSum).</a:t>
            </a:r>
            <a:endParaRPr/>
          </a:p>
        </p:txBody>
      </p:sp>
      <p:pic>
        <p:nvPicPr>
          <p:cNvPr descr="image.png" id="322" name="Google Shape;322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955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6955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2950" y="269557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/>
        </p:nvSpPr>
        <p:spPr>
          <a:xfrm>
            <a:off x="771525" y="581025"/>
            <a:ext cx="1138142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Code Best Practices</a:t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581025" y="581025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