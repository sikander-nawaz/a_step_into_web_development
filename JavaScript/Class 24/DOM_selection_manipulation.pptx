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7" Type="http://schemas.openxmlformats.org/officeDocument/2006/relationships/notesSlide" Target="../notesSlides/notesSlide3.xml"/><Relationship Id="rId26" Type="http://schemas.openxmlformats.org/officeDocument/2006/relationships/slideLayout" Target="../slideLayouts/slideLayout1.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6" Type="http://schemas.openxmlformats.org/officeDocument/2006/relationships/notesSlide" Target="../notesSlides/notesSlide10.xml"/><Relationship Id="rId25" Type="http://schemas.openxmlformats.org/officeDocument/2006/relationships/slideLayout" Target="../slideLayouts/slideLayout1.xml"/><Relationship Id="rId24" Type="http://schemas.openxmlformats.org/officeDocument/2006/relationships/tags" Target="../tags/tag48.xml"/><Relationship Id="rId23" Type="http://schemas.openxmlformats.org/officeDocument/2006/relationships/tags" Target="../tags/tag47.xml"/><Relationship Id="rId22" Type="http://schemas.openxmlformats.org/officeDocument/2006/relationships/tags" Target="../tags/tag46.xml"/><Relationship Id="rId21" Type="http://schemas.openxmlformats.org/officeDocument/2006/relationships/tags" Target="../tags/tag45.xml"/><Relationship Id="rId20" Type="http://schemas.openxmlformats.org/officeDocument/2006/relationships/tags" Target="../tags/tag44.xml"/><Relationship Id="rId2" Type="http://schemas.openxmlformats.org/officeDocument/2006/relationships/tags" Target="../tags/tag26.xml"/><Relationship Id="rId19" Type="http://schemas.openxmlformats.org/officeDocument/2006/relationships/tags" Target="../tags/tag43.xml"/><Relationship Id="rId18" Type="http://schemas.openxmlformats.org/officeDocument/2006/relationships/tags" Target="../tags/tag42.xml"/><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5.xml"/></Relationships>
</file>

<file path=ppt/slides/_rels/slide11.xml.rels><?xml version="1.0" encoding="UTF-8" standalone="yes"?>
<Relationships xmlns="http://schemas.openxmlformats.org/package/2006/relationships"><Relationship Id="rId9" Type="http://schemas.openxmlformats.org/officeDocument/2006/relationships/tags" Target="../tags/tag57.xml"/><Relationship Id="rId8" Type="http://schemas.openxmlformats.org/officeDocument/2006/relationships/tags" Target="../tags/tag56.xml"/><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2" Type="http://schemas.openxmlformats.org/officeDocument/2006/relationships/notesSlide" Target="../notesSlides/notesSlide11.xml"/><Relationship Id="rId21" Type="http://schemas.openxmlformats.org/officeDocument/2006/relationships/slideLayout" Target="../slideLayouts/slideLayout1.xml"/><Relationship Id="rId20" Type="http://schemas.openxmlformats.org/officeDocument/2006/relationships/tags" Target="../tags/tag68.xml"/><Relationship Id="rId2" Type="http://schemas.openxmlformats.org/officeDocument/2006/relationships/tags" Target="../tags/tag50.xml"/><Relationship Id="rId19" Type="http://schemas.openxmlformats.org/officeDocument/2006/relationships/tags" Target="../tags/tag67.xml"/><Relationship Id="rId18" Type="http://schemas.openxmlformats.org/officeDocument/2006/relationships/tags" Target="../tags/tag66.xml"/><Relationship Id="rId17" Type="http://schemas.openxmlformats.org/officeDocument/2006/relationships/tags" Target="../tags/tag65.xml"/><Relationship Id="rId16" Type="http://schemas.openxmlformats.org/officeDocument/2006/relationships/tags" Target="../tags/tag64.xml"/><Relationship Id="rId15" Type="http://schemas.openxmlformats.org/officeDocument/2006/relationships/tags" Target="../tags/tag63.xml"/><Relationship Id="rId14" Type="http://schemas.openxmlformats.org/officeDocument/2006/relationships/tags" Target="../tags/tag62.xml"/><Relationship Id="rId13" Type="http://schemas.openxmlformats.org/officeDocument/2006/relationships/tags" Target="../tags/tag61.xml"/><Relationship Id="rId12" Type="http://schemas.openxmlformats.org/officeDocument/2006/relationships/tags" Target="../tags/tag60.xml"/><Relationship Id="rId11" Type="http://schemas.openxmlformats.org/officeDocument/2006/relationships/tags" Target="../tags/tag59.xml"/><Relationship Id="rId10" Type="http://schemas.openxmlformats.org/officeDocument/2006/relationships/tags" Target="../tags/tag58.xml"/><Relationship Id="rId1" Type="http://schemas.openxmlformats.org/officeDocument/2006/relationships/tags" Target="../tags/tag4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B82F6"/>
          </a:solidFill>
          <a:ln w="12700">
            <a:solidFill>
              <a:srgbClr val="3B82F6"/>
            </a:solidFill>
            <a:prstDash val="solid"/>
          </a:ln>
        </p:spPr>
      </p:sp>
      <p:sp>
        <p:nvSpPr>
          <p:cNvPr id="3" name="Shape 1"/>
          <p:cNvSpPr/>
          <p:nvPr/>
        </p:nvSpPr>
        <p:spPr>
          <a:xfrm>
            <a:off x="6583680" y="457200"/>
            <a:ext cx="3200400" cy="3200400"/>
          </a:xfrm>
          <a:prstGeom prst="ellipse">
            <a:avLst/>
          </a:prstGeom>
          <a:solidFill>
            <a:srgbClr val="1E3A5F">
              <a:alpha val="70000"/>
            </a:srgbClr>
          </a:solidFill>
          <a:ln w="12700">
            <a:solidFill>
              <a:srgbClr val="1E3A5F">
                <a:alpha val="70000"/>
              </a:srgbClr>
            </a:solidFill>
            <a:prstDash val="solid"/>
          </a:ln>
        </p:spPr>
      </p:sp>
      <p:sp>
        <p:nvSpPr>
          <p:cNvPr id="4" name="Shape 2"/>
          <p:cNvSpPr/>
          <p:nvPr/>
        </p:nvSpPr>
        <p:spPr>
          <a:xfrm>
            <a:off x="7132320" y="822960"/>
            <a:ext cx="2194560" cy="2194560"/>
          </a:xfrm>
          <a:prstGeom prst="ellipse">
            <a:avLst/>
          </a:prstGeom>
          <a:solidFill>
            <a:srgbClr val="3B82F6">
              <a:alpha val="40000"/>
            </a:srgbClr>
          </a:solidFill>
          <a:ln w="12700">
            <a:solidFill>
              <a:srgbClr val="3B82F6">
                <a:alpha val="40000"/>
              </a:srgbClr>
            </a:solidFill>
            <a:prstDash val="solid"/>
          </a:ln>
        </p:spPr>
      </p:sp>
      <p:pic>
        <p:nvPicPr>
          <p:cNvPr id="5" name="Image 0" descr="preencoded.png"/>
          <p:cNvPicPr>
            <a:picLocks noChangeAspect="1"/>
          </p:cNvPicPr>
          <p:nvPr/>
        </p:nvPicPr>
        <p:blipFill>
          <a:blip r:embed="rId1"/>
          <a:stretch>
            <a:fillRect/>
          </a:stretch>
        </p:blipFill>
        <p:spPr>
          <a:xfrm>
            <a:off x="457200" y="822960"/>
            <a:ext cx="640080" cy="640080"/>
          </a:xfrm>
          <a:prstGeom prst="rect">
            <a:avLst/>
          </a:prstGeom>
        </p:spPr>
      </p:pic>
      <p:sp>
        <p:nvSpPr>
          <p:cNvPr id="6" name="Text 3"/>
          <p:cNvSpPr/>
          <p:nvPr/>
        </p:nvSpPr>
        <p:spPr>
          <a:xfrm>
            <a:off x="1234440" y="731520"/>
            <a:ext cx="6400800" cy="685800"/>
          </a:xfrm>
          <a:prstGeom prst="rect">
            <a:avLst/>
          </a:prstGeom>
          <a:noFill/>
        </p:spPr>
        <p:txBody>
          <a:bodyPr wrap="square" lIns="0" tIns="0" rIns="0" bIns="0" rtlCol="0" anchor="ctr"/>
          <a:lstStyle/>
          <a:p>
            <a:pPr marL="0" indent="0">
              <a:buNone/>
            </a:pPr>
            <a:r>
              <a:rPr lang="en-US" sz="3800" b="1" dirty="0">
                <a:solidFill>
                  <a:srgbClr val="3B82F6"/>
                </a:solidFill>
                <a:latin typeface="Calibri" panose="020F0502020204030204" pitchFamily="34" charset="0"/>
                <a:ea typeface="Calibri" panose="020F0502020204030204" pitchFamily="34" charset="-122"/>
                <a:cs typeface="Calibri" panose="020F0502020204030204" pitchFamily="34" charset="-120"/>
              </a:rPr>
              <a:t>JavaScript DOM</a:t>
            </a:r>
            <a:endParaRPr lang="en-US" sz="3800" dirty="0"/>
          </a:p>
        </p:txBody>
      </p:sp>
      <p:sp>
        <p:nvSpPr>
          <p:cNvPr id="7" name="Text 4"/>
          <p:cNvSpPr/>
          <p:nvPr/>
        </p:nvSpPr>
        <p:spPr>
          <a:xfrm>
            <a:off x="1234440" y="1417320"/>
            <a:ext cx="6400800" cy="457200"/>
          </a:xfrm>
          <a:prstGeom prst="rect">
            <a:avLst/>
          </a:prstGeom>
          <a:noFill/>
        </p:spPr>
        <p:txBody>
          <a:bodyPr wrap="square" lIns="0" tIns="0" rIns="0" bIns="0" rtlCol="0" anchor="ctr"/>
          <a:lstStyle/>
          <a:p>
            <a:pPr marL="0" indent="0">
              <a:buNone/>
            </a:pPr>
            <a:r>
              <a:rPr lang="en-US" sz="2000" i="1" dirty="0">
                <a:solidFill>
                  <a:srgbClr val="F8FAFC"/>
                </a:solidFill>
                <a:latin typeface="Calibri" panose="020F0502020204030204" pitchFamily="34" charset="0"/>
                <a:ea typeface="Calibri" panose="020F0502020204030204" pitchFamily="34" charset="-122"/>
                <a:cs typeface="Calibri" panose="020F0502020204030204" pitchFamily="34" charset="-120"/>
              </a:rPr>
              <a:t>Selection · Manipulation · ClassList</a:t>
            </a:r>
            <a:endParaRPr lang="en-US" sz="2000" dirty="0"/>
          </a:p>
        </p:txBody>
      </p:sp>
      <p:sp>
        <p:nvSpPr>
          <p:cNvPr id="8" name="Shape 5"/>
          <p:cNvSpPr/>
          <p:nvPr/>
        </p:nvSpPr>
        <p:spPr>
          <a:xfrm>
            <a:off x="457200" y="1965960"/>
            <a:ext cx="5029200" cy="36576"/>
          </a:xfrm>
          <a:prstGeom prst="rect">
            <a:avLst/>
          </a:prstGeom>
          <a:solidFill>
            <a:srgbClr val="06B6D4"/>
          </a:solidFill>
          <a:ln w="12700">
            <a:solidFill>
              <a:srgbClr val="06B6D4"/>
            </a:solidFill>
            <a:prstDash val="solid"/>
          </a:ln>
        </p:spPr>
      </p:sp>
      <p:sp>
        <p:nvSpPr>
          <p:cNvPr id="9" name="Text 6"/>
          <p:cNvSpPr/>
          <p:nvPr/>
        </p:nvSpPr>
        <p:spPr>
          <a:xfrm>
            <a:off x="457200" y="2103120"/>
            <a:ext cx="6400800" cy="365760"/>
          </a:xfrm>
          <a:prstGeom prst="rect">
            <a:avLst/>
          </a:prstGeom>
          <a:noFill/>
        </p:spPr>
        <p:txBody>
          <a:bodyPr wrap="square" lIns="0" tIns="0" rIns="0" bIns="0" rtlCol="0" anchor="ctr"/>
          <a:lstStyle/>
          <a:p>
            <a:pPr marL="0" indent="0">
              <a:buNone/>
            </a:pPr>
            <a:r>
              <a:rPr lang="en-US" sz="1400" dirty="0">
                <a:solidFill>
                  <a:srgbClr val="94A3B8"/>
                </a:solidFill>
                <a:latin typeface="Calibri" panose="020F0502020204030204" pitchFamily="34" charset="0"/>
                <a:ea typeface="Calibri" panose="020F0502020204030204" pitchFamily="34" charset="-122"/>
                <a:cs typeface="Calibri" panose="020F0502020204030204" pitchFamily="34" charset="-120"/>
              </a:rPr>
              <a:t>Complete Training Guide for Web Developers</a:t>
            </a:r>
            <a:endParaRPr lang="en-US" sz="1400" dirty="0"/>
          </a:p>
        </p:txBody>
      </p:sp>
      <p:sp>
        <p:nvSpPr>
          <p:cNvPr id="10" name="Shape 7"/>
          <p:cNvSpPr/>
          <p:nvPr/>
        </p:nvSpPr>
        <p:spPr>
          <a:xfrm>
            <a:off x="457200" y="2834640"/>
            <a:ext cx="2560320" cy="502920"/>
          </a:xfrm>
          <a:prstGeom prst="roundRect">
            <a:avLst>
              <a:gd name="adj" fmla="val 14545"/>
            </a:avLst>
          </a:prstGeom>
          <a:solidFill>
            <a:srgbClr val="1E293B"/>
          </a:solidFill>
          <a:ln w="12700">
            <a:solidFill>
              <a:srgbClr val="3B82F6"/>
            </a:solidFill>
            <a:prstDash val="solid"/>
          </a:ln>
        </p:spPr>
      </p:sp>
      <p:sp>
        <p:nvSpPr>
          <p:cNvPr id="11" name="Text 8"/>
          <p:cNvSpPr/>
          <p:nvPr/>
        </p:nvSpPr>
        <p:spPr>
          <a:xfrm>
            <a:off x="457200" y="2834640"/>
            <a:ext cx="2560320" cy="502920"/>
          </a:xfrm>
          <a:prstGeom prst="rect">
            <a:avLst/>
          </a:prstGeom>
          <a:noFill/>
        </p:spPr>
        <p:txBody>
          <a:bodyPr wrap="square" lIns="0" tIns="0" rIns="0" bIns="0" rtlCol="0" anchor="ctr"/>
          <a:lstStyle/>
          <a:p>
            <a:pPr marL="0" indent="0" algn="ctr">
              <a:buNone/>
            </a:pPr>
            <a:r>
              <a:rPr lang="en-US" sz="1300" b="1" dirty="0">
                <a:solidFill>
                  <a:srgbClr val="3B82F6"/>
                </a:solidFill>
                <a:latin typeface="Calibri" panose="020F0502020204030204" pitchFamily="34" charset="0"/>
                <a:ea typeface="Calibri" panose="020F0502020204030204" pitchFamily="34" charset="-122"/>
                <a:cs typeface="Calibri" panose="020F0502020204030204" pitchFamily="34" charset="-120"/>
              </a:rPr>
              <a:t>DOM Selection</a:t>
            </a:r>
            <a:endParaRPr lang="en-US" sz="1300" dirty="0"/>
          </a:p>
        </p:txBody>
      </p:sp>
      <p:sp>
        <p:nvSpPr>
          <p:cNvPr id="12" name="Shape 9"/>
          <p:cNvSpPr/>
          <p:nvPr/>
        </p:nvSpPr>
        <p:spPr>
          <a:xfrm>
            <a:off x="3291840" y="2834640"/>
            <a:ext cx="2560320" cy="502920"/>
          </a:xfrm>
          <a:prstGeom prst="roundRect">
            <a:avLst>
              <a:gd name="adj" fmla="val 14545"/>
            </a:avLst>
          </a:prstGeom>
          <a:solidFill>
            <a:srgbClr val="1E293B"/>
          </a:solidFill>
          <a:ln w="12700">
            <a:solidFill>
              <a:srgbClr val="3B82F6"/>
            </a:solidFill>
            <a:prstDash val="solid"/>
          </a:ln>
        </p:spPr>
      </p:sp>
      <p:sp>
        <p:nvSpPr>
          <p:cNvPr id="13" name="Text 10"/>
          <p:cNvSpPr/>
          <p:nvPr/>
        </p:nvSpPr>
        <p:spPr>
          <a:xfrm>
            <a:off x="3291840" y="2834640"/>
            <a:ext cx="2560320" cy="502920"/>
          </a:xfrm>
          <a:prstGeom prst="rect">
            <a:avLst/>
          </a:prstGeom>
          <a:noFill/>
        </p:spPr>
        <p:txBody>
          <a:bodyPr wrap="square" lIns="0" tIns="0" rIns="0" bIns="0" rtlCol="0" anchor="ctr"/>
          <a:lstStyle/>
          <a:p>
            <a:pPr marL="0" indent="0" algn="ctr">
              <a:buNone/>
            </a:pPr>
            <a:r>
              <a:rPr lang="en-US" sz="1300" b="1" dirty="0">
                <a:solidFill>
                  <a:srgbClr val="3B82F6"/>
                </a:solidFill>
                <a:latin typeface="Calibri" panose="020F0502020204030204" pitchFamily="34" charset="0"/>
                <a:ea typeface="Calibri" panose="020F0502020204030204" pitchFamily="34" charset="-122"/>
                <a:cs typeface="Calibri" panose="020F0502020204030204" pitchFamily="34" charset="-120"/>
              </a:rPr>
              <a:t>DOM Manipulation</a:t>
            </a:r>
            <a:endParaRPr lang="en-US" sz="1300" dirty="0"/>
          </a:p>
        </p:txBody>
      </p:sp>
      <p:sp>
        <p:nvSpPr>
          <p:cNvPr id="14" name="Shape 11"/>
          <p:cNvSpPr/>
          <p:nvPr/>
        </p:nvSpPr>
        <p:spPr>
          <a:xfrm>
            <a:off x="6126480" y="2834640"/>
            <a:ext cx="2560320" cy="502920"/>
          </a:xfrm>
          <a:prstGeom prst="roundRect">
            <a:avLst>
              <a:gd name="adj" fmla="val 14545"/>
            </a:avLst>
          </a:prstGeom>
          <a:solidFill>
            <a:srgbClr val="1E293B"/>
          </a:solidFill>
          <a:ln w="12700">
            <a:solidFill>
              <a:srgbClr val="3B82F6"/>
            </a:solidFill>
            <a:prstDash val="solid"/>
          </a:ln>
        </p:spPr>
      </p:sp>
      <p:sp>
        <p:nvSpPr>
          <p:cNvPr id="15" name="Text 12"/>
          <p:cNvSpPr/>
          <p:nvPr/>
        </p:nvSpPr>
        <p:spPr>
          <a:xfrm>
            <a:off x="6126480" y="2834640"/>
            <a:ext cx="2560320" cy="502920"/>
          </a:xfrm>
          <a:prstGeom prst="rect">
            <a:avLst/>
          </a:prstGeom>
          <a:noFill/>
        </p:spPr>
        <p:txBody>
          <a:bodyPr wrap="square" lIns="0" tIns="0" rIns="0" bIns="0" rtlCol="0" anchor="ctr"/>
          <a:lstStyle/>
          <a:p>
            <a:pPr marL="0" indent="0" algn="ctr">
              <a:buNone/>
            </a:pPr>
            <a:r>
              <a:rPr lang="en-US" sz="1300" b="1" dirty="0">
                <a:solidFill>
                  <a:srgbClr val="3B82F6"/>
                </a:solidFill>
                <a:latin typeface="Calibri" panose="020F0502020204030204" pitchFamily="34" charset="0"/>
                <a:ea typeface="Calibri" panose="020F0502020204030204" pitchFamily="34" charset="-122"/>
                <a:cs typeface="Calibri" panose="020F0502020204030204" pitchFamily="34" charset="-120"/>
              </a:rPr>
              <a:t>ClassList API</a:t>
            </a:r>
            <a:endParaRPr lang="en-US" sz="1300" dirty="0"/>
          </a:p>
        </p:txBody>
      </p:sp>
      <p:sp>
        <p:nvSpPr>
          <p:cNvPr id="16" name="Text 13"/>
          <p:cNvSpPr/>
          <p:nvPr/>
        </p:nvSpPr>
        <p:spPr>
          <a:xfrm>
            <a:off x="457200" y="3566160"/>
            <a:ext cx="8229600" cy="320040"/>
          </a:xfrm>
          <a:prstGeom prst="rect">
            <a:avLst/>
          </a:prstGeom>
          <a:noFill/>
        </p:spPr>
        <p:txBody>
          <a:bodyPr wrap="square" lIns="0" tIns="0" rIns="0" bIns="0" rtlCol="0" anchor="ctr"/>
          <a:lstStyle/>
          <a:p>
            <a:pPr marL="0" indent="0">
              <a:buNone/>
            </a:pPr>
            <a:r>
              <a:rPr lang="en-US" sz="1600" b="1" dirty="0">
                <a:solidFill>
                  <a:srgbClr val="06B6D4"/>
                </a:solidFill>
                <a:latin typeface="Calibri" panose="020F0502020204030204" pitchFamily="34" charset="0"/>
                <a:ea typeface="Calibri" panose="020F0502020204030204" pitchFamily="34" charset="-122"/>
                <a:cs typeface="Calibri" panose="020F0502020204030204" pitchFamily="34" charset="-120"/>
              </a:rPr>
              <a:t>What is the DOM?</a:t>
            </a:r>
            <a:endParaRPr lang="en-US" sz="1600" dirty="0"/>
          </a:p>
        </p:txBody>
      </p:sp>
      <p:sp>
        <p:nvSpPr>
          <p:cNvPr id="17" name="Text 14"/>
          <p:cNvSpPr/>
          <p:nvPr/>
        </p:nvSpPr>
        <p:spPr>
          <a:xfrm>
            <a:off x="457200" y="3931920"/>
            <a:ext cx="8229600" cy="822960"/>
          </a:xfrm>
          <a:prstGeom prst="rect">
            <a:avLst/>
          </a:prstGeom>
          <a:noFill/>
        </p:spPr>
        <p:txBody>
          <a:bodyPr wrap="square" lIns="0" tIns="0" rIns="0" bIns="0" rtlCol="0" anchor="ctr"/>
          <a:lstStyle/>
          <a:p>
            <a:pPr marL="0" indent="0">
              <a:buNone/>
            </a:pPr>
            <a:r>
              <a:rPr lang="en-US" sz="1300" dirty="0">
                <a:solidFill>
                  <a:srgbClr val="F8FAFC"/>
                </a:solidFill>
                <a:latin typeface="Calibri" panose="020F0502020204030204" pitchFamily="34" charset="0"/>
                <a:ea typeface="Calibri" panose="020F0502020204030204" pitchFamily="34" charset="-122"/>
                <a:cs typeface="Calibri" panose="020F0502020204030204" pitchFamily="34" charset="-120"/>
              </a:rPr>
              <a:t>The Document Object Model (DOM) is a programming interface that represents an HTML/XML document as a tree of objects. Every tag becomes a node that JavaScript can read, modify, add, or delete — making web pages dynamic and interactive.</a:t>
            </a:r>
            <a:endParaRPr lang="en-US" sz="1300" dirty="0"/>
          </a:p>
        </p:txBody>
      </p:sp>
      <p:sp>
        <p:nvSpPr>
          <p:cNvPr id="18" name="Shape 15"/>
          <p:cNvSpPr/>
          <p:nvPr/>
        </p:nvSpPr>
        <p:spPr>
          <a:xfrm>
            <a:off x="0" y="5074920"/>
            <a:ext cx="9144000" cy="68580"/>
          </a:xfrm>
          <a:prstGeom prst="rect">
            <a:avLst/>
          </a:prstGeom>
          <a:solidFill>
            <a:srgbClr val="3B82F6"/>
          </a:solidFill>
          <a:ln w="12700">
            <a:solidFill>
              <a:srgbClr val="3B82F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B82F6"/>
          </a:solidFill>
          <a:ln w="12700">
            <a:solidFill>
              <a:srgbClr val="3B82F6"/>
            </a:solidFill>
            <a:prstDash val="solid"/>
          </a:ln>
        </p:spPr>
      </p:sp>
      <p:sp>
        <p:nvSpPr>
          <p:cNvPr id="3" name="Text 1"/>
          <p:cNvSpPr/>
          <p:nvPr/>
        </p:nvSpPr>
        <p:spPr>
          <a:xfrm>
            <a:off x="365760" y="182880"/>
            <a:ext cx="8229600" cy="457200"/>
          </a:xfrm>
          <a:prstGeom prst="rect">
            <a:avLst/>
          </a:prstGeom>
          <a:noFill/>
        </p:spPr>
        <p:txBody>
          <a:bodyPr wrap="square" lIns="0" tIns="0" rIns="0" bIns="0" rtlCol="0" anchor="ctr"/>
          <a:lstStyle/>
          <a:p>
            <a:pPr marL="0" indent="0">
              <a:buNone/>
            </a:pPr>
            <a:r>
              <a:rPr lang="en-US" sz="2600" b="1" dirty="0">
                <a:solidFill>
                  <a:srgbClr val="3B82F6"/>
                </a:solidFill>
                <a:latin typeface="Calibri" panose="020F0502020204030204" pitchFamily="34" charset="0"/>
                <a:ea typeface="Calibri" panose="020F0502020204030204" pitchFamily="34" charset="-122"/>
                <a:cs typeface="Calibri" panose="020F0502020204030204" pitchFamily="34" charset="-120"/>
              </a:rPr>
              <a:t>The DOM Tree Structure</a:t>
            </a:r>
            <a:endParaRPr lang="en-US" sz="2600" dirty="0"/>
          </a:p>
        </p:txBody>
      </p:sp>
      <p:sp>
        <p:nvSpPr>
          <p:cNvPr id="4" name="Shape 2"/>
          <p:cNvSpPr/>
          <p:nvPr/>
        </p:nvSpPr>
        <p:spPr>
          <a:xfrm>
            <a:off x="365760" y="658368"/>
            <a:ext cx="8412480" cy="36576"/>
          </a:xfrm>
          <a:prstGeom prst="rect">
            <a:avLst/>
          </a:prstGeom>
          <a:solidFill>
            <a:srgbClr val="1E293B"/>
          </a:solidFill>
          <a:ln w="12700">
            <a:solidFill>
              <a:srgbClr val="1E293B"/>
            </a:solidFill>
            <a:prstDash val="solid"/>
          </a:ln>
        </p:spPr>
      </p:sp>
      <p:sp>
        <p:nvSpPr>
          <p:cNvPr id="5" name="Shape 3"/>
          <p:cNvSpPr/>
          <p:nvPr/>
        </p:nvSpPr>
        <p:spPr>
          <a:xfrm rot="5400000">
            <a:off x="4398264" y="1453896"/>
            <a:ext cx="347472" cy="36576"/>
          </a:xfrm>
          <a:prstGeom prst="rect">
            <a:avLst/>
          </a:prstGeom>
          <a:solidFill>
            <a:srgbClr val="94A3B8"/>
          </a:solidFill>
          <a:ln w="12700">
            <a:solidFill>
              <a:srgbClr val="94A3B8"/>
            </a:solidFill>
            <a:prstDash val="solid"/>
          </a:ln>
        </p:spPr>
      </p:sp>
      <p:sp>
        <p:nvSpPr>
          <p:cNvPr id="6" name="Shape 4"/>
          <p:cNvSpPr/>
          <p:nvPr/>
        </p:nvSpPr>
        <p:spPr>
          <a:xfrm rot="10184591">
            <a:off x="2636168" y="2139696"/>
            <a:ext cx="1951425" cy="36576"/>
          </a:xfrm>
          <a:prstGeom prst="rect">
            <a:avLst/>
          </a:prstGeom>
          <a:solidFill>
            <a:srgbClr val="94A3B8"/>
          </a:solidFill>
          <a:ln w="12700">
            <a:solidFill>
              <a:srgbClr val="94A3B8"/>
            </a:solidFill>
            <a:prstDash val="solid"/>
          </a:ln>
        </p:spPr>
      </p:sp>
      <p:sp>
        <p:nvSpPr>
          <p:cNvPr id="7" name="Shape 5"/>
          <p:cNvSpPr/>
          <p:nvPr/>
        </p:nvSpPr>
        <p:spPr>
          <a:xfrm rot="615409">
            <a:off x="4556408" y="2139696"/>
            <a:ext cx="1951425" cy="36576"/>
          </a:xfrm>
          <a:prstGeom prst="rect">
            <a:avLst/>
          </a:prstGeom>
          <a:solidFill>
            <a:srgbClr val="94A3B8"/>
          </a:solidFill>
          <a:ln w="12700">
            <a:solidFill>
              <a:srgbClr val="94A3B8"/>
            </a:solidFill>
            <a:prstDash val="solid"/>
          </a:ln>
        </p:spPr>
      </p:sp>
      <p:sp>
        <p:nvSpPr>
          <p:cNvPr id="8" name="Shape 6"/>
          <p:cNvSpPr/>
          <p:nvPr/>
        </p:nvSpPr>
        <p:spPr>
          <a:xfrm rot="9426567">
            <a:off x="1793626" y="2825496"/>
            <a:ext cx="893308" cy="36576"/>
          </a:xfrm>
          <a:prstGeom prst="rect">
            <a:avLst/>
          </a:prstGeom>
          <a:solidFill>
            <a:srgbClr val="94A3B8"/>
          </a:solidFill>
          <a:ln w="12700">
            <a:solidFill>
              <a:srgbClr val="94A3B8"/>
            </a:solidFill>
            <a:prstDash val="solid"/>
          </a:ln>
        </p:spPr>
      </p:sp>
      <p:sp>
        <p:nvSpPr>
          <p:cNvPr id="9" name="Shape 7"/>
          <p:cNvSpPr/>
          <p:nvPr/>
        </p:nvSpPr>
        <p:spPr>
          <a:xfrm rot="9551593">
            <a:off x="5545943" y="2825496"/>
            <a:ext cx="978194" cy="36576"/>
          </a:xfrm>
          <a:prstGeom prst="rect">
            <a:avLst/>
          </a:prstGeom>
          <a:solidFill>
            <a:srgbClr val="94A3B8"/>
          </a:solidFill>
          <a:ln w="12700">
            <a:solidFill>
              <a:srgbClr val="94A3B8"/>
            </a:solidFill>
            <a:prstDash val="solid"/>
          </a:ln>
        </p:spPr>
      </p:sp>
      <p:sp>
        <p:nvSpPr>
          <p:cNvPr id="10" name="Shape 8"/>
          <p:cNvSpPr/>
          <p:nvPr/>
        </p:nvSpPr>
        <p:spPr>
          <a:xfrm rot="1373433">
            <a:off x="6457066" y="2825496"/>
            <a:ext cx="893308" cy="36576"/>
          </a:xfrm>
          <a:prstGeom prst="rect">
            <a:avLst/>
          </a:prstGeom>
          <a:solidFill>
            <a:srgbClr val="94A3B8"/>
          </a:solidFill>
          <a:ln w="12700">
            <a:solidFill>
              <a:srgbClr val="94A3B8"/>
            </a:solidFill>
            <a:prstDash val="solid"/>
          </a:ln>
        </p:spPr>
      </p:sp>
      <p:sp>
        <p:nvSpPr>
          <p:cNvPr id="11" name="Shape 9"/>
          <p:cNvSpPr/>
          <p:nvPr/>
        </p:nvSpPr>
        <p:spPr>
          <a:xfrm>
            <a:off x="3749040" y="960120"/>
            <a:ext cx="1645920" cy="347472"/>
          </a:xfrm>
          <a:prstGeom prst="roundRect">
            <a:avLst>
              <a:gd name="adj" fmla="val 15789"/>
            </a:avLst>
          </a:prstGeom>
          <a:solidFill>
            <a:srgbClr val="3B82F6"/>
          </a:solidFill>
          <a:ln w="12700">
            <a:solidFill>
              <a:srgbClr val="3B82F6"/>
            </a:solidFill>
            <a:prstDash val="solid"/>
          </a:ln>
        </p:spPr>
      </p:sp>
      <p:sp>
        <p:nvSpPr>
          <p:cNvPr id="12" name="Text 10"/>
          <p:cNvSpPr/>
          <p:nvPr/>
        </p:nvSpPr>
        <p:spPr>
          <a:xfrm>
            <a:off x="3749040" y="960120"/>
            <a:ext cx="1645920" cy="347472"/>
          </a:xfrm>
          <a:prstGeom prst="rect">
            <a:avLst/>
          </a:prstGeom>
          <a:noFill/>
        </p:spPr>
        <p:txBody>
          <a:bodyPr wrap="square" lIns="0" tIns="0" rIns="0" bIns="0" rtlCol="0" anchor="ctr"/>
          <a:lstStyle/>
          <a:p>
            <a:pPr marL="0" indent="0" algn="ctr">
              <a:buNone/>
            </a:pPr>
            <a:r>
              <a:rPr lang="en-US" sz="130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document</a:t>
            </a:r>
            <a:endParaRPr lang="en-US" sz="1300" dirty="0"/>
          </a:p>
        </p:txBody>
      </p:sp>
      <p:sp>
        <p:nvSpPr>
          <p:cNvPr id="13" name="Shape 11"/>
          <p:cNvSpPr/>
          <p:nvPr/>
        </p:nvSpPr>
        <p:spPr>
          <a:xfrm>
            <a:off x="3749040" y="1645920"/>
            <a:ext cx="1645920" cy="347472"/>
          </a:xfrm>
          <a:prstGeom prst="roundRect">
            <a:avLst>
              <a:gd name="adj" fmla="val 15789"/>
            </a:avLst>
          </a:prstGeom>
          <a:solidFill>
            <a:srgbClr val="06B6D4"/>
          </a:solidFill>
          <a:ln w="12700">
            <a:solidFill>
              <a:srgbClr val="06B6D4"/>
            </a:solidFill>
            <a:prstDash val="solid"/>
          </a:ln>
        </p:spPr>
      </p:sp>
      <p:sp>
        <p:nvSpPr>
          <p:cNvPr id="14" name="Text 12"/>
          <p:cNvSpPr/>
          <p:nvPr/>
        </p:nvSpPr>
        <p:spPr>
          <a:xfrm>
            <a:off x="3749040" y="1645920"/>
            <a:ext cx="1645920" cy="347472"/>
          </a:xfrm>
          <a:prstGeom prst="rect">
            <a:avLst/>
          </a:prstGeom>
          <a:noFill/>
        </p:spPr>
        <p:txBody>
          <a:bodyPr wrap="square" lIns="0" tIns="0" rIns="0" bIns="0" rtlCol="0" anchor="ctr"/>
          <a:lstStyle/>
          <a:p>
            <a:pPr marL="0" indent="0" algn="ctr">
              <a:buNone/>
            </a:pPr>
            <a:r>
              <a:rPr lang="en-US" sz="130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&lt;html&gt;</a:t>
            </a:r>
            <a:endParaRPr lang="en-US" sz="1300" dirty="0"/>
          </a:p>
        </p:txBody>
      </p:sp>
      <p:sp>
        <p:nvSpPr>
          <p:cNvPr id="15" name="Shape 13"/>
          <p:cNvSpPr/>
          <p:nvPr/>
        </p:nvSpPr>
        <p:spPr>
          <a:xfrm>
            <a:off x="1828800" y="2331720"/>
            <a:ext cx="1645920" cy="347472"/>
          </a:xfrm>
          <a:prstGeom prst="roundRect">
            <a:avLst>
              <a:gd name="adj" fmla="val 15789"/>
            </a:avLst>
          </a:prstGeom>
          <a:solidFill>
            <a:srgbClr val="10B981"/>
          </a:solidFill>
          <a:ln w="12700">
            <a:solidFill>
              <a:srgbClr val="10B981"/>
            </a:solidFill>
            <a:prstDash val="solid"/>
          </a:ln>
        </p:spPr>
      </p:sp>
      <p:sp>
        <p:nvSpPr>
          <p:cNvPr id="16" name="Text 14"/>
          <p:cNvSpPr/>
          <p:nvPr/>
        </p:nvSpPr>
        <p:spPr>
          <a:xfrm>
            <a:off x="1828800" y="2331720"/>
            <a:ext cx="1645920" cy="347472"/>
          </a:xfrm>
          <a:prstGeom prst="rect">
            <a:avLst/>
          </a:prstGeom>
          <a:noFill/>
        </p:spPr>
        <p:txBody>
          <a:bodyPr wrap="square" lIns="0" tIns="0" rIns="0" bIns="0" rtlCol="0" anchor="ctr"/>
          <a:lstStyle/>
          <a:p>
            <a:pPr marL="0" indent="0" algn="ctr">
              <a:buNone/>
            </a:pPr>
            <a:r>
              <a:rPr lang="en-US" sz="130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&lt;head&gt;</a:t>
            </a:r>
            <a:endParaRPr lang="en-US" sz="1300" dirty="0"/>
          </a:p>
        </p:txBody>
      </p:sp>
      <p:sp>
        <p:nvSpPr>
          <p:cNvPr id="17" name="Shape 15"/>
          <p:cNvSpPr/>
          <p:nvPr/>
        </p:nvSpPr>
        <p:spPr>
          <a:xfrm>
            <a:off x="5669280" y="2331720"/>
            <a:ext cx="1645920" cy="347472"/>
          </a:xfrm>
          <a:prstGeom prst="roundRect">
            <a:avLst>
              <a:gd name="adj" fmla="val 15789"/>
            </a:avLst>
          </a:prstGeom>
          <a:solidFill>
            <a:srgbClr val="10B981"/>
          </a:solidFill>
          <a:ln w="12700">
            <a:solidFill>
              <a:srgbClr val="10B981"/>
            </a:solidFill>
            <a:prstDash val="solid"/>
          </a:ln>
        </p:spPr>
      </p:sp>
      <p:sp>
        <p:nvSpPr>
          <p:cNvPr id="18" name="Text 16"/>
          <p:cNvSpPr/>
          <p:nvPr/>
        </p:nvSpPr>
        <p:spPr>
          <a:xfrm>
            <a:off x="5669280" y="2331720"/>
            <a:ext cx="1645920" cy="347472"/>
          </a:xfrm>
          <a:prstGeom prst="rect">
            <a:avLst/>
          </a:prstGeom>
          <a:noFill/>
        </p:spPr>
        <p:txBody>
          <a:bodyPr wrap="square" lIns="0" tIns="0" rIns="0" bIns="0" rtlCol="0" anchor="ctr"/>
          <a:lstStyle/>
          <a:p>
            <a:pPr marL="0" indent="0" algn="ctr">
              <a:buNone/>
            </a:pPr>
            <a:r>
              <a:rPr lang="en-US" sz="130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&lt;body&gt;</a:t>
            </a:r>
            <a:endParaRPr lang="en-US" sz="1300" dirty="0"/>
          </a:p>
        </p:txBody>
      </p:sp>
      <p:sp>
        <p:nvSpPr>
          <p:cNvPr id="19" name="Shape 17"/>
          <p:cNvSpPr/>
          <p:nvPr/>
        </p:nvSpPr>
        <p:spPr>
          <a:xfrm>
            <a:off x="1005840" y="3017520"/>
            <a:ext cx="1645920" cy="347472"/>
          </a:xfrm>
          <a:prstGeom prst="roundRect">
            <a:avLst>
              <a:gd name="adj" fmla="val 15789"/>
            </a:avLst>
          </a:prstGeom>
          <a:solidFill>
            <a:srgbClr val="F59E0B"/>
          </a:solidFill>
          <a:ln w="12700">
            <a:solidFill>
              <a:srgbClr val="F59E0B"/>
            </a:solidFill>
            <a:prstDash val="solid"/>
          </a:ln>
        </p:spPr>
      </p:sp>
      <p:sp>
        <p:nvSpPr>
          <p:cNvPr id="20" name="Text 18"/>
          <p:cNvSpPr/>
          <p:nvPr/>
        </p:nvSpPr>
        <p:spPr>
          <a:xfrm>
            <a:off x="1005840" y="3017520"/>
            <a:ext cx="1645920" cy="347472"/>
          </a:xfrm>
          <a:prstGeom prst="rect">
            <a:avLst/>
          </a:prstGeom>
          <a:noFill/>
        </p:spPr>
        <p:txBody>
          <a:bodyPr wrap="square" lIns="0" tIns="0" rIns="0" bIns="0" rtlCol="0" anchor="ctr"/>
          <a:lstStyle/>
          <a:p>
            <a:pPr marL="0" indent="0" algn="ctr">
              <a:buNone/>
            </a:pPr>
            <a:r>
              <a:rPr lang="en-US" sz="130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&lt;title&gt;</a:t>
            </a:r>
            <a:endParaRPr lang="en-US" sz="1300" dirty="0"/>
          </a:p>
        </p:txBody>
      </p:sp>
      <p:sp>
        <p:nvSpPr>
          <p:cNvPr id="21" name="Shape 19"/>
          <p:cNvSpPr/>
          <p:nvPr/>
        </p:nvSpPr>
        <p:spPr>
          <a:xfrm>
            <a:off x="4754880" y="3017520"/>
            <a:ext cx="1645920" cy="347472"/>
          </a:xfrm>
          <a:prstGeom prst="roundRect">
            <a:avLst>
              <a:gd name="adj" fmla="val 15789"/>
            </a:avLst>
          </a:prstGeom>
          <a:solidFill>
            <a:srgbClr val="F59E0B"/>
          </a:solidFill>
          <a:ln w="12700">
            <a:solidFill>
              <a:srgbClr val="F59E0B"/>
            </a:solidFill>
            <a:prstDash val="solid"/>
          </a:ln>
        </p:spPr>
      </p:sp>
      <p:sp>
        <p:nvSpPr>
          <p:cNvPr id="22" name="Text 20"/>
          <p:cNvSpPr/>
          <p:nvPr/>
        </p:nvSpPr>
        <p:spPr>
          <a:xfrm>
            <a:off x="4754880" y="3017520"/>
            <a:ext cx="1645920" cy="347472"/>
          </a:xfrm>
          <a:prstGeom prst="rect">
            <a:avLst/>
          </a:prstGeom>
          <a:noFill/>
        </p:spPr>
        <p:txBody>
          <a:bodyPr wrap="square" lIns="0" tIns="0" rIns="0" bIns="0" rtlCol="0" anchor="ctr"/>
          <a:lstStyle/>
          <a:p>
            <a:pPr marL="0" indent="0" algn="ctr">
              <a:buNone/>
            </a:pPr>
            <a:r>
              <a:rPr lang="en-US" sz="130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&lt;div&gt;</a:t>
            </a:r>
            <a:endParaRPr lang="en-US" sz="1300" dirty="0"/>
          </a:p>
        </p:txBody>
      </p:sp>
      <p:sp>
        <p:nvSpPr>
          <p:cNvPr id="23" name="Shape 21"/>
          <p:cNvSpPr/>
          <p:nvPr/>
        </p:nvSpPr>
        <p:spPr>
          <a:xfrm>
            <a:off x="6492240" y="3017520"/>
            <a:ext cx="1645920" cy="347472"/>
          </a:xfrm>
          <a:prstGeom prst="roundRect">
            <a:avLst>
              <a:gd name="adj" fmla="val 15789"/>
            </a:avLst>
          </a:prstGeom>
          <a:solidFill>
            <a:srgbClr val="F59E0B"/>
          </a:solidFill>
          <a:ln w="12700">
            <a:solidFill>
              <a:srgbClr val="F59E0B"/>
            </a:solidFill>
            <a:prstDash val="solid"/>
          </a:ln>
        </p:spPr>
      </p:sp>
      <p:sp>
        <p:nvSpPr>
          <p:cNvPr id="24" name="Text 22"/>
          <p:cNvSpPr/>
          <p:nvPr/>
        </p:nvSpPr>
        <p:spPr>
          <a:xfrm>
            <a:off x="6492240" y="3017520"/>
            <a:ext cx="1645920" cy="347472"/>
          </a:xfrm>
          <a:prstGeom prst="rect">
            <a:avLst/>
          </a:prstGeom>
          <a:noFill/>
        </p:spPr>
        <p:txBody>
          <a:bodyPr wrap="square" lIns="0" tIns="0" rIns="0" bIns="0" rtlCol="0" anchor="ctr"/>
          <a:lstStyle/>
          <a:p>
            <a:pPr marL="0" indent="0" algn="ctr">
              <a:buNone/>
            </a:pPr>
            <a:r>
              <a:rPr lang="en-US" sz="130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&lt;p&gt;</a:t>
            </a:r>
            <a:endParaRPr lang="en-US" sz="1300" dirty="0"/>
          </a:p>
        </p:txBody>
      </p:sp>
      <p:sp>
        <p:nvSpPr>
          <p:cNvPr id="25" name="Shape 23"/>
          <p:cNvSpPr/>
          <p:nvPr/>
        </p:nvSpPr>
        <p:spPr>
          <a:xfrm>
            <a:off x="365760" y="3520440"/>
            <a:ext cx="8412480" cy="1417320"/>
          </a:xfrm>
          <a:prstGeom prst="rect">
            <a:avLst/>
          </a:prstGeom>
          <a:solidFill>
            <a:srgbClr val="1E293B"/>
          </a:solidFill>
          <a:ln w="12700">
            <a:solidFill>
              <a:srgbClr val="3B82F6"/>
            </a:solidFill>
            <a:prstDash val="solid"/>
          </a:ln>
        </p:spPr>
      </p:sp>
      <p:sp>
        <p:nvSpPr>
          <p:cNvPr id="26" name="Text 24"/>
          <p:cNvSpPr/>
          <p:nvPr/>
        </p:nvSpPr>
        <p:spPr>
          <a:xfrm>
            <a:off x="594360" y="3611880"/>
            <a:ext cx="3657600" cy="274320"/>
          </a:xfrm>
          <a:prstGeom prst="rect">
            <a:avLst/>
          </a:prstGeom>
          <a:noFill/>
        </p:spPr>
        <p:txBody>
          <a:bodyPr wrap="square" lIns="0" tIns="0" rIns="0" bIns="0" rtlCol="0" anchor="ctr"/>
          <a:lstStyle/>
          <a:p>
            <a:pPr marL="0" indent="0">
              <a:buNone/>
            </a:pPr>
            <a:r>
              <a:rPr lang="en-US" sz="1300" b="1" dirty="0">
                <a:solidFill>
                  <a:srgbClr val="06B6D4"/>
                </a:solidFill>
                <a:latin typeface="Calibri" panose="020F0502020204030204" pitchFamily="34" charset="0"/>
                <a:ea typeface="Calibri" panose="020F0502020204030204" pitchFamily="34" charset="-122"/>
                <a:cs typeface="Calibri" panose="020F0502020204030204" pitchFamily="34" charset="-120"/>
              </a:rPr>
              <a:t>Key DOM Node Types:</a:t>
            </a:r>
            <a:endParaRPr lang="en-US" sz="1300" dirty="0"/>
          </a:p>
        </p:txBody>
      </p:sp>
      <p:sp>
        <p:nvSpPr>
          <p:cNvPr id="27" name="Text 25"/>
          <p:cNvSpPr/>
          <p:nvPr/>
        </p:nvSpPr>
        <p:spPr>
          <a:xfrm>
            <a:off x="594360" y="3931920"/>
            <a:ext cx="8046720" cy="237744"/>
          </a:xfrm>
          <a:prstGeom prst="rect">
            <a:avLst/>
          </a:prstGeom>
          <a:noFill/>
        </p:spPr>
        <p:txBody>
          <a:bodyPr wrap="square" lIns="0" tIns="0" rIns="0" bIns="0" rtlCol="0" anchor="ctr"/>
          <a:lstStyle/>
          <a:p>
            <a:pPr marL="0" indent="0">
              <a:buNone/>
            </a:pPr>
            <a:r>
              <a:rPr lang="en-US" sz="1200" dirty="0">
                <a:solidFill>
                  <a:srgbClr val="F8FAFC"/>
                </a:solidFill>
                <a:latin typeface="Calibri" panose="020F0502020204030204" pitchFamily="34" charset="0"/>
                <a:ea typeface="Calibri" panose="020F0502020204030204" pitchFamily="34" charset="-122"/>
                <a:cs typeface="Calibri" panose="020F0502020204030204" pitchFamily="34" charset="-120"/>
              </a:rPr>
              <a:t>  Element Node  — represents HTML tags like &lt;div&gt;, &lt;p&gt;, &lt;h1&gt;</a:t>
            </a:r>
            <a:endParaRPr lang="en-US" sz="1200" dirty="0"/>
          </a:p>
        </p:txBody>
      </p:sp>
      <p:sp>
        <p:nvSpPr>
          <p:cNvPr id="28" name="Text 26"/>
          <p:cNvSpPr/>
          <p:nvPr/>
        </p:nvSpPr>
        <p:spPr>
          <a:xfrm>
            <a:off x="594360" y="4178808"/>
            <a:ext cx="8046720" cy="237744"/>
          </a:xfrm>
          <a:prstGeom prst="rect">
            <a:avLst/>
          </a:prstGeom>
          <a:noFill/>
        </p:spPr>
        <p:txBody>
          <a:bodyPr wrap="square" lIns="0" tIns="0" rIns="0" bIns="0" rtlCol="0" anchor="ctr"/>
          <a:lstStyle/>
          <a:p>
            <a:pPr marL="0" indent="0">
              <a:buNone/>
            </a:pPr>
            <a:r>
              <a:rPr lang="en-US" sz="1200" dirty="0">
                <a:solidFill>
                  <a:srgbClr val="94A3B8"/>
                </a:solidFill>
                <a:latin typeface="Calibri" panose="020F0502020204030204" pitchFamily="34" charset="0"/>
                <a:ea typeface="Calibri" panose="020F0502020204030204" pitchFamily="34" charset="-122"/>
                <a:cs typeface="Calibri" panose="020F0502020204030204" pitchFamily="34" charset="-120"/>
              </a:rPr>
              <a:t>  Text Node      — the actual text content inside an element</a:t>
            </a:r>
            <a:endParaRPr lang="en-US" sz="1200" dirty="0"/>
          </a:p>
        </p:txBody>
      </p:sp>
      <p:sp>
        <p:nvSpPr>
          <p:cNvPr id="29" name="Text 27"/>
          <p:cNvSpPr/>
          <p:nvPr/>
        </p:nvSpPr>
        <p:spPr>
          <a:xfrm>
            <a:off x="594360" y="4425696"/>
            <a:ext cx="8046720" cy="237744"/>
          </a:xfrm>
          <a:prstGeom prst="rect">
            <a:avLst/>
          </a:prstGeom>
          <a:noFill/>
        </p:spPr>
        <p:txBody>
          <a:bodyPr wrap="square" lIns="0" tIns="0" rIns="0" bIns="0" rtlCol="0" anchor="ctr"/>
          <a:lstStyle/>
          <a:p>
            <a:pPr marL="0" indent="0">
              <a:buNone/>
            </a:pPr>
            <a:r>
              <a:rPr lang="en-US" sz="1200" dirty="0">
                <a:solidFill>
                  <a:srgbClr val="F8FAFC"/>
                </a:solidFill>
                <a:latin typeface="Calibri" panose="020F0502020204030204" pitchFamily="34" charset="0"/>
                <a:ea typeface="Calibri" panose="020F0502020204030204" pitchFamily="34" charset="-122"/>
                <a:cs typeface="Calibri" panose="020F0502020204030204" pitchFamily="34" charset="-120"/>
              </a:rPr>
              <a:t>  Attribute Node — represents attributes like id, class, src</a:t>
            </a:r>
            <a:endParaRPr lang="en-US" sz="1200" dirty="0"/>
          </a:p>
        </p:txBody>
      </p:sp>
      <p:sp>
        <p:nvSpPr>
          <p:cNvPr id="30" name="Text 28"/>
          <p:cNvSpPr/>
          <p:nvPr/>
        </p:nvSpPr>
        <p:spPr>
          <a:xfrm>
            <a:off x="594360" y="4672584"/>
            <a:ext cx="8046720" cy="237744"/>
          </a:xfrm>
          <a:prstGeom prst="rect">
            <a:avLst/>
          </a:prstGeom>
          <a:noFill/>
        </p:spPr>
        <p:txBody>
          <a:bodyPr wrap="square" lIns="0" tIns="0" rIns="0" bIns="0" rtlCol="0" anchor="ctr"/>
          <a:lstStyle/>
          <a:p>
            <a:pPr marL="0" indent="0">
              <a:buNone/>
            </a:pPr>
            <a:r>
              <a:rPr lang="en-US" sz="1200" dirty="0">
                <a:solidFill>
                  <a:srgbClr val="94A3B8"/>
                </a:solidFill>
                <a:latin typeface="Calibri" panose="020F0502020204030204" pitchFamily="34" charset="0"/>
                <a:ea typeface="Calibri" panose="020F0502020204030204" pitchFamily="34" charset="-122"/>
                <a:cs typeface="Calibri" panose="020F0502020204030204" pitchFamily="34" charset="-120"/>
              </a:rPr>
              <a:t>  Document Node  — the root; entry point for all DOM access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E3A5F"/>
          </a:solidFill>
          <a:ln w="12700">
            <a:solidFill>
              <a:srgbClr val="1E3A5F"/>
            </a:solidFill>
            <a:prstDash val="solid"/>
          </a:ln>
        </p:spPr>
      </p:sp>
      <p:pic>
        <p:nvPicPr>
          <p:cNvPr id="3" name="Image 0" descr="preencoded.png"/>
          <p:cNvPicPr>
            <a:picLocks noChangeAspect="1"/>
          </p:cNvPicPr>
          <p:nvPr/>
        </p:nvPicPr>
        <p:blipFill>
          <a:blip r:embed="rId1"/>
          <a:stretch>
            <a:fillRect/>
          </a:stretch>
        </p:blipFill>
        <p:spPr>
          <a:xfrm>
            <a:off x="320040" y="91440"/>
            <a:ext cx="320040" cy="320040"/>
          </a:xfrm>
          <a:prstGeom prst="rect">
            <a:avLst/>
          </a:prstGeom>
        </p:spPr>
      </p:pic>
      <p:sp>
        <p:nvSpPr>
          <p:cNvPr id="4" name="Text 1"/>
          <p:cNvSpPr/>
          <p:nvPr/>
        </p:nvSpPr>
        <p:spPr>
          <a:xfrm>
            <a:off x="731520" y="73152"/>
            <a:ext cx="8229600" cy="384048"/>
          </a:xfrm>
          <a:prstGeom prst="rect">
            <a:avLst/>
          </a:prstGeom>
          <a:noFill/>
        </p:spPr>
        <p:txBody>
          <a:bodyPr wrap="square" lIns="0" tIns="0" rIns="0" bIns="0" rtlCol="0" anchor="ctr"/>
          <a:lstStyle/>
          <a:p>
            <a:pPr marL="0" indent="0">
              <a:buNone/>
            </a:pPr>
            <a:r>
              <a:rPr lang="en-US" sz="2000" b="1" kern="0" spc="200" dirty="0">
                <a:solidFill>
                  <a:srgbClr val="F8FAFC"/>
                </a:solidFill>
                <a:latin typeface="Calibri" panose="020F0502020204030204" pitchFamily="34" charset="0"/>
                <a:ea typeface="Calibri" panose="020F0502020204030204" pitchFamily="34" charset="-122"/>
                <a:cs typeface="Calibri" panose="020F0502020204030204" pitchFamily="34" charset="-120"/>
              </a:rPr>
              <a:t>SECTION 1 — DOM SELECTION</a:t>
            </a:r>
            <a:endParaRPr lang="en-US" sz="2000" dirty="0"/>
          </a:p>
        </p:txBody>
      </p:sp>
      <p:sp>
        <p:nvSpPr>
          <p:cNvPr id="5" name="Text 2"/>
          <p:cNvSpPr/>
          <p:nvPr/>
        </p:nvSpPr>
        <p:spPr>
          <a:xfrm>
            <a:off x="365760" y="640080"/>
            <a:ext cx="8229600" cy="411480"/>
          </a:xfrm>
          <a:prstGeom prst="rect">
            <a:avLst/>
          </a:prstGeom>
          <a:noFill/>
        </p:spPr>
        <p:txBody>
          <a:bodyPr wrap="square" lIns="0" tIns="0" rIns="0" bIns="0" rtlCol="0" anchor="ctr"/>
          <a:lstStyle/>
          <a:p>
            <a:pPr marL="0" indent="0">
              <a:buNone/>
            </a:pPr>
            <a:r>
              <a:rPr lang="en-US" sz="1700" i="1" dirty="0">
                <a:solidFill>
                  <a:srgbClr val="06B6D4"/>
                </a:solidFill>
                <a:latin typeface="Calibri" panose="020F0502020204030204" pitchFamily="34" charset="0"/>
                <a:ea typeface="Calibri" panose="020F0502020204030204" pitchFamily="34" charset="-122"/>
                <a:cs typeface="Calibri" panose="020F0502020204030204" pitchFamily="34" charset="-120"/>
              </a:rPr>
              <a:t>How to Select HTML Elements Using JavaScript</a:t>
            </a:r>
            <a:endParaRPr lang="en-US" sz="1700" dirty="0"/>
          </a:p>
        </p:txBody>
      </p:sp>
      <p:sp>
        <p:nvSpPr>
          <p:cNvPr id="6" name="Text 3"/>
          <p:cNvSpPr/>
          <p:nvPr/>
        </p:nvSpPr>
        <p:spPr>
          <a:xfrm>
            <a:off x="365760" y="1097280"/>
            <a:ext cx="8412480" cy="548640"/>
          </a:xfrm>
          <a:prstGeom prst="rect">
            <a:avLst/>
          </a:prstGeom>
          <a:noFill/>
        </p:spPr>
        <p:txBody>
          <a:bodyPr wrap="square" lIns="0" tIns="0" rIns="0" bIns="0" rtlCol="0" anchor="ctr"/>
          <a:lstStyle/>
          <a:p>
            <a:pPr marL="0" indent="0">
              <a:buNone/>
            </a:pPr>
            <a:r>
              <a:rPr lang="en-US" sz="1300" dirty="0">
                <a:solidFill>
                  <a:srgbClr val="F8FAFC"/>
                </a:solidFill>
                <a:latin typeface="Calibri" panose="020F0502020204030204" pitchFamily="34" charset="0"/>
                <a:ea typeface="Calibri" panose="020F0502020204030204" pitchFamily="34" charset="-122"/>
                <a:cs typeface="Calibri" panose="020F0502020204030204" pitchFamily="34" charset="-120"/>
              </a:rPr>
              <a:t>Before you can do anything with an HTML element, you must SELECT it. DOM Selection methods are the tools JavaScript uses to find and grab elements from the HTML document.</a:t>
            </a:r>
            <a:endParaRPr lang="en-US" sz="1300" dirty="0"/>
          </a:p>
        </p:txBody>
      </p:sp>
      <p:sp>
        <p:nvSpPr>
          <p:cNvPr id="7" name="Shape 4"/>
          <p:cNvSpPr/>
          <p:nvPr>
            <p:custDataLst>
              <p:tags r:id="rId2"/>
            </p:custDataLst>
          </p:nvPr>
        </p:nvSpPr>
        <p:spPr>
          <a:xfrm>
            <a:off x="365760" y="1828800"/>
            <a:ext cx="2743200" cy="1051560"/>
          </a:xfrm>
          <a:prstGeom prst="rect">
            <a:avLst/>
          </a:prstGeom>
          <a:solidFill>
            <a:srgbClr val="1E293B"/>
          </a:solidFill>
          <a:ln w="12700">
            <a:solidFill>
              <a:srgbClr val="3B82F6"/>
            </a:solidFill>
            <a:prstDash val="solid"/>
          </a:ln>
        </p:spPr>
      </p:sp>
      <p:sp>
        <p:nvSpPr>
          <p:cNvPr id="8" name="Shape 5"/>
          <p:cNvSpPr/>
          <p:nvPr>
            <p:custDataLst>
              <p:tags r:id="rId3"/>
            </p:custDataLst>
          </p:nvPr>
        </p:nvSpPr>
        <p:spPr>
          <a:xfrm>
            <a:off x="365760" y="1828800"/>
            <a:ext cx="2743200" cy="64008"/>
          </a:xfrm>
          <a:prstGeom prst="rect">
            <a:avLst/>
          </a:prstGeom>
          <a:solidFill>
            <a:srgbClr val="3B82F6"/>
          </a:solidFill>
          <a:ln w="12700">
            <a:solidFill>
              <a:srgbClr val="3B82F6"/>
            </a:solidFill>
            <a:prstDash val="solid"/>
          </a:ln>
        </p:spPr>
      </p:sp>
      <p:sp>
        <p:nvSpPr>
          <p:cNvPr id="9" name="Text 6"/>
          <p:cNvSpPr/>
          <p:nvPr>
            <p:custDataLst>
              <p:tags r:id="rId4"/>
            </p:custDataLst>
          </p:nvPr>
        </p:nvSpPr>
        <p:spPr>
          <a:xfrm>
            <a:off x="457200" y="1965960"/>
            <a:ext cx="2560320" cy="347472"/>
          </a:xfrm>
          <a:prstGeom prst="rect">
            <a:avLst/>
          </a:prstGeom>
          <a:noFill/>
        </p:spPr>
        <p:txBody>
          <a:bodyPr wrap="square" lIns="0" tIns="0" rIns="0" bIns="0" rtlCol="0" anchor="ctr"/>
          <a:lstStyle/>
          <a:p>
            <a:pPr marL="0" indent="0">
              <a:buNone/>
            </a:pPr>
            <a:r>
              <a:rPr lang="en-US" sz="1100" b="1" dirty="0">
                <a:solidFill>
                  <a:srgbClr val="3B82F6"/>
                </a:solidFill>
                <a:latin typeface="Consolas" panose="020B0609020204030204" pitchFamily="34" charset="0"/>
                <a:ea typeface="Consolas" panose="020B0609020204030204" pitchFamily="34" charset="-122"/>
                <a:cs typeface="Consolas" panose="020B0609020204030204" pitchFamily="34" charset="-120"/>
              </a:rPr>
              <a:t>getElementById()</a:t>
            </a:r>
            <a:endParaRPr lang="en-US" sz="1100" dirty="0"/>
          </a:p>
        </p:txBody>
      </p:sp>
      <p:sp>
        <p:nvSpPr>
          <p:cNvPr id="10" name="Text 7"/>
          <p:cNvSpPr/>
          <p:nvPr>
            <p:custDataLst>
              <p:tags r:id="rId5"/>
            </p:custDataLst>
          </p:nvPr>
        </p:nvSpPr>
        <p:spPr>
          <a:xfrm>
            <a:off x="457200" y="2359152"/>
            <a:ext cx="2560320" cy="320040"/>
          </a:xfrm>
          <a:prstGeom prst="rect">
            <a:avLst/>
          </a:prstGeom>
          <a:noFill/>
        </p:spPr>
        <p:txBody>
          <a:bodyPr wrap="square" lIns="0" tIns="0" rIns="0" bIns="0" rtlCol="0" anchor="ctr"/>
          <a:lstStyle/>
          <a:p>
            <a:pPr marL="0" indent="0">
              <a:buNone/>
            </a:pPr>
            <a:r>
              <a:rPr lang="en-US" sz="1200" dirty="0">
                <a:solidFill>
                  <a:srgbClr val="94A3B8"/>
                </a:solidFill>
                <a:latin typeface="Calibri" panose="020F0502020204030204" pitchFamily="34" charset="0"/>
                <a:ea typeface="Calibri" panose="020F0502020204030204" pitchFamily="34" charset="-122"/>
                <a:cs typeface="Calibri" panose="020F0502020204030204" pitchFamily="34" charset="-120"/>
              </a:rPr>
              <a:t>Select by unique ID</a:t>
            </a:r>
            <a:endParaRPr lang="en-US" sz="1200" dirty="0"/>
          </a:p>
        </p:txBody>
      </p:sp>
      <p:sp>
        <p:nvSpPr>
          <p:cNvPr id="11" name="Shape 8"/>
          <p:cNvSpPr/>
          <p:nvPr>
            <p:custDataLst>
              <p:tags r:id="rId6"/>
            </p:custDataLst>
          </p:nvPr>
        </p:nvSpPr>
        <p:spPr>
          <a:xfrm>
            <a:off x="3200400" y="1828800"/>
            <a:ext cx="2743200" cy="1051560"/>
          </a:xfrm>
          <a:prstGeom prst="rect">
            <a:avLst/>
          </a:prstGeom>
          <a:solidFill>
            <a:srgbClr val="1E293B"/>
          </a:solidFill>
          <a:ln w="12700">
            <a:solidFill>
              <a:srgbClr val="06B6D4"/>
            </a:solidFill>
            <a:prstDash val="solid"/>
          </a:ln>
        </p:spPr>
      </p:sp>
      <p:sp>
        <p:nvSpPr>
          <p:cNvPr id="12" name="Shape 9"/>
          <p:cNvSpPr/>
          <p:nvPr>
            <p:custDataLst>
              <p:tags r:id="rId7"/>
            </p:custDataLst>
          </p:nvPr>
        </p:nvSpPr>
        <p:spPr>
          <a:xfrm>
            <a:off x="3200400" y="1828800"/>
            <a:ext cx="2743200" cy="64008"/>
          </a:xfrm>
          <a:prstGeom prst="rect">
            <a:avLst/>
          </a:prstGeom>
          <a:solidFill>
            <a:srgbClr val="06B6D4"/>
          </a:solidFill>
          <a:ln w="12700">
            <a:solidFill>
              <a:srgbClr val="06B6D4"/>
            </a:solidFill>
            <a:prstDash val="solid"/>
          </a:ln>
        </p:spPr>
      </p:sp>
      <p:sp>
        <p:nvSpPr>
          <p:cNvPr id="13" name="Text 10"/>
          <p:cNvSpPr/>
          <p:nvPr>
            <p:custDataLst>
              <p:tags r:id="rId8"/>
            </p:custDataLst>
          </p:nvPr>
        </p:nvSpPr>
        <p:spPr>
          <a:xfrm>
            <a:off x="3291840" y="1965960"/>
            <a:ext cx="2560320" cy="347472"/>
          </a:xfrm>
          <a:prstGeom prst="rect">
            <a:avLst/>
          </a:prstGeom>
          <a:noFill/>
        </p:spPr>
        <p:txBody>
          <a:bodyPr wrap="square" lIns="0" tIns="0" rIns="0" bIns="0" rtlCol="0" anchor="ctr"/>
          <a:lstStyle/>
          <a:p>
            <a:pPr marL="0" indent="0">
              <a:buNone/>
            </a:pPr>
            <a:r>
              <a:rPr lang="en-US" sz="1100" b="1" dirty="0">
                <a:solidFill>
                  <a:srgbClr val="06B6D4"/>
                </a:solidFill>
                <a:latin typeface="Consolas" panose="020B0609020204030204" pitchFamily="34" charset="0"/>
                <a:ea typeface="Consolas" panose="020B0609020204030204" pitchFamily="34" charset="-122"/>
                <a:cs typeface="Consolas" panose="020B0609020204030204" pitchFamily="34" charset="-120"/>
              </a:rPr>
              <a:t>getElementsByClassName()</a:t>
            </a:r>
            <a:endParaRPr lang="en-US" sz="1100" dirty="0"/>
          </a:p>
        </p:txBody>
      </p:sp>
      <p:sp>
        <p:nvSpPr>
          <p:cNvPr id="14" name="Text 11"/>
          <p:cNvSpPr/>
          <p:nvPr>
            <p:custDataLst>
              <p:tags r:id="rId9"/>
            </p:custDataLst>
          </p:nvPr>
        </p:nvSpPr>
        <p:spPr>
          <a:xfrm>
            <a:off x="3291840" y="2359152"/>
            <a:ext cx="2560320" cy="320040"/>
          </a:xfrm>
          <a:prstGeom prst="rect">
            <a:avLst/>
          </a:prstGeom>
          <a:noFill/>
        </p:spPr>
        <p:txBody>
          <a:bodyPr wrap="square" lIns="0" tIns="0" rIns="0" bIns="0" rtlCol="0" anchor="ctr"/>
          <a:lstStyle/>
          <a:p>
            <a:pPr marL="0" indent="0">
              <a:buNone/>
            </a:pPr>
            <a:r>
              <a:rPr lang="en-US" sz="1200" dirty="0">
                <a:solidFill>
                  <a:srgbClr val="94A3B8"/>
                </a:solidFill>
                <a:latin typeface="Calibri" panose="020F0502020204030204" pitchFamily="34" charset="0"/>
                <a:ea typeface="Calibri" panose="020F0502020204030204" pitchFamily="34" charset="-122"/>
                <a:cs typeface="Calibri" panose="020F0502020204030204" pitchFamily="34" charset="-120"/>
              </a:rPr>
              <a:t>Select by class name</a:t>
            </a:r>
            <a:endParaRPr lang="en-US" sz="1200" dirty="0"/>
          </a:p>
        </p:txBody>
      </p:sp>
      <p:sp>
        <p:nvSpPr>
          <p:cNvPr id="15" name="Shape 12"/>
          <p:cNvSpPr/>
          <p:nvPr>
            <p:custDataLst>
              <p:tags r:id="rId10"/>
            </p:custDataLst>
          </p:nvPr>
        </p:nvSpPr>
        <p:spPr>
          <a:xfrm>
            <a:off x="6035040" y="1828800"/>
            <a:ext cx="2743200" cy="1051560"/>
          </a:xfrm>
          <a:prstGeom prst="rect">
            <a:avLst/>
          </a:prstGeom>
          <a:solidFill>
            <a:srgbClr val="1E293B"/>
          </a:solidFill>
          <a:ln w="12700">
            <a:solidFill>
              <a:srgbClr val="10B981"/>
            </a:solidFill>
            <a:prstDash val="solid"/>
          </a:ln>
        </p:spPr>
      </p:sp>
      <p:sp>
        <p:nvSpPr>
          <p:cNvPr id="16" name="Shape 13"/>
          <p:cNvSpPr/>
          <p:nvPr>
            <p:custDataLst>
              <p:tags r:id="rId11"/>
            </p:custDataLst>
          </p:nvPr>
        </p:nvSpPr>
        <p:spPr>
          <a:xfrm>
            <a:off x="6035040" y="1828800"/>
            <a:ext cx="2743200" cy="64008"/>
          </a:xfrm>
          <a:prstGeom prst="rect">
            <a:avLst/>
          </a:prstGeom>
          <a:solidFill>
            <a:srgbClr val="10B981"/>
          </a:solidFill>
          <a:ln w="12700">
            <a:solidFill>
              <a:srgbClr val="10B981"/>
            </a:solidFill>
            <a:prstDash val="solid"/>
          </a:ln>
        </p:spPr>
      </p:sp>
      <p:sp>
        <p:nvSpPr>
          <p:cNvPr id="17" name="Text 14"/>
          <p:cNvSpPr/>
          <p:nvPr>
            <p:custDataLst>
              <p:tags r:id="rId12"/>
            </p:custDataLst>
          </p:nvPr>
        </p:nvSpPr>
        <p:spPr>
          <a:xfrm>
            <a:off x="6126480" y="1965960"/>
            <a:ext cx="2560320" cy="347472"/>
          </a:xfrm>
          <a:prstGeom prst="rect">
            <a:avLst/>
          </a:prstGeom>
          <a:noFill/>
        </p:spPr>
        <p:txBody>
          <a:bodyPr wrap="square" lIns="0" tIns="0" rIns="0" bIns="0" rtlCol="0" anchor="ctr"/>
          <a:lstStyle/>
          <a:p>
            <a:pPr marL="0" indent="0">
              <a:buNone/>
            </a:pPr>
            <a:r>
              <a:rPr lang="en-US" sz="1100" b="1" dirty="0">
                <a:solidFill>
                  <a:srgbClr val="10B981"/>
                </a:solidFill>
                <a:latin typeface="Consolas" panose="020B0609020204030204" pitchFamily="34" charset="0"/>
                <a:ea typeface="Consolas" panose="020B0609020204030204" pitchFamily="34" charset="-122"/>
                <a:cs typeface="Consolas" panose="020B0609020204030204" pitchFamily="34" charset="-120"/>
              </a:rPr>
              <a:t>getElementsByTagName()</a:t>
            </a:r>
            <a:endParaRPr lang="en-US" sz="1100" dirty="0"/>
          </a:p>
        </p:txBody>
      </p:sp>
      <p:sp>
        <p:nvSpPr>
          <p:cNvPr id="18" name="Text 15"/>
          <p:cNvSpPr/>
          <p:nvPr>
            <p:custDataLst>
              <p:tags r:id="rId13"/>
            </p:custDataLst>
          </p:nvPr>
        </p:nvSpPr>
        <p:spPr>
          <a:xfrm>
            <a:off x="6126480" y="2359152"/>
            <a:ext cx="2560320" cy="320040"/>
          </a:xfrm>
          <a:prstGeom prst="rect">
            <a:avLst/>
          </a:prstGeom>
          <a:noFill/>
        </p:spPr>
        <p:txBody>
          <a:bodyPr wrap="square" lIns="0" tIns="0" rIns="0" bIns="0" rtlCol="0" anchor="ctr"/>
          <a:lstStyle/>
          <a:p>
            <a:pPr marL="0" indent="0">
              <a:buNone/>
            </a:pPr>
            <a:r>
              <a:rPr lang="en-US" sz="1200" dirty="0">
                <a:solidFill>
                  <a:srgbClr val="94A3B8"/>
                </a:solidFill>
                <a:latin typeface="Calibri" panose="020F0502020204030204" pitchFamily="34" charset="0"/>
                <a:ea typeface="Calibri" panose="020F0502020204030204" pitchFamily="34" charset="-122"/>
                <a:cs typeface="Calibri" panose="020F0502020204030204" pitchFamily="34" charset="-120"/>
              </a:rPr>
              <a:t>Select by tag name</a:t>
            </a:r>
            <a:endParaRPr lang="en-US" sz="1200" dirty="0"/>
          </a:p>
        </p:txBody>
      </p:sp>
      <p:sp>
        <p:nvSpPr>
          <p:cNvPr id="19" name="Shape 16"/>
          <p:cNvSpPr/>
          <p:nvPr>
            <p:custDataLst>
              <p:tags r:id="rId14"/>
            </p:custDataLst>
          </p:nvPr>
        </p:nvSpPr>
        <p:spPr>
          <a:xfrm>
            <a:off x="365760" y="3063240"/>
            <a:ext cx="2743200" cy="1051560"/>
          </a:xfrm>
          <a:prstGeom prst="rect">
            <a:avLst/>
          </a:prstGeom>
          <a:solidFill>
            <a:srgbClr val="1E293B"/>
          </a:solidFill>
          <a:ln w="12700">
            <a:solidFill>
              <a:srgbClr val="F59E0B"/>
            </a:solidFill>
            <a:prstDash val="solid"/>
          </a:ln>
        </p:spPr>
      </p:sp>
      <p:sp>
        <p:nvSpPr>
          <p:cNvPr id="20" name="Shape 17"/>
          <p:cNvSpPr/>
          <p:nvPr>
            <p:custDataLst>
              <p:tags r:id="rId15"/>
            </p:custDataLst>
          </p:nvPr>
        </p:nvSpPr>
        <p:spPr>
          <a:xfrm>
            <a:off x="365760" y="3063240"/>
            <a:ext cx="2743200" cy="64008"/>
          </a:xfrm>
          <a:prstGeom prst="rect">
            <a:avLst/>
          </a:prstGeom>
          <a:solidFill>
            <a:srgbClr val="F59E0B"/>
          </a:solidFill>
          <a:ln w="12700">
            <a:solidFill>
              <a:srgbClr val="F59E0B"/>
            </a:solidFill>
            <a:prstDash val="solid"/>
          </a:ln>
        </p:spPr>
      </p:sp>
      <p:sp>
        <p:nvSpPr>
          <p:cNvPr id="21" name="Text 18"/>
          <p:cNvSpPr/>
          <p:nvPr>
            <p:custDataLst>
              <p:tags r:id="rId16"/>
            </p:custDataLst>
          </p:nvPr>
        </p:nvSpPr>
        <p:spPr>
          <a:xfrm>
            <a:off x="457200" y="3200400"/>
            <a:ext cx="2560320" cy="347472"/>
          </a:xfrm>
          <a:prstGeom prst="rect">
            <a:avLst/>
          </a:prstGeom>
          <a:noFill/>
        </p:spPr>
        <p:txBody>
          <a:bodyPr wrap="square" lIns="0" tIns="0" rIns="0" bIns="0" rtlCol="0" anchor="ctr"/>
          <a:lstStyle/>
          <a:p>
            <a:pPr marL="0" indent="0">
              <a:buNone/>
            </a:pPr>
            <a:r>
              <a:rPr lang="en-US" sz="1100" b="1" dirty="0">
                <a:solidFill>
                  <a:srgbClr val="F59E0B"/>
                </a:solidFill>
                <a:latin typeface="Consolas" panose="020B0609020204030204" pitchFamily="34" charset="0"/>
                <a:ea typeface="Consolas" panose="020B0609020204030204" pitchFamily="34" charset="-122"/>
                <a:cs typeface="Consolas" panose="020B0609020204030204" pitchFamily="34" charset="-120"/>
              </a:rPr>
              <a:t>querySelector()</a:t>
            </a:r>
            <a:endParaRPr lang="en-US" sz="1100" dirty="0"/>
          </a:p>
        </p:txBody>
      </p:sp>
      <p:sp>
        <p:nvSpPr>
          <p:cNvPr id="22" name="Text 19"/>
          <p:cNvSpPr/>
          <p:nvPr>
            <p:custDataLst>
              <p:tags r:id="rId17"/>
            </p:custDataLst>
          </p:nvPr>
        </p:nvSpPr>
        <p:spPr>
          <a:xfrm>
            <a:off x="457200" y="3593592"/>
            <a:ext cx="2560320" cy="320040"/>
          </a:xfrm>
          <a:prstGeom prst="rect">
            <a:avLst/>
          </a:prstGeom>
          <a:noFill/>
        </p:spPr>
        <p:txBody>
          <a:bodyPr wrap="square" lIns="0" tIns="0" rIns="0" bIns="0" rtlCol="0" anchor="ctr"/>
          <a:lstStyle/>
          <a:p>
            <a:pPr marL="0" indent="0">
              <a:buNone/>
            </a:pPr>
            <a:r>
              <a:rPr lang="en-US" sz="1200" dirty="0">
                <a:solidFill>
                  <a:srgbClr val="94A3B8"/>
                </a:solidFill>
                <a:latin typeface="Calibri" panose="020F0502020204030204" pitchFamily="34" charset="0"/>
                <a:ea typeface="Calibri" panose="020F0502020204030204" pitchFamily="34" charset="-122"/>
                <a:cs typeface="Calibri" panose="020F0502020204030204" pitchFamily="34" charset="-120"/>
              </a:rPr>
              <a:t>CSS selector – first match</a:t>
            </a:r>
            <a:endParaRPr lang="en-US" sz="1200" dirty="0"/>
          </a:p>
        </p:txBody>
      </p:sp>
      <p:sp>
        <p:nvSpPr>
          <p:cNvPr id="23" name="Shape 20"/>
          <p:cNvSpPr/>
          <p:nvPr>
            <p:custDataLst>
              <p:tags r:id="rId18"/>
            </p:custDataLst>
          </p:nvPr>
        </p:nvSpPr>
        <p:spPr>
          <a:xfrm>
            <a:off x="3200400" y="3063240"/>
            <a:ext cx="2743200" cy="1051560"/>
          </a:xfrm>
          <a:prstGeom prst="rect">
            <a:avLst/>
          </a:prstGeom>
          <a:solidFill>
            <a:srgbClr val="1E293B"/>
          </a:solidFill>
          <a:ln w="12700">
            <a:solidFill>
              <a:srgbClr val="FCD34D"/>
            </a:solidFill>
            <a:prstDash val="solid"/>
          </a:ln>
        </p:spPr>
      </p:sp>
      <p:sp>
        <p:nvSpPr>
          <p:cNvPr id="24" name="Shape 21"/>
          <p:cNvSpPr/>
          <p:nvPr>
            <p:custDataLst>
              <p:tags r:id="rId19"/>
            </p:custDataLst>
          </p:nvPr>
        </p:nvSpPr>
        <p:spPr>
          <a:xfrm>
            <a:off x="3200400" y="3063240"/>
            <a:ext cx="2743200" cy="64008"/>
          </a:xfrm>
          <a:prstGeom prst="rect">
            <a:avLst/>
          </a:prstGeom>
          <a:solidFill>
            <a:srgbClr val="FCD34D"/>
          </a:solidFill>
          <a:ln w="12700">
            <a:solidFill>
              <a:srgbClr val="FCD34D"/>
            </a:solidFill>
            <a:prstDash val="solid"/>
          </a:ln>
        </p:spPr>
      </p:sp>
      <p:sp>
        <p:nvSpPr>
          <p:cNvPr id="25" name="Text 22"/>
          <p:cNvSpPr/>
          <p:nvPr>
            <p:custDataLst>
              <p:tags r:id="rId20"/>
            </p:custDataLst>
          </p:nvPr>
        </p:nvSpPr>
        <p:spPr>
          <a:xfrm>
            <a:off x="3291840" y="3200400"/>
            <a:ext cx="2560320" cy="347472"/>
          </a:xfrm>
          <a:prstGeom prst="rect">
            <a:avLst/>
          </a:prstGeom>
          <a:noFill/>
        </p:spPr>
        <p:txBody>
          <a:bodyPr wrap="square" lIns="0" tIns="0" rIns="0" bIns="0" rtlCol="0" anchor="ctr"/>
          <a:lstStyle/>
          <a:p>
            <a:pPr marL="0" indent="0">
              <a:buNone/>
            </a:pPr>
            <a:r>
              <a:rPr lang="en-US" sz="1100" b="1" dirty="0">
                <a:solidFill>
                  <a:srgbClr val="FCD34D"/>
                </a:solidFill>
                <a:latin typeface="Consolas" panose="020B0609020204030204" pitchFamily="34" charset="0"/>
                <a:ea typeface="Consolas" panose="020B0609020204030204" pitchFamily="34" charset="-122"/>
                <a:cs typeface="Consolas" panose="020B0609020204030204" pitchFamily="34" charset="-120"/>
              </a:rPr>
              <a:t>querySelectorAll()</a:t>
            </a:r>
            <a:endParaRPr lang="en-US" sz="1100" dirty="0"/>
          </a:p>
        </p:txBody>
      </p:sp>
      <p:sp>
        <p:nvSpPr>
          <p:cNvPr id="26" name="Text 23"/>
          <p:cNvSpPr/>
          <p:nvPr>
            <p:custDataLst>
              <p:tags r:id="rId21"/>
            </p:custDataLst>
          </p:nvPr>
        </p:nvSpPr>
        <p:spPr>
          <a:xfrm>
            <a:off x="3291840" y="3593592"/>
            <a:ext cx="2560320" cy="320040"/>
          </a:xfrm>
          <a:prstGeom prst="rect">
            <a:avLst/>
          </a:prstGeom>
          <a:noFill/>
        </p:spPr>
        <p:txBody>
          <a:bodyPr wrap="square" lIns="0" tIns="0" rIns="0" bIns="0" rtlCol="0" anchor="ctr"/>
          <a:lstStyle/>
          <a:p>
            <a:pPr marL="0" indent="0">
              <a:buNone/>
            </a:pPr>
            <a:r>
              <a:rPr lang="en-US" sz="1200" dirty="0">
                <a:solidFill>
                  <a:srgbClr val="94A3B8"/>
                </a:solidFill>
                <a:latin typeface="Calibri" panose="020F0502020204030204" pitchFamily="34" charset="0"/>
                <a:ea typeface="Calibri" panose="020F0502020204030204" pitchFamily="34" charset="-122"/>
                <a:cs typeface="Calibri" panose="020F0502020204030204" pitchFamily="34" charset="-120"/>
              </a:rPr>
              <a:t>CSS selector – all matches</a:t>
            </a:r>
            <a:endParaRPr lang="en-US" sz="1200" dirty="0"/>
          </a:p>
        </p:txBody>
      </p:sp>
      <p:sp>
        <p:nvSpPr>
          <p:cNvPr id="27" name="Shape 24"/>
          <p:cNvSpPr/>
          <p:nvPr>
            <p:custDataLst>
              <p:tags r:id="rId22"/>
            </p:custDataLst>
          </p:nvPr>
        </p:nvSpPr>
        <p:spPr>
          <a:xfrm>
            <a:off x="6035040" y="3063240"/>
            <a:ext cx="2743200" cy="1051560"/>
          </a:xfrm>
          <a:prstGeom prst="rect">
            <a:avLst/>
          </a:prstGeom>
          <a:solidFill>
            <a:srgbClr val="1E293B"/>
          </a:solidFill>
          <a:ln w="12700">
            <a:solidFill>
              <a:srgbClr val="94A3B8"/>
            </a:solidFill>
            <a:prstDash val="solid"/>
          </a:ln>
        </p:spPr>
      </p:sp>
      <p:sp>
        <p:nvSpPr>
          <p:cNvPr id="28" name="Shape 25"/>
          <p:cNvSpPr/>
          <p:nvPr>
            <p:custDataLst>
              <p:tags r:id="rId23"/>
            </p:custDataLst>
          </p:nvPr>
        </p:nvSpPr>
        <p:spPr>
          <a:xfrm>
            <a:off x="6035040" y="3063240"/>
            <a:ext cx="2743200" cy="64008"/>
          </a:xfrm>
          <a:prstGeom prst="rect">
            <a:avLst/>
          </a:prstGeom>
          <a:solidFill>
            <a:srgbClr val="94A3B8"/>
          </a:solidFill>
          <a:ln w="12700">
            <a:solidFill>
              <a:srgbClr val="94A3B8"/>
            </a:solidFill>
            <a:prstDash val="solid"/>
          </a:ln>
        </p:spPr>
      </p:sp>
      <p:sp>
        <p:nvSpPr>
          <p:cNvPr id="29" name="Text 26"/>
          <p:cNvSpPr/>
          <p:nvPr>
            <p:custDataLst>
              <p:tags r:id="rId24"/>
            </p:custDataLst>
          </p:nvPr>
        </p:nvSpPr>
        <p:spPr>
          <a:xfrm>
            <a:off x="6126480" y="3200400"/>
            <a:ext cx="2560320" cy="347472"/>
          </a:xfrm>
          <a:prstGeom prst="rect">
            <a:avLst/>
          </a:prstGeom>
          <a:noFill/>
        </p:spPr>
        <p:txBody>
          <a:bodyPr wrap="square" lIns="0" tIns="0" rIns="0" bIns="0" rtlCol="0" anchor="ctr"/>
          <a:lstStyle/>
          <a:p>
            <a:pPr marL="0" indent="0">
              <a:buNone/>
            </a:pPr>
            <a:r>
              <a:rPr lang="en-US" sz="1100" b="1" dirty="0">
                <a:solidFill>
                  <a:srgbClr val="94A3B8"/>
                </a:solidFill>
                <a:latin typeface="Consolas" panose="020B0609020204030204" pitchFamily="34" charset="0"/>
                <a:ea typeface="Consolas" panose="020B0609020204030204" pitchFamily="34" charset="-122"/>
                <a:cs typeface="Consolas" panose="020B0609020204030204" pitchFamily="34" charset="-120"/>
              </a:rPr>
              <a:t>getElementsByName()</a:t>
            </a:r>
            <a:endParaRPr lang="en-US" sz="1100" dirty="0"/>
          </a:p>
        </p:txBody>
      </p:sp>
      <p:sp>
        <p:nvSpPr>
          <p:cNvPr id="30" name="Text 27"/>
          <p:cNvSpPr/>
          <p:nvPr>
            <p:custDataLst>
              <p:tags r:id="rId25"/>
            </p:custDataLst>
          </p:nvPr>
        </p:nvSpPr>
        <p:spPr>
          <a:xfrm>
            <a:off x="6126480" y="3593592"/>
            <a:ext cx="2560320" cy="320040"/>
          </a:xfrm>
          <a:prstGeom prst="rect">
            <a:avLst/>
          </a:prstGeom>
          <a:noFill/>
        </p:spPr>
        <p:txBody>
          <a:bodyPr wrap="square" lIns="0" tIns="0" rIns="0" bIns="0" rtlCol="0" anchor="ctr"/>
          <a:lstStyle/>
          <a:p>
            <a:pPr marL="0" indent="0">
              <a:buNone/>
            </a:pPr>
            <a:r>
              <a:rPr lang="en-US" sz="1200" dirty="0">
                <a:solidFill>
                  <a:srgbClr val="94A3B8"/>
                </a:solidFill>
                <a:latin typeface="Calibri" panose="020F0502020204030204" pitchFamily="34" charset="0"/>
                <a:ea typeface="Calibri" panose="020F0502020204030204" pitchFamily="34" charset="-122"/>
                <a:cs typeface="Calibri" panose="020F0502020204030204" pitchFamily="34" charset="-120"/>
              </a:rPr>
              <a:t>Select by name attribute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B82F6"/>
          </a:solidFill>
          <a:ln w="12700">
            <a:solidFill>
              <a:srgbClr val="3B82F6"/>
            </a:solidFill>
            <a:prstDash val="solid"/>
          </a:ln>
        </p:spPr>
      </p:sp>
      <p:sp>
        <p:nvSpPr>
          <p:cNvPr id="3" name="Text 1"/>
          <p:cNvSpPr/>
          <p:nvPr/>
        </p:nvSpPr>
        <p:spPr>
          <a:xfrm>
            <a:off x="365760" y="137160"/>
            <a:ext cx="8229600" cy="438912"/>
          </a:xfrm>
          <a:prstGeom prst="rect">
            <a:avLst/>
          </a:prstGeom>
          <a:noFill/>
        </p:spPr>
        <p:txBody>
          <a:bodyPr wrap="square" lIns="0" tIns="0" rIns="0" bIns="0" rtlCol="0" anchor="ctr"/>
          <a:lstStyle/>
          <a:p>
            <a:pPr marL="0" indent="0">
              <a:buNone/>
            </a:pPr>
            <a:r>
              <a:rPr lang="en-US" sz="2600" b="1" dirty="0">
                <a:solidFill>
                  <a:srgbClr val="3B82F6"/>
                </a:solidFill>
                <a:latin typeface="Consolas" panose="020B0609020204030204" pitchFamily="34" charset="0"/>
                <a:ea typeface="Consolas" panose="020B0609020204030204" pitchFamily="34" charset="-122"/>
                <a:cs typeface="Consolas" panose="020B0609020204030204" pitchFamily="34" charset="-120"/>
              </a:rPr>
              <a:t>getElementById( )</a:t>
            </a:r>
            <a:endParaRPr lang="en-US" sz="2600" dirty="0"/>
          </a:p>
        </p:txBody>
      </p:sp>
      <p:sp>
        <p:nvSpPr>
          <p:cNvPr id="4" name="Shape 2"/>
          <p:cNvSpPr/>
          <p:nvPr/>
        </p:nvSpPr>
        <p:spPr>
          <a:xfrm>
            <a:off x="365760" y="576072"/>
            <a:ext cx="8412480" cy="36576"/>
          </a:xfrm>
          <a:prstGeom prst="rect">
            <a:avLst/>
          </a:prstGeom>
          <a:solidFill>
            <a:srgbClr val="1E293B"/>
          </a:solidFill>
          <a:ln w="12700">
            <a:solidFill>
              <a:srgbClr val="1E293B"/>
            </a:solidFill>
            <a:prstDash val="solid"/>
          </a:ln>
        </p:spPr>
      </p:sp>
      <p:sp>
        <p:nvSpPr>
          <p:cNvPr id="5" name="Shape 3"/>
          <p:cNvSpPr/>
          <p:nvPr/>
        </p:nvSpPr>
        <p:spPr>
          <a:xfrm>
            <a:off x="365760" y="685800"/>
            <a:ext cx="8412480" cy="1005840"/>
          </a:xfrm>
          <a:prstGeom prst="rect">
            <a:avLst/>
          </a:prstGeom>
          <a:solidFill>
            <a:srgbClr val="1E293B"/>
          </a:solidFill>
          <a:ln w="12700">
            <a:solidFill>
              <a:srgbClr val="1E3A5F"/>
            </a:solidFill>
            <a:prstDash val="solid"/>
          </a:ln>
        </p:spPr>
      </p:sp>
      <p:sp>
        <p:nvSpPr>
          <p:cNvPr id="6" name="Text 4"/>
          <p:cNvSpPr/>
          <p:nvPr/>
        </p:nvSpPr>
        <p:spPr>
          <a:xfrm>
            <a:off x="594360" y="749808"/>
            <a:ext cx="1828800" cy="274320"/>
          </a:xfrm>
          <a:prstGeom prst="rect">
            <a:avLst/>
          </a:prstGeom>
          <a:noFill/>
        </p:spPr>
        <p:txBody>
          <a:bodyPr wrap="square" lIns="0" tIns="0" rIns="0" bIns="0" rtlCol="0" anchor="ctr"/>
          <a:lstStyle/>
          <a:p>
            <a:pPr marL="0" indent="0">
              <a:buNone/>
            </a:pPr>
            <a:r>
              <a:rPr lang="en-US" sz="1300" b="1" dirty="0">
                <a:solidFill>
                  <a:srgbClr val="06B6D4"/>
                </a:solidFill>
                <a:latin typeface="Calibri" panose="020F0502020204030204" pitchFamily="34" charset="0"/>
                <a:ea typeface="Calibri" panose="020F0502020204030204" pitchFamily="34" charset="-122"/>
                <a:cs typeface="Calibri" panose="020F0502020204030204" pitchFamily="34" charset="-120"/>
              </a:rPr>
              <a:t>Definition:</a:t>
            </a:r>
            <a:endParaRPr lang="en-US" sz="1300" dirty="0"/>
          </a:p>
        </p:txBody>
      </p:sp>
      <p:sp>
        <p:nvSpPr>
          <p:cNvPr id="7" name="Text 5"/>
          <p:cNvSpPr/>
          <p:nvPr/>
        </p:nvSpPr>
        <p:spPr>
          <a:xfrm>
            <a:off x="594360" y="1005840"/>
            <a:ext cx="7955280" cy="548640"/>
          </a:xfrm>
          <a:prstGeom prst="rect">
            <a:avLst/>
          </a:prstGeom>
          <a:noFill/>
        </p:spPr>
        <p:txBody>
          <a:bodyPr wrap="square" lIns="0" tIns="0" rIns="0" bIns="0" rtlCol="0" anchor="ctr"/>
          <a:lstStyle/>
          <a:p>
            <a:pPr marL="0" indent="0">
              <a:buNone/>
            </a:pPr>
            <a:r>
              <a:rPr lang="en-US" sz="1250" dirty="0">
                <a:solidFill>
                  <a:srgbClr val="F8FAFC"/>
                </a:solidFill>
                <a:latin typeface="Calibri" panose="020F0502020204030204" pitchFamily="34" charset="0"/>
                <a:ea typeface="Calibri" panose="020F0502020204030204" pitchFamily="34" charset="-122"/>
                <a:cs typeface="Calibri" panose="020F0502020204030204" pitchFamily="34" charset="-120"/>
              </a:rPr>
              <a:t>Returns a single Element object that has the matching id attribute. Since IDs must be unique in a document, this always returns ONE element or null if not found.</a:t>
            </a:r>
            <a:endParaRPr lang="en-US" sz="1250" dirty="0"/>
          </a:p>
        </p:txBody>
      </p:sp>
      <p:sp>
        <p:nvSpPr>
          <p:cNvPr id="8" name="Text 6"/>
          <p:cNvSpPr/>
          <p:nvPr/>
        </p:nvSpPr>
        <p:spPr>
          <a:xfrm>
            <a:off x="365760" y="1783080"/>
            <a:ext cx="1828800" cy="274320"/>
          </a:xfrm>
          <a:prstGeom prst="rect">
            <a:avLst/>
          </a:prstGeom>
          <a:noFill/>
        </p:spPr>
        <p:txBody>
          <a:bodyPr wrap="square" lIns="0" tIns="0" rIns="0" bIns="0" rtlCol="0" anchor="ctr"/>
          <a:lstStyle/>
          <a:p>
            <a:pPr marL="0" indent="0">
              <a:buNone/>
            </a:pPr>
            <a:r>
              <a:rPr lang="en-US" sz="1300" b="1" dirty="0">
                <a:solidFill>
                  <a:srgbClr val="06B6D4"/>
                </a:solidFill>
                <a:latin typeface="Calibri" panose="020F0502020204030204" pitchFamily="34" charset="0"/>
                <a:ea typeface="Calibri" panose="020F0502020204030204" pitchFamily="34" charset="-122"/>
                <a:cs typeface="Calibri" panose="020F0502020204030204" pitchFamily="34" charset="-120"/>
              </a:rPr>
              <a:t>Syntax:</a:t>
            </a:r>
            <a:endParaRPr lang="en-US" sz="1300" dirty="0"/>
          </a:p>
        </p:txBody>
      </p:sp>
      <p:sp>
        <p:nvSpPr>
          <p:cNvPr id="9" name="Shape 7"/>
          <p:cNvSpPr/>
          <p:nvPr/>
        </p:nvSpPr>
        <p:spPr>
          <a:xfrm>
            <a:off x="365760" y="2084832"/>
            <a:ext cx="8412480" cy="548640"/>
          </a:xfrm>
          <a:prstGeom prst="rect">
            <a:avLst/>
          </a:prstGeom>
          <a:solidFill>
            <a:srgbClr val="0D1117"/>
          </a:solidFill>
          <a:ln w="12700">
            <a:solidFill>
              <a:srgbClr val="3B82F6"/>
            </a:solidFill>
            <a:prstDash val="solid"/>
          </a:ln>
        </p:spPr>
      </p:sp>
      <p:sp>
        <p:nvSpPr>
          <p:cNvPr id="10" name="Text 8"/>
          <p:cNvSpPr/>
          <p:nvPr/>
        </p:nvSpPr>
        <p:spPr>
          <a:xfrm>
            <a:off x="548640" y="2084832"/>
            <a:ext cx="8046720" cy="548640"/>
          </a:xfrm>
          <a:prstGeom prst="rect">
            <a:avLst/>
          </a:prstGeom>
          <a:noFill/>
        </p:spPr>
        <p:txBody>
          <a:bodyPr wrap="square" lIns="0" tIns="0" rIns="0" bIns="0" rtlCol="0" anchor="ctr"/>
          <a:lstStyle/>
          <a:p>
            <a:pPr marL="0" indent="0">
              <a:buNone/>
            </a:pPr>
            <a:r>
              <a:rPr lang="en-US" sz="1500" b="1" dirty="0">
                <a:solidFill>
                  <a:srgbClr val="A5F3FC"/>
                </a:solidFill>
                <a:latin typeface="Consolas" panose="020B0609020204030204" pitchFamily="34" charset="0"/>
                <a:ea typeface="Consolas" panose="020B0609020204030204" pitchFamily="34" charset="-122"/>
                <a:cs typeface="Consolas" panose="020B0609020204030204" pitchFamily="34" charset="-120"/>
              </a:rPr>
              <a:t>document.getElementById( 'elementId' )</a:t>
            </a:r>
            <a:endParaRPr lang="en-US" sz="1500" dirty="0"/>
          </a:p>
        </p:txBody>
      </p:sp>
      <p:sp>
        <p:nvSpPr>
          <p:cNvPr id="11" name="Text 9"/>
          <p:cNvSpPr/>
          <p:nvPr/>
        </p:nvSpPr>
        <p:spPr>
          <a:xfrm>
            <a:off x="365760" y="2743200"/>
            <a:ext cx="1828800" cy="274320"/>
          </a:xfrm>
          <a:prstGeom prst="rect">
            <a:avLst/>
          </a:prstGeom>
          <a:noFill/>
        </p:spPr>
        <p:txBody>
          <a:bodyPr wrap="square" lIns="0" tIns="0" rIns="0" bIns="0" rtlCol="0" anchor="ctr"/>
          <a:lstStyle/>
          <a:p>
            <a:pPr marL="0" indent="0">
              <a:buNone/>
            </a:pPr>
            <a:r>
              <a:rPr lang="en-US" sz="1300" b="1" dirty="0">
                <a:solidFill>
                  <a:srgbClr val="06B6D4"/>
                </a:solidFill>
                <a:latin typeface="Calibri" panose="020F0502020204030204" pitchFamily="34" charset="0"/>
                <a:ea typeface="Calibri" panose="020F0502020204030204" pitchFamily="34" charset="-122"/>
                <a:cs typeface="Calibri" panose="020F0502020204030204" pitchFamily="34" charset="-120"/>
              </a:rPr>
              <a:t>Example:</a:t>
            </a:r>
            <a:endParaRPr lang="en-US" sz="1300" dirty="0"/>
          </a:p>
        </p:txBody>
      </p:sp>
      <p:sp>
        <p:nvSpPr>
          <p:cNvPr id="12" name="Shape 10"/>
          <p:cNvSpPr/>
          <p:nvPr/>
        </p:nvSpPr>
        <p:spPr>
          <a:xfrm>
            <a:off x="365760" y="3063240"/>
            <a:ext cx="8412480" cy="1508760"/>
          </a:xfrm>
          <a:prstGeom prst="rect">
            <a:avLst/>
          </a:prstGeom>
          <a:solidFill>
            <a:srgbClr val="0D1117"/>
          </a:solidFill>
          <a:ln w="12700">
            <a:solidFill>
              <a:srgbClr val="3B82F6"/>
            </a:solidFill>
            <a:prstDash val="solid"/>
          </a:ln>
        </p:spPr>
      </p:sp>
      <p:sp>
        <p:nvSpPr>
          <p:cNvPr id="13" name="Text 11"/>
          <p:cNvSpPr/>
          <p:nvPr/>
        </p:nvSpPr>
        <p:spPr>
          <a:xfrm>
            <a:off x="594360" y="3154680"/>
            <a:ext cx="7955280" cy="256032"/>
          </a:xfrm>
          <a:prstGeom prst="rect">
            <a:avLst/>
          </a:prstGeom>
          <a:noFill/>
        </p:spPr>
        <p:txBody>
          <a:bodyPr wrap="square" lIns="0" tIns="0" rIns="0" bIns="0" rtlCol="0" anchor="ctr"/>
          <a:lstStyle/>
          <a:p>
            <a:pPr marL="0" indent="0">
              <a:buNone/>
            </a:pPr>
            <a:r>
              <a:rPr lang="en-US" sz="1200" dirty="0">
                <a:solidFill>
                  <a:srgbClr val="94A3B8"/>
                </a:solidFill>
                <a:latin typeface="Consolas" panose="020B0609020204030204" pitchFamily="34" charset="0"/>
                <a:ea typeface="Consolas" panose="020B0609020204030204" pitchFamily="34" charset="-122"/>
                <a:cs typeface="Consolas" panose="020B0609020204030204" pitchFamily="34" charset="-120"/>
              </a:rPr>
              <a:t>// HTML:  &lt;h1 id='main-title'&gt;Hello World&lt;/h1&gt;</a:t>
            </a:r>
            <a:endParaRPr lang="en-US" sz="1200" dirty="0"/>
          </a:p>
        </p:txBody>
      </p:sp>
      <p:sp>
        <p:nvSpPr>
          <p:cNvPr id="14" name="Text 12"/>
          <p:cNvSpPr/>
          <p:nvPr/>
        </p:nvSpPr>
        <p:spPr>
          <a:xfrm>
            <a:off x="594360" y="3429000"/>
            <a:ext cx="7955280" cy="256032"/>
          </a:xfrm>
          <a:prstGeom prst="rect">
            <a:avLst/>
          </a:prstGeom>
          <a:noFill/>
        </p:spPr>
        <p:txBody>
          <a:bodyPr wrap="square" lIns="0" tIns="0" rIns="0" bIns="0" rtlCol="0" anchor="ctr"/>
          <a:lstStyle/>
          <a:p>
            <a:pPr marL="0" indent="0">
              <a:buNone/>
            </a:pPr>
            <a:endParaRPr lang="en-US" sz="1200" dirty="0"/>
          </a:p>
        </p:txBody>
      </p:sp>
      <p:sp>
        <p:nvSpPr>
          <p:cNvPr id="15" name="Text 13"/>
          <p:cNvSpPr/>
          <p:nvPr/>
        </p:nvSpPr>
        <p:spPr>
          <a:xfrm>
            <a:off x="594360" y="3703320"/>
            <a:ext cx="7955280" cy="256032"/>
          </a:xfrm>
          <a:prstGeom prst="rect">
            <a:avLst/>
          </a:prstGeom>
          <a:noFill/>
        </p:spPr>
        <p:txBody>
          <a:bodyPr wrap="square" lIns="0" tIns="0" rIns="0" bIns="0" rtlCol="0" anchor="ctr"/>
          <a:lstStyle/>
          <a:p>
            <a:pPr marL="0" indent="0">
              <a:buNone/>
            </a:pPr>
            <a:r>
              <a:rPr lang="en-US" sz="12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title  =  document.getElementById('main-title');</a:t>
            </a:r>
            <a:endParaRPr lang="en-US" sz="1200" dirty="0"/>
          </a:p>
        </p:txBody>
      </p:sp>
      <p:sp>
        <p:nvSpPr>
          <p:cNvPr id="16" name="Text 14"/>
          <p:cNvSpPr/>
          <p:nvPr/>
        </p:nvSpPr>
        <p:spPr>
          <a:xfrm>
            <a:off x="594360" y="3977640"/>
            <a:ext cx="7955280" cy="256032"/>
          </a:xfrm>
          <a:prstGeom prst="rect">
            <a:avLst/>
          </a:prstGeom>
          <a:noFill/>
        </p:spPr>
        <p:txBody>
          <a:bodyPr wrap="square" lIns="0" tIns="0" rIns="0" bIns="0" rtlCol="0" anchor="ctr"/>
          <a:lstStyle/>
          <a:p>
            <a:pPr marL="0" indent="0">
              <a:buNone/>
            </a:pPr>
            <a:r>
              <a:rPr lang="en-US" sz="1200" dirty="0">
                <a:solidFill>
                  <a:srgbClr val="10B981"/>
                </a:solidFill>
                <a:latin typeface="Consolas" panose="020B0609020204030204" pitchFamily="34" charset="0"/>
                <a:ea typeface="Consolas" panose="020B0609020204030204" pitchFamily="34" charset="-122"/>
                <a:cs typeface="Consolas" panose="020B0609020204030204" pitchFamily="34" charset="-120"/>
              </a:rPr>
              <a:t>console.log(title.textContent);    // Output:  Hello World</a:t>
            </a:r>
            <a:endParaRPr lang="en-US" sz="1200" dirty="0"/>
          </a:p>
        </p:txBody>
      </p:sp>
      <p:sp>
        <p:nvSpPr>
          <p:cNvPr id="17" name="Text 15"/>
          <p:cNvSpPr/>
          <p:nvPr/>
        </p:nvSpPr>
        <p:spPr>
          <a:xfrm>
            <a:off x="594360" y="4251960"/>
            <a:ext cx="7955280" cy="256032"/>
          </a:xfrm>
          <a:prstGeom prst="rect">
            <a:avLst/>
          </a:prstGeom>
          <a:noFill/>
        </p:spPr>
        <p:txBody>
          <a:bodyPr wrap="square" lIns="0" tIns="0" rIns="0" bIns="0" rtlCol="0" anchor="ctr"/>
          <a:lstStyle/>
          <a:p>
            <a:pPr marL="0" indent="0">
              <a:buNone/>
            </a:pPr>
            <a:r>
              <a:rPr lang="en-US" sz="1200" dirty="0">
                <a:solidFill>
                  <a:srgbClr val="10B981"/>
                </a:solidFill>
                <a:latin typeface="Consolas" panose="020B0609020204030204" pitchFamily="34" charset="0"/>
                <a:ea typeface="Consolas" panose="020B0609020204030204" pitchFamily="34" charset="-122"/>
                <a:cs typeface="Consolas" panose="020B0609020204030204" pitchFamily="34" charset="-120"/>
              </a:rPr>
              <a:t>title.style.color = 'red';         // Changes the color to red</a:t>
            </a:r>
            <a:endParaRPr lang="en-US" sz="1200" dirty="0"/>
          </a:p>
        </p:txBody>
      </p:sp>
      <p:sp>
        <p:nvSpPr>
          <p:cNvPr id="18" name="Shape 16"/>
          <p:cNvSpPr/>
          <p:nvPr/>
        </p:nvSpPr>
        <p:spPr>
          <a:xfrm>
            <a:off x="365760" y="4663440"/>
            <a:ext cx="8412480" cy="365760"/>
          </a:xfrm>
          <a:prstGeom prst="rect">
            <a:avLst/>
          </a:prstGeom>
          <a:solidFill>
            <a:srgbClr val="1C3A2E"/>
          </a:solidFill>
          <a:ln w="12700">
            <a:solidFill>
              <a:srgbClr val="10B981"/>
            </a:solidFill>
            <a:prstDash val="solid"/>
          </a:ln>
        </p:spPr>
      </p:sp>
      <p:sp>
        <p:nvSpPr>
          <p:cNvPr id="19" name="Text 17"/>
          <p:cNvSpPr/>
          <p:nvPr/>
        </p:nvSpPr>
        <p:spPr>
          <a:xfrm>
            <a:off x="548640" y="4663440"/>
            <a:ext cx="8138160" cy="365760"/>
          </a:xfrm>
          <a:prstGeom prst="rect">
            <a:avLst/>
          </a:prstGeom>
          <a:noFill/>
        </p:spPr>
        <p:txBody>
          <a:bodyPr wrap="square" lIns="0" tIns="0" rIns="0" bIns="0" rtlCol="0" anchor="ctr"/>
          <a:lstStyle/>
          <a:p>
            <a:pPr marL="0" indent="0">
              <a:buNone/>
            </a:pPr>
            <a:r>
              <a:rPr lang="en-US" sz="1200" dirty="0">
                <a:solidFill>
                  <a:srgbClr val="10B981"/>
                </a:solidFill>
                <a:latin typeface="Calibri" panose="020F0502020204030204" pitchFamily="34" charset="0"/>
                <a:ea typeface="Calibri" panose="020F0502020204030204" pitchFamily="34" charset="-122"/>
                <a:cs typeface="Calibri" panose="020F0502020204030204" pitchFamily="34" charset="-120"/>
              </a:rPr>
              <a:t>✔  Returns null if no element with that ID exists.  Always use unique IDs in your HTML.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B6D4"/>
          </a:solidFill>
          <a:ln w="12700">
            <a:solidFill>
              <a:srgbClr val="06B6D4"/>
            </a:solidFill>
            <a:prstDash val="solid"/>
          </a:ln>
        </p:spPr>
      </p:sp>
      <p:sp>
        <p:nvSpPr>
          <p:cNvPr id="3" name="Text 1"/>
          <p:cNvSpPr/>
          <p:nvPr/>
        </p:nvSpPr>
        <p:spPr>
          <a:xfrm>
            <a:off x="365760" y="137160"/>
            <a:ext cx="8412480" cy="411480"/>
          </a:xfrm>
          <a:prstGeom prst="rect">
            <a:avLst/>
          </a:prstGeom>
          <a:noFill/>
        </p:spPr>
        <p:txBody>
          <a:bodyPr wrap="square" lIns="0" tIns="0" rIns="0" bIns="0" rtlCol="0" anchor="ctr"/>
          <a:lstStyle/>
          <a:p>
            <a:pPr marL="0" indent="0">
              <a:buNone/>
            </a:pPr>
            <a:r>
              <a:rPr lang="en-US" sz="1900" b="1" dirty="0">
                <a:solidFill>
                  <a:srgbClr val="06B6D4"/>
                </a:solidFill>
                <a:latin typeface="Consolas" panose="020B0609020204030204" pitchFamily="34" charset="0"/>
                <a:ea typeface="Consolas" panose="020B0609020204030204" pitchFamily="34" charset="-122"/>
                <a:cs typeface="Consolas" panose="020B0609020204030204" pitchFamily="34" charset="-120"/>
              </a:rPr>
              <a:t>getElementsByClassName( )  &amp;  getElementsByTagName( )</a:t>
            </a:r>
            <a:endParaRPr lang="en-US" sz="1900" dirty="0"/>
          </a:p>
        </p:txBody>
      </p:sp>
      <p:sp>
        <p:nvSpPr>
          <p:cNvPr id="4" name="Shape 2"/>
          <p:cNvSpPr/>
          <p:nvPr/>
        </p:nvSpPr>
        <p:spPr>
          <a:xfrm>
            <a:off x="365760" y="566928"/>
            <a:ext cx="8412480" cy="36576"/>
          </a:xfrm>
          <a:prstGeom prst="rect">
            <a:avLst/>
          </a:prstGeom>
          <a:solidFill>
            <a:srgbClr val="1E293B"/>
          </a:solidFill>
          <a:ln w="12700">
            <a:solidFill>
              <a:srgbClr val="1E293B"/>
            </a:solidFill>
            <a:prstDash val="solid"/>
          </a:ln>
        </p:spPr>
      </p:sp>
      <p:sp>
        <p:nvSpPr>
          <p:cNvPr id="5" name="Shape 3"/>
          <p:cNvSpPr/>
          <p:nvPr/>
        </p:nvSpPr>
        <p:spPr>
          <a:xfrm>
            <a:off x="365760" y="685800"/>
            <a:ext cx="4114800" cy="4206240"/>
          </a:xfrm>
          <a:prstGeom prst="rect">
            <a:avLst/>
          </a:prstGeom>
          <a:solidFill>
            <a:srgbClr val="1E293B"/>
          </a:solidFill>
          <a:ln w="12700">
            <a:solidFill>
              <a:srgbClr val="06B6D4"/>
            </a:solidFill>
            <a:prstDash val="solid"/>
          </a:ln>
        </p:spPr>
      </p:sp>
      <p:sp>
        <p:nvSpPr>
          <p:cNvPr id="6" name="Text 4"/>
          <p:cNvSpPr/>
          <p:nvPr/>
        </p:nvSpPr>
        <p:spPr>
          <a:xfrm>
            <a:off x="502920" y="777240"/>
            <a:ext cx="3840480" cy="292608"/>
          </a:xfrm>
          <a:prstGeom prst="rect">
            <a:avLst/>
          </a:prstGeom>
          <a:noFill/>
        </p:spPr>
        <p:txBody>
          <a:bodyPr wrap="square" lIns="0" tIns="0" rIns="0" bIns="0" rtlCol="0" anchor="ctr"/>
          <a:lstStyle/>
          <a:p>
            <a:pPr marL="0" indent="0">
              <a:buNone/>
            </a:pPr>
            <a:r>
              <a:rPr lang="en-US" sz="1200" b="1" dirty="0">
                <a:solidFill>
                  <a:srgbClr val="06B6D4"/>
                </a:solidFill>
                <a:latin typeface="Consolas" panose="020B0609020204030204" pitchFamily="34" charset="0"/>
                <a:ea typeface="Consolas" panose="020B0609020204030204" pitchFamily="34" charset="-122"/>
                <a:cs typeface="Consolas" panose="020B0609020204030204" pitchFamily="34" charset="-120"/>
              </a:rPr>
              <a:t>getElementsByClassName()</a:t>
            </a:r>
            <a:endParaRPr lang="en-US" sz="1200" dirty="0"/>
          </a:p>
        </p:txBody>
      </p:sp>
      <p:sp>
        <p:nvSpPr>
          <p:cNvPr id="7" name="Text 5"/>
          <p:cNvSpPr/>
          <p:nvPr/>
        </p:nvSpPr>
        <p:spPr>
          <a:xfrm>
            <a:off x="502920" y="1115568"/>
            <a:ext cx="3840480" cy="640080"/>
          </a:xfrm>
          <a:prstGeom prst="rect">
            <a:avLst/>
          </a:prstGeom>
          <a:noFill/>
        </p:spPr>
        <p:txBody>
          <a:bodyPr wrap="square" lIns="0" tIns="0" rIns="0" bIns="0" rtlCol="0" anchor="ctr"/>
          <a:lstStyle/>
          <a:p>
            <a:pPr marL="0" indent="0">
              <a:buNone/>
            </a:pPr>
            <a:r>
              <a:rPr lang="en-US" sz="1150" dirty="0">
                <a:solidFill>
                  <a:srgbClr val="F8FAFC"/>
                </a:solidFill>
                <a:latin typeface="Calibri" panose="020F0502020204030204" pitchFamily="34" charset="0"/>
                <a:ea typeface="Calibri" panose="020F0502020204030204" pitchFamily="34" charset="-122"/>
                <a:cs typeface="Calibri" panose="020F0502020204030204" pitchFamily="34" charset="-120"/>
              </a:rPr>
              <a:t>Returns a live HTMLCollection of all elements that have the given class name. Multiple class names can be separated by spaces.</a:t>
            </a:r>
            <a:endParaRPr lang="en-US" sz="1150" dirty="0"/>
          </a:p>
        </p:txBody>
      </p:sp>
      <p:sp>
        <p:nvSpPr>
          <p:cNvPr id="8" name="Shape 6"/>
          <p:cNvSpPr/>
          <p:nvPr/>
        </p:nvSpPr>
        <p:spPr>
          <a:xfrm>
            <a:off x="502920" y="1828800"/>
            <a:ext cx="3794760" cy="1234440"/>
          </a:xfrm>
          <a:prstGeom prst="rect">
            <a:avLst/>
          </a:prstGeom>
          <a:solidFill>
            <a:srgbClr val="0D1117"/>
          </a:solidFill>
          <a:ln w="12700">
            <a:solidFill>
              <a:srgbClr val="06B6D4"/>
            </a:solidFill>
            <a:prstDash val="solid"/>
          </a:ln>
        </p:spPr>
      </p:sp>
      <p:sp>
        <p:nvSpPr>
          <p:cNvPr id="9" name="Text 7"/>
          <p:cNvSpPr/>
          <p:nvPr/>
        </p:nvSpPr>
        <p:spPr>
          <a:xfrm>
            <a:off x="640080" y="1892808"/>
            <a:ext cx="3566160" cy="182880"/>
          </a:xfrm>
          <a:prstGeom prst="rect">
            <a:avLst/>
          </a:prstGeom>
          <a:noFill/>
        </p:spPr>
        <p:txBody>
          <a:bodyPr wrap="square" lIns="0" tIns="0" rIns="0" bIns="0" rtlCol="0" anchor="ctr"/>
          <a:lstStyle/>
          <a:p>
            <a:pPr marL="0" indent="0">
              <a:buNone/>
            </a:pPr>
            <a:r>
              <a:rPr lang="en-US" sz="1050" dirty="0">
                <a:solidFill>
                  <a:srgbClr val="94A3B8"/>
                </a:solidFill>
                <a:latin typeface="Consolas" panose="020B0609020204030204" pitchFamily="34" charset="0"/>
                <a:ea typeface="Consolas" panose="020B0609020204030204" pitchFamily="34" charset="-122"/>
                <a:cs typeface="Consolas" panose="020B0609020204030204" pitchFamily="34" charset="-120"/>
              </a:rPr>
              <a:t>// &lt;div class='box active'&gt;One&lt;/div&gt;</a:t>
            </a:r>
            <a:endParaRPr lang="en-US" sz="1050" dirty="0"/>
          </a:p>
        </p:txBody>
      </p:sp>
      <p:sp>
        <p:nvSpPr>
          <p:cNvPr id="10" name="Text 8"/>
          <p:cNvSpPr/>
          <p:nvPr/>
        </p:nvSpPr>
        <p:spPr>
          <a:xfrm>
            <a:off x="640080" y="2084832"/>
            <a:ext cx="3566160" cy="182880"/>
          </a:xfrm>
          <a:prstGeom prst="rect">
            <a:avLst/>
          </a:prstGeom>
          <a:noFill/>
        </p:spPr>
        <p:txBody>
          <a:bodyPr wrap="square" lIns="0" tIns="0" rIns="0" bIns="0" rtlCol="0" anchor="ctr"/>
          <a:lstStyle/>
          <a:p>
            <a:pPr marL="0" indent="0">
              <a:buNone/>
            </a:pPr>
            <a:r>
              <a:rPr lang="en-US" sz="1050" dirty="0">
                <a:solidFill>
                  <a:srgbClr val="94A3B8"/>
                </a:solidFill>
                <a:latin typeface="Consolas" panose="020B0609020204030204" pitchFamily="34" charset="0"/>
                <a:ea typeface="Consolas" panose="020B0609020204030204" pitchFamily="34" charset="-122"/>
                <a:cs typeface="Consolas" panose="020B0609020204030204" pitchFamily="34" charset="-120"/>
              </a:rPr>
              <a:t>// &lt;div class='box'&gt;Two&lt;/div&gt;</a:t>
            </a:r>
            <a:endParaRPr lang="en-US" sz="1050" dirty="0"/>
          </a:p>
        </p:txBody>
      </p:sp>
      <p:sp>
        <p:nvSpPr>
          <p:cNvPr id="11" name="Text 9"/>
          <p:cNvSpPr/>
          <p:nvPr/>
        </p:nvSpPr>
        <p:spPr>
          <a:xfrm>
            <a:off x="640080" y="2276856"/>
            <a:ext cx="3566160" cy="182880"/>
          </a:xfrm>
          <a:prstGeom prst="rect">
            <a:avLst/>
          </a:prstGeom>
          <a:noFill/>
        </p:spPr>
        <p:txBody>
          <a:bodyPr wrap="square" lIns="0" tIns="0" rIns="0" bIns="0" rtlCol="0" anchor="ctr"/>
          <a:lstStyle/>
          <a:p>
            <a:pPr marL="0" indent="0">
              <a:buNone/>
            </a:pPr>
            <a:endParaRPr lang="en-US" sz="1050" dirty="0"/>
          </a:p>
        </p:txBody>
      </p:sp>
      <p:sp>
        <p:nvSpPr>
          <p:cNvPr id="12" name="Text 10"/>
          <p:cNvSpPr/>
          <p:nvPr/>
        </p:nvSpPr>
        <p:spPr>
          <a:xfrm>
            <a:off x="640080" y="2468880"/>
            <a:ext cx="3566160" cy="182880"/>
          </a:xfrm>
          <a:prstGeom prst="rect">
            <a:avLst/>
          </a:prstGeom>
          <a:noFill/>
        </p:spPr>
        <p:txBody>
          <a:bodyPr wrap="square" lIns="0" tIns="0" rIns="0" bIns="0" rtlCol="0" anchor="ctr"/>
          <a:lstStyle/>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boxes =</a:t>
            </a:r>
            <a:endParaRPr lang="en-US" sz="1050" dirty="0"/>
          </a:p>
        </p:txBody>
      </p:sp>
      <p:sp>
        <p:nvSpPr>
          <p:cNvPr id="13" name="Text 11"/>
          <p:cNvSpPr/>
          <p:nvPr/>
        </p:nvSpPr>
        <p:spPr>
          <a:xfrm>
            <a:off x="640080" y="2660904"/>
            <a:ext cx="3566160" cy="182880"/>
          </a:xfrm>
          <a:prstGeom prst="rect">
            <a:avLst/>
          </a:prstGeom>
          <a:noFill/>
        </p:spPr>
        <p:txBody>
          <a:bodyPr wrap="square" lIns="0" tIns="0" rIns="0" bIns="0" rtlCol="0" anchor="ctr"/>
          <a:lstStyle/>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document.getElementsByClassName('box');</a:t>
            </a:r>
            <a:endParaRPr lang="en-US" sz="1050" dirty="0"/>
          </a:p>
        </p:txBody>
      </p:sp>
      <p:sp>
        <p:nvSpPr>
          <p:cNvPr id="14" name="Text 12"/>
          <p:cNvSpPr/>
          <p:nvPr/>
        </p:nvSpPr>
        <p:spPr>
          <a:xfrm>
            <a:off x="640080" y="2852928"/>
            <a:ext cx="3566160" cy="182880"/>
          </a:xfrm>
          <a:prstGeom prst="rect">
            <a:avLst/>
          </a:prstGeom>
          <a:noFill/>
        </p:spPr>
        <p:txBody>
          <a:bodyPr wrap="square" lIns="0" tIns="0" rIns="0" bIns="0" rtlCol="0" anchor="ctr"/>
          <a:lstStyle/>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console.log(boxes.length); // 2</a:t>
            </a:r>
            <a:endParaRPr lang="en-US" sz="1050" dirty="0"/>
          </a:p>
        </p:txBody>
      </p:sp>
      <p:sp>
        <p:nvSpPr>
          <p:cNvPr id="15" name="Text 13"/>
          <p:cNvSpPr/>
          <p:nvPr/>
        </p:nvSpPr>
        <p:spPr>
          <a:xfrm>
            <a:off x="502920" y="3154680"/>
            <a:ext cx="3840480" cy="502920"/>
          </a:xfrm>
          <a:prstGeom prst="rect">
            <a:avLst/>
          </a:prstGeom>
          <a:noFill/>
        </p:spPr>
        <p:txBody>
          <a:bodyPr wrap="square" lIns="0" tIns="0" rIns="0" bIns="0" rtlCol="0" anchor="ctr"/>
          <a:lstStyle/>
          <a:p>
            <a:pPr marL="0" indent="0">
              <a:buNone/>
            </a:pPr>
            <a:r>
              <a:rPr lang="en-US" sz="1100" dirty="0">
                <a:solidFill>
                  <a:srgbClr val="F59E0B"/>
                </a:solidFill>
                <a:latin typeface="Calibri" panose="020F0502020204030204" pitchFamily="34" charset="0"/>
                <a:ea typeface="Calibri" panose="020F0502020204030204" pitchFamily="34" charset="-122"/>
                <a:cs typeface="Calibri" panose="020F0502020204030204" pitchFamily="34" charset="-120"/>
              </a:rPr>
              <a:t>⚠  Returns HTMLCollection (not Array). Use Array.from() to use array methods.</a:t>
            </a:r>
            <a:endParaRPr lang="en-US" sz="1100" dirty="0"/>
          </a:p>
        </p:txBody>
      </p:sp>
      <p:sp>
        <p:nvSpPr>
          <p:cNvPr id="16" name="Shape 14"/>
          <p:cNvSpPr/>
          <p:nvPr/>
        </p:nvSpPr>
        <p:spPr>
          <a:xfrm>
            <a:off x="502920" y="3703320"/>
            <a:ext cx="3794760" cy="548640"/>
          </a:xfrm>
          <a:prstGeom prst="rect">
            <a:avLst/>
          </a:prstGeom>
          <a:solidFill>
            <a:srgbClr val="0D1117"/>
          </a:solidFill>
          <a:ln w="12700">
            <a:solidFill>
              <a:srgbClr val="F59E0B"/>
            </a:solidFill>
            <a:prstDash val="solid"/>
          </a:ln>
        </p:spPr>
      </p:sp>
      <p:sp>
        <p:nvSpPr>
          <p:cNvPr id="17" name="Text 15"/>
          <p:cNvSpPr/>
          <p:nvPr/>
        </p:nvSpPr>
        <p:spPr>
          <a:xfrm>
            <a:off x="640080" y="3730752"/>
            <a:ext cx="3566160" cy="493776"/>
          </a:xfrm>
          <a:prstGeom prst="rect">
            <a:avLst/>
          </a:prstGeom>
          <a:noFill/>
        </p:spPr>
        <p:txBody>
          <a:bodyPr wrap="square" lIns="0" tIns="0" rIns="0" bIns="0" rtlCol="0" anchor="ctr"/>
          <a:lstStyle/>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arr = Array.from(boxes);</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arr.forEach(el =&gt; el.style.color='blue');</a:t>
            </a:r>
            <a:endParaRPr lang="en-US" sz="1000" dirty="0"/>
          </a:p>
        </p:txBody>
      </p:sp>
      <p:sp>
        <p:nvSpPr>
          <p:cNvPr id="18" name="Shape 16"/>
          <p:cNvSpPr/>
          <p:nvPr/>
        </p:nvSpPr>
        <p:spPr>
          <a:xfrm>
            <a:off x="4663440" y="685800"/>
            <a:ext cx="4114800" cy="4206240"/>
          </a:xfrm>
          <a:prstGeom prst="rect">
            <a:avLst/>
          </a:prstGeom>
          <a:solidFill>
            <a:srgbClr val="1E293B"/>
          </a:solidFill>
          <a:ln w="12700">
            <a:solidFill>
              <a:srgbClr val="10B981"/>
            </a:solidFill>
            <a:prstDash val="solid"/>
          </a:ln>
        </p:spPr>
      </p:sp>
      <p:sp>
        <p:nvSpPr>
          <p:cNvPr id="19" name="Text 17"/>
          <p:cNvSpPr/>
          <p:nvPr/>
        </p:nvSpPr>
        <p:spPr>
          <a:xfrm>
            <a:off x="4800600" y="777240"/>
            <a:ext cx="3840480" cy="292608"/>
          </a:xfrm>
          <a:prstGeom prst="rect">
            <a:avLst/>
          </a:prstGeom>
          <a:noFill/>
        </p:spPr>
        <p:txBody>
          <a:bodyPr wrap="square" lIns="0" tIns="0" rIns="0" bIns="0" rtlCol="0" anchor="ctr"/>
          <a:lstStyle/>
          <a:p>
            <a:pPr marL="0" indent="0">
              <a:buNone/>
            </a:pPr>
            <a:r>
              <a:rPr lang="en-US" sz="1200" b="1" dirty="0">
                <a:solidFill>
                  <a:srgbClr val="10B981"/>
                </a:solidFill>
                <a:latin typeface="Consolas" panose="020B0609020204030204" pitchFamily="34" charset="0"/>
                <a:ea typeface="Consolas" panose="020B0609020204030204" pitchFamily="34" charset="-122"/>
                <a:cs typeface="Consolas" panose="020B0609020204030204" pitchFamily="34" charset="-120"/>
              </a:rPr>
              <a:t>getElementsByTagName()</a:t>
            </a:r>
            <a:endParaRPr lang="en-US" sz="1200" dirty="0"/>
          </a:p>
        </p:txBody>
      </p:sp>
      <p:sp>
        <p:nvSpPr>
          <p:cNvPr id="20" name="Text 18"/>
          <p:cNvSpPr/>
          <p:nvPr/>
        </p:nvSpPr>
        <p:spPr>
          <a:xfrm>
            <a:off x="4800600" y="1115568"/>
            <a:ext cx="3840480" cy="640080"/>
          </a:xfrm>
          <a:prstGeom prst="rect">
            <a:avLst/>
          </a:prstGeom>
          <a:noFill/>
        </p:spPr>
        <p:txBody>
          <a:bodyPr wrap="square" lIns="0" tIns="0" rIns="0" bIns="0" rtlCol="0" anchor="ctr"/>
          <a:lstStyle/>
          <a:p>
            <a:pPr marL="0" indent="0">
              <a:buNone/>
            </a:pPr>
            <a:r>
              <a:rPr lang="en-US" sz="1150" dirty="0">
                <a:solidFill>
                  <a:srgbClr val="F8FAFC"/>
                </a:solidFill>
                <a:latin typeface="Calibri" panose="020F0502020204030204" pitchFamily="34" charset="0"/>
                <a:ea typeface="Calibri" panose="020F0502020204030204" pitchFamily="34" charset="-122"/>
                <a:cs typeface="Calibri" panose="020F0502020204030204" pitchFamily="34" charset="-120"/>
              </a:rPr>
              <a:t>Returns a live HTMLCollection of elements with the given tag name. Use '*' to select ALL elements in the document.</a:t>
            </a:r>
            <a:endParaRPr lang="en-US" sz="1150" dirty="0"/>
          </a:p>
        </p:txBody>
      </p:sp>
      <p:sp>
        <p:nvSpPr>
          <p:cNvPr id="21" name="Shape 19"/>
          <p:cNvSpPr/>
          <p:nvPr/>
        </p:nvSpPr>
        <p:spPr>
          <a:xfrm>
            <a:off x="4800600" y="1828800"/>
            <a:ext cx="3794760" cy="1234440"/>
          </a:xfrm>
          <a:prstGeom prst="rect">
            <a:avLst/>
          </a:prstGeom>
          <a:solidFill>
            <a:srgbClr val="0D1117"/>
          </a:solidFill>
          <a:ln w="12700">
            <a:solidFill>
              <a:srgbClr val="10B981"/>
            </a:solidFill>
            <a:prstDash val="solid"/>
          </a:ln>
        </p:spPr>
      </p:sp>
      <p:sp>
        <p:nvSpPr>
          <p:cNvPr id="22" name="Text 20"/>
          <p:cNvSpPr/>
          <p:nvPr/>
        </p:nvSpPr>
        <p:spPr>
          <a:xfrm>
            <a:off x="4937760" y="1892808"/>
            <a:ext cx="3566160" cy="182880"/>
          </a:xfrm>
          <a:prstGeom prst="rect">
            <a:avLst/>
          </a:prstGeom>
          <a:noFill/>
        </p:spPr>
        <p:txBody>
          <a:bodyPr wrap="square" lIns="0" tIns="0" rIns="0" bIns="0" rtlCol="0" anchor="ctr"/>
          <a:lstStyle/>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paras =</a:t>
            </a:r>
            <a:endParaRPr lang="en-US" sz="1050" dirty="0"/>
          </a:p>
        </p:txBody>
      </p:sp>
      <p:sp>
        <p:nvSpPr>
          <p:cNvPr id="23" name="Text 21"/>
          <p:cNvSpPr/>
          <p:nvPr/>
        </p:nvSpPr>
        <p:spPr>
          <a:xfrm>
            <a:off x="4937760" y="2084832"/>
            <a:ext cx="3566160" cy="182880"/>
          </a:xfrm>
          <a:prstGeom prst="rect">
            <a:avLst/>
          </a:prstGeom>
          <a:noFill/>
        </p:spPr>
        <p:txBody>
          <a:bodyPr wrap="square" lIns="0" tIns="0" rIns="0" bIns="0" rtlCol="0" anchor="ctr"/>
          <a:lstStyle/>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document.getElementsByTagName('p');</a:t>
            </a:r>
            <a:endParaRPr lang="en-US" sz="1050" dirty="0"/>
          </a:p>
        </p:txBody>
      </p:sp>
      <p:sp>
        <p:nvSpPr>
          <p:cNvPr id="24" name="Text 22"/>
          <p:cNvSpPr/>
          <p:nvPr/>
        </p:nvSpPr>
        <p:spPr>
          <a:xfrm>
            <a:off x="4937760" y="2276856"/>
            <a:ext cx="3566160" cy="182880"/>
          </a:xfrm>
          <a:prstGeom prst="rect">
            <a:avLst/>
          </a:prstGeom>
          <a:noFill/>
        </p:spPr>
        <p:txBody>
          <a:bodyPr wrap="square" lIns="0" tIns="0" rIns="0" bIns="0" rtlCol="0" anchor="ctr"/>
          <a:lstStyle/>
          <a:p>
            <a:pPr marL="0" indent="0">
              <a:buNone/>
            </a:pPr>
            <a:endParaRPr lang="en-US" sz="1050" dirty="0"/>
          </a:p>
        </p:txBody>
      </p:sp>
      <p:sp>
        <p:nvSpPr>
          <p:cNvPr id="25" name="Text 23"/>
          <p:cNvSpPr/>
          <p:nvPr/>
        </p:nvSpPr>
        <p:spPr>
          <a:xfrm>
            <a:off x="4937760" y="2468880"/>
            <a:ext cx="3566160" cy="182880"/>
          </a:xfrm>
          <a:prstGeom prst="rect">
            <a:avLst/>
          </a:prstGeom>
          <a:noFill/>
        </p:spPr>
        <p:txBody>
          <a:bodyPr wrap="square" lIns="0" tIns="0" rIns="0" bIns="0" rtlCol="0" anchor="ctr"/>
          <a:lstStyle/>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Select ALL elements</a:t>
            </a:r>
            <a:endParaRPr lang="en-US" sz="1050" dirty="0"/>
          </a:p>
        </p:txBody>
      </p:sp>
      <p:sp>
        <p:nvSpPr>
          <p:cNvPr id="26" name="Text 24"/>
          <p:cNvSpPr/>
          <p:nvPr/>
        </p:nvSpPr>
        <p:spPr>
          <a:xfrm>
            <a:off x="4937760" y="2660904"/>
            <a:ext cx="3566160" cy="182880"/>
          </a:xfrm>
          <a:prstGeom prst="rect">
            <a:avLst/>
          </a:prstGeom>
          <a:noFill/>
        </p:spPr>
        <p:txBody>
          <a:bodyPr wrap="square" lIns="0" tIns="0" rIns="0" bIns="0" rtlCol="0" anchor="ctr"/>
          <a:lstStyle/>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all =</a:t>
            </a:r>
            <a:endParaRPr lang="en-US" sz="1050" dirty="0"/>
          </a:p>
        </p:txBody>
      </p:sp>
      <p:sp>
        <p:nvSpPr>
          <p:cNvPr id="27" name="Text 25"/>
          <p:cNvSpPr/>
          <p:nvPr/>
        </p:nvSpPr>
        <p:spPr>
          <a:xfrm>
            <a:off x="4937760" y="2852928"/>
            <a:ext cx="3566160" cy="182880"/>
          </a:xfrm>
          <a:prstGeom prst="rect">
            <a:avLst/>
          </a:prstGeom>
          <a:noFill/>
        </p:spPr>
        <p:txBody>
          <a:bodyPr wrap="square" lIns="0" tIns="0" rIns="0" bIns="0" rtlCol="0" anchor="ctr"/>
          <a:lstStyle/>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document.getElementsByTagName('*');</a:t>
            </a:r>
            <a:endParaRPr lang="en-US" sz="1050" dirty="0"/>
          </a:p>
        </p:txBody>
      </p:sp>
      <p:sp>
        <p:nvSpPr>
          <p:cNvPr id="28" name="Text 26"/>
          <p:cNvSpPr/>
          <p:nvPr/>
        </p:nvSpPr>
        <p:spPr>
          <a:xfrm>
            <a:off x="4800600" y="3154680"/>
            <a:ext cx="3840480" cy="502920"/>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ℹ  Also 'live' — updates automatically when DOM changes. Tag name is case-insensitive in HTML.</a:t>
            </a:r>
            <a:endParaRPr lang="en-US" sz="1100" dirty="0"/>
          </a:p>
        </p:txBody>
      </p:sp>
      <p:sp>
        <p:nvSpPr>
          <p:cNvPr id="29" name="Shape 27"/>
          <p:cNvSpPr/>
          <p:nvPr/>
        </p:nvSpPr>
        <p:spPr>
          <a:xfrm>
            <a:off x="4800600" y="3703320"/>
            <a:ext cx="3794760" cy="548640"/>
          </a:xfrm>
          <a:prstGeom prst="rect">
            <a:avLst/>
          </a:prstGeom>
          <a:solidFill>
            <a:srgbClr val="0D1117"/>
          </a:solidFill>
          <a:ln w="12700">
            <a:solidFill>
              <a:srgbClr val="10B981"/>
            </a:solidFill>
            <a:prstDash val="solid"/>
          </a:ln>
        </p:spPr>
      </p:sp>
      <p:sp>
        <p:nvSpPr>
          <p:cNvPr id="30" name="Text 28"/>
          <p:cNvSpPr/>
          <p:nvPr/>
        </p:nvSpPr>
        <p:spPr>
          <a:xfrm>
            <a:off x="4937760" y="3730752"/>
            <a:ext cx="3566160" cy="493776"/>
          </a:xfrm>
          <a:prstGeom prst="rect">
            <a:avLst/>
          </a:prstGeom>
          <a:noFill/>
        </p:spPr>
        <p:txBody>
          <a:bodyPr wrap="square" lIns="0" tIns="0" rIns="0" bIns="0" rtlCol="0" anchor="ctr"/>
          <a:lstStyle/>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paras[0].style.fontSize = '18px';</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paras[1].textContent = 'Updated!';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w="12700">
            <a:solidFill>
              <a:srgbClr val="F59E0B"/>
            </a:solidFill>
            <a:prstDash val="solid"/>
          </a:ln>
        </p:spPr>
      </p:sp>
      <p:sp>
        <p:nvSpPr>
          <p:cNvPr id="3" name="Text 1"/>
          <p:cNvSpPr/>
          <p:nvPr/>
        </p:nvSpPr>
        <p:spPr>
          <a:xfrm>
            <a:off x="365760" y="137160"/>
            <a:ext cx="8229600" cy="411480"/>
          </a:xfrm>
          <a:prstGeom prst="rect">
            <a:avLst/>
          </a:prstGeom>
          <a:noFill/>
        </p:spPr>
        <p:txBody>
          <a:bodyPr wrap="square" lIns="0" tIns="0" rIns="0" bIns="0" rtlCol="0" anchor="ctr"/>
          <a:lstStyle/>
          <a:p>
            <a:pPr marL="0" indent="0">
              <a:buNone/>
            </a:pPr>
            <a:r>
              <a:rPr lang="en-US" sz="2600" b="1" dirty="0">
                <a:solidFill>
                  <a:srgbClr val="F59E0B"/>
                </a:solidFill>
                <a:latin typeface="Consolas" panose="020B0609020204030204" pitchFamily="34" charset="0"/>
                <a:ea typeface="Consolas" panose="020B0609020204030204" pitchFamily="34" charset="-122"/>
                <a:cs typeface="Consolas" panose="020B0609020204030204" pitchFamily="34" charset="-120"/>
              </a:rPr>
              <a:t>querySelector( )</a:t>
            </a:r>
            <a:endParaRPr lang="en-US" sz="2600" dirty="0"/>
          </a:p>
        </p:txBody>
      </p:sp>
      <p:sp>
        <p:nvSpPr>
          <p:cNvPr id="4" name="Shape 2"/>
          <p:cNvSpPr/>
          <p:nvPr/>
        </p:nvSpPr>
        <p:spPr>
          <a:xfrm>
            <a:off x="365760" y="576072"/>
            <a:ext cx="8412480" cy="36576"/>
          </a:xfrm>
          <a:prstGeom prst="rect">
            <a:avLst/>
          </a:prstGeom>
          <a:solidFill>
            <a:srgbClr val="1E293B"/>
          </a:solidFill>
          <a:ln w="12700">
            <a:solidFill>
              <a:srgbClr val="1E293B"/>
            </a:solidFill>
            <a:prstDash val="solid"/>
          </a:ln>
        </p:spPr>
      </p:sp>
      <p:sp>
        <p:nvSpPr>
          <p:cNvPr id="5" name="Shape 3"/>
          <p:cNvSpPr/>
          <p:nvPr/>
        </p:nvSpPr>
        <p:spPr>
          <a:xfrm>
            <a:off x="365760" y="685800"/>
            <a:ext cx="8412480" cy="777240"/>
          </a:xfrm>
          <a:prstGeom prst="rect">
            <a:avLst/>
          </a:prstGeom>
          <a:solidFill>
            <a:srgbClr val="1E293B"/>
          </a:solidFill>
          <a:ln w="12700">
            <a:solidFill>
              <a:srgbClr val="1E3A5F"/>
            </a:solidFill>
            <a:prstDash val="solid"/>
          </a:ln>
        </p:spPr>
      </p:sp>
      <p:sp>
        <p:nvSpPr>
          <p:cNvPr id="6" name="Text 4"/>
          <p:cNvSpPr/>
          <p:nvPr/>
        </p:nvSpPr>
        <p:spPr>
          <a:xfrm>
            <a:off x="594360" y="749808"/>
            <a:ext cx="7955280" cy="658368"/>
          </a:xfrm>
          <a:prstGeom prst="rect">
            <a:avLst/>
          </a:prstGeom>
          <a:noFill/>
        </p:spPr>
        <p:txBody>
          <a:bodyPr wrap="square" lIns="0" tIns="0" rIns="0" bIns="0" rtlCol="0" anchor="ctr"/>
          <a:lstStyle/>
          <a:p>
            <a:pPr marL="0" indent="0">
              <a:buNone/>
            </a:pPr>
            <a:r>
              <a:rPr lang="en-US" sz="1250" dirty="0">
                <a:solidFill>
                  <a:srgbClr val="F8FAFC"/>
                </a:solidFill>
                <a:latin typeface="Calibri" panose="020F0502020204030204" pitchFamily="34" charset="0"/>
                <a:ea typeface="Calibri" panose="020F0502020204030204" pitchFamily="34" charset="-122"/>
                <a:cs typeface="Calibri" panose="020F0502020204030204" pitchFamily="34" charset="-120"/>
              </a:rPr>
              <a:t>Definition: Returns the FIRST element that matches a specified CSS selector. If no match is found, it returns null. This is the most powerful and flexible selector method because it accepts ANY valid CSS selector.</a:t>
            </a:r>
            <a:endParaRPr lang="en-US" sz="1250" dirty="0"/>
          </a:p>
        </p:txBody>
      </p:sp>
      <p:sp>
        <p:nvSpPr>
          <p:cNvPr id="7" name="Text 5"/>
          <p:cNvSpPr/>
          <p:nvPr/>
        </p:nvSpPr>
        <p:spPr>
          <a:xfrm>
            <a:off x="365760" y="1572768"/>
            <a:ext cx="1828800" cy="274320"/>
          </a:xfrm>
          <a:prstGeom prst="rect">
            <a:avLst/>
          </a:prstGeom>
          <a:noFill/>
        </p:spPr>
        <p:txBody>
          <a:bodyPr wrap="square" lIns="0" tIns="0" rIns="0" bIns="0" rtlCol="0" anchor="ctr"/>
          <a:lstStyle/>
          <a:p>
            <a:pPr marL="0" indent="0">
              <a:buNone/>
            </a:pPr>
            <a:r>
              <a:rPr lang="en-US" sz="1300" b="1" dirty="0">
                <a:solidFill>
                  <a:srgbClr val="06B6D4"/>
                </a:solidFill>
                <a:latin typeface="Calibri" panose="020F0502020204030204" pitchFamily="34" charset="0"/>
                <a:ea typeface="Calibri" panose="020F0502020204030204" pitchFamily="34" charset="-122"/>
                <a:cs typeface="Calibri" panose="020F0502020204030204" pitchFamily="34" charset="-120"/>
              </a:rPr>
              <a:t>Syntax:</a:t>
            </a:r>
            <a:endParaRPr lang="en-US" sz="1300" dirty="0"/>
          </a:p>
        </p:txBody>
      </p:sp>
      <p:sp>
        <p:nvSpPr>
          <p:cNvPr id="8" name="Shape 6"/>
          <p:cNvSpPr/>
          <p:nvPr/>
        </p:nvSpPr>
        <p:spPr>
          <a:xfrm>
            <a:off x="365760" y="1874520"/>
            <a:ext cx="8412480" cy="457200"/>
          </a:xfrm>
          <a:prstGeom prst="rect">
            <a:avLst/>
          </a:prstGeom>
          <a:solidFill>
            <a:srgbClr val="0D1117"/>
          </a:solidFill>
          <a:ln w="12700">
            <a:solidFill>
              <a:srgbClr val="F59E0B"/>
            </a:solidFill>
            <a:prstDash val="solid"/>
          </a:ln>
        </p:spPr>
      </p:sp>
      <p:sp>
        <p:nvSpPr>
          <p:cNvPr id="9" name="Text 7"/>
          <p:cNvSpPr/>
          <p:nvPr/>
        </p:nvSpPr>
        <p:spPr>
          <a:xfrm>
            <a:off x="548640" y="1874520"/>
            <a:ext cx="8046720" cy="457200"/>
          </a:xfrm>
          <a:prstGeom prst="rect">
            <a:avLst/>
          </a:prstGeom>
          <a:noFill/>
        </p:spPr>
        <p:txBody>
          <a:bodyPr wrap="square" lIns="0" tIns="0" rIns="0" bIns="0" rtlCol="0" anchor="ctr"/>
          <a:lstStyle/>
          <a:p>
            <a:pPr marL="0" indent="0">
              <a:buNone/>
            </a:pPr>
            <a:r>
              <a:rPr lang="en-US" sz="1400" b="1" dirty="0">
                <a:solidFill>
                  <a:srgbClr val="A5F3FC"/>
                </a:solidFill>
                <a:latin typeface="Consolas" panose="020B0609020204030204" pitchFamily="34" charset="0"/>
                <a:ea typeface="Consolas" panose="020B0609020204030204" pitchFamily="34" charset="-122"/>
                <a:cs typeface="Consolas" panose="020B0609020204030204" pitchFamily="34" charset="-120"/>
              </a:rPr>
              <a:t>document.querySelector( 'CSS selector here' )</a:t>
            </a:r>
            <a:endParaRPr lang="en-US" sz="1400" dirty="0"/>
          </a:p>
        </p:txBody>
      </p:sp>
      <p:sp>
        <p:nvSpPr>
          <p:cNvPr id="10" name="Text 8"/>
          <p:cNvSpPr/>
          <p:nvPr/>
        </p:nvSpPr>
        <p:spPr>
          <a:xfrm>
            <a:off x="365760" y="2450592"/>
            <a:ext cx="8229600" cy="292608"/>
          </a:xfrm>
          <a:prstGeom prst="rect">
            <a:avLst/>
          </a:prstGeom>
          <a:noFill/>
        </p:spPr>
        <p:txBody>
          <a:bodyPr wrap="square" lIns="0" tIns="0" rIns="0" bIns="0" rtlCol="0" anchor="ctr"/>
          <a:lstStyle/>
          <a:p>
            <a:pPr marL="0" indent="0">
              <a:buNone/>
            </a:pPr>
            <a:r>
              <a:rPr lang="en-US" sz="1300" b="1" dirty="0">
                <a:solidFill>
                  <a:srgbClr val="06B6D4"/>
                </a:solidFill>
                <a:latin typeface="Calibri" panose="020F0502020204030204" pitchFamily="34" charset="0"/>
                <a:ea typeface="Calibri" panose="020F0502020204030204" pitchFamily="34" charset="-122"/>
                <a:cs typeface="Calibri" panose="020F0502020204030204" pitchFamily="34" charset="-120"/>
              </a:rPr>
              <a:t>Examples — CSS Selectors You Can Use:</a:t>
            </a:r>
            <a:endParaRPr lang="en-US" sz="1300" dirty="0"/>
          </a:p>
        </p:txBody>
      </p:sp>
      <p:sp>
        <p:nvSpPr>
          <p:cNvPr id="11" name="Shape 9"/>
          <p:cNvSpPr/>
          <p:nvPr/>
        </p:nvSpPr>
        <p:spPr>
          <a:xfrm>
            <a:off x="365760" y="2770632"/>
            <a:ext cx="8412480" cy="2194560"/>
          </a:xfrm>
          <a:prstGeom prst="rect">
            <a:avLst/>
          </a:prstGeom>
          <a:solidFill>
            <a:srgbClr val="0D1117"/>
          </a:solidFill>
          <a:ln w="12700">
            <a:solidFill>
              <a:srgbClr val="F59E0B"/>
            </a:solidFill>
            <a:prstDash val="solid"/>
          </a:ln>
        </p:spPr>
      </p:sp>
      <p:sp>
        <p:nvSpPr>
          <p:cNvPr id="12" name="Text 10"/>
          <p:cNvSpPr/>
          <p:nvPr/>
        </p:nvSpPr>
        <p:spPr>
          <a:xfrm>
            <a:off x="548640" y="2834640"/>
            <a:ext cx="5303520" cy="256032"/>
          </a:xfrm>
          <a:prstGeom prst="rect">
            <a:avLst/>
          </a:prstGeom>
          <a:noFill/>
        </p:spPr>
        <p:txBody>
          <a:bodyPr wrap="square" lIns="0" tIns="0" rIns="0" bIns="0" rtlCol="0" anchor="ctr"/>
          <a:lstStyle/>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document.querySelector('#myId')            </a:t>
            </a:r>
            <a:endParaRPr lang="en-US" sz="1100" dirty="0"/>
          </a:p>
        </p:txBody>
      </p:sp>
      <p:sp>
        <p:nvSpPr>
          <p:cNvPr id="13" name="Text 11"/>
          <p:cNvSpPr/>
          <p:nvPr/>
        </p:nvSpPr>
        <p:spPr>
          <a:xfrm>
            <a:off x="5943600" y="2834640"/>
            <a:ext cx="2743200" cy="256032"/>
          </a:xfrm>
          <a:prstGeom prst="rect">
            <a:avLst/>
          </a:prstGeom>
          <a:noFill/>
        </p:spPr>
        <p:txBody>
          <a:bodyPr wrap="square" lIns="0" tIns="0" rIns="0" bIns="0" rtlCol="0" anchor="ctr"/>
          <a:lstStyle/>
          <a:p>
            <a:pPr marL="0" indent="0">
              <a:buNone/>
            </a:pPr>
            <a:r>
              <a:rPr lang="en-US" sz="1100" dirty="0">
                <a:solidFill>
                  <a:srgbClr val="10B981"/>
                </a:solidFill>
                <a:latin typeface="Calibri" panose="020F0502020204030204" pitchFamily="34" charset="0"/>
                <a:ea typeface="Calibri" panose="020F0502020204030204" pitchFamily="34" charset="-122"/>
                <a:cs typeface="Calibri" panose="020F0502020204030204" pitchFamily="34" charset="-120"/>
              </a:rPr>
              <a:t>→  Select by ID</a:t>
            </a:r>
            <a:endParaRPr lang="en-US" sz="1100" dirty="0"/>
          </a:p>
        </p:txBody>
      </p:sp>
      <p:sp>
        <p:nvSpPr>
          <p:cNvPr id="14" name="Text 12"/>
          <p:cNvSpPr/>
          <p:nvPr/>
        </p:nvSpPr>
        <p:spPr>
          <a:xfrm>
            <a:off x="548640" y="3127248"/>
            <a:ext cx="5303520" cy="256032"/>
          </a:xfrm>
          <a:prstGeom prst="rect">
            <a:avLst/>
          </a:prstGeom>
          <a:noFill/>
        </p:spPr>
        <p:txBody>
          <a:bodyPr wrap="square" lIns="0" tIns="0" rIns="0" bIns="0" rtlCol="0" anchor="ctr"/>
          <a:lstStyle/>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document.querySelector('.myClass')         </a:t>
            </a:r>
            <a:endParaRPr lang="en-US" sz="1100" dirty="0"/>
          </a:p>
        </p:txBody>
      </p:sp>
      <p:sp>
        <p:nvSpPr>
          <p:cNvPr id="15" name="Text 13"/>
          <p:cNvSpPr/>
          <p:nvPr/>
        </p:nvSpPr>
        <p:spPr>
          <a:xfrm>
            <a:off x="5943600" y="3127248"/>
            <a:ext cx="2743200" cy="256032"/>
          </a:xfrm>
          <a:prstGeom prst="rect">
            <a:avLst/>
          </a:prstGeom>
          <a:noFill/>
        </p:spPr>
        <p:txBody>
          <a:bodyPr wrap="square" lIns="0" tIns="0" rIns="0" bIns="0" rtlCol="0" anchor="ctr"/>
          <a:lstStyle/>
          <a:p>
            <a:pPr marL="0" indent="0">
              <a:buNone/>
            </a:pPr>
            <a:r>
              <a:rPr lang="en-US" sz="1100" dirty="0">
                <a:solidFill>
                  <a:srgbClr val="10B981"/>
                </a:solidFill>
                <a:latin typeface="Calibri" panose="020F0502020204030204" pitchFamily="34" charset="0"/>
                <a:ea typeface="Calibri" panose="020F0502020204030204" pitchFamily="34" charset="-122"/>
                <a:cs typeface="Calibri" panose="020F0502020204030204" pitchFamily="34" charset="-120"/>
              </a:rPr>
              <a:t>→  Select by class</a:t>
            </a:r>
            <a:endParaRPr lang="en-US" sz="1100" dirty="0"/>
          </a:p>
        </p:txBody>
      </p:sp>
      <p:sp>
        <p:nvSpPr>
          <p:cNvPr id="16" name="Text 14"/>
          <p:cNvSpPr/>
          <p:nvPr/>
        </p:nvSpPr>
        <p:spPr>
          <a:xfrm>
            <a:off x="548640" y="3419856"/>
            <a:ext cx="5303520" cy="256032"/>
          </a:xfrm>
          <a:prstGeom prst="rect">
            <a:avLst/>
          </a:prstGeom>
          <a:noFill/>
        </p:spPr>
        <p:txBody>
          <a:bodyPr wrap="square" lIns="0" tIns="0" rIns="0" bIns="0" rtlCol="0" anchor="ctr"/>
          <a:lstStyle/>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document.querySelector('div')              </a:t>
            </a:r>
            <a:endParaRPr lang="en-US" sz="1100" dirty="0"/>
          </a:p>
        </p:txBody>
      </p:sp>
      <p:sp>
        <p:nvSpPr>
          <p:cNvPr id="17" name="Text 15"/>
          <p:cNvSpPr/>
          <p:nvPr/>
        </p:nvSpPr>
        <p:spPr>
          <a:xfrm>
            <a:off x="5943600" y="3419856"/>
            <a:ext cx="2743200" cy="256032"/>
          </a:xfrm>
          <a:prstGeom prst="rect">
            <a:avLst/>
          </a:prstGeom>
          <a:noFill/>
        </p:spPr>
        <p:txBody>
          <a:bodyPr wrap="square" lIns="0" tIns="0" rIns="0" bIns="0" rtlCol="0" anchor="ctr"/>
          <a:lstStyle/>
          <a:p>
            <a:pPr marL="0" indent="0">
              <a:buNone/>
            </a:pPr>
            <a:r>
              <a:rPr lang="en-US" sz="1100" dirty="0">
                <a:solidFill>
                  <a:srgbClr val="10B981"/>
                </a:solidFill>
                <a:latin typeface="Calibri" panose="020F0502020204030204" pitchFamily="34" charset="0"/>
                <a:ea typeface="Calibri" panose="020F0502020204030204" pitchFamily="34" charset="-122"/>
                <a:cs typeface="Calibri" panose="020F0502020204030204" pitchFamily="34" charset="-120"/>
              </a:rPr>
              <a:t>→  Select by tag name</a:t>
            </a:r>
            <a:endParaRPr lang="en-US" sz="1100" dirty="0"/>
          </a:p>
        </p:txBody>
      </p:sp>
      <p:sp>
        <p:nvSpPr>
          <p:cNvPr id="18" name="Text 16"/>
          <p:cNvSpPr/>
          <p:nvPr/>
        </p:nvSpPr>
        <p:spPr>
          <a:xfrm>
            <a:off x="548640" y="3712464"/>
            <a:ext cx="5303520" cy="256032"/>
          </a:xfrm>
          <a:prstGeom prst="rect">
            <a:avLst/>
          </a:prstGeom>
          <a:noFill/>
        </p:spPr>
        <p:txBody>
          <a:bodyPr wrap="square" lIns="0" tIns="0" rIns="0" bIns="0" rtlCol="0" anchor="ctr"/>
          <a:lstStyle/>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document.querySelector('div.active')       </a:t>
            </a:r>
            <a:endParaRPr lang="en-US" sz="1100" dirty="0"/>
          </a:p>
        </p:txBody>
      </p:sp>
      <p:sp>
        <p:nvSpPr>
          <p:cNvPr id="19" name="Text 17"/>
          <p:cNvSpPr/>
          <p:nvPr/>
        </p:nvSpPr>
        <p:spPr>
          <a:xfrm>
            <a:off x="5943600" y="3712464"/>
            <a:ext cx="2743200" cy="256032"/>
          </a:xfrm>
          <a:prstGeom prst="rect">
            <a:avLst/>
          </a:prstGeom>
          <a:noFill/>
        </p:spPr>
        <p:txBody>
          <a:bodyPr wrap="square" lIns="0" tIns="0" rIns="0" bIns="0" rtlCol="0" anchor="ctr"/>
          <a:lstStyle/>
          <a:p>
            <a:pPr marL="0" indent="0">
              <a:buNone/>
            </a:pPr>
            <a:r>
              <a:rPr lang="en-US" sz="1100" dirty="0">
                <a:solidFill>
                  <a:srgbClr val="10B981"/>
                </a:solidFill>
                <a:latin typeface="Calibri" panose="020F0502020204030204" pitchFamily="34" charset="0"/>
                <a:ea typeface="Calibri" panose="020F0502020204030204" pitchFamily="34" charset="-122"/>
                <a:cs typeface="Calibri" panose="020F0502020204030204" pitchFamily="34" charset="-120"/>
              </a:rPr>
              <a:t>→  Tag + class combo</a:t>
            </a:r>
            <a:endParaRPr lang="en-US" sz="1100" dirty="0"/>
          </a:p>
        </p:txBody>
      </p:sp>
      <p:sp>
        <p:nvSpPr>
          <p:cNvPr id="20" name="Text 18"/>
          <p:cNvSpPr/>
          <p:nvPr/>
        </p:nvSpPr>
        <p:spPr>
          <a:xfrm>
            <a:off x="548640" y="4005072"/>
            <a:ext cx="5303520" cy="256032"/>
          </a:xfrm>
          <a:prstGeom prst="rect">
            <a:avLst/>
          </a:prstGeom>
          <a:noFill/>
        </p:spPr>
        <p:txBody>
          <a:bodyPr wrap="square" lIns="0" tIns="0" rIns="0" bIns="0" rtlCol="0" anchor="ctr"/>
          <a:lstStyle/>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document.querySelector('input[type="text"]')</a:t>
            </a:r>
            <a:endParaRPr lang="en-US" sz="1100" dirty="0"/>
          </a:p>
        </p:txBody>
      </p:sp>
      <p:sp>
        <p:nvSpPr>
          <p:cNvPr id="21" name="Text 19"/>
          <p:cNvSpPr/>
          <p:nvPr/>
        </p:nvSpPr>
        <p:spPr>
          <a:xfrm>
            <a:off x="5943600" y="4005072"/>
            <a:ext cx="2743200" cy="256032"/>
          </a:xfrm>
          <a:prstGeom prst="rect">
            <a:avLst/>
          </a:prstGeom>
          <a:noFill/>
        </p:spPr>
        <p:txBody>
          <a:bodyPr wrap="square" lIns="0" tIns="0" rIns="0" bIns="0" rtlCol="0" anchor="ctr"/>
          <a:lstStyle/>
          <a:p>
            <a:pPr marL="0" indent="0">
              <a:buNone/>
            </a:pPr>
            <a:r>
              <a:rPr lang="en-US" sz="1100" dirty="0">
                <a:solidFill>
                  <a:srgbClr val="10B981"/>
                </a:solidFill>
                <a:latin typeface="Calibri" panose="020F0502020204030204" pitchFamily="34" charset="0"/>
                <a:ea typeface="Calibri" panose="020F0502020204030204" pitchFamily="34" charset="-122"/>
                <a:cs typeface="Calibri" panose="020F0502020204030204" pitchFamily="34" charset="-120"/>
              </a:rPr>
              <a:t>→  Attribute selector</a:t>
            </a:r>
            <a:endParaRPr lang="en-US" sz="1100" dirty="0"/>
          </a:p>
        </p:txBody>
      </p:sp>
      <p:sp>
        <p:nvSpPr>
          <p:cNvPr id="22" name="Text 20"/>
          <p:cNvSpPr/>
          <p:nvPr/>
        </p:nvSpPr>
        <p:spPr>
          <a:xfrm>
            <a:off x="548640" y="4297680"/>
            <a:ext cx="5303520" cy="256032"/>
          </a:xfrm>
          <a:prstGeom prst="rect">
            <a:avLst/>
          </a:prstGeom>
          <a:noFill/>
        </p:spPr>
        <p:txBody>
          <a:bodyPr wrap="square" lIns="0" tIns="0" rIns="0" bIns="0" rtlCol="0" anchor="ctr"/>
          <a:lstStyle/>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document.querySelector('ul &gt; li:first-child')</a:t>
            </a:r>
            <a:endParaRPr lang="en-US" sz="1100" dirty="0"/>
          </a:p>
        </p:txBody>
      </p:sp>
      <p:sp>
        <p:nvSpPr>
          <p:cNvPr id="23" name="Text 21"/>
          <p:cNvSpPr/>
          <p:nvPr/>
        </p:nvSpPr>
        <p:spPr>
          <a:xfrm>
            <a:off x="5943600" y="4297680"/>
            <a:ext cx="2743200" cy="256032"/>
          </a:xfrm>
          <a:prstGeom prst="rect">
            <a:avLst/>
          </a:prstGeom>
          <a:noFill/>
        </p:spPr>
        <p:txBody>
          <a:bodyPr wrap="square" lIns="0" tIns="0" rIns="0" bIns="0" rtlCol="0" anchor="ctr"/>
          <a:lstStyle/>
          <a:p>
            <a:pPr marL="0" indent="0">
              <a:buNone/>
            </a:pPr>
            <a:r>
              <a:rPr lang="en-US" sz="1100" dirty="0">
                <a:solidFill>
                  <a:srgbClr val="10B981"/>
                </a:solidFill>
                <a:latin typeface="Calibri" panose="020F0502020204030204" pitchFamily="34" charset="0"/>
                <a:ea typeface="Calibri" panose="020F0502020204030204" pitchFamily="34" charset="-122"/>
                <a:cs typeface="Calibri" panose="020F0502020204030204" pitchFamily="34" charset="-120"/>
              </a:rPr>
              <a:t>→  CSS combinators</a:t>
            </a:r>
            <a:endParaRPr lang="en-US" sz="1100" dirty="0"/>
          </a:p>
        </p:txBody>
      </p:sp>
      <p:sp>
        <p:nvSpPr>
          <p:cNvPr id="24" name="Text 22"/>
          <p:cNvSpPr/>
          <p:nvPr/>
        </p:nvSpPr>
        <p:spPr>
          <a:xfrm>
            <a:off x="548640" y="4590288"/>
            <a:ext cx="5303520" cy="256032"/>
          </a:xfrm>
          <a:prstGeom prst="rect">
            <a:avLst/>
          </a:prstGeom>
          <a:noFill/>
        </p:spPr>
        <p:txBody>
          <a:bodyPr wrap="square" lIns="0" tIns="0" rIns="0" bIns="0" rtlCol="0" anchor="ctr"/>
          <a:lstStyle/>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document.querySelector('p:nth-child(2)')   </a:t>
            </a:r>
            <a:endParaRPr lang="en-US" sz="1100" dirty="0"/>
          </a:p>
        </p:txBody>
      </p:sp>
      <p:sp>
        <p:nvSpPr>
          <p:cNvPr id="25" name="Text 23"/>
          <p:cNvSpPr/>
          <p:nvPr/>
        </p:nvSpPr>
        <p:spPr>
          <a:xfrm>
            <a:off x="5943600" y="4590288"/>
            <a:ext cx="2743200" cy="256032"/>
          </a:xfrm>
          <a:prstGeom prst="rect">
            <a:avLst/>
          </a:prstGeom>
          <a:noFill/>
        </p:spPr>
        <p:txBody>
          <a:bodyPr wrap="square" lIns="0" tIns="0" rIns="0" bIns="0" rtlCol="0" anchor="ctr"/>
          <a:lstStyle/>
          <a:p>
            <a:pPr marL="0" indent="0">
              <a:buNone/>
            </a:pPr>
            <a:r>
              <a:rPr lang="en-US" sz="1100" dirty="0">
                <a:solidFill>
                  <a:srgbClr val="10B981"/>
                </a:solidFill>
                <a:latin typeface="Calibri" panose="020F0502020204030204" pitchFamily="34" charset="0"/>
                <a:ea typeface="Calibri" panose="020F0502020204030204" pitchFamily="34" charset="-122"/>
                <a:cs typeface="Calibri" panose="020F0502020204030204" pitchFamily="34" charset="-120"/>
              </a:rPr>
              <a:t>→  Pseudo-selector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CD34D"/>
          </a:solidFill>
          <a:ln w="12700">
            <a:solidFill>
              <a:srgbClr val="FCD34D"/>
            </a:solidFill>
            <a:prstDash val="solid"/>
          </a:ln>
        </p:spPr>
      </p:sp>
      <p:sp>
        <p:nvSpPr>
          <p:cNvPr id="3" name="Text 1"/>
          <p:cNvSpPr/>
          <p:nvPr/>
        </p:nvSpPr>
        <p:spPr>
          <a:xfrm>
            <a:off x="365760" y="137160"/>
            <a:ext cx="8229600" cy="411480"/>
          </a:xfrm>
          <a:prstGeom prst="rect">
            <a:avLst/>
          </a:prstGeom>
          <a:noFill/>
        </p:spPr>
        <p:txBody>
          <a:bodyPr wrap="square" lIns="0" tIns="0" rIns="0" bIns="0" rtlCol="0" anchor="ctr"/>
          <a:lstStyle/>
          <a:p>
            <a:pPr marL="0" indent="0">
              <a:buNone/>
            </a:pPr>
            <a:r>
              <a:rPr lang="en-US" sz="2600" b="1" dirty="0">
                <a:solidFill>
                  <a:srgbClr val="FCD34D"/>
                </a:solidFill>
                <a:latin typeface="Consolas" panose="020B0609020204030204" pitchFamily="34" charset="0"/>
                <a:ea typeface="Consolas" panose="020B0609020204030204" pitchFamily="34" charset="-122"/>
                <a:cs typeface="Consolas" panose="020B0609020204030204" pitchFamily="34" charset="-120"/>
              </a:rPr>
              <a:t>querySelectorAll( )</a:t>
            </a:r>
            <a:endParaRPr lang="en-US" sz="2600" dirty="0"/>
          </a:p>
        </p:txBody>
      </p:sp>
      <p:sp>
        <p:nvSpPr>
          <p:cNvPr id="4" name="Shape 2"/>
          <p:cNvSpPr/>
          <p:nvPr/>
        </p:nvSpPr>
        <p:spPr>
          <a:xfrm>
            <a:off x="365760" y="576072"/>
            <a:ext cx="8412480" cy="36576"/>
          </a:xfrm>
          <a:prstGeom prst="rect">
            <a:avLst/>
          </a:prstGeom>
          <a:solidFill>
            <a:srgbClr val="1E293B"/>
          </a:solidFill>
          <a:ln w="12700">
            <a:solidFill>
              <a:srgbClr val="1E293B"/>
            </a:solidFill>
            <a:prstDash val="solid"/>
          </a:ln>
        </p:spPr>
      </p:sp>
      <p:sp>
        <p:nvSpPr>
          <p:cNvPr id="5" name="Shape 3"/>
          <p:cNvSpPr/>
          <p:nvPr/>
        </p:nvSpPr>
        <p:spPr>
          <a:xfrm>
            <a:off x="365760" y="685800"/>
            <a:ext cx="8412480" cy="685800"/>
          </a:xfrm>
          <a:prstGeom prst="rect">
            <a:avLst/>
          </a:prstGeom>
          <a:solidFill>
            <a:srgbClr val="1E293B"/>
          </a:solidFill>
          <a:ln w="12700">
            <a:solidFill>
              <a:srgbClr val="1E3A5F"/>
            </a:solidFill>
            <a:prstDash val="solid"/>
          </a:ln>
        </p:spPr>
      </p:sp>
      <p:sp>
        <p:nvSpPr>
          <p:cNvPr id="6" name="Text 4"/>
          <p:cNvSpPr/>
          <p:nvPr/>
        </p:nvSpPr>
        <p:spPr>
          <a:xfrm>
            <a:off x="594360" y="749808"/>
            <a:ext cx="7955280" cy="566928"/>
          </a:xfrm>
          <a:prstGeom prst="rect">
            <a:avLst/>
          </a:prstGeom>
          <a:noFill/>
        </p:spPr>
        <p:txBody>
          <a:bodyPr wrap="square" lIns="0" tIns="0" rIns="0" bIns="0" rtlCol="0" anchor="ctr"/>
          <a:lstStyle/>
          <a:p>
            <a:pPr marL="0" indent="0">
              <a:buNone/>
            </a:pPr>
            <a:r>
              <a:rPr lang="en-US" sz="1250" dirty="0">
                <a:solidFill>
                  <a:srgbClr val="F8FAFC"/>
                </a:solidFill>
                <a:latin typeface="Calibri" panose="020F0502020204030204" pitchFamily="34" charset="0"/>
                <a:ea typeface="Calibri" panose="020F0502020204030204" pitchFamily="34" charset="-122"/>
                <a:cs typeface="Calibri" panose="020F0502020204030204" pitchFamily="34" charset="-120"/>
              </a:rPr>
              <a:t>Definition: Returns a STATIC NodeList of ALL elements that match a specified CSS selector. Unlike getElementsByClassName, this NodeList does NOT update automatically when the DOM changes.</a:t>
            </a:r>
            <a:endParaRPr lang="en-US" sz="1250" dirty="0"/>
          </a:p>
        </p:txBody>
      </p:sp>
      <p:sp>
        <p:nvSpPr>
          <p:cNvPr id="7" name="Text 5"/>
          <p:cNvSpPr/>
          <p:nvPr/>
        </p:nvSpPr>
        <p:spPr>
          <a:xfrm>
            <a:off x="365760" y="1481328"/>
            <a:ext cx="8229600" cy="292608"/>
          </a:xfrm>
          <a:prstGeom prst="rect">
            <a:avLst/>
          </a:prstGeom>
          <a:noFill/>
        </p:spPr>
        <p:txBody>
          <a:bodyPr wrap="square" lIns="0" tIns="0" rIns="0" bIns="0" rtlCol="0" anchor="ctr"/>
          <a:lstStyle/>
          <a:p>
            <a:pPr marL="0" indent="0">
              <a:buNone/>
            </a:pPr>
            <a:r>
              <a:rPr lang="en-US" sz="1300" b="1" dirty="0">
                <a:solidFill>
                  <a:srgbClr val="06B6D4"/>
                </a:solidFill>
                <a:latin typeface="Calibri" panose="020F0502020204030204" pitchFamily="34" charset="0"/>
                <a:ea typeface="Calibri" panose="020F0502020204030204" pitchFamily="34" charset="-122"/>
                <a:cs typeface="Calibri" panose="020F0502020204030204" pitchFamily="34" charset="-120"/>
              </a:rPr>
              <a:t>querySelector  vs  querySelectorAll — Key Differences:</a:t>
            </a:r>
            <a:endParaRPr lang="en-US" sz="1300" dirty="0"/>
          </a:p>
        </p:txBody>
      </p:sp>
      <p:sp>
        <p:nvSpPr>
          <p:cNvPr id="8" name="Shape 6"/>
          <p:cNvSpPr/>
          <p:nvPr/>
        </p:nvSpPr>
        <p:spPr>
          <a:xfrm>
            <a:off x="365760" y="1874520"/>
            <a:ext cx="8412480" cy="347472"/>
          </a:xfrm>
          <a:prstGeom prst="rect">
            <a:avLst/>
          </a:prstGeom>
          <a:solidFill>
            <a:srgbClr val="3B82F6"/>
          </a:solidFill>
          <a:ln w="12700">
            <a:solidFill>
              <a:srgbClr val="3B82F6"/>
            </a:solidFill>
            <a:prstDash val="solid"/>
          </a:ln>
        </p:spPr>
      </p:sp>
      <p:sp>
        <p:nvSpPr>
          <p:cNvPr id="9" name="Text 7"/>
          <p:cNvSpPr/>
          <p:nvPr/>
        </p:nvSpPr>
        <p:spPr>
          <a:xfrm>
            <a:off x="457200" y="1892808"/>
            <a:ext cx="1828800" cy="310896"/>
          </a:xfrm>
          <a:prstGeom prst="rect">
            <a:avLst/>
          </a:prstGeom>
          <a:noFill/>
        </p:spPr>
        <p:txBody>
          <a:bodyPr wrap="square" lIns="0" tIns="0" rIns="0" bIns="0" rtlCol="0" anchor="ctr"/>
          <a:lstStyle/>
          <a:p>
            <a:pPr marL="0" indent="0">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Feature</a:t>
            </a:r>
            <a:endParaRPr lang="en-US" sz="1200" dirty="0"/>
          </a:p>
        </p:txBody>
      </p:sp>
      <p:sp>
        <p:nvSpPr>
          <p:cNvPr id="10" name="Text 8"/>
          <p:cNvSpPr/>
          <p:nvPr/>
        </p:nvSpPr>
        <p:spPr>
          <a:xfrm>
            <a:off x="2468880" y="1892808"/>
            <a:ext cx="3017520" cy="310896"/>
          </a:xfrm>
          <a:prstGeom prst="rect">
            <a:avLst/>
          </a:prstGeom>
          <a:noFill/>
        </p:spPr>
        <p:txBody>
          <a:bodyPr wrap="square" lIns="0" tIns="0" rIns="0" bIns="0" rtlCol="0" anchor="ctr"/>
          <a:lstStyle/>
          <a:p>
            <a:pPr marL="0" indent="0">
              <a:buNone/>
            </a:pPr>
            <a:r>
              <a:rPr lang="en-US" sz="120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querySelector</a:t>
            </a:r>
            <a:endParaRPr lang="en-US" sz="1200" dirty="0"/>
          </a:p>
        </p:txBody>
      </p:sp>
      <p:sp>
        <p:nvSpPr>
          <p:cNvPr id="11" name="Text 9"/>
          <p:cNvSpPr/>
          <p:nvPr/>
        </p:nvSpPr>
        <p:spPr>
          <a:xfrm>
            <a:off x="5669280" y="1892808"/>
            <a:ext cx="3017520" cy="310896"/>
          </a:xfrm>
          <a:prstGeom prst="rect">
            <a:avLst/>
          </a:prstGeom>
          <a:noFill/>
        </p:spPr>
        <p:txBody>
          <a:bodyPr wrap="square" lIns="0" tIns="0" rIns="0" bIns="0" rtlCol="0" anchor="ctr"/>
          <a:lstStyle/>
          <a:p>
            <a:pPr marL="0" indent="0">
              <a:buNone/>
            </a:pPr>
            <a:r>
              <a:rPr lang="en-US" sz="120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querySelectorAll</a:t>
            </a:r>
            <a:endParaRPr lang="en-US" sz="1200" dirty="0"/>
          </a:p>
        </p:txBody>
      </p:sp>
      <p:sp>
        <p:nvSpPr>
          <p:cNvPr id="12" name="Shape 10"/>
          <p:cNvSpPr/>
          <p:nvPr/>
        </p:nvSpPr>
        <p:spPr>
          <a:xfrm>
            <a:off x="365760" y="2221992"/>
            <a:ext cx="8412480" cy="347472"/>
          </a:xfrm>
          <a:prstGeom prst="rect">
            <a:avLst/>
          </a:prstGeom>
          <a:solidFill>
            <a:srgbClr val="1E3A5F"/>
          </a:solidFill>
          <a:ln w="12700">
            <a:solidFill>
              <a:srgbClr val="1E3A5F"/>
            </a:solidFill>
            <a:prstDash val="solid"/>
          </a:ln>
        </p:spPr>
      </p:sp>
      <p:sp>
        <p:nvSpPr>
          <p:cNvPr id="13" name="Text 11"/>
          <p:cNvSpPr/>
          <p:nvPr/>
        </p:nvSpPr>
        <p:spPr>
          <a:xfrm>
            <a:off x="457200" y="2240280"/>
            <a:ext cx="1828800" cy="310896"/>
          </a:xfrm>
          <a:prstGeom prst="rect">
            <a:avLst/>
          </a:prstGeom>
          <a:noFill/>
        </p:spPr>
        <p:txBody>
          <a:bodyPr wrap="square" lIns="0" tIns="0" rIns="0" bIns="0" rtlCol="0" anchor="ctr"/>
          <a:lstStyle/>
          <a:p>
            <a:pPr marL="0" indent="0">
              <a:buNone/>
            </a:pPr>
            <a:r>
              <a:rPr lang="en-US" sz="1200" dirty="0">
                <a:solidFill>
                  <a:srgbClr val="F8FAFC"/>
                </a:solidFill>
                <a:latin typeface="Calibri" panose="020F0502020204030204" pitchFamily="34" charset="0"/>
                <a:ea typeface="Calibri" panose="020F0502020204030204" pitchFamily="34" charset="-122"/>
                <a:cs typeface="Calibri" panose="020F0502020204030204" pitchFamily="34" charset="-120"/>
              </a:rPr>
              <a:t>Returns</a:t>
            </a:r>
            <a:endParaRPr lang="en-US" sz="1200" dirty="0"/>
          </a:p>
        </p:txBody>
      </p:sp>
      <p:sp>
        <p:nvSpPr>
          <p:cNvPr id="14" name="Text 12"/>
          <p:cNvSpPr/>
          <p:nvPr/>
        </p:nvSpPr>
        <p:spPr>
          <a:xfrm>
            <a:off x="2468880" y="2240280"/>
            <a:ext cx="3017520" cy="310896"/>
          </a:xfrm>
          <a:prstGeom prst="rect">
            <a:avLst/>
          </a:prstGeom>
          <a:noFill/>
        </p:spPr>
        <p:txBody>
          <a:bodyPr wrap="square" lIns="0" tIns="0" rIns="0" bIns="0" rtlCol="0" anchor="ctr"/>
          <a:lstStyle/>
          <a:p>
            <a:pPr marL="0" indent="0">
              <a:buNone/>
            </a:pPr>
            <a:r>
              <a:rPr lang="en-US" sz="1200" dirty="0">
                <a:solidFill>
                  <a:srgbClr val="F8FAFC"/>
                </a:solidFill>
                <a:latin typeface="Consolas" panose="020B0609020204030204" pitchFamily="34" charset="0"/>
                <a:ea typeface="Consolas" panose="020B0609020204030204" pitchFamily="34" charset="-122"/>
                <a:cs typeface="Consolas" panose="020B0609020204030204" pitchFamily="34" charset="-120"/>
              </a:rPr>
              <a:t>Single element or null</a:t>
            </a:r>
            <a:endParaRPr lang="en-US" sz="1200" dirty="0"/>
          </a:p>
        </p:txBody>
      </p:sp>
      <p:sp>
        <p:nvSpPr>
          <p:cNvPr id="15" name="Text 13"/>
          <p:cNvSpPr/>
          <p:nvPr/>
        </p:nvSpPr>
        <p:spPr>
          <a:xfrm>
            <a:off x="5669280" y="2240280"/>
            <a:ext cx="3017520" cy="310896"/>
          </a:xfrm>
          <a:prstGeom prst="rect">
            <a:avLst/>
          </a:prstGeom>
          <a:noFill/>
        </p:spPr>
        <p:txBody>
          <a:bodyPr wrap="square" lIns="0" tIns="0" rIns="0" bIns="0" rtlCol="0" anchor="ctr"/>
          <a:lstStyle/>
          <a:p>
            <a:pPr marL="0" indent="0">
              <a:buNone/>
            </a:pPr>
            <a:r>
              <a:rPr lang="en-US" sz="1200" dirty="0">
                <a:solidFill>
                  <a:srgbClr val="F8FAFC"/>
                </a:solidFill>
                <a:latin typeface="Consolas" panose="020B0609020204030204" pitchFamily="34" charset="0"/>
                <a:ea typeface="Consolas" panose="020B0609020204030204" pitchFamily="34" charset="-122"/>
                <a:cs typeface="Consolas" panose="020B0609020204030204" pitchFamily="34" charset="-120"/>
              </a:rPr>
              <a:t>NodeList (all matches)</a:t>
            </a:r>
            <a:endParaRPr lang="en-US" sz="1200" dirty="0"/>
          </a:p>
        </p:txBody>
      </p:sp>
      <p:sp>
        <p:nvSpPr>
          <p:cNvPr id="16" name="Shape 14"/>
          <p:cNvSpPr/>
          <p:nvPr/>
        </p:nvSpPr>
        <p:spPr>
          <a:xfrm>
            <a:off x="365760" y="2569464"/>
            <a:ext cx="8412480" cy="347472"/>
          </a:xfrm>
          <a:prstGeom prst="rect">
            <a:avLst/>
          </a:prstGeom>
          <a:solidFill>
            <a:srgbClr val="1E293B"/>
          </a:solidFill>
          <a:ln w="12700">
            <a:solidFill>
              <a:srgbClr val="1E293B"/>
            </a:solidFill>
            <a:prstDash val="solid"/>
          </a:ln>
        </p:spPr>
      </p:sp>
      <p:sp>
        <p:nvSpPr>
          <p:cNvPr id="17" name="Text 15"/>
          <p:cNvSpPr/>
          <p:nvPr/>
        </p:nvSpPr>
        <p:spPr>
          <a:xfrm>
            <a:off x="457200" y="2587752"/>
            <a:ext cx="1828800" cy="310896"/>
          </a:xfrm>
          <a:prstGeom prst="rect">
            <a:avLst/>
          </a:prstGeom>
          <a:noFill/>
        </p:spPr>
        <p:txBody>
          <a:bodyPr wrap="square" lIns="0" tIns="0" rIns="0" bIns="0" rtlCol="0" anchor="ctr"/>
          <a:lstStyle/>
          <a:p>
            <a:pPr marL="0" indent="0">
              <a:buNone/>
            </a:pPr>
            <a:r>
              <a:rPr lang="en-US" sz="1200" dirty="0">
                <a:solidFill>
                  <a:srgbClr val="F8FAFC"/>
                </a:solidFill>
                <a:latin typeface="Calibri" panose="020F0502020204030204" pitchFamily="34" charset="0"/>
                <a:ea typeface="Calibri" panose="020F0502020204030204" pitchFamily="34" charset="-122"/>
                <a:cs typeface="Calibri" panose="020F0502020204030204" pitchFamily="34" charset="-120"/>
              </a:rPr>
              <a:t>When no match</a:t>
            </a:r>
            <a:endParaRPr lang="en-US" sz="1200" dirty="0"/>
          </a:p>
        </p:txBody>
      </p:sp>
      <p:sp>
        <p:nvSpPr>
          <p:cNvPr id="18" name="Text 16"/>
          <p:cNvSpPr/>
          <p:nvPr/>
        </p:nvSpPr>
        <p:spPr>
          <a:xfrm>
            <a:off x="2468880" y="2587752"/>
            <a:ext cx="3017520" cy="310896"/>
          </a:xfrm>
          <a:prstGeom prst="rect">
            <a:avLst/>
          </a:prstGeom>
          <a:noFill/>
        </p:spPr>
        <p:txBody>
          <a:bodyPr wrap="square" lIns="0" tIns="0" rIns="0" bIns="0" rtlCol="0" anchor="ctr"/>
          <a:lstStyle/>
          <a:p>
            <a:pPr marL="0" indent="0">
              <a:buNone/>
            </a:pPr>
            <a:r>
              <a:rPr lang="en-US" sz="1200" dirty="0">
                <a:solidFill>
                  <a:srgbClr val="F8FAFC"/>
                </a:solidFill>
                <a:latin typeface="Consolas" panose="020B0609020204030204" pitchFamily="34" charset="0"/>
                <a:ea typeface="Consolas" panose="020B0609020204030204" pitchFamily="34" charset="-122"/>
                <a:cs typeface="Consolas" panose="020B0609020204030204" pitchFamily="34" charset="-120"/>
              </a:rPr>
              <a:t>Returns null</a:t>
            </a:r>
            <a:endParaRPr lang="en-US" sz="1200" dirty="0"/>
          </a:p>
        </p:txBody>
      </p:sp>
      <p:sp>
        <p:nvSpPr>
          <p:cNvPr id="19" name="Text 17"/>
          <p:cNvSpPr/>
          <p:nvPr/>
        </p:nvSpPr>
        <p:spPr>
          <a:xfrm>
            <a:off x="5669280" y="2587752"/>
            <a:ext cx="3017520" cy="310896"/>
          </a:xfrm>
          <a:prstGeom prst="rect">
            <a:avLst/>
          </a:prstGeom>
          <a:noFill/>
        </p:spPr>
        <p:txBody>
          <a:bodyPr wrap="square" lIns="0" tIns="0" rIns="0" bIns="0" rtlCol="0" anchor="ctr"/>
          <a:lstStyle/>
          <a:p>
            <a:pPr marL="0" indent="0">
              <a:buNone/>
            </a:pPr>
            <a:r>
              <a:rPr lang="en-US" sz="1200" dirty="0">
                <a:solidFill>
                  <a:srgbClr val="F8FAFC"/>
                </a:solidFill>
                <a:latin typeface="Consolas" panose="020B0609020204030204" pitchFamily="34" charset="0"/>
                <a:ea typeface="Consolas" panose="020B0609020204030204" pitchFamily="34" charset="-122"/>
                <a:cs typeface="Consolas" panose="020B0609020204030204" pitchFamily="34" charset="-120"/>
              </a:rPr>
              <a:t>Returns empty NodeList</a:t>
            </a:r>
            <a:endParaRPr lang="en-US" sz="1200" dirty="0"/>
          </a:p>
        </p:txBody>
      </p:sp>
      <p:sp>
        <p:nvSpPr>
          <p:cNvPr id="20" name="Shape 18"/>
          <p:cNvSpPr/>
          <p:nvPr/>
        </p:nvSpPr>
        <p:spPr>
          <a:xfrm>
            <a:off x="365760" y="2916936"/>
            <a:ext cx="8412480" cy="347472"/>
          </a:xfrm>
          <a:prstGeom prst="rect">
            <a:avLst/>
          </a:prstGeom>
          <a:solidFill>
            <a:srgbClr val="1E3A5F"/>
          </a:solidFill>
          <a:ln w="12700">
            <a:solidFill>
              <a:srgbClr val="1E3A5F"/>
            </a:solidFill>
            <a:prstDash val="solid"/>
          </a:ln>
        </p:spPr>
      </p:sp>
      <p:sp>
        <p:nvSpPr>
          <p:cNvPr id="21" name="Text 19"/>
          <p:cNvSpPr/>
          <p:nvPr/>
        </p:nvSpPr>
        <p:spPr>
          <a:xfrm>
            <a:off x="457200" y="2935224"/>
            <a:ext cx="1828800" cy="310896"/>
          </a:xfrm>
          <a:prstGeom prst="rect">
            <a:avLst/>
          </a:prstGeom>
          <a:noFill/>
        </p:spPr>
        <p:txBody>
          <a:bodyPr wrap="square" lIns="0" tIns="0" rIns="0" bIns="0" rtlCol="0" anchor="ctr"/>
          <a:lstStyle/>
          <a:p>
            <a:pPr marL="0" indent="0">
              <a:buNone/>
            </a:pPr>
            <a:r>
              <a:rPr lang="en-US" sz="1200" dirty="0">
                <a:solidFill>
                  <a:srgbClr val="F8FAFC"/>
                </a:solidFill>
                <a:latin typeface="Calibri" panose="020F0502020204030204" pitchFamily="34" charset="0"/>
                <a:ea typeface="Calibri" panose="020F0502020204030204" pitchFamily="34" charset="-122"/>
                <a:cs typeface="Calibri" panose="020F0502020204030204" pitchFamily="34" charset="-120"/>
              </a:rPr>
              <a:t>Collection type</a:t>
            </a:r>
            <a:endParaRPr lang="en-US" sz="1200" dirty="0"/>
          </a:p>
        </p:txBody>
      </p:sp>
      <p:sp>
        <p:nvSpPr>
          <p:cNvPr id="22" name="Text 20"/>
          <p:cNvSpPr/>
          <p:nvPr/>
        </p:nvSpPr>
        <p:spPr>
          <a:xfrm>
            <a:off x="2468880" y="2935224"/>
            <a:ext cx="3017520" cy="310896"/>
          </a:xfrm>
          <a:prstGeom prst="rect">
            <a:avLst/>
          </a:prstGeom>
          <a:noFill/>
        </p:spPr>
        <p:txBody>
          <a:bodyPr wrap="square" lIns="0" tIns="0" rIns="0" bIns="0" rtlCol="0" anchor="ctr"/>
          <a:lstStyle/>
          <a:p>
            <a:pPr marL="0" indent="0">
              <a:buNone/>
            </a:pPr>
            <a:r>
              <a:rPr lang="en-US" sz="1200" dirty="0">
                <a:solidFill>
                  <a:srgbClr val="F8FAFC"/>
                </a:solidFill>
                <a:latin typeface="Consolas" panose="020B0609020204030204" pitchFamily="34" charset="0"/>
                <a:ea typeface="Consolas" panose="020B0609020204030204" pitchFamily="34" charset="-122"/>
                <a:cs typeface="Consolas" panose="020B0609020204030204" pitchFamily="34" charset="-120"/>
              </a:rPr>
              <a:t>—</a:t>
            </a:r>
            <a:endParaRPr lang="en-US" sz="1200" dirty="0"/>
          </a:p>
        </p:txBody>
      </p:sp>
      <p:sp>
        <p:nvSpPr>
          <p:cNvPr id="23" name="Text 21"/>
          <p:cNvSpPr/>
          <p:nvPr/>
        </p:nvSpPr>
        <p:spPr>
          <a:xfrm>
            <a:off x="5669280" y="2935224"/>
            <a:ext cx="3017520" cy="310896"/>
          </a:xfrm>
          <a:prstGeom prst="rect">
            <a:avLst/>
          </a:prstGeom>
          <a:noFill/>
        </p:spPr>
        <p:txBody>
          <a:bodyPr wrap="square" lIns="0" tIns="0" rIns="0" bIns="0" rtlCol="0" anchor="ctr"/>
          <a:lstStyle/>
          <a:p>
            <a:pPr marL="0" indent="0">
              <a:buNone/>
            </a:pPr>
            <a:r>
              <a:rPr lang="en-US" sz="1200" dirty="0">
                <a:solidFill>
                  <a:srgbClr val="F8FAFC"/>
                </a:solidFill>
                <a:latin typeface="Consolas" panose="020B0609020204030204" pitchFamily="34" charset="0"/>
                <a:ea typeface="Consolas" panose="020B0609020204030204" pitchFamily="34" charset="-122"/>
                <a:cs typeface="Consolas" panose="020B0609020204030204" pitchFamily="34" charset="-120"/>
              </a:rPr>
              <a:t>Static NodeList</a:t>
            </a:r>
            <a:endParaRPr lang="en-US" sz="1200" dirty="0"/>
          </a:p>
        </p:txBody>
      </p:sp>
      <p:sp>
        <p:nvSpPr>
          <p:cNvPr id="24" name="Shape 22"/>
          <p:cNvSpPr/>
          <p:nvPr/>
        </p:nvSpPr>
        <p:spPr>
          <a:xfrm>
            <a:off x="365760" y="3264408"/>
            <a:ext cx="8412480" cy="347472"/>
          </a:xfrm>
          <a:prstGeom prst="rect">
            <a:avLst/>
          </a:prstGeom>
          <a:solidFill>
            <a:srgbClr val="1E293B"/>
          </a:solidFill>
          <a:ln w="12700">
            <a:solidFill>
              <a:srgbClr val="1E293B"/>
            </a:solidFill>
            <a:prstDash val="solid"/>
          </a:ln>
        </p:spPr>
      </p:sp>
      <p:sp>
        <p:nvSpPr>
          <p:cNvPr id="25" name="Text 23"/>
          <p:cNvSpPr/>
          <p:nvPr/>
        </p:nvSpPr>
        <p:spPr>
          <a:xfrm>
            <a:off x="457200" y="3282696"/>
            <a:ext cx="1828800" cy="310896"/>
          </a:xfrm>
          <a:prstGeom prst="rect">
            <a:avLst/>
          </a:prstGeom>
          <a:noFill/>
        </p:spPr>
        <p:txBody>
          <a:bodyPr wrap="square" lIns="0" tIns="0" rIns="0" bIns="0" rtlCol="0" anchor="ctr"/>
          <a:lstStyle/>
          <a:p>
            <a:pPr marL="0" indent="0">
              <a:buNone/>
            </a:pPr>
            <a:r>
              <a:rPr lang="en-US" sz="1200" dirty="0">
                <a:solidFill>
                  <a:srgbClr val="F8FAFC"/>
                </a:solidFill>
                <a:latin typeface="Calibri" panose="020F0502020204030204" pitchFamily="34" charset="0"/>
                <a:ea typeface="Calibri" panose="020F0502020204030204" pitchFamily="34" charset="-122"/>
                <a:cs typeface="Calibri" panose="020F0502020204030204" pitchFamily="34" charset="-120"/>
              </a:rPr>
              <a:t>forEach() support</a:t>
            </a:r>
            <a:endParaRPr lang="en-US" sz="1200" dirty="0"/>
          </a:p>
        </p:txBody>
      </p:sp>
      <p:sp>
        <p:nvSpPr>
          <p:cNvPr id="26" name="Text 24"/>
          <p:cNvSpPr/>
          <p:nvPr/>
        </p:nvSpPr>
        <p:spPr>
          <a:xfrm>
            <a:off x="2468880" y="3282696"/>
            <a:ext cx="3017520" cy="310896"/>
          </a:xfrm>
          <a:prstGeom prst="rect">
            <a:avLst/>
          </a:prstGeom>
          <a:noFill/>
        </p:spPr>
        <p:txBody>
          <a:bodyPr wrap="square" lIns="0" tIns="0" rIns="0" bIns="0" rtlCol="0" anchor="ctr"/>
          <a:lstStyle/>
          <a:p>
            <a:pPr marL="0" indent="0">
              <a:buNone/>
            </a:pPr>
            <a:r>
              <a:rPr lang="en-US" sz="1200" dirty="0">
                <a:solidFill>
                  <a:srgbClr val="F8FAFC"/>
                </a:solidFill>
                <a:latin typeface="Consolas" panose="020B0609020204030204" pitchFamily="34" charset="0"/>
                <a:ea typeface="Consolas" panose="020B0609020204030204" pitchFamily="34" charset="-122"/>
                <a:cs typeface="Consolas" panose="020B0609020204030204" pitchFamily="34" charset="-120"/>
              </a:rPr>
              <a:t>—</a:t>
            </a:r>
            <a:endParaRPr lang="en-US" sz="1200" dirty="0"/>
          </a:p>
        </p:txBody>
      </p:sp>
      <p:sp>
        <p:nvSpPr>
          <p:cNvPr id="27" name="Text 25"/>
          <p:cNvSpPr/>
          <p:nvPr/>
        </p:nvSpPr>
        <p:spPr>
          <a:xfrm>
            <a:off x="5669280" y="3282696"/>
            <a:ext cx="3017520" cy="310896"/>
          </a:xfrm>
          <a:prstGeom prst="rect">
            <a:avLst/>
          </a:prstGeom>
          <a:noFill/>
        </p:spPr>
        <p:txBody>
          <a:bodyPr wrap="square" lIns="0" tIns="0" rIns="0" bIns="0" rtlCol="0" anchor="ctr"/>
          <a:lstStyle/>
          <a:p>
            <a:pPr marL="0" indent="0">
              <a:buNone/>
            </a:pPr>
            <a:r>
              <a:rPr lang="en-US" sz="1200" dirty="0">
                <a:solidFill>
                  <a:srgbClr val="F8FAFC"/>
                </a:solidFill>
                <a:latin typeface="Consolas" panose="020B0609020204030204" pitchFamily="34" charset="0"/>
                <a:ea typeface="Consolas" panose="020B0609020204030204" pitchFamily="34" charset="-122"/>
                <a:cs typeface="Consolas" panose="020B0609020204030204" pitchFamily="34" charset="-120"/>
              </a:rPr>
              <a:t>✔  Direct forEach() support</a:t>
            </a:r>
            <a:endParaRPr lang="en-US" sz="1200" dirty="0"/>
          </a:p>
        </p:txBody>
      </p:sp>
      <p:sp>
        <p:nvSpPr>
          <p:cNvPr id="28" name="Shape 26"/>
          <p:cNvSpPr/>
          <p:nvPr/>
        </p:nvSpPr>
        <p:spPr>
          <a:xfrm>
            <a:off x="365760" y="3611880"/>
            <a:ext cx="8412480" cy="347472"/>
          </a:xfrm>
          <a:prstGeom prst="rect">
            <a:avLst/>
          </a:prstGeom>
          <a:solidFill>
            <a:srgbClr val="1E3A5F"/>
          </a:solidFill>
          <a:ln w="12700">
            <a:solidFill>
              <a:srgbClr val="1E3A5F"/>
            </a:solidFill>
            <a:prstDash val="solid"/>
          </a:ln>
        </p:spPr>
      </p:sp>
      <p:sp>
        <p:nvSpPr>
          <p:cNvPr id="29" name="Text 27"/>
          <p:cNvSpPr/>
          <p:nvPr/>
        </p:nvSpPr>
        <p:spPr>
          <a:xfrm>
            <a:off x="457200" y="3630168"/>
            <a:ext cx="1828800" cy="310896"/>
          </a:xfrm>
          <a:prstGeom prst="rect">
            <a:avLst/>
          </a:prstGeom>
          <a:noFill/>
        </p:spPr>
        <p:txBody>
          <a:bodyPr wrap="square" lIns="0" tIns="0" rIns="0" bIns="0" rtlCol="0" anchor="ctr"/>
          <a:lstStyle/>
          <a:p>
            <a:pPr marL="0" indent="0">
              <a:buNone/>
            </a:pPr>
            <a:r>
              <a:rPr lang="en-US" sz="1200" dirty="0">
                <a:solidFill>
                  <a:srgbClr val="F8FAFC"/>
                </a:solidFill>
                <a:latin typeface="Calibri" panose="020F0502020204030204" pitchFamily="34" charset="0"/>
                <a:ea typeface="Calibri" panose="020F0502020204030204" pitchFamily="34" charset="-122"/>
                <a:cs typeface="Calibri" panose="020F0502020204030204" pitchFamily="34" charset="-120"/>
              </a:rPr>
              <a:t>Use case</a:t>
            </a:r>
            <a:endParaRPr lang="en-US" sz="1200" dirty="0"/>
          </a:p>
        </p:txBody>
      </p:sp>
      <p:sp>
        <p:nvSpPr>
          <p:cNvPr id="30" name="Text 28"/>
          <p:cNvSpPr/>
          <p:nvPr/>
        </p:nvSpPr>
        <p:spPr>
          <a:xfrm>
            <a:off x="2468880" y="3630168"/>
            <a:ext cx="3017520" cy="310896"/>
          </a:xfrm>
          <a:prstGeom prst="rect">
            <a:avLst/>
          </a:prstGeom>
          <a:noFill/>
        </p:spPr>
        <p:txBody>
          <a:bodyPr wrap="square" lIns="0" tIns="0" rIns="0" bIns="0" rtlCol="0" anchor="ctr"/>
          <a:lstStyle/>
          <a:p>
            <a:pPr marL="0" indent="0">
              <a:buNone/>
            </a:pPr>
            <a:r>
              <a:rPr lang="en-US" sz="1200" dirty="0">
                <a:solidFill>
                  <a:srgbClr val="F8FAFC"/>
                </a:solidFill>
                <a:latin typeface="Consolas" panose="020B0609020204030204" pitchFamily="34" charset="0"/>
                <a:ea typeface="Consolas" panose="020B0609020204030204" pitchFamily="34" charset="-122"/>
                <a:cs typeface="Consolas" panose="020B0609020204030204" pitchFamily="34" charset="-120"/>
              </a:rPr>
              <a:t>When you want one result</a:t>
            </a:r>
            <a:endParaRPr lang="en-US" sz="1200" dirty="0"/>
          </a:p>
        </p:txBody>
      </p:sp>
      <p:sp>
        <p:nvSpPr>
          <p:cNvPr id="31" name="Text 29"/>
          <p:cNvSpPr/>
          <p:nvPr/>
        </p:nvSpPr>
        <p:spPr>
          <a:xfrm>
            <a:off x="5669280" y="3630168"/>
            <a:ext cx="3017520" cy="310896"/>
          </a:xfrm>
          <a:prstGeom prst="rect">
            <a:avLst/>
          </a:prstGeom>
          <a:noFill/>
        </p:spPr>
        <p:txBody>
          <a:bodyPr wrap="square" lIns="0" tIns="0" rIns="0" bIns="0" rtlCol="0" anchor="ctr"/>
          <a:lstStyle/>
          <a:p>
            <a:pPr marL="0" indent="0">
              <a:buNone/>
            </a:pPr>
            <a:r>
              <a:rPr lang="en-US" sz="1200" dirty="0">
                <a:solidFill>
                  <a:srgbClr val="F8FAFC"/>
                </a:solidFill>
                <a:latin typeface="Consolas" panose="020B0609020204030204" pitchFamily="34" charset="0"/>
                <a:ea typeface="Consolas" panose="020B0609020204030204" pitchFamily="34" charset="-122"/>
                <a:cs typeface="Consolas" panose="020B0609020204030204" pitchFamily="34" charset="-120"/>
              </a:rPr>
              <a:t>When you want all results</a:t>
            </a:r>
            <a:endParaRPr lang="en-US" sz="1200" dirty="0"/>
          </a:p>
        </p:txBody>
      </p:sp>
      <p:sp>
        <p:nvSpPr>
          <p:cNvPr id="32" name="Shape 30"/>
          <p:cNvSpPr/>
          <p:nvPr/>
        </p:nvSpPr>
        <p:spPr>
          <a:xfrm>
            <a:off x="365760" y="4005072"/>
            <a:ext cx="8412480" cy="868680"/>
          </a:xfrm>
          <a:prstGeom prst="rect">
            <a:avLst/>
          </a:prstGeom>
          <a:solidFill>
            <a:srgbClr val="0D1117"/>
          </a:solidFill>
          <a:ln w="12700">
            <a:solidFill>
              <a:srgbClr val="FCD34D"/>
            </a:solidFill>
            <a:prstDash val="solid"/>
          </a:ln>
        </p:spPr>
      </p:sp>
      <p:sp>
        <p:nvSpPr>
          <p:cNvPr id="33" name="Text 31"/>
          <p:cNvSpPr/>
          <p:nvPr/>
        </p:nvSpPr>
        <p:spPr>
          <a:xfrm>
            <a:off x="548640" y="4041648"/>
            <a:ext cx="8046720" cy="804672"/>
          </a:xfrm>
          <a:prstGeom prst="rect">
            <a:avLst/>
          </a:prstGeom>
          <a:noFill/>
        </p:spPr>
        <p:txBody>
          <a:bodyPr wrap="square" lIns="0" tIns="0" rIns="0" bIns="0" rtlCol="0" anchor="ctr"/>
          <a:lstStyle/>
          <a:p>
            <a:pPr marL="0" indent="0">
              <a:buNone/>
            </a:pPr>
            <a:r>
              <a:rPr lang="en-US" sz="12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items = document.querySelectorAll('.list-item');</a:t>
            </a:r>
            <a:endParaRPr lang="en-US" sz="1200" dirty="0"/>
          </a:p>
          <a:p>
            <a:pPr marL="0" indent="0">
              <a:buNone/>
            </a:pPr>
            <a:r>
              <a:rPr lang="en-US" sz="1200" dirty="0">
                <a:solidFill>
                  <a:srgbClr val="A5F3FC"/>
                </a:solidFill>
                <a:latin typeface="Consolas" panose="020B0609020204030204" pitchFamily="34" charset="0"/>
                <a:ea typeface="Consolas" panose="020B0609020204030204" pitchFamily="34" charset="-122"/>
                <a:cs typeface="Consolas" panose="020B0609020204030204" pitchFamily="34" charset="-120"/>
              </a:rPr>
              <a:t>items.forEach(item =&gt; item.style.background = 'lightblue');</a:t>
            </a:r>
            <a:endParaRPr lang="en-US" sz="1200" dirty="0"/>
          </a:p>
          <a:p>
            <a:pPr marL="0" indent="0">
              <a:buNone/>
            </a:pPr>
            <a:r>
              <a:rPr lang="en-US" sz="12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console.log(items.length);   // logs total count of matching elements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B82F6"/>
          </a:solidFill>
          <a:ln w="12700">
            <a:solidFill>
              <a:srgbClr val="3B82F6"/>
            </a:solidFill>
            <a:prstDash val="solid"/>
          </a:ln>
        </p:spPr>
      </p:sp>
      <p:sp>
        <p:nvSpPr>
          <p:cNvPr id="3" name="Text 1"/>
          <p:cNvSpPr/>
          <p:nvPr/>
        </p:nvSpPr>
        <p:spPr>
          <a:xfrm>
            <a:off x="365760" y="137160"/>
            <a:ext cx="8412480" cy="411480"/>
          </a:xfrm>
          <a:prstGeom prst="rect">
            <a:avLst/>
          </a:prstGeom>
          <a:noFill/>
        </p:spPr>
        <p:txBody>
          <a:bodyPr wrap="square" lIns="0" tIns="0" rIns="0" bIns="0" rtlCol="0" anchor="ctr"/>
          <a:lstStyle/>
          <a:p>
            <a:pPr marL="0" indent="0">
              <a:buNone/>
            </a:pPr>
            <a:r>
              <a:rPr lang="en-US" sz="2200" b="1" dirty="0">
                <a:solidFill>
                  <a:srgbClr val="F8FAFC"/>
                </a:solidFill>
                <a:latin typeface="Calibri" panose="020F0502020204030204" pitchFamily="34" charset="0"/>
                <a:ea typeface="Calibri" panose="020F0502020204030204" pitchFamily="34" charset="-122"/>
                <a:cs typeface="Calibri" panose="020F0502020204030204" pitchFamily="34" charset="-120"/>
              </a:rPr>
              <a:t>DOM Selection — Complete Comparison Cheatsheet</a:t>
            </a:r>
            <a:endParaRPr lang="en-US" sz="2200" dirty="0"/>
          </a:p>
        </p:txBody>
      </p:sp>
      <p:sp>
        <p:nvSpPr>
          <p:cNvPr id="4" name="Shape 2"/>
          <p:cNvSpPr/>
          <p:nvPr/>
        </p:nvSpPr>
        <p:spPr>
          <a:xfrm>
            <a:off x="365760" y="576072"/>
            <a:ext cx="8412480" cy="36576"/>
          </a:xfrm>
          <a:prstGeom prst="rect">
            <a:avLst/>
          </a:prstGeom>
          <a:solidFill>
            <a:srgbClr val="1E293B"/>
          </a:solidFill>
          <a:ln w="12700">
            <a:solidFill>
              <a:srgbClr val="1E293B"/>
            </a:solidFill>
            <a:prstDash val="solid"/>
          </a:ln>
        </p:spPr>
      </p:sp>
      <p:sp>
        <p:nvSpPr>
          <p:cNvPr id="5" name="Shape 3"/>
          <p:cNvSpPr/>
          <p:nvPr/>
        </p:nvSpPr>
        <p:spPr>
          <a:xfrm>
            <a:off x="365760" y="658368"/>
            <a:ext cx="2011680" cy="347472"/>
          </a:xfrm>
          <a:prstGeom prst="rect">
            <a:avLst/>
          </a:prstGeom>
          <a:solidFill>
            <a:srgbClr val="3B82F6"/>
          </a:solidFill>
          <a:ln w="12700">
            <a:solidFill>
              <a:srgbClr val="3B82F6"/>
            </a:solidFill>
            <a:prstDash val="solid"/>
          </a:ln>
        </p:spPr>
      </p:sp>
      <p:sp>
        <p:nvSpPr>
          <p:cNvPr id="6" name="Text 4"/>
          <p:cNvSpPr/>
          <p:nvPr/>
        </p:nvSpPr>
        <p:spPr>
          <a:xfrm>
            <a:off x="411480" y="658368"/>
            <a:ext cx="1920240" cy="347472"/>
          </a:xfrm>
          <a:prstGeom prst="rect">
            <a:avLst/>
          </a:prstGeom>
          <a:noFill/>
        </p:spPr>
        <p:txBody>
          <a:bodyPr wrap="square" lIns="0" tIns="0" rIns="0" bIns="0" rtlCol="0" anchor="ctr"/>
          <a:lstStyle/>
          <a:p>
            <a:pPr marL="0" indent="0" algn="ctr">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Method</a:t>
            </a:r>
            <a:endParaRPr lang="en-US" sz="1200" dirty="0"/>
          </a:p>
        </p:txBody>
      </p:sp>
      <p:sp>
        <p:nvSpPr>
          <p:cNvPr id="7" name="Shape 5"/>
          <p:cNvSpPr/>
          <p:nvPr/>
        </p:nvSpPr>
        <p:spPr>
          <a:xfrm>
            <a:off x="2377440" y="658368"/>
            <a:ext cx="1828800" cy="347472"/>
          </a:xfrm>
          <a:prstGeom prst="rect">
            <a:avLst/>
          </a:prstGeom>
          <a:solidFill>
            <a:srgbClr val="3B82F6"/>
          </a:solidFill>
          <a:ln w="12700">
            <a:solidFill>
              <a:srgbClr val="3B82F6"/>
            </a:solidFill>
            <a:prstDash val="solid"/>
          </a:ln>
        </p:spPr>
      </p:sp>
      <p:sp>
        <p:nvSpPr>
          <p:cNvPr id="8" name="Text 6"/>
          <p:cNvSpPr/>
          <p:nvPr/>
        </p:nvSpPr>
        <p:spPr>
          <a:xfrm>
            <a:off x="2423160" y="658368"/>
            <a:ext cx="1737360" cy="347472"/>
          </a:xfrm>
          <a:prstGeom prst="rect">
            <a:avLst/>
          </a:prstGeom>
          <a:noFill/>
        </p:spPr>
        <p:txBody>
          <a:bodyPr wrap="square" lIns="0" tIns="0" rIns="0" bIns="0" rtlCol="0" anchor="ctr"/>
          <a:lstStyle/>
          <a:p>
            <a:pPr marL="0" indent="0" algn="ctr">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Selector Type</a:t>
            </a:r>
            <a:endParaRPr lang="en-US" sz="1200" dirty="0"/>
          </a:p>
        </p:txBody>
      </p:sp>
      <p:sp>
        <p:nvSpPr>
          <p:cNvPr id="9" name="Shape 7"/>
          <p:cNvSpPr/>
          <p:nvPr/>
        </p:nvSpPr>
        <p:spPr>
          <a:xfrm>
            <a:off x="4206240" y="658368"/>
            <a:ext cx="1645920" cy="347472"/>
          </a:xfrm>
          <a:prstGeom prst="rect">
            <a:avLst/>
          </a:prstGeom>
          <a:solidFill>
            <a:srgbClr val="3B82F6"/>
          </a:solidFill>
          <a:ln w="12700">
            <a:solidFill>
              <a:srgbClr val="3B82F6"/>
            </a:solidFill>
            <a:prstDash val="solid"/>
          </a:ln>
        </p:spPr>
      </p:sp>
      <p:sp>
        <p:nvSpPr>
          <p:cNvPr id="10" name="Text 8"/>
          <p:cNvSpPr/>
          <p:nvPr/>
        </p:nvSpPr>
        <p:spPr>
          <a:xfrm>
            <a:off x="4251960" y="658368"/>
            <a:ext cx="1554480" cy="347472"/>
          </a:xfrm>
          <a:prstGeom prst="rect">
            <a:avLst/>
          </a:prstGeom>
          <a:noFill/>
        </p:spPr>
        <p:txBody>
          <a:bodyPr wrap="square" lIns="0" tIns="0" rIns="0" bIns="0" rtlCol="0" anchor="ctr"/>
          <a:lstStyle/>
          <a:p>
            <a:pPr marL="0" indent="0" algn="ctr">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Returns</a:t>
            </a:r>
            <a:endParaRPr lang="en-US" sz="1200" dirty="0"/>
          </a:p>
        </p:txBody>
      </p:sp>
      <p:sp>
        <p:nvSpPr>
          <p:cNvPr id="11" name="Shape 9"/>
          <p:cNvSpPr/>
          <p:nvPr/>
        </p:nvSpPr>
        <p:spPr>
          <a:xfrm>
            <a:off x="5852160" y="658368"/>
            <a:ext cx="731520" cy="347472"/>
          </a:xfrm>
          <a:prstGeom prst="rect">
            <a:avLst/>
          </a:prstGeom>
          <a:solidFill>
            <a:srgbClr val="3B82F6"/>
          </a:solidFill>
          <a:ln w="12700">
            <a:solidFill>
              <a:srgbClr val="3B82F6"/>
            </a:solidFill>
            <a:prstDash val="solid"/>
          </a:ln>
        </p:spPr>
      </p:sp>
      <p:sp>
        <p:nvSpPr>
          <p:cNvPr id="12" name="Text 10"/>
          <p:cNvSpPr/>
          <p:nvPr/>
        </p:nvSpPr>
        <p:spPr>
          <a:xfrm>
            <a:off x="5897880" y="658368"/>
            <a:ext cx="640080" cy="347472"/>
          </a:xfrm>
          <a:prstGeom prst="rect">
            <a:avLst/>
          </a:prstGeom>
          <a:noFill/>
        </p:spPr>
        <p:txBody>
          <a:bodyPr wrap="square" lIns="0" tIns="0" rIns="0" bIns="0" rtlCol="0" anchor="ctr"/>
          <a:lstStyle/>
          <a:p>
            <a:pPr marL="0" indent="0" algn="ctr">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Live?</a:t>
            </a:r>
            <a:endParaRPr lang="en-US" sz="1200" dirty="0"/>
          </a:p>
        </p:txBody>
      </p:sp>
      <p:sp>
        <p:nvSpPr>
          <p:cNvPr id="13" name="Shape 11"/>
          <p:cNvSpPr/>
          <p:nvPr/>
        </p:nvSpPr>
        <p:spPr>
          <a:xfrm>
            <a:off x="6583680" y="658368"/>
            <a:ext cx="2194560" cy="347472"/>
          </a:xfrm>
          <a:prstGeom prst="rect">
            <a:avLst/>
          </a:prstGeom>
          <a:solidFill>
            <a:srgbClr val="3B82F6"/>
          </a:solidFill>
          <a:ln w="12700">
            <a:solidFill>
              <a:srgbClr val="3B82F6"/>
            </a:solidFill>
            <a:prstDash val="solid"/>
          </a:ln>
        </p:spPr>
      </p:sp>
      <p:sp>
        <p:nvSpPr>
          <p:cNvPr id="14" name="Text 12"/>
          <p:cNvSpPr/>
          <p:nvPr/>
        </p:nvSpPr>
        <p:spPr>
          <a:xfrm>
            <a:off x="6629400" y="658368"/>
            <a:ext cx="2103120" cy="347472"/>
          </a:xfrm>
          <a:prstGeom prst="rect">
            <a:avLst/>
          </a:prstGeom>
          <a:noFill/>
        </p:spPr>
        <p:txBody>
          <a:bodyPr wrap="square" lIns="0" tIns="0" rIns="0" bIns="0" rtlCol="0" anchor="ctr"/>
          <a:lstStyle/>
          <a:p>
            <a:pPr marL="0" indent="0" algn="ctr">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Best For</a:t>
            </a:r>
            <a:endParaRPr lang="en-US" sz="1200" dirty="0"/>
          </a:p>
        </p:txBody>
      </p:sp>
      <p:sp>
        <p:nvSpPr>
          <p:cNvPr id="15" name="Shape 13"/>
          <p:cNvSpPr/>
          <p:nvPr/>
        </p:nvSpPr>
        <p:spPr>
          <a:xfrm>
            <a:off x="365760" y="1024128"/>
            <a:ext cx="2011680" cy="585216"/>
          </a:xfrm>
          <a:prstGeom prst="rect">
            <a:avLst/>
          </a:prstGeom>
          <a:solidFill>
            <a:srgbClr val="1E293B"/>
          </a:solidFill>
          <a:ln w="12700">
            <a:solidFill>
              <a:srgbClr val="1A2535"/>
            </a:solidFill>
            <a:prstDash val="solid"/>
          </a:ln>
        </p:spPr>
      </p:sp>
      <p:sp>
        <p:nvSpPr>
          <p:cNvPr id="16" name="Text 14"/>
          <p:cNvSpPr/>
          <p:nvPr/>
        </p:nvSpPr>
        <p:spPr>
          <a:xfrm>
            <a:off x="411480" y="1042416"/>
            <a:ext cx="192024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getElementById()</a:t>
            </a:r>
            <a:endParaRPr lang="en-US" sz="1100" dirty="0"/>
          </a:p>
        </p:txBody>
      </p:sp>
      <p:sp>
        <p:nvSpPr>
          <p:cNvPr id="17" name="Shape 15"/>
          <p:cNvSpPr/>
          <p:nvPr/>
        </p:nvSpPr>
        <p:spPr>
          <a:xfrm>
            <a:off x="2377440" y="1024128"/>
            <a:ext cx="1828800" cy="585216"/>
          </a:xfrm>
          <a:prstGeom prst="rect">
            <a:avLst/>
          </a:prstGeom>
          <a:solidFill>
            <a:srgbClr val="1E293B"/>
          </a:solidFill>
          <a:ln w="12700">
            <a:solidFill>
              <a:srgbClr val="1A2535"/>
            </a:solidFill>
            <a:prstDash val="solid"/>
          </a:ln>
        </p:spPr>
      </p:sp>
      <p:sp>
        <p:nvSpPr>
          <p:cNvPr id="18" name="Text 16"/>
          <p:cNvSpPr/>
          <p:nvPr/>
        </p:nvSpPr>
        <p:spPr>
          <a:xfrm>
            <a:off x="2423160" y="1042416"/>
            <a:ext cx="173736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ID (#id)</a:t>
            </a:r>
            <a:endParaRPr lang="en-US" sz="1100" dirty="0"/>
          </a:p>
        </p:txBody>
      </p:sp>
      <p:sp>
        <p:nvSpPr>
          <p:cNvPr id="19" name="Shape 17"/>
          <p:cNvSpPr/>
          <p:nvPr/>
        </p:nvSpPr>
        <p:spPr>
          <a:xfrm>
            <a:off x="4206240" y="1024128"/>
            <a:ext cx="1645920" cy="585216"/>
          </a:xfrm>
          <a:prstGeom prst="rect">
            <a:avLst/>
          </a:prstGeom>
          <a:solidFill>
            <a:srgbClr val="1E293B"/>
          </a:solidFill>
          <a:ln w="12700">
            <a:solidFill>
              <a:srgbClr val="1A2535"/>
            </a:solidFill>
            <a:prstDash val="solid"/>
          </a:ln>
        </p:spPr>
      </p:sp>
      <p:sp>
        <p:nvSpPr>
          <p:cNvPr id="20" name="Text 18"/>
          <p:cNvSpPr/>
          <p:nvPr/>
        </p:nvSpPr>
        <p:spPr>
          <a:xfrm>
            <a:off x="4251960" y="1042416"/>
            <a:ext cx="155448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1 Element / null</a:t>
            </a:r>
            <a:endParaRPr lang="en-US" sz="1100" dirty="0"/>
          </a:p>
        </p:txBody>
      </p:sp>
      <p:sp>
        <p:nvSpPr>
          <p:cNvPr id="21" name="Shape 19"/>
          <p:cNvSpPr/>
          <p:nvPr/>
        </p:nvSpPr>
        <p:spPr>
          <a:xfrm>
            <a:off x="5852160" y="1024128"/>
            <a:ext cx="731520" cy="585216"/>
          </a:xfrm>
          <a:prstGeom prst="rect">
            <a:avLst/>
          </a:prstGeom>
          <a:solidFill>
            <a:srgbClr val="1E293B"/>
          </a:solidFill>
          <a:ln w="12700">
            <a:solidFill>
              <a:srgbClr val="1A2535"/>
            </a:solidFill>
            <a:prstDash val="solid"/>
          </a:ln>
        </p:spPr>
      </p:sp>
      <p:sp>
        <p:nvSpPr>
          <p:cNvPr id="22" name="Text 20"/>
          <p:cNvSpPr/>
          <p:nvPr/>
        </p:nvSpPr>
        <p:spPr>
          <a:xfrm>
            <a:off x="5897880" y="1042416"/>
            <a:ext cx="640080" cy="548640"/>
          </a:xfrm>
          <a:prstGeom prst="rect">
            <a:avLst/>
          </a:prstGeom>
          <a:noFill/>
        </p:spPr>
        <p:txBody>
          <a:bodyPr wrap="square" lIns="0" tIns="0" rIns="0" bIns="0" rtlCol="0" anchor="ctr"/>
          <a:lstStyle/>
          <a:p>
            <a:pPr marL="0" indent="0">
              <a:buNone/>
            </a:pPr>
            <a:r>
              <a:rPr lang="en-US" sz="1100" dirty="0">
                <a:solidFill>
                  <a:srgbClr val="F59E0B"/>
                </a:solidFill>
                <a:latin typeface="Consolas" panose="020B0609020204030204" pitchFamily="34" charset="0"/>
                <a:ea typeface="Consolas" panose="020B0609020204030204" pitchFamily="34" charset="-122"/>
                <a:cs typeface="Consolas" panose="020B0609020204030204" pitchFamily="34" charset="-120"/>
              </a:rPr>
              <a:t>N/A</a:t>
            </a:r>
            <a:endParaRPr lang="en-US" sz="1100" dirty="0"/>
          </a:p>
        </p:txBody>
      </p:sp>
      <p:sp>
        <p:nvSpPr>
          <p:cNvPr id="23" name="Shape 21"/>
          <p:cNvSpPr/>
          <p:nvPr/>
        </p:nvSpPr>
        <p:spPr>
          <a:xfrm>
            <a:off x="6583680" y="1024128"/>
            <a:ext cx="2194560" cy="585216"/>
          </a:xfrm>
          <a:prstGeom prst="rect">
            <a:avLst/>
          </a:prstGeom>
          <a:solidFill>
            <a:srgbClr val="1E293B"/>
          </a:solidFill>
          <a:ln w="12700">
            <a:solidFill>
              <a:srgbClr val="1A2535"/>
            </a:solidFill>
            <a:prstDash val="solid"/>
          </a:ln>
        </p:spPr>
      </p:sp>
      <p:sp>
        <p:nvSpPr>
          <p:cNvPr id="24" name="Text 22"/>
          <p:cNvSpPr/>
          <p:nvPr/>
        </p:nvSpPr>
        <p:spPr>
          <a:xfrm>
            <a:off x="6629400" y="1042416"/>
            <a:ext cx="210312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Unique elements</a:t>
            </a:r>
            <a:endParaRPr lang="en-US" sz="1100" dirty="0"/>
          </a:p>
        </p:txBody>
      </p:sp>
      <p:sp>
        <p:nvSpPr>
          <p:cNvPr id="25" name="Shape 23"/>
          <p:cNvSpPr/>
          <p:nvPr/>
        </p:nvSpPr>
        <p:spPr>
          <a:xfrm>
            <a:off x="365760" y="1609344"/>
            <a:ext cx="2011680" cy="585216"/>
          </a:xfrm>
          <a:prstGeom prst="rect">
            <a:avLst/>
          </a:prstGeom>
          <a:solidFill>
            <a:srgbClr val="1E3A5F"/>
          </a:solidFill>
          <a:ln w="12700">
            <a:solidFill>
              <a:srgbClr val="1A2535"/>
            </a:solidFill>
            <a:prstDash val="solid"/>
          </a:ln>
        </p:spPr>
      </p:sp>
      <p:sp>
        <p:nvSpPr>
          <p:cNvPr id="26" name="Text 24"/>
          <p:cNvSpPr/>
          <p:nvPr/>
        </p:nvSpPr>
        <p:spPr>
          <a:xfrm>
            <a:off x="411480" y="1627632"/>
            <a:ext cx="192024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getElementsByClass</a:t>
            </a:r>
            <a:endParaRPr lang="en-US" sz="1100" dirty="0"/>
          </a:p>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Name()</a:t>
            </a:r>
            <a:endParaRPr lang="en-US" sz="1100" dirty="0"/>
          </a:p>
        </p:txBody>
      </p:sp>
      <p:sp>
        <p:nvSpPr>
          <p:cNvPr id="27" name="Shape 25"/>
          <p:cNvSpPr/>
          <p:nvPr/>
        </p:nvSpPr>
        <p:spPr>
          <a:xfrm>
            <a:off x="2377440" y="1609344"/>
            <a:ext cx="1828800" cy="585216"/>
          </a:xfrm>
          <a:prstGeom prst="rect">
            <a:avLst/>
          </a:prstGeom>
          <a:solidFill>
            <a:srgbClr val="1E3A5F"/>
          </a:solidFill>
          <a:ln w="12700">
            <a:solidFill>
              <a:srgbClr val="1A2535"/>
            </a:solidFill>
            <a:prstDash val="solid"/>
          </a:ln>
        </p:spPr>
      </p:sp>
      <p:sp>
        <p:nvSpPr>
          <p:cNvPr id="28" name="Text 26"/>
          <p:cNvSpPr/>
          <p:nvPr/>
        </p:nvSpPr>
        <p:spPr>
          <a:xfrm>
            <a:off x="2423160" y="1627632"/>
            <a:ext cx="173736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Class (.class)</a:t>
            </a:r>
            <a:endParaRPr lang="en-US" sz="1100" dirty="0"/>
          </a:p>
        </p:txBody>
      </p:sp>
      <p:sp>
        <p:nvSpPr>
          <p:cNvPr id="29" name="Shape 27"/>
          <p:cNvSpPr/>
          <p:nvPr/>
        </p:nvSpPr>
        <p:spPr>
          <a:xfrm>
            <a:off x="4206240" y="1609344"/>
            <a:ext cx="1645920" cy="585216"/>
          </a:xfrm>
          <a:prstGeom prst="rect">
            <a:avLst/>
          </a:prstGeom>
          <a:solidFill>
            <a:srgbClr val="1E3A5F"/>
          </a:solidFill>
          <a:ln w="12700">
            <a:solidFill>
              <a:srgbClr val="1A2535"/>
            </a:solidFill>
            <a:prstDash val="solid"/>
          </a:ln>
        </p:spPr>
      </p:sp>
      <p:sp>
        <p:nvSpPr>
          <p:cNvPr id="30" name="Text 28"/>
          <p:cNvSpPr/>
          <p:nvPr/>
        </p:nvSpPr>
        <p:spPr>
          <a:xfrm>
            <a:off x="4251960" y="1627632"/>
            <a:ext cx="155448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HTMLCollection</a:t>
            </a:r>
            <a:endParaRPr lang="en-US" sz="1100" dirty="0"/>
          </a:p>
        </p:txBody>
      </p:sp>
      <p:sp>
        <p:nvSpPr>
          <p:cNvPr id="31" name="Shape 29"/>
          <p:cNvSpPr/>
          <p:nvPr/>
        </p:nvSpPr>
        <p:spPr>
          <a:xfrm>
            <a:off x="5852160" y="1609344"/>
            <a:ext cx="731520" cy="585216"/>
          </a:xfrm>
          <a:prstGeom prst="rect">
            <a:avLst/>
          </a:prstGeom>
          <a:solidFill>
            <a:srgbClr val="1E3A5F"/>
          </a:solidFill>
          <a:ln w="12700">
            <a:solidFill>
              <a:srgbClr val="1A2535"/>
            </a:solidFill>
            <a:prstDash val="solid"/>
          </a:ln>
        </p:spPr>
      </p:sp>
      <p:sp>
        <p:nvSpPr>
          <p:cNvPr id="32" name="Text 30"/>
          <p:cNvSpPr/>
          <p:nvPr/>
        </p:nvSpPr>
        <p:spPr>
          <a:xfrm>
            <a:off x="5897880" y="1627632"/>
            <a:ext cx="640080" cy="548640"/>
          </a:xfrm>
          <a:prstGeom prst="rect">
            <a:avLst/>
          </a:prstGeom>
          <a:noFill/>
        </p:spPr>
        <p:txBody>
          <a:bodyPr wrap="square" lIns="0" tIns="0" rIns="0" bIns="0" rtlCol="0" anchor="ctr"/>
          <a:lstStyle/>
          <a:p>
            <a:pPr marL="0" indent="0">
              <a:buNone/>
            </a:pPr>
            <a:r>
              <a:rPr lang="en-US" sz="1100" dirty="0">
                <a:solidFill>
                  <a:srgbClr val="10B981"/>
                </a:solidFill>
                <a:latin typeface="Consolas" panose="020B0609020204030204" pitchFamily="34" charset="0"/>
                <a:ea typeface="Consolas" panose="020B0609020204030204" pitchFamily="34" charset="-122"/>
                <a:cs typeface="Consolas" panose="020B0609020204030204" pitchFamily="34" charset="-120"/>
              </a:rPr>
              <a:t>✔ Yes</a:t>
            </a:r>
            <a:endParaRPr lang="en-US" sz="1100" dirty="0"/>
          </a:p>
        </p:txBody>
      </p:sp>
      <p:sp>
        <p:nvSpPr>
          <p:cNvPr id="33" name="Shape 31"/>
          <p:cNvSpPr/>
          <p:nvPr/>
        </p:nvSpPr>
        <p:spPr>
          <a:xfrm>
            <a:off x="6583680" y="1609344"/>
            <a:ext cx="2194560" cy="585216"/>
          </a:xfrm>
          <a:prstGeom prst="rect">
            <a:avLst/>
          </a:prstGeom>
          <a:solidFill>
            <a:srgbClr val="1E3A5F"/>
          </a:solidFill>
          <a:ln w="12700">
            <a:solidFill>
              <a:srgbClr val="1A2535"/>
            </a:solidFill>
            <a:prstDash val="solid"/>
          </a:ln>
        </p:spPr>
      </p:sp>
      <p:sp>
        <p:nvSpPr>
          <p:cNvPr id="34" name="Text 32"/>
          <p:cNvSpPr/>
          <p:nvPr/>
        </p:nvSpPr>
        <p:spPr>
          <a:xfrm>
            <a:off x="6629400" y="1627632"/>
            <a:ext cx="210312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Multiple by class</a:t>
            </a:r>
            <a:endParaRPr lang="en-US" sz="1100" dirty="0"/>
          </a:p>
        </p:txBody>
      </p:sp>
      <p:sp>
        <p:nvSpPr>
          <p:cNvPr id="35" name="Shape 33"/>
          <p:cNvSpPr/>
          <p:nvPr/>
        </p:nvSpPr>
        <p:spPr>
          <a:xfrm>
            <a:off x="365760" y="2194560"/>
            <a:ext cx="2011680" cy="585216"/>
          </a:xfrm>
          <a:prstGeom prst="rect">
            <a:avLst/>
          </a:prstGeom>
          <a:solidFill>
            <a:srgbClr val="1E293B"/>
          </a:solidFill>
          <a:ln w="12700">
            <a:solidFill>
              <a:srgbClr val="1A2535"/>
            </a:solidFill>
            <a:prstDash val="solid"/>
          </a:ln>
        </p:spPr>
      </p:sp>
      <p:sp>
        <p:nvSpPr>
          <p:cNvPr id="36" name="Text 34"/>
          <p:cNvSpPr/>
          <p:nvPr/>
        </p:nvSpPr>
        <p:spPr>
          <a:xfrm>
            <a:off x="411480" y="2212848"/>
            <a:ext cx="192024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getElementsByTag</a:t>
            </a:r>
            <a:endParaRPr lang="en-US" sz="1100" dirty="0"/>
          </a:p>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Name()</a:t>
            </a:r>
            <a:endParaRPr lang="en-US" sz="1100" dirty="0"/>
          </a:p>
        </p:txBody>
      </p:sp>
      <p:sp>
        <p:nvSpPr>
          <p:cNvPr id="37" name="Shape 35"/>
          <p:cNvSpPr/>
          <p:nvPr/>
        </p:nvSpPr>
        <p:spPr>
          <a:xfrm>
            <a:off x="2377440" y="2194560"/>
            <a:ext cx="1828800" cy="585216"/>
          </a:xfrm>
          <a:prstGeom prst="rect">
            <a:avLst/>
          </a:prstGeom>
          <a:solidFill>
            <a:srgbClr val="1E293B"/>
          </a:solidFill>
          <a:ln w="12700">
            <a:solidFill>
              <a:srgbClr val="1A2535"/>
            </a:solidFill>
            <a:prstDash val="solid"/>
          </a:ln>
        </p:spPr>
      </p:sp>
      <p:sp>
        <p:nvSpPr>
          <p:cNvPr id="38" name="Text 36"/>
          <p:cNvSpPr/>
          <p:nvPr/>
        </p:nvSpPr>
        <p:spPr>
          <a:xfrm>
            <a:off x="2423160" y="2212848"/>
            <a:ext cx="173736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Tag (div, p…)</a:t>
            </a:r>
            <a:endParaRPr lang="en-US" sz="1100" dirty="0"/>
          </a:p>
        </p:txBody>
      </p:sp>
      <p:sp>
        <p:nvSpPr>
          <p:cNvPr id="39" name="Shape 37"/>
          <p:cNvSpPr/>
          <p:nvPr/>
        </p:nvSpPr>
        <p:spPr>
          <a:xfrm>
            <a:off x="4206240" y="2194560"/>
            <a:ext cx="1645920" cy="585216"/>
          </a:xfrm>
          <a:prstGeom prst="rect">
            <a:avLst/>
          </a:prstGeom>
          <a:solidFill>
            <a:srgbClr val="1E293B"/>
          </a:solidFill>
          <a:ln w="12700">
            <a:solidFill>
              <a:srgbClr val="1A2535"/>
            </a:solidFill>
            <a:prstDash val="solid"/>
          </a:ln>
        </p:spPr>
      </p:sp>
      <p:sp>
        <p:nvSpPr>
          <p:cNvPr id="40" name="Text 38"/>
          <p:cNvSpPr/>
          <p:nvPr/>
        </p:nvSpPr>
        <p:spPr>
          <a:xfrm>
            <a:off x="4251960" y="2212848"/>
            <a:ext cx="155448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HTMLCollection</a:t>
            </a:r>
            <a:endParaRPr lang="en-US" sz="1100" dirty="0"/>
          </a:p>
        </p:txBody>
      </p:sp>
      <p:sp>
        <p:nvSpPr>
          <p:cNvPr id="41" name="Shape 39"/>
          <p:cNvSpPr/>
          <p:nvPr/>
        </p:nvSpPr>
        <p:spPr>
          <a:xfrm>
            <a:off x="5852160" y="2194560"/>
            <a:ext cx="731520" cy="585216"/>
          </a:xfrm>
          <a:prstGeom prst="rect">
            <a:avLst/>
          </a:prstGeom>
          <a:solidFill>
            <a:srgbClr val="1E293B"/>
          </a:solidFill>
          <a:ln w="12700">
            <a:solidFill>
              <a:srgbClr val="1A2535"/>
            </a:solidFill>
            <a:prstDash val="solid"/>
          </a:ln>
        </p:spPr>
      </p:sp>
      <p:sp>
        <p:nvSpPr>
          <p:cNvPr id="42" name="Text 40"/>
          <p:cNvSpPr/>
          <p:nvPr/>
        </p:nvSpPr>
        <p:spPr>
          <a:xfrm>
            <a:off x="5897880" y="2212848"/>
            <a:ext cx="640080" cy="548640"/>
          </a:xfrm>
          <a:prstGeom prst="rect">
            <a:avLst/>
          </a:prstGeom>
          <a:noFill/>
        </p:spPr>
        <p:txBody>
          <a:bodyPr wrap="square" lIns="0" tIns="0" rIns="0" bIns="0" rtlCol="0" anchor="ctr"/>
          <a:lstStyle/>
          <a:p>
            <a:pPr marL="0" indent="0">
              <a:buNone/>
            </a:pPr>
            <a:r>
              <a:rPr lang="en-US" sz="1100" dirty="0">
                <a:solidFill>
                  <a:srgbClr val="10B981"/>
                </a:solidFill>
                <a:latin typeface="Consolas" panose="020B0609020204030204" pitchFamily="34" charset="0"/>
                <a:ea typeface="Consolas" panose="020B0609020204030204" pitchFamily="34" charset="-122"/>
                <a:cs typeface="Consolas" panose="020B0609020204030204" pitchFamily="34" charset="-120"/>
              </a:rPr>
              <a:t>✔ Yes</a:t>
            </a:r>
            <a:endParaRPr lang="en-US" sz="1100" dirty="0"/>
          </a:p>
        </p:txBody>
      </p:sp>
      <p:sp>
        <p:nvSpPr>
          <p:cNvPr id="43" name="Shape 41"/>
          <p:cNvSpPr/>
          <p:nvPr/>
        </p:nvSpPr>
        <p:spPr>
          <a:xfrm>
            <a:off x="6583680" y="2194560"/>
            <a:ext cx="2194560" cy="585216"/>
          </a:xfrm>
          <a:prstGeom prst="rect">
            <a:avLst/>
          </a:prstGeom>
          <a:solidFill>
            <a:srgbClr val="1E293B"/>
          </a:solidFill>
          <a:ln w="12700">
            <a:solidFill>
              <a:srgbClr val="1A2535"/>
            </a:solidFill>
            <a:prstDash val="solid"/>
          </a:ln>
        </p:spPr>
      </p:sp>
      <p:sp>
        <p:nvSpPr>
          <p:cNvPr id="44" name="Text 42"/>
          <p:cNvSpPr/>
          <p:nvPr/>
        </p:nvSpPr>
        <p:spPr>
          <a:xfrm>
            <a:off x="6629400" y="2212848"/>
            <a:ext cx="210312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All of a tag type</a:t>
            </a:r>
            <a:endParaRPr lang="en-US" sz="1100" dirty="0"/>
          </a:p>
        </p:txBody>
      </p:sp>
      <p:sp>
        <p:nvSpPr>
          <p:cNvPr id="45" name="Shape 43"/>
          <p:cNvSpPr/>
          <p:nvPr/>
        </p:nvSpPr>
        <p:spPr>
          <a:xfrm>
            <a:off x="365760" y="2779776"/>
            <a:ext cx="2011680" cy="585216"/>
          </a:xfrm>
          <a:prstGeom prst="rect">
            <a:avLst/>
          </a:prstGeom>
          <a:solidFill>
            <a:srgbClr val="1E3A5F"/>
          </a:solidFill>
          <a:ln w="12700">
            <a:solidFill>
              <a:srgbClr val="1A2535"/>
            </a:solidFill>
            <a:prstDash val="solid"/>
          </a:ln>
        </p:spPr>
      </p:sp>
      <p:sp>
        <p:nvSpPr>
          <p:cNvPr id="46" name="Text 44"/>
          <p:cNvSpPr/>
          <p:nvPr/>
        </p:nvSpPr>
        <p:spPr>
          <a:xfrm>
            <a:off x="411480" y="2798064"/>
            <a:ext cx="192024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querySelector()</a:t>
            </a:r>
            <a:endParaRPr lang="en-US" sz="1100" dirty="0"/>
          </a:p>
        </p:txBody>
      </p:sp>
      <p:sp>
        <p:nvSpPr>
          <p:cNvPr id="47" name="Shape 45"/>
          <p:cNvSpPr/>
          <p:nvPr/>
        </p:nvSpPr>
        <p:spPr>
          <a:xfrm>
            <a:off x="2377440" y="2779776"/>
            <a:ext cx="1828800" cy="585216"/>
          </a:xfrm>
          <a:prstGeom prst="rect">
            <a:avLst/>
          </a:prstGeom>
          <a:solidFill>
            <a:srgbClr val="1E3A5F"/>
          </a:solidFill>
          <a:ln w="12700">
            <a:solidFill>
              <a:srgbClr val="1A2535"/>
            </a:solidFill>
            <a:prstDash val="solid"/>
          </a:ln>
        </p:spPr>
      </p:sp>
      <p:sp>
        <p:nvSpPr>
          <p:cNvPr id="48" name="Text 46"/>
          <p:cNvSpPr/>
          <p:nvPr/>
        </p:nvSpPr>
        <p:spPr>
          <a:xfrm>
            <a:off x="2423160" y="2798064"/>
            <a:ext cx="173736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Any CSS</a:t>
            </a:r>
            <a:endParaRPr lang="en-US" sz="1100" dirty="0"/>
          </a:p>
        </p:txBody>
      </p:sp>
      <p:sp>
        <p:nvSpPr>
          <p:cNvPr id="49" name="Shape 47"/>
          <p:cNvSpPr/>
          <p:nvPr/>
        </p:nvSpPr>
        <p:spPr>
          <a:xfrm>
            <a:off x="4206240" y="2779776"/>
            <a:ext cx="1645920" cy="585216"/>
          </a:xfrm>
          <a:prstGeom prst="rect">
            <a:avLst/>
          </a:prstGeom>
          <a:solidFill>
            <a:srgbClr val="1E3A5F"/>
          </a:solidFill>
          <a:ln w="12700">
            <a:solidFill>
              <a:srgbClr val="1A2535"/>
            </a:solidFill>
            <a:prstDash val="solid"/>
          </a:ln>
        </p:spPr>
      </p:sp>
      <p:sp>
        <p:nvSpPr>
          <p:cNvPr id="50" name="Text 48"/>
          <p:cNvSpPr/>
          <p:nvPr/>
        </p:nvSpPr>
        <p:spPr>
          <a:xfrm>
            <a:off x="4251960" y="2798064"/>
            <a:ext cx="155448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1 Element / null</a:t>
            </a:r>
            <a:endParaRPr lang="en-US" sz="1100" dirty="0"/>
          </a:p>
        </p:txBody>
      </p:sp>
      <p:sp>
        <p:nvSpPr>
          <p:cNvPr id="51" name="Shape 49"/>
          <p:cNvSpPr/>
          <p:nvPr/>
        </p:nvSpPr>
        <p:spPr>
          <a:xfrm>
            <a:off x="5852160" y="2779776"/>
            <a:ext cx="731520" cy="585216"/>
          </a:xfrm>
          <a:prstGeom prst="rect">
            <a:avLst/>
          </a:prstGeom>
          <a:solidFill>
            <a:srgbClr val="1E3A5F"/>
          </a:solidFill>
          <a:ln w="12700">
            <a:solidFill>
              <a:srgbClr val="1A2535"/>
            </a:solidFill>
            <a:prstDash val="solid"/>
          </a:ln>
        </p:spPr>
      </p:sp>
      <p:sp>
        <p:nvSpPr>
          <p:cNvPr id="52" name="Text 50"/>
          <p:cNvSpPr/>
          <p:nvPr/>
        </p:nvSpPr>
        <p:spPr>
          <a:xfrm>
            <a:off x="5897880" y="2798064"/>
            <a:ext cx="640080" cy="548640"/>
          </a:xfrm>
          <a:prstGeom prst="rect">
            <a:avLst/>
          </a:prstGeom>
          <a:noFill/>
        </p:spPr>
        <p:txBody>
          <a:bodyPr wrap="square" lIns="0" tIns="0" rIns="0" bIns="0" rtlCol="0" anchor="ctr"/>
          <a:lstStyle/>
          <a:p>
            <a:pPr marL="0" indent="0">
              <a:buNone/>
            </a:pPr>
            <a:r>
              <a:rPr lang="en-US" sz="1100" dirty="0">
                <a:solidFill>
                  <a:srgbClr val="F59E0B"/>
                </a:solidFill>
                <a:latin typeface="Consolas" panose="020B0609020204030204" pitchFamily="34" charset="0"/>
                <a:ea typeface="Consolas" panose="020B0609020204030204" pitchFamily="34" charset="-122"/>
                <a:cs typeface="Consolas" panose="020B0609020204030204" pitchFamily="34" charset="-120"/>
              </a:rPr>
              <a:t>✘ No</a:t>
            </a:r>
            <a:endParaRPr lang="en-US" sz="1100" dirty="0"/>
          </a:p>
        </p:txBody>
      </p:sp>
      <p:sp>
        <p:nvSpPr>
          <p:cNvPr id="53" name="Shape 51"/>
          <p:cNvSpPr/>
          <p:nvPr/>
        </p:nvSpPr>
        <p:spPr>
          <a:xfrm>
            <a:off x="6583680" y="2779776"/>
            <a:ext cx="2194560" cy="585216"/>
          </a:xfrm>
          <a:prstGeom prst="rect">
            <a:avLst/>
          </a:prstGeom>
          <a:solidFill>
            <a:srgbClr val="1E3A5F"/>
          </a:solidFill>
          <a:ln w="12700">
            <a:solidFill>
              <a:srgbClr val="1A2535"/>
            </a:solidFill>
            <a:prstDash val="solid"/>
          </a:ln>
        </p:spPr>
      </p:sp>
      <p:sp>
        <p:nvSpPr>
          <p:cNvPr id="54" name="Text 52"/>
          <p:cNvSpPr/>
          <p:nvPr/>
        </p:nvSpPr>
        <p:spPr>
          <a:xfrm>
            <a:off x="6629400" y="2798064"/>
            <a:ext cx="210312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First CSS match</a:t>
            </a:r>
            <a:endParaRPr lang="en-US" sz="1100" dirty="0"/>
          </a:p>
        </p:txBody>
      </p:sp>
      <p:sp>
        <p:nvSpPr>
          <p:cNvPr id="55" name="Shape 53"/>
          <p:cNvSpPr/>
          <p:nvPr/>
        </p:nvSpPr>
        <p:spPr>
          <a:xfrm>
            <a:off x="365760" y="3364992"/>
            <a:ext cx="2011680" cy="585216"/>
          </a:xfrm>
          <a:prstGeom prst="rect">
            <a:avLst/>
          </a:prstGeom>
          <a:solidFill>
            <a:srgbClr val="1E293B"/>
          </a:solidFill>
          <a:ln w="12700">
            <a:solidFill>
              <a:srgbClr val="1A2535"/>
            </a:solidFill>
            <a:prstDash val="solid"/>
          </a:ln>
        </p:spPr>
      </p:sp>
      <p:sp>
        <p:nvSpPr>
          <p:cNvPr id="56" name="Text 54"/>
          <p:cNvSpPr/>
          <p:nvPr/>
        </p:nvSpPr>
        <p:spPr>
          <a:xfrm>
            <a:off x="411480" y="3383280"/>
            <a:ext cx="192024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querySelectorAll()</a:t>
            </a:r>
            <a:endParaRPr lang="en-US" sz="1100" dirty="0"/>
          </a:p>
        </p:txBody>
      </p:sp>
      <p:sp>
        <p:nvSpPr>
          <p:cNvPr id="57" name="Shape 55"/>
          <p:cNvSpPr/>
          <p:nvPr/>
        </p:nvSpPr>
        <p:spPr>
          <a:xfrm>
            <a:off x="2377440" y="3364992"/>
            <a:ext cx="1828800" cy="585216"/>
          </a:xfrm>
          <a:prstGeom prst="rect">
            <a:avLst/>
          </a:prstGeom>
          <a:solidFill>
            <a:srgbClr val="1E293B"/>
          </a:solidFill>
          <a:ln w="12700">
            <a:solidFill>
              <a:srgbClr val="1A2535"/>
            </a:solidFill>
            <a:prstDash val="solid"/>
          </a:ln>
        </p:spPr>
      </p:sp>
      <p:sp>
        <p:nvSpPr>
          <p:cNvPr id="58" name="Text 56"/>
          <p:cNvSpPr/>
          <p:nvPr/>
        </p:nvSpPr>
        <p:spPr>
          <a:xfrm>
            <a:off x="2423160" y="3383280"/>
            <a:ext cx="173736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Any CSS</a:t>
            </a:r>
            <a:endParaRPr lang="en-US" sz="1100" dirty="0"/>
          </a:p>
        </p:txBody>
      </p:sp>
      <p:sp>
        <p:nvSpPr>
          <p:cNvPr id="59" name="Shape 57"/>
          <p:cNvSpPr/>
          <p:nvPr/>
        </p:nvSpPr>
        <p:spPr>
          <a:xfrm>
            <a:off x="4206240" y="3364992"/>
            <a:ext cx="1645920" cy="585216"/>
          </a:xfrm>
          <a:prstGeom prst="rect">
            <a:avLst/>
          </a:prstGeom>
          <a:solidFill>
            <a:srgbClr val="1E293B"/>
          </a:solidFill>
          <a:ln w="12700">
            <a:solidFill>
              <a:srgbClr val="1A2535"/>
            </a:solidFill>
            <a:prstDash val="solid"/>
          </a:ln>
        </p:spPr>
      </p:sp>
      <p:sp>
        <p:nvSpPr>
          <p:cNvPr id="60" name="Text 58"/>
          <p:cNvSpPr/>
          <p:nvPr/>
        </p:nvSpPr>
        <p:spPr>
          <a:xfrm>
            <a:off x="4251960" y="3383280"/>
            <a:ext cx="155448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NodeList</a:t>
            </a:r>
            <a:endParaRPr lang="en-US" sz="1100" dirty="0"/>
          </a:p>
        </p:txBody>
      </p:sp>
      <p:sp>
        <p:nvSpPr>
          <p:cNvPr id="61" name="Shape 59"/>
          <p:cNvSpPr/>
          <p:nvPr/>
        </p:nvSpPr>
        <p:spPr>
          <a:xfrm>
            <a:off x="5852160" y="3364992"/>
            <a:ext cx="731520" cy="585216"/>
          </a:xfrm>
          <a:prstGeom prst="rect">
            <a:avLst/>
          </a:prstGeom>
          <a:solidFill>
            <a:srgbClr val="1E293B"/>
          </a:solidFill>
          <a:ln w="12700">
            <a:solidFill>
              <a:srgbClr val="1A2535"/>
            </a:solidFill>
            <a:prstDash val="solid"/>
          </a:ln>
        </p:spPr>
      </p:sp>
      <p:sp>
        <p:nvSpPr>
          <p:cNvPr id="62" name="Text 60"/>
          <p:cNvSpPr/>
          <p:nvPr/>
        </p:nvSpPr>
        <p:spPr>
          <a:xfrm>
            <a:off x="5897880" y="3383280"/>
            <a:ext cx="640080" cy="548640"/>
          </a:xfrm>
          <a:prstGeom prst="rect">
            <a:avLst/>
          </a:prstGeom>
          <a:noFill/>
        </p:spPr>
        <p:txBody>
          <a:bodyPr wrap="square" lIns="0" tIns="0" rIns="0" bIns="0" rtlCol="0" anchor="ctr"/>
          <a:lstStyle/>
          <a:p>
            <a:pPr marL="0" indent="0">
              <a:buNone/>
            </a:pPr>
            <a:r>
              <a:rPr lang="en-US" sz="1100" dirty="0">
                <a:solidFill>
                  <a:srgbClr val="F59E0B"/>
                </a:solidFill>
                <a:latin typeface="Consolas" panose="020B0609020204030204" pitchFamily="34" charset="0"/>
                <a:ea typeface="Consolas" panose="020B0609020204030204" pitchFamily="34" charset="-122"/>
                <a:cs typeface="Consolas" panose="020B0609020204030204" pitchFamily="34" charset="-120"/>
              </a:rPr>
              <a:t>✘ No</a:t>
            </a:r>
            <a:endParaRPr lang="en-US" sz="1100" dirty="0"/>
          </a:p>
        </p:txBody>
      </p:sp>
      <p:sp>
        <p:nvSpPr>
          <p:cNvPr id="63" name="Shape 61"/>
          <p:cNvSpPr/>
          <p:nvPr/>
        </p:nvSpPr>
        <p:spPr>
          <a:xfrm>
            <a:off x="6583680" y="3364992"/>
            <a:ext cx="2194560" cy="585216"/>
          </a:xfrm>
          <a:prstGeom prst="rect">
            <a:avLst/>
          </a:prstGeom>
          <a:solidFill>
            <a:srgbClr val="1E293B"/>
          </a:solidFill>
          <a:ln w="12700">
            <a:solidFill>
              <a:srgbClr val="1A2535"/>
            </a:solidFill>
            <a:prstDash val="solid"/>
          </a:ln>
        </p:spPr>
      </p:sp>
      <p:sp>
        <p:nvSpPr>
          <p:cNvPr id="64" name="Text 62"/>
          <p:cNvSpPr/>
          <p:nvPr/>
        </p:nvSpPr>
        <p:spPr>
          <a:xfrm>
            <a:off x="6629400" y="3383280"/>
            <a:ext cx="210312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All CSS matches</a:t>
            </a:r>
            <a:endParaRPr lang="en-US" sz="1100" dirty="0"/>
          </a:p>
        </p:txBody>
      </p:sp>
      <p:sp>
        <p:nvSpPr>
          <p:cNvPr id="65" name="Shape 63"/>
          <p:cNvSpPr/>
          <p:nvPr/>
        </p:nvSpPr>
        <p:spPr>
          <a:xfrm>
            <a:off x="365760" y="3950208"/>
            <a:ext cx="2011680" cy="585216"/>
          </a:xfrm>
          <a:prstGeom prst="rect">
            <a:avLst/>
          </a:prstGeom>
          <a:solidFill>
            <a:srgbClr val="1E3A5F"/>
          </a:solidFill>
          <a:ln w="12700">
            <a:solidFill>
              <a:srgbClr val="1A2535"/>
            </a:solidFill>
            <a:prstDash val="solid"/>
          </a:ln>
        </p:spPr>
      </p:sp>
      <p:sp>
        <p:nvSpPr>
          <p:cNvPr id="66" name="Text 64"/>
          <p:cNvSpPr/>
          <p:nvPr/>
        </p:nvSpPr>
        <p:spPr>
          <a:xfrm>
            <a:off x="411480" y="3968496"/>
            <a:ext cx="192024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getElementsByName()</a:t>
            </a:r>
            <a:endParaRPr lang="en-US" sz="1100" dirty="0"/>
          </a:p>
        </p:txBody>
      </p:sp>
      <p:sp>
        <p:nvSpPr>
          <p:cNvPr id="67" name="Shape 65"/>
          <p:cNvSpPr/>
          <p:nvPr/>
        </p:nvSpPr>
        <p:spPr>
          <a:xfrm>
            <a:off x="2377440" y="3950208"/>
            <a:ext cx="1828800" cy="585216"/>
          </a:xfrm>
          <a:prstGeom prst="rect">
            <a:avLst/>
          </a:prstGeom>
          <a:solidFill>
            <a:srgbClr val="1E3A5F"/>
          </a:solidFill>
          <a:ln w="12700">
            <a:solidFill>
              <a:srgbClr val="1A2535"/>
            </a:solidFill>
            <a:prstDash val="solid"/>
          </a:ln>
        </p:spPr>
      </p:sp>
      <p:sp>
        <p:nvSpPr>
          <p:cNvPr id="68" name="Text 66"/>
          <p:cNvSpPr/>
          <p:nvPr/>
        </p:nvSpPr>
        <p:spPr>
          <a:xfrm>
            <a:off x="2423160" y="3968496"/>
            <a:ext cx="173736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name attr</a:t>
            </a:r>
            <a:endParaRPr lang="en-US" sz="1100" dirty="0"/>
          </a:p>
        </p:txBody>
      </p:sp>
      <p:sp>
        <p:nvSpPr>
          <p:cNvPr id="69" name="Shape 67"/>
          <p:cNvSpPr/>
          <p:nvPr/>
        </p:nvSpPr>
        <p:spPr>
          <a:xfrm>
            <a:off x="4206240" y="3950208"/>
            <a:ext cx="1645920" cy="585216"/>
          </a:xfrm>
          <a:prstGeom prst="rect">
            <a:avLst/>
          </a:prstGeom>
          <a:solidFill>
            <a:srgbClr val="1E3A5F"/>
          </a:solidFill>
          <a:ln w="12700">
            <a:solidFill>
              <a:srgbClr val="1A2535"/>
            </a:solidFill>
            <a:prstDash val="solid"/>
          </a:ln>
        </p:spPr>
      </p:sp>
      <p:sp>
        <p:nvSpPr>
          <p:cNvPr id="70" name="Text 68"/>
          <p:cNvSpPr/>
          <p:nvPr/>
        </p:nvSpPr>
        <p:spPr>
          <a:xfrm>
            <a:off x="4251960" y="3968496"/>
            <a:ext cx="155448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NodeList</a:t>
            </a:r>
            <a:endParaRPr lang="en-US" sz="1100" dirty="0"/>
          </a:p>
        </p:txBody>
      </p:sp>
      <p:sp>
        <p:nvSpPr>
          <p:cNvPr id="71" name="Shape 69"/>
          <p:cNvSpPr/>
          <p:nvPr/>
        </p:nvSpPr>
        <p:spPr>
          <a:xfrm>
            <a:off x="5852160" y="3950208"/>
            <a:ext cx="731520" cy="585216"/>
          </a:xfrm>
          <a:prstGeom prst="rect">
            <a:avLst/>
          </a:prstGeom>
          <a:solidFill>
            <a:srgbClr val="1E3A5F"/>
          </a:solidFill>
          <a:ln w="12700">
            <a:solidFill>
              <a:srgbClr val="1A2535"/>
            </a:solidFill>
            <a:prstDash val="solid"/>
          </a:ln>
        </p:spPr>
      </p:sp>
      <p:sp>
        <p:nvSpPr>
          <p:cNvPr id="72" name="Text 70"/>
          <p:cNvSpPr/>
          <p:nvPr/>
        </p:nvSpPr>
        <p:spPr>
          <a:xfrm>
            <a:off x="5897880" y="3968496"/>
            <a:ext cx="640080" cy="548640"/>
          </a:xfrm>
          <a:prstGeom prst="rect">
            <a:avLst/>
          </a:prstGeom>
          <a:noFill/>
        </p:spPr>
        <p:txBody>
          <a:bodyPr wrap="square" lIns="0" tIns="0" rIns="0" bIns="0" rtlCol="0" anchor="ctr"/>
          <a:lstStyle/>
          <a:p>
            <a:pPr marL="0" indent="0">
              <a:buNone/>
            </a:pPr>
            <a:r>
              <a:rPr lang="en-US" sz="1100" dirty="0">
                <a:solidFill>
                  <a:srgbClr val="10B981"/>
                </a:solidFill>
                <a:latin typeface="Consolas" panose="020B0609020204030204" pitchFamily="34" charset="0"/>
                <a:ea typeface="Consolas" panose="020B0609020204030204" pitchFamily="34" charset="-122"/>
                <a:cs typeface="Consolas" panose="020B0609020204030204" pitchFamily="34" charset="-120"/>
              </a:rPr>
              <a:t>✔ Yes</a:t>
            </a:r>
            <a:endParaRPr lang="en-US" sz="1100" dirty="0"/>
          </a:p>
        </p:txBody>
      </p:sp>
      <p:sp>
        <p:nvSpPr>
          <p:cNvPr id="73" name="Shape 71"/>
          <p:cNvSpPr/>
          <p:nvPr/>
        </p:nvSpPr>
        <p:spPr>
          <a:xfrm>
            <a:off x="6583680" y="3950208"/>
            <a:ext cx="2194560" cy="585216"/>
          </a:xfrm>
          <a:prstGeom prst="rect">
            <a:avLst/>
          </a:prstGeom>
          <a:solidFill>
            <a:srgbClr val="1E3A5F"/>
          </a:solidFill>
          <a:ln w="12700">
            <a:solidFill>
              <a:srgbClr val="1A2535"/>
            </a:solidFill>
            <a:prstDash val="solid"/>
          </a:ln>
        </p:spPr>
      </p:sp>
      <p:sp>
        <p:nvSpPr>
          <p:cNvPr id="74" name="Text 72"/>
          <p:cNvSpPr/>
          <p:nvPr/>
        </p:nvSpPr>
        <p:spPr>
          <a:xfrm>
            <a:off x="6629400" y="3968496"/>
            <a:ext cx="2103120" cy="548640"/>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Form elements</a:t>
            </a:r>
            <a:endParaRPr lang="en-US" sz="1100" dirty="0"/>
          </a:p>
        </p:txBody>
      </p:sp>
      <p:sp>
        <p:nvSpPr>
          <p:cNvPr id="75" name="Shape 73"/>
          <p:cNvSpPr/>
          <p:nvPr/>
        </p:nvSpPr>
        <p:spPr>
          <a:xfrm>
            <a:off x="365760" y="4645152"/>
            <a:ext cx="8412480" cy="402336"/>
          </a:xfrm>
          <a:prstGeom prst="rect">
            <a:avLst/>
          </a:prstGeom>
          <a:solidFill>
            <a:srgbClr val="1C2A3A"/>
          </a:solidFill>
          <a:ln w="12700">
            <a:solidFill>
              <a:srgbClr val="06B6D4"/>
            </a:solidFill>
            <a:prstDash val="solid"/>
          </a:ln>
        </p:spPr>
      </p:sp>
      <p:sp>
        <p:nvSpPr>
          <p:cNvPr id="76" name="Text 74"/>
          <p:cNvSpPr/>
          <p:nvPr/>
        </p:nvSpPr>
        <p:spPr>
          <a:xfrm>
            <a:off x="548640" y="4663440"/>
            <a:ext cx="8046720" cy="365760"/>
          </a:xfrm>
          <a:prstGeom prst="rect">
            <a:avLst/>
          </a:prstGeom>
          <a:noFill/>
        </p:spPr>
        <p:txBody>
          <a:bodyPr wrap="square" lIns="0" tIns="0" rIns="0" bIns="0" rtlCol="0" anchor="ctr"/>
          <a:lstStyle/>
          <a:p>
            <a:pPr marL="0" indent="0">
              <a:buNone/>
            </a:pPr>
            <a:r>
              <a:rPr lang="en-US" sz="1200" dirty="0">
                <a:solidFill>
                  <a:srgbClr val="06B6D4"/>
                </a:solidFill>
                <a:latin typeface="Calibri" panose="020F0502020204030204" pitchFamily="34" charset="0"/>
                <a:ea typeface="Calibri" panose="020F0502020204030204" pitchFamily="34" charset="-122"/>
                <a:cs typeface="Calibri" panose="020F0502020204030204" pitchFamily="34" charset="-120"/>
              </a:rPr>
              <a:t>💡 Recommendation: Use querySelector / querySelectorAll for modern code — most flexible and powerful.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3A1A"/>
          </a:solidFill>
          <a:ln w="12700">
            <a:solidFill>
              <a:srgbClr val="1A3A1A"/>
            </a:solidFill>
            <a:prstDash val="solid"/>
          </a:ln>
        </p:spPr>
      </p:sp>
      <p:pic>
        <p:nvPicPr>
          <p:cNvPr id="3" name="Image 0" descr="preencoded.png"/>
          <p:cNvPicPr>
            <a:picLocks noChangeAspect="1"/>
          </p:cNvPicPr>
          <p:nvPr/>
        </p:nvPicPr>
        <p:blipFill>
          <a:blip r:embed="rId1"/>
          <a:stretch>
            <a:fillRect/>
          </a:stretch>
        </p:blipFill>
        <p:spPr>
          <a:xfrm>
            <a:off x="320040" y="91440"/>
            <a:ext cx="320040" cy="320040"/>
          </a:xfrm>
          <a:prstGeom prst="rect">
            <a:avLst/>
          </a:prstGeom>
        </p:spPr>
      </p:pic>
      <p:sp>
        <p:nvSpPr>
          <p:cNvPr id="4" name="Text 1"/>
          <p:cNvSpPr/>
          <p:nvPr/>
        </p:nvSpPr>
        <p:spPr>
          <a:xfrm>
            <a:off x="731520" y="73152"/>
            <a:ext cx="8229600" cy="384048"/>
          </a:xfrm>
          <a:prstGeom prst="rect">
            <a:avLst/>
          </a:prstGeom>
          <a:noFill/>
        </p:spPr>
        <p:txBody>
          <a:bodyPr wrap="square" lIns="0" tIns="0" rIns="0" bIns="0" rtlCol="0" anchor="ctr"/>
          <a:lstStyle/>
          <a:p>
            <a:pPr marL="0" indent="0">
              <a:buNone/>
            </a:pPr>
            <a:r>
              <a:rPr lang="en-US" sz="2000" b="1" kern="0" spc="200" dirty="0">
                <a:solidFill>
                  <a:srgbClr val="F8FAFC"/>
                </a:solidFill>
                <a:latin typeface="Calibri" panose="020F0502020204030204" pitchFamily="34" charset="0"/>
                <a:ea typeface="Calibri" panose="020F0502020204030204" pitchFamily="34" charset="-122"/>
                <a:cs typeface="Calibri" panose="020F0502020204030204" pitchFamily="34" charset="-120"/>
              </a:rPr>
              <a:t>SECTION 2 — DOM MANIPULATION</a:t>
            </a:r>
            <a:endParaRPr lang="en-US" sz="2000" dirty="0"/>
          </a:p>
        </p:txBody>
      </p:sp>
      <p:sp>
        <p:nvSpPr>
          <p:cNvPr id="5" name="Text 2"/>
          <p:cNvSpPr/>
          <p:nvPr/>
        </p:nvSpPr>
        <p:spPr>
          <a:xfrm>
            <a:off x="365760" y="640080"/>
            <a:ext cx="8229600" cy="384048"/>
          </a:xfrm>
          <a:prstGeom prst="rect">
            <a:avLst/>
          </a:prstGeom>
          <a:noFill/>
        </p:spPr>
        <p:txBody>
          <a:bodyPr wrap="square" lIns="0" tIns="0" rIns="0" bIns="0" rtlCol="0" anchor="ctr"/>
          <a:lstStyle/>
          <a:p>
            <a:pPr marL="0" indent="0">
              <a:buNone/>
            </a:pPr>
            <a:r>
              <a:rPr lang="en-US" sz="1700" i="1" dirty="0">
                <a:solidFill>
                  <a:srgbClr val="10B981"/>
                </a:solidFill>
                <a:latin typeface="Calibri" panose="020F0502020204030204" pitchFamily="34" charset="0"/>
                <a:ea typeface="Calibri" panose="020F0502020204030204" pitchFamily="34" charset="-122"/>
                <a:cs typeface="Calibri" panose="020F0502020204030204" pitchFamily="34" charset="-120"/>
              </a:rPr>
              <a:t>Changing Content, Attributes, Styles &amp; Structure</a:t>
            </a:r>
            <a:endParaRPr lang="en-US" sz="1700" dirty="0"/>
          </a:p>
        </p:txBody>
      </p:sp>
      <p:sp>
        <p:nvSpPr>
          <p:cNvPr id="6" name="Text 3"/>
          <p:cNvSpPr/>
          <p:nvPr/>
        </p:nvSpPr>
        <p:spPr>
          <a:xfrm>
            <a:off x="365760" y="1097280"/>
            <a:ext cx="8412480" cy="502920"/>
          </a:xfrm>
          <a:prstGeom prst="rect">
            <a:avLst/>
          </a:prstGeom>
          <a:noFill/>
        </p:spPr>
        <p:txBody>
          <a:bodyPr wrap="square" lIns="0" tIns="0" rIns="0" bIns="0" rtlCol="0" anchor="ctr"/>
          <a:lstStyle/>
          <a:p>
            <a:pPr marL="0" indent="0">
              <a:buNone/>
            </a:pPr>
            <a:r>
              <a:rPr lang="en-US" sz="1300" dirty="0">
                <a:solidFill>
                  <a:srgbClr val="F8FAFC"/>
                </a:solidFill>
                <a:latin typeface="Calibri" panose="020F0502020204030204" pitchFamily="34" charset="0"/>
                <a:ea typeface="Calibri" panose="020F0502020204030204" pitchFamily="34" charset="-122"/>
                <a:cs typeface="Calibri" panose="020F0502020204030204" pitchFamily="34" charset="-120"/>
              </a:rPr>
              <a:t>DOM Manipulation is how you CHANGE what the user sees. Once you've selected an element, you can change its text, HTML, CSS styles, attributes, and even create or delete elements.</a:t>
            </a:r>
            <a:endParaRPr lang="en-US" sz="1300" dirty="0"/>
          </a:p>
        </p:txBody>
      </p:sp>
      <p:sp>
        <p:nvSpPr>
          <p:cNvPr id="7" name="Shape 4"/>
          <p:cNvSpPr/>
          <p:nvPr/>
        </p:nvSpPr>
        <p:spPr>
          <a:xfrm>
            <a:off x="365760" y="1828800"/>
            <a:ext cx="2743200" cy="1188720"/>
          </a:xfrm>
          <a:prstGeom prst="rect">
            <a:avLst/>
          </a:prstGeom>
          <a:solidFill>
            <a:srgbClr val="1E293B"/>
          </a:solidFill>
          <a:ln w="12700">
            <a:solidFill>
              <a:srgbClr val="10B981"/>
            </a:solidFill>
            <a:prstDash val="solid"/>
          </a:ln>
        </p:spPr>
      </p:sp>
      <p:sp>
        <p:nvSpPr>
          <p:cNvPr id="8" name="Shape 5"/>
          <p:cNvSpPr/>
          <p:nvPr/>
        </p:nvSpPr>
        <p:spPr>
          <a:xfrm>
            <a:off x="365760" y="1828800"/>
            <a:ext cx="2743200" cy="64008"/>
          </a:xfrm>
          <a:prstGeom prst="rect">
            <a:avLst/>
          </a:prstGeom>
          <a:solidFill>
            <a:srgbClr val="10B981"/>
          </a:solidFill>
          <a:ln w="12700">
            <a:solidFill>
              <a:srgbClr val="10B981"/>
            </a:solidFill>
            <a:prstDash val="solid"/>
          </a:ln>
        </p:spPr>
      </p:sp>
      <p:sp>
        <p:nvSpPr>
          <p:cNvPr id="9" name="Text 6"/>
          <p:cNvSpPr/>
          <p:nvPr/>
        </p:nvSpPr>
        <p:spPr>
          <a:xfrm>
            <a:off x="475488" y="1965960"/>
            <a:ext cx="2514600" cy="320040"/>
          </a:xfrm>
          <a:prstGeom prst="rect">
            <a:avLst/>
          </a:prstGeom>
          <a:noFill/>
        </p:spPr>
        <p:txBody>
          <a:bodyPr wrap="square" lIns="0" tIns="0" rIns="0" bIns="0" rtlCol="0" anchor="ctr"/>
          <a:lstStyle/>
          <a:p>
            <a:pPr marL="0" indent="0">
              <a:buNone/>
            </a:pPr>
            <a:r>
              <a:rPr lang="en-US" sz="1600" b="1" dirty="0">
                <a:solidFill>
                  <a:srgbClr val="10B981"/>
                </a:solidFill>
                <a:latin typeface="Calibri" panose="020F0502020204030204" pitchFamily="34" charset="0"/>
                <a:ea typeface="Calibri" panose="020F0502020204030204" pitchFamily="34" charset="-122"/>
                <a:cs typeface="Calibri" panose="020F0502020204030204" pitchFamily="34" charset="-120"/>
              </a:rPr>
              <a:t>Content</a:t>
            </a:r>
            <a:endParaRPr lang="en-US" sz="1600" dirty="0"/>
          </a:p>
        </p:txBody>
      </p:sp>
      <p:sp>
        <p:nvSpPr>
          <p:cNvPr id="10" name="Text 7"/>
          <p:cNvSpPr/>
          <p:nvPr/>
        </p:nvSpPr>
        <p:spPr>
          <a:xfrm>
            <a:off x="475488" y="2331720"/>
            <a:ext cx="2514600" cy="548640"/>
          </a:xfrm>
          <a:prstGeom prst="rect">
            <a:avLst/>
          </a:prstGeom>
          <a:noFill/>
        </p:spPr>
        <p:txBody>
          <a:bodyPr wrap="square" lIns="0" tIns="0" rIns="0" bIns="0" rtlCol="0" anchor="ctr"/>
          <a:lstStyle/>
          <a:p>
            <a:pPr marL="0" indent="0">
              <a:buNone/>
            </a:pPr>
            <a:r>
              <a:rPr lang="en-US" sz="1100" dirty="0">
                <a:solidFill>
                  <a:srgbClr val="94A3B8"/>
                </a:solidFill>
                <a:latin typeface="Consolas" panose="020B0609020204030204" pitchFamily="34" charset="0"/>
                <a:ea typeface="Consolas" panose="020B0609020204030204" pitchFamily="34" charset="-122"/>
                <a:cs typeface="Consolas" panose="020B0609020204030204" pitchFamily="34" charset="-120"/>
              </a:rPr>
              <a:t>textContent, innerHTML, innerText</a:t>
            </a:r>
            <a:endParaRPr lang="en-US" sz="1100" dirty="0"/>
          </a:p>
        </p:txBody>
      </p:sp>
      <p:sp>
        <p:nvSpPr>
          <p:cNvPr id="11" name="Shape 8"/>
          <p:cNvSpPr/>
          <p:nvPr/>
        </p:nvSpPr>
        <p:spPr>
          <a:xfrm>
            <a:off x="3200400" y="1828800"/>
            <a:ext cx="2743200" cy="1188720"/>
          </a:xfrm>
          <a:prstGeom prst="rect">
            <a:avLst/>
          </a:prstGeom>
          <a:solidFill>
            <a:srgbClr val="1E293B"/>
          </a:solidFill>
          <a:ln w="12700">
            <a:solidFill>
              <a:srgbClr val="3B82F6"/>
            </a:solidFill>
            <a:prstDash val="solid"/>
          </a:ln>
        </p:spPr>
      </p:sp>
      <p:sp>
        <p:nvSpPr>
          <p:cNvPr id="12" name="Shape 9"/>
          <p:cNvSpPr/>
          <p:nvPr/>
        </p:nvSpPr>
        <p:spPr>
          <a:xfrm>
            <a:off x="3200400" y="1828800"/>
            <a:ext cx="2743200" cy="64008"/>
          </a:xfrm>
          <a:prstGeom prst="rect">
            <a:avLst/>
          </a:prstGeom>
          <a:solidFill>
            <a:srgbClr val="3B82F6"/>
          </a:solidFill>
          <a:ln w="12700">
            <a:solidFill>
              <a:srgbClr val="3B82F6"/>
            </a:solidFill>
            <a:prstDash val="solid"/>
          </a:ln>
        </p:spPr>
      </p:sp>
      <p:sp>
        <p:nvSpPr>
          <p:cNvPr id="13" name="Text 10"/>
          <p:cNvSpPr/>
          <p:nvPr/>
        </p:nvSpPr>
        <p:spPr>
          <a:xfrm>
            <a:off x="3310128" y="1965960"/>
            <a:ext cx="2514600" cy="320040"/>
          </a:xfrm>
          <a:prstGeom prst="rect">
            <a:avLst/>
          </a:prstGeom>
          <a:noFill/>
        </p:spPr>
        <p:txBody>
          <a:bodyPr wrap="square" lIns="0" tIns="0" rIns="0" bIns="0" rtlCol="0" anchor="ctr"/>
          <a:lstStyle/>
          <a:p>
            <a:pPr marL="0" indent="0">
              <a:buNone/>
            </a:pPr>
            <a:r>
              <a:rPr lang="en-US" sz="1600" b="1" dirty="0">
                <a:solidFill>
                  <a:srgbClr val="3B82F6"/>
                </a:solidFill>
                <a:latin typeface="Calibri" panose="020F0502020204030204" pitchFamily="34" charset="0"/>
                <a:ea typeface="Calibri" panose="020F0502020204030204" pitchFamily="34" charset="-122"/>
                <a:cs typeface="Calibri" panose="020F0502020204030204" pitchFamily="34" charset="-120"/>
              </a:rPr>
              <a:t>Attributes</a:t>
            </a:r>
            <a:endParaRPr lang="en-US" sz="1600" dirty="0"/>
          </a:p>
        </p:txBody>
      </p:sp>
      <p:sp>
        <p:nvSpPr>
          <p:cNvPr id="14" name="Text 11"/>
          <p:cNvSpPr/>
          <p:nvPr/>
        </p:nvSpPr>
        <p:spPr>
          <a:xfrm>
            <a:off x="3310128" y="2331720"/>
            <a:ext cx="2514600" cy="548640"/>
          </a:xfrm>
          <a:prstGeom prst="rect">
            <a:avLst/>
          </a:prstGeom>
          <a:noFill/>
        </p:spPr>
        <p:txBody>
          <a:bodyPr wrap="square" lIns="0" tIns="0" rIns="0" bIns="0" rtlCol="0" anchor="ctr"/>
          <a:lstStyle/>
          <a:p>
            <a:pPr marL="0" indent="0">
              <a:buNone/>
            </a:pPr>
            <a:r>
              <a:rPr lang="en-US" sz="1100" dirty="0">
                <a:solidFill>
                  <a:srgbClr val="94A3B8"/>
                </a:solidFill>
                <a:latin typeface="Consolas" panose="020B0609020204030204" pitchFamily="34" charset="0"/>
                <a:ea typeface="Consolas" panose="020B0609020204030204" pitchFamily="34" charset="-122"/>
                <a:cs typeface="Consolas" panose="020B0609020204030204" pitchFamily="34" charset="-120"/>
              </a:rPr>
              <a:t>getAttribute, setAttribute, removeAttribute</a:t>
            </a:r>
            <a:endParaRPr lang="en-US" sz="1100" dirty="0"/>
          </a:p>
        </p:txBody>
      </p:sp>
      <p:sp>
        <p:nvSpPr>
          <p:cNvPr id="15" name="Shape 12"/>
          <p:cNvSpPr/>
          <p:nvPr/>
        </p:nvSpPr>
        <p:spPr>
          <a:xfrm>
            <a:off x="6035040" y="1828800"/>
            <a:ext cx="2743200" cy="1188720"/>
          </a:xfrm>
          <a:prstGeom prst="rect">
            <a:avLst/>
          </a:prstGeom>
          <a:solidFill>
            <a:srgbClr val="1E293B"/>
          </a:solidFill>
          <a:ln w="12700">
            <a:solidFill>
              <a:srgbClr val="06B6D4"/>
            </a:solidFill>
            <a:prstDash val="solid"/>
          </a:ln>
        </p:spPr>
      </p:sp>
      <p:sp>
        <p:nvSpPr>
          <p:cNvPr id="16" name="Shape 13"/>
          <p:cNvSpPr/>
          <p:nvPr/>
        </p:nvSpPr>
        <p:spPr>
          <a:xfrm>
            <a:off x="6035040" y="1828800"/>
            <a:ext cx="2743200" cy="64008"/>
          </a:xfrm>
          <a:prstGeom prst="rect">
            <a:avLst/>
          </a:prstGeom>
          <a:solidFill>
            <a:srgbClr val="06B6D4"/>
          </a:solidFill>
          <a:ln w="12700">
            <a:solidFill>
              <a:srgbClr val="06B6D4"/>
            </a:solidFill>
            <a:prstDash val="solid"/>
          </a:ln>
        </p:spPr>
      </p:sp>
      <p:sp>
        <p:nvSpPr>
          <p:cNvPr id="17" name="Text 14"/>
          <p:cNvSpPr/>
          <p:nvPr/>
        </p:nvSpPr>
        <p:spPr>
          <a:xfrm>
            <a:off x="6144768" y="1965960"/>
            <a:ext cx="2514600" cy="320040"/>
          </a:xfrm>
          <a:prstGeom prst="rect">
            <a:avLst/>
          </a:prstGeom>
          <a:noFill/>
        </p:spPr>
        <p:txBody>
          <a:bodyPr wrap="square" lIns="0" tIns="0" rIns="0" bIns="0" rtlCol="0" anchor="ctr"/>
          <a:lstStyle/>
          <a:p>
            <a:pPr marL="0" indent="0">
              <a:buNone/>
            </a:pPr>
            <a:r>
              <a:rPr lang="en-US" sz="1600" b="1" dirty="0">
                <a:solidFill>
                  <a:srgbClr val="06B6D4"/>
                </a:solidFill>
                <a:latin typeface="Calibri" panose="020F0502020204030204" pitchFamily="34" charset="0"/>
                <a:ea typeface="Calibri" panose="020F0502020204030204" pitchFamily="34" charset="-122"/>
                <a:cs typeface="Calibri" panose="020F0502020204030204" pitchFamily="34" charset="-120"/>
              </a:rPr>
              <a:t>Styles</a:t>
            </a:r>
            <a:endParaRPr lang="en-US" sz="1600" dirty="0"/>
          </a:p>
        </p:txBody>
      </p:sp>
      <p:sp>
        <p:nvSpPr>
          <p:cNvPr id="18" name="Text 15"/>
          <p:cNvSpPr/>
          <p:nvPr/>
        </p:nvSpPr>
        <p:spPr>
          <a:xfrm>
            <a:off x="6144768" y="2331720"/>
            <a:ext cx="2514600" cy="548640"/>
          </a:xfrm>
          <a:prstGeom prst="rect">
            <a:avLst/>
          </a:prstGeom>
          <a:noFill/>
        </p:spPr>
        <p:txBody>
          <a:bodyPr wrap="square" lIns="0" tIns="0" rIns="0" bIns="0" rtlCol="0" anchor="ctr"/>
          <a:lstStyle/>
          <a:p>
            <a:pPr marL="0" indent="0">
              <a:buNone/>
            </a:pPr>
            <a:r>
              <a:rPr lang="en-US" sz="1100" dirty="0">
                <a:solidFill>
                  <a:srgbClr val="94A3B8"/>
                </a:solidFill>
                <a:latin typeface="Consolas" panose="020B0609020204030204" pitchFamily="34" charset="0"/>
                <a:ea typeface="Consolas" panose="020B0609020204030204" pitchFamily="34" charset="-122"/>
                <a:cs typeface="Consolas" panose="020B0609020204030204" pitchFamily="34" charset="-120"/>
              </a:rPr>
              <a:t>element.style, cssText</a:t>
            </a:r>
            <a:endParaRPr lang="en-US" sz="1100" dirty="0"/>
          </a:p>
        </p:txBody>
      </p:sp>
      <p:sp>
        <p:nvSpPr>
          <p:cNvPr id="19" name="Shape 16"/>
          <p:cNvSpPr/>
          <p:nvPr/>
        </p:nvSpPr>
        <p:spPr>
          <a:xfrm>
            <a:off x="365760" y="3200400"/>
            <a:ext cx="2743200" cy="1188720"/>
          </a:xfrm>
          <a:prstGeom prst="rect">
            <a:avLst/>
          </a:prstGeom>
          <a:solidFill>
            <a:srgbClr val="1E293B"/>
          </a:solidFill>
          <a:ln w="12700">
            <a:solidFill>
              <a:srgbClr val="F59E0B"/>
            </a:solidFill>
            <a:prstDash val="solid"/>
          </a:ln>
        </p:spPr>
      </p:sp>
      <p:sp>
        <p:nvSpPr>
          <p:cNvPr id="20" name="Shape 17"/>
          <p:cNvSpPr/>
          <p:nvPr/>
        </p:nvSpPr>
        <p:spPr>
          <a:xfrm>
            <a:off x="365760" y="3200400"/>
            <a:ext cx="2743200" cy="64008"/>
          </a:xfrm>
          <a:prstGeom prst="rect">
            <a:avLst/>
          </a:prstGeom>
          <a:solidFill>
            <a:srgbClr val="F59E0B"/>
          </a:solidFill>
          <a:ln w="12700">
            <a:solidFill>
              <a:srgbClr val="F59E0B"/>
            </a:solidFill>
            <a:prstDash val="solid"/>
          </a:ln>
        </p:spPr>
      </p:sp>
      <p:sp>
        <p:nvSpPr>
          <p:cNvPr id="21" name="Text 18"/>
          <p:cNvSpPr/>
          <p:nvPr/>
        </p:nvSpPr>
        <p:spPr>
          <a:xfrm>
            <a:off x="475488" y="3337560"/>
            <a:ext cx="2514600" cy="320040"/>
          </a:xfrm>
          <a:prstGeom prst="rect">
            <a:avLst/>
          </a:prstGeom>
          <a:noFill/>
        </p:spPr>
        <p:txBody>
          <a:bodyPr wrap="square" lIns="0" tIns="0" rIns="0" bIns="0" rtlCol="0" anchor="ctr"/>
          <a:lstStyle/>
          <a:p>
            <a:pPr marL="0" indent="0">
              <a:buNone/>
            </a:pPr>
            <a:r>
              <a:rPr lang="en-US" sz="1600" b="1" dirty="0">
                <a:solidFill>
                  <a:srgbClr val="F59E0B"/>
                </a:solidFill>
                <a:latin typeface="Calibri" panose="020F0502020204030204" pitchFamily="34" charset="0"/>
                <a:ea typeface="Calibri" panose="020F0502020204030204" pitchFamily="34" charset="-122"/>
                <a:cs typeface="Calibri" panose="020F0502020204030204" pitchFamily="34" charset="-120"/>
              </a:rPr>
              <a:t>Elements</a:t>
            </a:r>
            <a:endParaRPr lang="en-US" sz="1600" dirty="0"/>
          </a:p>
        </p:txBody>
      </p:sp>
      <p:sp>
        <p:nvSpPr>
          <p:cNvPr id="22" name="Text 19"/>
          <p:cNvSpPr/>
          <p:nvPr/>
        </p:nvSpPr>
        <p:spPr>
          <a:xfrm>
            <a:off x="475488" y="3703320"/>
            <a:ext cx="2514600" cy="548640"/>
          </a:xfrm>
          <a:prstGeom prst="rect">
            <a:avLst/>
          </a:prstGeom>
          <a:noFill/>
        </p:spPr>
        <p:txBody>
          <a:bodyPr wrap="square" lIns="0" tIns="0" rIns="0" bIns="0" rtlCol="0" anchor="ctr"/>
          <a:lstStyle/>
          <a:p>
            <a:pPr marL="0" indent="0">
              <a:buNone/>
            </a:pPr>
            <a:r>
              <a:rPr lang="en-US" sz="1100" dirty="0">
                <a:solidFill>
                  <a:srgbClr val="94A3B8"/>
                </a:solidFill>
                <a:latin typeface="Consolas" panose="020B0609020204030204" pitchFamily="34" charset="0"/>
                <a:ea typeface="Consolas" panose="020B0609020204030204" pitchFamily="34" charset="-122"/>
                <a:cs typeface="Consolas" panose="020B0609020204030204" pitchFamily="34" charset="-120"/>
              </a:rPr>
              <a:t>createElement, appendChild, removeChild</a:t>
            </a:r>
            <a:endParaRPr lang="en-US" sz="1100" dirty="0"/>
          </a:p>
        </p:txBody>
      </p:sp>
      <p:sp>
        <p:nvSpPr>
          <p:cNvPr id="23" name="Shape 20"/>
          <p:cNvSpPr/>
          <p:nvPr/>
        </p:nvSpPr>
        <p:spPr>
          <a:xfrm>
            <a:off x="3200400" y="3200400"/>
            <a:ext cx="2743200" cy="1188720"/>
          </a:xfrm>
          <a:prstGeom prst="rect">
            <a:avLst/>
          </a:prstGeom>
          <a:solidFill>
            <a:srgbClr val="1E293B"/>
          </a:solidFill>
          <a:ln w="12700">
            <a:solidFill>
              <a:srgbClr val="FCD34D"/>
            </a:solidFill>
            <a:prstDash val="solid"/>
          </a:ln>
        </p:spPr>
      </p:sp>
      <p:sp>
        <p:nvSpPr>
          <p:cNvPr id="24" name="Shape 21"/>
          <p:cNvSpPr/>
          <p:nvPr/>
        </p:nvSpPr>
        <p:spPr>
          <a:xfrm>
            <a:off x="3200400" y="3200400"/>
            <a:ext cx="2743200" cy="64008"/>
          </a:xfrm>
          <a:prstGeom prst="rect">
            <a:avLst/>
          </a:prstGeom>
          <a:solidFill>
            <a:srgbClr val="FCD34D"/>
          </a:solidFill>
          <a:ln w="12700">
            <a:solidFill>
              <a:srgbClr val="FCD34D"/>
            </a:solidFill>
            <a:prstDash val="solid"/>
          </a:ln>
        </p:spPr>
      </p:sp>
      <p:sp>
        <p:nvSpPr>
          <p:cNvPr id="25" name="Text 22"/>
          <p:cNvSpPr/>
          <p:nvPr/>
        </p:nvSpPr>
        <p:spPr>
          <a:xfrm>
            <a:off x="3310128" y="3337560"/>
            <a:ext cx="2514600" cy="320040"/>
          </a:xfrm>
          <a:prstGeom prst="rect">
            <a:avLst/>
          </a:prstGeom>
          <a:noFill/>
        </p:spPr>
        <p:txBody>
          <a:bodyPr wrap="square" lIns="0" tIns="0" rIns="0" bIns="0" rtlCol="0" anchor="ctr"/>
          <a:lstStyle/>
          <a:p>
            <a:pPr marL="0" indent="0">
              <a:buNone/>
            </a:pPr>
            <a:r>
              <a:rPr lang="en-US" sz="1600" b="1" dirty="0">
                <a:solidFill>
                  <a:srgbClr val="FCD34D"/>
                </a:solidFill>
                <a:latin typeface="Calibri" panose="020F0502020204030204" pitchFamily="34" charset="0"/>
                <a:ea typeface="Calibri" panose="020F0502020204030204" pitchFamily="34" charset="-122"/>
                <a:cs typeface="Calibri" panose="020F0502020204030204" pitchFamily="34" charset="-120"/>
              </a:rPr>
              <a:t>Events</a:t>
            </a:r>
            <a:endParaRPr lang="en-US" sz="1600" dirty="0"/>
          </a:p>
        </p:txBody>
      </p:sp>
      <p:sp>
        <p:nvSpPr>
          <p:cNvPr id="26" name="Text 23"/>
          <p:cNvSpPr/>
          <p:nvPr/>
        </p:nvSpPr>
        <p:spPr>
          <a:xfrm>
            <a:off x="3310128" y="3703320"/>
            <a:ext cx="2514600" cy="548640"/>
          </a:xfrm>
          <a:prstGeom prst="rect">
            <a:avLst/>
          </a:prstGeom>
          <a:noFill/>
        </p:spPr>
        <p:txBody>
          <a:bodyPr wrap="square" lIns="0" tIns="0" rIns="0" bIns="0" rtlCol="0" anchor="ctr"/>
          <a:lstStyle/>
          <a:p>
            <a:pPr marL="0" indent="0">
              <a:buNone/>
            </a:pPr>
            <a:r>
              <a:rPr lang="en-US" sz="1100" dirty="0">
                <a:solidFill>
                  <a:srgbClr val="94A3B8"/>
                </a:solidFill>
                <a:latin typeface="Consolas" panose="020B0609020204030204" pitchFamily="34" charset="0"/>
                <a:ea typeface="Consolas" panose="020B0609020204030204" pitchFamily="34" charset="-122"/>
                <a:cs typeface="Consolas" panose="020B0609020204030204" pitchFamily="34" charset="-120"/>
              </a:rPr>
              <a:t>addEventListener, removeEventListener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w="12700">
            <a:solidFill>
              <a:srgbClr val="10B981"/>
            </a:solidFill>
            <a:prstDash val="solid"/>
          </a:ln>
        </p:spPr>
      </p:sp>
      <p:sp>
        <p:nvSpPr>
          <p:cNvPr id="3" name="Text 1"/>
          <p:cNvSpPr/>
          <p:nvPr/>
        </p:nvSpPr>
        <p:spPr>
          <a:xfrm>
            <a:off x="365760" y="137160"/>
            <a:ext cx="8412480" cy="411480"/>
          </a:xfrm>
          <a:prstGeom prst="rect">
            <a:avLst/>
          </a:prstGeom>
          <a:noFill/>
        </p:spPr>
        <p:txBody>
          <a:bodyPr wrap="square" lIns="0" tIns="0" rIns="0" bIns="0" rtlCol="0" anchor="ctr"/>
          <a:lstStyle/>
          <a:p>
            <a:pPr marL="0" indent="0">
              <a:buNone/>
            </a:pPr>
            <a:r>
              <a:rPr lang="en-US" sz="2000" b="1" dirty="0">
                <a:solidFill>
                  <a:srgbClr val="10B981"/>
                </a:solidFill>
                <a:latin typeface="Calibri" panose="020F0502020204030204" pitchFamily="34" charset="0"/>
                <a:ea typeface="Calibri" panose="020F0502020204030204" pitchFamily="34" charset="-122"/>
                <a:cs typeface="Calibri" panose="020F0502020204030204" pitchFamily="34" charset="-120"/>
              </a:rPr>
              <a:t>Changing Content: textContent · innerHTML · innerText</a:t>
            </a:r>
            <a:endParaRPr lang="en-US" sz="2000" dirty="0"/>
          </a:p>
        </p:txBody>
      </p:sp>
      <p:sp>
        <p:nvSpPr>
          <p:cNvPr id="4" name="Shape 2"/>
          <p:cNvSpPr/>
          <p:nvPr/>
        </p:nvSpPr>
        <p:spPr>
          <a:xfrm>
            <a:off x="365760" y="576072"/>
            <a:ext cx="8412480" cy="36576"/>
          </a:xfrm>
          <a:prstGeom prst="rect">
            <a:avLst/>
          </a:prstGeom>
          <a:solidFill>
            <a:srgbClr val="1E293B"/>
          </a:solidFill>
          <a:ln w="12700">
            <a:solidFill>
              <a:srgbClr val="1E293B"/>
            </a:solidFill>
            <a:prstDash val="solid"/>
          </a:ln>
        </p:spPr>
      </p:sp>
      <p:sp>
        <p:nvSpPr>
          <p:cNvPr id="5" name="Shape 3"/>
          <p:cNvSpPr/>
          <p:nvPr>
            <p:custDataLst>
              <p:tags r:id="rId1"/>
            </p:custDataLst>
          </p:nvPr>
        </p:nvSpPr>
        <p:spPr>
          <a:xfrm>
            <a:off x="274320" y="685800"/>
            <a:ext cx="2834640" cy="4389120"/>
          </a:xfrm>
          <a:prstGeom prst="rect">
            <a:avLst/>
          </a:prstGeom>
          <a:solidFill>
            <a:srgbClr val="1E293B"/>
          </a:solidFill>
          <a:ln w="12700">
            <a:solidFill>
              <a:srgbClr val="10B981"/>
            </a:solidFill>
            <a:prstDash val="solid"/>
          </a:ln>
        </p:spPr>
      </p:sp>
      <p:sp>
        <p:nvSpPr>
          <p:cNvPr id="6" name="Shape 4"/>
          <p:cNvSpPr/>
          <p:nvPr>
            <p:custDataLst>
              <p:tags r:id="rId2"/>
            </p:custDataLst>
          </p:nvPr>
        </p:nvSpPr>
        <p:spPr>
          <a:xfrm>
            <a:off x="274320" y="685800"/>
            <a:ext cx="2834640" cy="54864"/>
          </a:xfrm>
          <a:prstGeom prst="rect">
            <a:avLst/>
          </a:prstGeom>
          <a:solidFill>
            <a:srgbClr val="10B981"/>
          </a:solidFill>
          <a:ln w="12700">
            <a:solidFill>
              <a:srgbClr val="10B981"/>
            </a:solidFill>
            <a:prstDash val="solid"/>
          </a:ln>
        </p:spPr>
      </p:sp>
      <p:sp>
        <p:nvSpPr>
          <p:cNvPr id="7" name="Text 5"/>
          <p:cNvSpPr/>
          <p:nvPr>
            <p:custDataLst>
              <p:tags r:id="rId3"/>
            </p:custDataLst>
          </p:nvPr>
        </p:nvSpPr>
        <p:spPr>
          <a:xfrm>
            <a:off x="365760" y="777240"/>
            <a:ext cx="2651760" cy="320040"/>
          </a:xfrm>
          <a:prstGeom prst="rect">
            <a:avLst/>
          </a:prstGeom>
          <a:noFill/>
        </p:spPr>
        <p:txBody>
          <a:bodyPr wrap="square" lIns="0" tIns="0" rIns="0" bIns="0" rtlCol="0" anchor="ctr"/>
          <a:lstStyle/>
          <a:p>
            <a:pPr marL="0" indent="0">
              <a:buNone/>
            </a:pPr>
            <a:r>
              <a:rPr lang="en-US" sz="1400" b="1" dirty="0">
                <a:solidFill>
                  <a:srgbClr val="10B981"/>
                </a:solidFill>
                <a:latin typeface="Consolas" panose="020B0609020204030204" pitchFamily="34" charset="0"/>
                <a:ea typeface="Consolas" panose="020B0609020204030204" pitchFamily="34" charset="-122"/>
                <a:cs typeface="Consolas" panose="020B0609020204030204" pitchFamily="34" charset="-120"/>
              </a:rPr>
              <a:t>textContent</a:t>
            </a:r>
            <a:endParaRPr lang="en-US" sz="1400" dirty="0"/>
          </a:p>
        </p:txBody>
      </p:sp>
      <p:sp>
        <p:nvSpPr>
          <p:cNvPr id="8" name="Text 6"/>
          <p:cNvSpPr/>
          <p:nvPr>
            <p:custDataLst>
              <p:tags r:id="rId4"/>
            </p:custDataLst>
          </p:nvPr>
        </p:nvSpPr>
        <p:spPr>
          <a:xfrm>
            <a:off x="365760" y="1143000"/>
            <a:ext cx="2651760" cy="1005840"/>
          </a:xfrm>
          <a:prstGeom prst="rect">
            <a:avLst/>
          </a:prstGeom>
          <a:noFill/>
        </p:spPr>
        <p:txBody>
          <a:bodyPr wrap="square" lIns="0" tIns="0" rIns="0" bIns="0" rtlCol="0" anchor="ctr"/>
          <a:lstStyle/>
          <a:p>
            <a:pPr marL="0" indent="0">
              <a:buNone/>
            </a:pPr>
            <a:r>
              <a:rPr lang="en-US" sz="1050" dirty="0">
                <a:solidFill>
                  <a:srgbClr val="F8FAFC"/>
                </a:solidFill>
                <a:latin typeface="Calibri" panose="020F0502020204030204" pitchFamily="34" charset="0"/>
                <a:ea typeface="Calibri" panose="020F0502020204030204" pitchFamily="34" charset="-122"/>
                <a:cs typeface="Calibri" panose="020F0502020204030204" pitchFamily="34" charset="-120"/>
              </a:rPr>
              <a:t>Gets/sets the text content of an element and all its descendants. Treats everything as PLAIN TEXT — HTML tags are not rendered, they're shown as text.</a:t>
            </a:r>
            <a:endParaRPr lang="en-US" sz="1050" dirty="0"/>
          </a:p>
        </p:txBody>
      </p:sp>
      <p:sp>
        <p:nvSpPr>
          <p:cNvPr id="9" name="Shape 7"/>
          <p:cNvSpPr/>
          <p:nvPr>
            <p:custDataLst>
              <p:tags r:id="rId5"/>
            </p:custDataLst>
          </p:nvPr>
        </p:nvSpPr>
        <p:spPr>
          <a:xfrm>
            <a:off x="365760" y="2212848"/>
            <a:ext cx="2651760" cy="2194560"/>
          </a:xfrm>
          <a:prstGeom prst="rect">
            <a:avLst/>
          </a:prstGeom>
          <a:solidFill>
            <a:srgbClr val="0D1117"/>
          </a:solidFill>
          <a:ln w="12700">
            <a:solidFill>
              <a:srgbClr val="10B981"/>
            </a:solidFill>
            <a:prstDash val="solid"/>
          </a:ln>
        </p:spPr>
      </p:sp>
      <p:sp>
        <p:nvSpPr>
          <p:cNvPr id="10" name="Text 8"/>
          <p:cNvSpPr/>
          <p:nvPr>
            <p:custDataLst>
              <p:tags r:id="rId6"/>
            </p:custDataLst>
          </p:nvPr>
        </p:nvSpPr>
        <p:spPr>
          <a:xfrm>
            <a:off x="457200" y="2258568"/>
            <a:ext cx="2468880" cy="2103120"/>
          </a:xfrm>
          <a:prstGeom prst="rect">
            <a:avLst/>
          </a:prstGeom>
          <a:noFill/>
        </p:spPr>
        <p:txBody>
          <a:bodyPr wrap="square" lIns="0" tIns="0" rIns="0" bIns="0" rtlCol="0" anchor="ctr"/>
          <a:lstStyle/>
          <a:p>
            <a:pPr marL="0" indent="0">
              <a:buNone/>
            </a:pPr>
            <a:r>
              <a:rPr lang="en-US" sz="95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el = document.querySelector('h1');</a:t>
            </a:r>
            <a:endParaRPr lang="en-US" sz="950" dirty="0"/>
          </a:p>
          <a:p>
            <a:pPr marL="0" indent="0">
              <a:buNone/>
            </a:pPr>
            <a:endParaRPr lang="en-US" sz="950" dirty="0"/>
          </a:p>
          <a:p>
            <a:pPr marL="0" indent="0">
              <a:buNone/>
            </a:pPr>
            <a:r>
              <a:rPr lang="en-US" sz="950" dirty="0">
                <a:solidFill>
                  <a:srgbClr val="A5F3FC"/>
                </a:solidFill>
                <a:latin typeface="Consolas" panose="020B0609020204030204" pitchFamily="34" charset="0"/>
                <a:ea typeface="Consolas" panose="020B0609020204030204" pitchFamily="34" charset="-122"/>
                <a:cs typeface="Consolas" panose="020B0609020204030204" pitchFamily="34" charset="-120"/>
              </a:rPr>
              <a:t>// Get text</a:t>
            </a:r>
            <a:endParaRPr lang="en-US" sz="950" dirty="0"/>
          </a:p>
          <a:p>
            <a:pPr marL="0" indent="0">
              <a:buNone/>
            </a:pPr>
            <a:r>
              <a:rPr lang="en-US" sz="95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console.log(el.textContent);</a:t>
            </a:r>
            <a:endParaRPr lang="en-US" sz="950" dirty="0"/>
          </a:p>
          <a:p>
            <a:pPr marL="0" indent="0">
              <a:buNone/>
            </a:pPr>
            <a:endParaRPr lang="en-US" sz="950" dirty="0"/>
          </a:p>
          <a:p>
            <a:pPr marL="0" indent="0">
              <a:buNone/>
            </a:pPr>
            <a:r>
              <a:rPr lang="en-US" sz="950" dirty="0">
                <a:solidFill>
                  <a:srgbClr val="A5F3FC"/>
                </a:solidFill>
                <a:latin typeface="Consolas" panose="020B0609020204030204" pitchFamily="34" charset="0"/>
                <a:ea typeface="Consolas" panose="020B0609020204030204" pitchFamily="34" charset="-122"/>
                <a:cs typeface="Consolas" panose="020B0609020204030204" pitchFamily="34" charset="-120"/>
              </a:rPr>
              <a:t>// Set text (safe, no HTML)</a:t>
            </a:r>
            <a:endParaRPr lang="en-US" sz="950" dirty="0"/>
          </a:p>
          <a:p>
            <a:pPr marL="0" indent="0">
              <a:buNone/>
            </a:pPr>
            <a:r>
              <a:rPr lang="en-US" sz="950" dirty="0">
                <a:solidFill>
                  <a:srgbClr val="A5F3FC"/>
                </a:solidFill>
                <a:latin typeface="Consolas" panose="020B0609020204030204" pitchFamily="34" charset="0"/>
                <a:ea typeface="Consolas" panose="020B0609020204030204" pitchFamily="34" charset="-122"/>
                <a:cs typeface="Consolas" panose="020B0609020204030204" pitchFamily="34" charset="-120"/>
              </a:rPr>
              <a:t>el.textContent = '&lt;b&gt;Bold&lt;/b&gt;';</a:t>
            </a:r>
            <a:endParaRPr lang="en-US" sz="950" dirty="0"/>
          </a:p>
          <a:p>
            <a:pPr marL="0" indent="0">
              <a:buNone/>
            </a:pPr>
            <a:r>
              <a:rPr lang="en-US" sz="950" dirty="0">
                <a:solidFill>
                  <a:srgbClr val="A5F3FC"/>
                </a:solidFill>
                <a:latin typeface="Consolas" panose="020B0609020204030204" pitchFamily="34" charset="0"/>
                <a:ea typeface="Consolas" panose="020B0609020204030204" pitchFamily="34" charset="-122"/>
                <a:cs typeface="Consolas" panose="020B0609020204030204" pitchFamily="34" charset="-120"/>
              </a:rPr>
              <a:t>// Renders as:  &lt;b&gt;Bold&lt;/b&gt;  (literal)</a:t>
            </a:r>
            <a:endParaRPr lang="en-US" sz="950" dirty="0"/>
          </a:p>
        </p:txBody>
      </p:sp>
      <p:sp>
        <p:nvSpPr>
          <p:cNvPr id="11" name="Shape 9"/>
          <p:cNvSpPr/>
          <p:nvPr>
            <p:custDataLst>
              <p:tags r:id="rId7"/>
            </p:custDataLst>
          </p:nvPr>
        </p:nvSpPr>
        <p:spPr>
          <a:xfrm>
            <a:off x="365760" y="4462272"/>
            <a:ext cx="2651760" cy="384048"/>
          </a:xfrm>
          <a:prstGeom prst="rect">
            <a:avLst/>
          </a:prstGeom>
          <a:solidFill>
            <a:srgbClr val="0D1F0D"/>
          </a:solidFill>
          <a:ln w="12700">
            <a:solidFill>
              <a:srgbClr val="10B981"/>
            </a:solidFill>
            <a:prstDash val="solid"/>
          </a:ln>
        </p:spPr>
      </p:sp>
      <p:sp>
        <p:nvSpPr>
          <p:cNvPr id="12" name="Text 10"/>
          <p:cNvSpPr/>
          <p:nvPr>
            <p:custDataLst>
              <p:tags r:id="rId8"/>
            </p:custDataLst>
          </p:nvPr>
        </p:nvSpPr>
        <p:spPr>
          <a:xfrm>
            <a:off x="411480" y="4480560"/>
            <a:ext cx="2560320" cy="347472"/>
          </a:xfrm>
          <a:prstGeom prst="rect">
            <a:avLst/>
          </a:prstGeom>
          <a:noFill/>
        </p:spPr>
        <p:txBody>
          <a:bodyPr wrap="square" lIns="0" tIns="0" rIns="0" bIns="0" rtlCol="0" anchor="ctr"/>
          <a:lstStyle/>
          <a:p>
            <a:pPr marL="0" indent="0">
              <a:buNone/>
            </a:pPr>
            <a:r>
              <a:rPr lang="en-US" sz="1000" dirty="0">
                <a:solidFill>
                  <a:srgbClr val="10B981"/>
                </a:solidFill>
                <a:latin typeface="Calibri" panose="020F0502020204030204" pitchFamily="34" charset="0"/>
                <a:ea typeface="Calibri" panose="020F0502020204030204" pitchFamily="34" charset="-122"/>
                <a:cs typeface="Calibri" panose="020F0502020204030204" pitchFamily="34" charset="-120"/>
              </a:rPr>
              <a:t>✔ Safe – prevents XSS attacks</a:t>
            </a:r>
            <a:endParaRPr lang="en-US" sz="1000" dirty="0"/>
          </a:p>
        </p:txBody>
      </p:sp>
      <p:sp>
        <p:nvSpPr>
          <p:cNvPr id="13" name="Shape 11"/>
          <p:cNvSpPr/>
          <p:nvPr>
            <p:custDataLst>
              <p:tags r:id="rId9"/>
            </p:custDataLst>
          </p:nvPr>
        </p:nvSpPr>
        <p:spPr>
          <a:xfrm>
            <a:off x="3246120" y="685800"/>
            <a:ext cx="2834640" cy="4389120"/>
          </a:xfrm>
          <a:prstGeom prst="rect">
            <a:avLst/>
          </a:prstGeom>
          <a:solidFill>
            <a:srgbClr val="1E293B"/>
          </a:solidFill>
          <a:ln w="12700">
            <a:solidFill>
              <a:srgbClr val="3B82F6"/>
            </a:solidFill>
            <a:prstDash val="solid"/>
          </a:ln>
        </p:spPr>
      </p:sp>
      <p:sp>
        <p:nvSpPr>
          <p:cNvPr id="14" name="Shape 12"/>
          <p:cNvSpPr/>
          <p:nvPr>
            <p:custDataLst>
              <p:tags r:id="rId10"/>
            </p:custDataLst>
          </p:nvPr>
        </p:nvSpPr>
        <p:spPr>
          <a:xfrm>
            <a:off x="3246120" y="685800"/>
            <a:ext cx="2834640" cy="54864"/>
          </a:xfrm>
          <a:prstGeom prst="rect">
            <a:avLst/>
          </a:prstGeom>
          <a:solidFill>
            <a:srgbClr val="3B82F6"/>
          </a:solidFill>
          <a:ln w="12700">
            <a:solidFill>
              <a:srgbClr val="3B82F6"/>
            </a:solidFill>
            <a:prstDash val="solid"/>
          </a:ln>
        </p:spPr>
      </p:sp>
      <p:sp>
        <p:nvSpPr>
          <p:cNvPr id="15" name="Text 13"/>
          <p:cNvSpPr/>
          <p:nvPr>
            <p:custDataLst>
              <p:tags r:id="rId11"/>
            </p:custDataLst>
          </p:nvPr>
        </p:nvSpPr>
        <p:spPr>
          <a:xfrm>
            <a:off x="3337560" y="777240"/>
            <a:ext cx="2651760" cy="320040"/>
          </a:xfrm>
          <a:prstGeom prst="rect">
            <a:avLst/>
          </a:prstGeom>
          <a:noFill/>
        </p:spPr>
        <p:txBody>
          <a:bodyPr wrap="square" lIns="0" tIns="0" rIns="0" bIns="0" rtlCol="0" anchor="ctr"/>
          <a:lstStyle/>
          <a:p>
            <a:pPr marL="0" indent="0">
              <a:buNone/>
            </a:pPr>
            <a:r>
              <a:rPr lang="en-US" sz="1400" b="1" dirty="0">
                <a:solidFill>
                  <a:srgbClr val="3B82F6"/>
                </a:solidFill>
                <a:latin typeface="Consolas" panose="020B0609020204030204" pitchFamily="34" charset="0"/>
                <a:ea typeface="Consolas" panose="020B0609020204030204" pitchFamily="34" charset="-122"/>
                <a:cs typeface="Consolas" panose="020B0609020204030204" pitchFamily="34" charset="-120"/>
              </a:rPr>
              <a:t>innerHTML</a:t>
            </a:r>
            <a:endParaRPr lang="en-US" sz="1400" dirty="0"/>
          </a:p>
        </p:txBody>
      </p:sp>
      <p:sp>
        <p:nvSpPr>
          <p:cNvPr id="16" name="Text 14"/>
          <p:cNvSpPr/>
          <p:nvPr>
            <p:custDataLst>
              <p:tags r:id="rId12"/>
            </p:custDataLst>
          </p:nvPr>
        </p:nvSpPr>
        <p:spPr>
          <a:xfrm>
            <a:off x="3337560" y="1143000"/>
            <a:ext cx="2651760" cy="1005840"/>
          </a:xfrm>
          <a:prstGeom prst="rect">
            <a:avLst/>
          </a:prstGeom>
          <a:noFill/>
        </p:spPr>
        <p:txBody>
          <a:bodyPr wrap="square" lIns="0" tIns="0" rIns="0" bIns="0" rtlCol="0" anchor="ctr"/>
          <a:lstStyle/>
          <a:p>
            <a:pPr marL="0" indent="0">
              <a:buNone/>
            </a:pPr>
            <a:r>
              <a:rPr lang="en-US" sz="1050" dirty="0">
                <a:solidFill>
                  <a:srgbClr val="F8FAFC"/>
                </a:solidFill>
                <a:latin typeface="Calibri" panose="020F0502020204030204" pitchFamily="34" charset="0"/>
                <a:ea typeface="Calibri" panose="020F0502020204030204" pitchFamily="34" charset="-122"/>
                <a:cs typeface="Calibri" panose="020F0502020204030204" pitchFamily="34" charset="-120"/>
              </a:rPr>
              <a:t>Gets/sets the HTML markup inside an element. HTML tags ARE parsed and rendered. Use with care — inserting user content can cause XSS security vulnerabilities.</a:t>
            </a:r>
            <a:endParaRPr lang="en-US" sz="1050" dirty="0"/>
          </a:p>
        </p:txBody>
      </p:sp>
      <p:sp>
        <p:nvSpPr>
          <p:cNvPr id="17" name="Shape 15"/>
          <p:cNvSpPr/>
          <p:nvPr>
            <p:custDataLst>
              <p:tags r:id="rId13"/>
            </p:custDataLst>
          </p:nvPr>
        </p:nvSpPr>
        <p:spPr>
          <a:xfrm>
            <a:off x="3337560" y="2212848"/>
            <a:ext cx="2651760" cy="2194560"/>
          </a:xfrm>
          <a:prstGeom prst="rect">
            <a:avLst/>
          </a:prstGeom>
          <a:solidFill>
            <a:srgbClr val="0D1117"/>
          </a:solidFill>
          <a:ln w="12700">
            <a:solidFill>
              <a:srgbClr val="3B82F6"/>
            </a:solidFill>
            <a:prstDash val="solid"/>
          </a:ln>
        </p:spPr>
      </p:sp>
      <p:sp>
        <p:nvSpPr>
          <p:cNvPr id="18" name="Text 16"/>
          <p:cNvSpPr/>
          <p:nvPr>
            <p:custDataLst>
              <p:tags r:id="rId14"/>
            </p:custDataLst>
          </p:nvPr>
        </p:nvSpPr>
        <p:spPr>
          <a:xfrm>
            <a:off x="3429000" y="2258568"/>
            <a:ext cx="2468880" cy="2103120"/>
          </a:xfrm>
          <a:prstGeom prst="rect">
            <a:avLst/>
          </a:prstGeom>
          <a:noFill/>
        </p:spPr>
        <p:txBody>
          <a:bodyPr wrap="square" lIns="0" tIns="0" rIns="0" bIns="0" rtlCol="0" anchor="ctr"/>
          <a:lstStyle/>
          <a:p>
            <a:pPr marL="0" indent="0">
              <a:buNone/>
            </a:pPr>
            <a:r>
              <a:rPr lang="en-US" sz="95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box = document.querySelector('.box');</a:t>
            </a:r>
            <a:endParaRPr lang="en-US" sz="950" dirty="0"/>
          </a:p>
          <a:p>
            <a:pPr marL="0" indent="0">
              <a:buNone/>
            </a:pPr>
            <a:endParaRPr lang="en-US" sz="950" dirty="0"/>
          </a:p>
          <a:p>
            <a:pPr marL="0" indent="0">
              <a:buNone/>
            </a:pPr>
            <a:r>
              <a:rPr lang="en-US" sz="950" dirty="0">
                <a:solidFill>
                  <a:srgbClr val="A5F3FC"/>
                </a:solidFill>
                <a:latin typeface="Consolas" panose="020B0609020204030204" pitchFamily="34" charset="0"/>
                <a:ea typeface="Consolas" panose="020B0609020204030204" pitchFamily="34" charset="-122"/>
                <a:cs typeface="Consolas" panose="020B0609020204030204" pitchFamily="34" charset="-120"/>
              </a:rPr>
              <a:t>// Get HTML</a:t>
            </a:r>
            <a:endParaRPr lang="en-US" sz="950" dirty="0"/>
          </a:p>
          <a:p>
            <a:pPr marL="0" indent="0">
              <a:buNone/>
            </a:pPr>
            <a:r>
              <a:rPr lang="en-US" sz="95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console.log(box.innerHTML);</a:t>
            </a:r>
            <a:endParaRPr lang="en-US" sz="950" dirty="0"/>
          </a:p>
          <a:p>
            <a:pPr marL="0" indent="0">
              <a:buNone/>
            </a:pPr>
            <a:endParaRPr lang="en-US" sz="950" dirty="0"/>
          </a:p>
          <a:p>
            <a:pPr marL="0" indent="0">
              <a:buNone/>
            </a:pPr>
            <a:r>
              <a:rPr lang="en-US" sz="950" dirty="0">
                <a:solidFill>
                  <a:srgbClr val="A5F3FC"/>
                </a:solidFill>
                <a:latin typeface="Consolas" panose="020B0609020204030204" pitchFamily="34" charset="0"/>
                <a:ea typeface="Consolas" panose="020B0609020204030204" pitchFamily="34" charset="-122"/>
                <a:cs typeface="Consolas" panose="020B0609020204030204" pitchFamily="34" charset="-120"/>
              </a:rPr>
              <a:t>// Set HTML (rendered)</a:t>
            </a:r>
            <a:endParaRPr lang="en-US" sz="950" dirty="0"/>
          </a:p>
          <a:p>
            <a:pPr marL="0" indent="0">
              <a:buNone/>
            </a:pPr>
            <a:r>
              <a:rPr lang="en-US" sz="950" dirty="0">
                <a:solidFill>
                  <a:srgbClr val="A5F3FC"/>
                </a:solidFill>
                <a:latin typeface="Consolas" panose="020B0609020204030204" pitchFamily="34" charset="0"/>
                <a:ea typeface="Consolas" panose="020B0609020204030204" pitchFamily="34" charset="-122"/>
                <a:cs typeface="Consolas" panose="020B0609020204030204" pitchFamily="34" charset="-120"/>
              </a:rPr>
              <a:t>box.innerHTML = '&lt;b&gt;Bold&lt;/b&gt;';</a:t>
            </a:r>
            <a:endParaRPr lang="en-US" sz="950" dirty="0"/>
          </a:p>
          <a:p>
            <a:pPr marL="0" indent="0">
              <a:buNone/>
            </a:pPr>
            <a:r>
              <a:rPr lang="en-US" sz="950" dirty="0">
                <a:solidFill>
                  <a:srgbClr val="A5F3FC"/>
                </a:solidFill>
                <a:latin typeface="Consolas" panose="020B0609020204030204" pitchFamily="34" charset="0"/>
                <a:ea typeface="Consolas" panose="020B0609020204030204" pitchFamily="34" charset="-122"/>
                <a:cs typeface="Consolas" panose="020B0609020204030204" pitchFamily="34" charset="-120"/>
              </a:rPr>
              <a:t>// Renders as actual bold text</a:t>
            </a:r>
            <a:endParaRPr lang="en-US" sz="950" dirty="0"/>
          </a:p>
        </p:txBody>
      </p:sp>
      <p:sp>
        <p:nvSpPr>
          <p:cNvPr id="19" name="Shape 17"/>
          <p:cNvSpPr/>
          <p:nvPr>
            <p:custDataLst>
              <p:tags r:id="rId15"/>
            </p:custDataLst>
          </p:nvPr>
        </p:nvSpPr>
        <p:spPr>
          <a:xfrm>
            <a:off x="3337560" y="4462272"/>
            <a:ext cx="2651760" cy="384048"/>
          </a:xfrm>
          <a:prstGeom prst="rect">
            <a:avLst/>
          </a:prstGeom>
          <a:solidFill>
            <a:srgbClr val="0D1F0D"/>
          </a:solidFill>
          <a:ln w="12700">
            <a:solidFill>
              <a:srgbClr val="3B82F6"/>
            </a:solidFill>
            <a:prstDash val="solid"/>
          </a:ln>
        </p:spPr>
      </p:sp>
      <p:sp>
        <p:nvSpPr>
          <p:cNvPr id="20" name="Text 18"/>
          <p:cNvSpPr/>
          <p:nvPr>
            <p:custDataLst>
              <p:tags r:id="rId16"/>
            </p:custDataLst>
          </p:nvPr>
        </p:nvSpPr>
        <p:spPr>
          <a:xfrm>
            <a:off x="3383280" y="4480560"/>
            <a:ext cx="2560320" cy="347472"/>
          </a:xfrm>
          <a:prstGeom prst="rect">
            <a:avLst/>
          </a:prstGeom>
          <a:noFill/>
        </p:spPr>
        <p:txBody>
          <a:bodyPr wrap="square" lIns="0" tIns="0" rIns="0" bIns="0" rtlCol="0" anchor="ctr"/>
          <a:lstStyle/>
          <a:p>
            <a:pPr marL="0" indent="0">
              <a:buNone/>
            </a:pPr>
            <a:r>
              <a:rPr lang="en-US" sz="1000" dirty="0">
                <a:solidFill>
                  <a:srgbClr val="3B82F6"/>
                </a:solidFill>
                <a:latin typeface="Calibri" panose="020F0502020204030204" pitchFamily="34" charset="0"/>
                <a:ea typeface="Calibri" panose="020F0502020204030204" pitchFamily="34" charset="-122"/>
                <a:cs typeface="Calibri" panose="020F0502020204030204" pitchFamily="34" charset="-120"/>
              </a:rPr>
              <a:t>⚠ Caution with user input – XSS risk</a:t>
            </a:r>
            <a:endParaRPr lang="en-US" sz="1000" dirty="0"/>
          </a:p>
        </p:txBody>
      </p:sp>
      <p:sp>
        <p:nvSpPr>
          <p:cNvPr id="21" name="Shape 19"/>
          <p:cNvSpPr/>
          <p:nvPr>
            <p:custDataLst>
              <p:tags r:id="rId17"/>
            </p:custDataLst>
          </p:nvPr>
        </p:nvSpPr>
        <p:spPr>
          <a:xfrm>
            <a:off x="6217920" y="685800"/>
            <a:ext cx="2834640" cy="4389120"/>
          </a:xfrm>
          <a:prstGeom prst="rect">
            <a:avLst/>
          </a:prstGeom>
          <a:solidFill>
            <a:srgbClr val="1E293B"/>
          </a:solidFill>
          <a:ln w="12700">
            <a:solidFill>
              <a:srgbClr val="06B6D4"/>
            </a:solidFill>
            <a:prstDash val="solid"/>
          </a:ln>
        </p:spPr>
      </p:sp>
      <p:sp>
        <p:nvSpPr>
          <p:cNvPr id="22" name="Shape 20"/>
          <p:cNvSpPr/>
          <p:nvPr>
            <p:custDataLst>
              <p:tags r:id="rId18"/>
            </p:custDataLst>
          </p:nvPr>
        </p:nvSpPr>
        <p:spPr>
          <a:xfrm>
            <a:off x="6217920" y="685800"/>
            <a:ext cx="2834640" cy="54864"/>
          </a:xfrm>
          <a:prstGeom prst="rect">
            <a:avLst/>
          </a:prstGeom>
          <a:solidFill>
            <a:srgbClr val="06B6D4"/>
          </a:solidFill>
          <a:ln w="12700">
            <a:solidFill>
              <a:srgbClr val="06B6D4"/>
            </a:solidFill>
            <a:prstDash val="solid"/>
          </a:ln>
        </p:spPr>
      </p:sp>
      <p:sp>
        <p:nvSpPr>
          <p:cNvPr id="23" name="Text 21"/>
          <p:cNvSpPr/>
          <p:nvPr>
            <p:custDataLst>
              <p:tags r:id="rId19"/>
            </p:custDataLst>
          </p:nvPr>
        </p:nvSpPr>
        <p:spPr>
          <a:xfrm>
            <a:off x="6309360" y="777240"/>
            <a:ext cx="2651760" cy="320040"/>
          </a:xfrm>
          <a:prstGeom prst="rect">
            <a:avLst/>
          </a:prstGeom>
          <a:noFill/>
        </p:spPr>
        <p:txBody>
          <a:bodyPr wrap="square" lIns="0" tIns="0" rIns="0" bIns="0" rtlCol="0" anchor="ctr"/>
          <a:lstStyle/>
          <a:p>
            <a:pPr marL="0" indent="0">
              <a:buNone/>
            </a:pPr>
            <a:r>
              <a:rPr lang="en-US" sz="1400" b="1" dirty="0">
                <a:solidFill>
                  <a:srgbClr val="06B6D4"/>
                </a:solidFill>
                <a:latin typeface="Consolas" panose="020B0609020204030204" pitchFamily="34" charset="0"/>
                <a:ea typeface="Consolas" panose="020B0609020204030204" pitchFamily="34" charset="-122"/>
                <a:cs typeface="Consolas" panose="020B0609020204030204" pitchFamily="34" charset="-120"/>
              </a:rPr>
              <a:t>innerText</a:t>
            </a:r>
            <a:endParaRPr lang="en-US" sz="1400" dirty="0"/>
          </a:p>
        </p:txBody>
      </p:sp>
      <p:sp>
        <p:nvSpPr>
          <p:cNvPr id="24" name="Text 22"/>
          <p:cNvSpPr/>
          <p:nvPr>
            <p:custDataLst>
              <p:tags r:id="rId20"/>
            </p:custDataLst>
          </p:nvPr>
        </p:nvSpPr>
        <p:spPr>
          <a:xfrm>
            <a:off x="6309360" y="1143000"/>
            <a:ext cx="2651760" cy="1005840"/>
          </a:xfrm>
          <a:prstGeom prst="rect">
            <a:avLst/>
          </a:prstGeom>
          <a:noFill/>
        </p:spPr>
        <p:txBody>
          <a:bodyPr wrap="square" lIns="0" tIns="0" rIns="0" bIns="0" rtlCol="0" anchor="ctr"/>
          <a:lstStyle/>
          <a:p>
            <a:pPr marL="0" indent="0">
              <a:buNone/>
            </a:pPr>
            <a:r>
              <a:rPr lang="en-US" sz="1050" dirty="0">
                <a:solidFill>
                  <a:srgbClr val="F8FAFC"/>
                </a:solidFill>
                <a:latin typeface="Calibri" panose="020F0502020204030204" pitchFamily="34" charset="0"/>
                <a:ea typeface="Calibri" panose="020F0502020204030204" pitchFamily="34" charset="-122"/>
                <a:cs typeface="Calibri" panose="020F0502020204030204" pitchFamily="34" charset="-120"/>
              </a:rPr>
              <a:t>Similar to textContent but is 'human-readable' — it respects CSS styling (e.g., hidden elements are excluded). It triggers a layout reflow, making it slower.</a:t>
            </a:r>
            <a:endParaRPr lang="en-US" sz="1050" dirty="0"/>
          </a:p>
        </p:txBody>
      </p:sp>
      <p:sp>
        <p:nvSpPr>
          <p:cNvPr id="25" name="Shape 23"/>
          <p:cNvSpPr/>
          <p:nvPr>
            <p:custDataLst>
              <p:tags r:id="rId21"/>
            </p:custDataLst>
          </p:nvPr>
        </p:nvSpPr>
        <p:spPr>
          <a:xfrm>
            <a:off x="6309360" y="2212848"/>
            <a:ext cx="2651760" cy="2194560"/>
          </a:xfrm>
          <a:prstGeom prst="rect">
            <a:avLst/>
          </a:prstGeom>
          <a:solidFill>
            <a:srgbClr val="0D1117"/>
          </a:solidFill>
          <a:ln w="12700">
            <a:solidFill>
              <a:srgbClr val="06B6D4"/>
            </a:solidFill>
            <a:prstDash val="solid"/>
          </a:ln>
        </p:spPr>
      </p:sp>
      <p:sp>
        <p:nvSpPr>
          <p:cNvPr id="26" name="Text 24"/>
          <p:cNvSpPr/>
          <p:nvPr>
            <p:custDataLst>
              <p:tags r:id="rId22"/>
            </p:custDataLst>
          </p:nvPr>
        </p:nvSpPr>
        <p:spPr>
          <a:xfrm>
            <a:off x="6400800" y="2258568"/>
            <a:ext cx="2468880" cy="2103120"/>
          </a:xfrm>
          <a:prstGeom prst="rect">
            <a:avLst/>
          </a:prstGeom>
          <a:noFill/>
        </p:spPr>
        <p:txBody>
          <a:bodyPr wrap="square" lIns="0" tIns="0" rIns="0" bIns="0" rtlCol="0" anchor="ctr"/>
          <a:lstStyle/>
          <a:p>
            <a:pPr marL="0" indent="0">
              <a:buNone/>
            </a:pPr>
            <a:r>
              <a:rPr lang="en-US" sz="95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para = document.querySelector('p');</a:t>
            </a:r>
            <a:endParaRPr lang="en-US" sz="950" dirty="0"/>
          </a:p>
          <a:p>
            <a:pPr marL="0" indent="0">
              <a:buNone/>
            </a:pPr>
            <a:endParaRPr lang="en-US" sz="950" dirty="0"/>
          </a:p>
          <a:p>
            <a:pPr marL="0" indent="0">
              <a:buNone/>
            </a:pPr>
            <a:r>
              <a:rPr lang="en-US" sz="950" dirty="0">
                <a:solidFill>
                  <a:srgbClr val="A5F3FC"/>
                </a:solidFill>
                <a:latin typeface="Consolas" panose="020B0609020204030204" pitchFamily="34" charset="0"/>
                <a:ea typeface="Consolas" panose="020B0609020204030204" pitchFamily="34" charset="-122"/>
                <a:cs typeface="Consolas" panose="020B0609020204030204" pitchFamily="34" charset="-120"/>
              </a:rPr>
              <a:t>// Get visible text only</a:t>
            </a:r>
            <a:endParaRPr lang="en-US" sz="950" dirty="0"/>
          </a:p>
          <a:p>
            <a:pPr marL="0" indent="0">
              <a:buNone/>
            </a:pPr>
            <a:r>
              <a:rPr lang="en-US" sz="95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console.log(para.innerText);</a:t>
            </a:r>
            <a:endParaRPr lang="en-US" sz="950" dirty="0"/>
          </a:p>
          <a:p>
            <a:pPr marL="0" indent="0">
              <a:buNone/>
            </a:pPr>
            <a:endParaRPr lang="en-US" sz="950" dirty="0"/>
          </a:p>
          <a:p>
            <a:pPr marL="0" indent="0">
              <a:buNone/>
            </a:pPr>
            <a:r>
              <a:rPr lang="en-US" sz="950" dirty="0">
                <a:solidFill>
                  <a:srgbClr val="A5F3FC"/>
                </a:solidFill>
                <a:latin typeface="Consolas" panose="020B0609020204030204" pitchFamily="34" charset="0"/>
                <a:ea typeface="Consolas" panose="020B0609020204030204" pitchFamily="34" charset="-122"/>
                <a:cs typeface="Consolas" panose="020B0609020204030204" pitchFamily="34" charset="-120"/>
              </a:rPr>
              <a:t>// Set visible text</a:t>
            </a:r>
            <a:endParaRPr lang="en-US" sz="950" dirty="0"/>
          </a:p>
          <a:p>
            <a:pPr marL="0" indent="0">
              <a:buNone/>
            </a:pPr>
            <a:r>
              <a:rPr lang="en-US" sz="950" dirty="0">
                <a:solidFill>
                  <a:srgbClr val="A5F3FC"/>
                </a:solidFill>
                <a:latin typeface="Consolas" panose="020B0609020204030204" pitchFamily="34" charset="0"/>
                <a:ea typeface="Consolas" panose="020B0609020204030204" pitchFamily="34" charset="-122"/>
                <a:cs typeface="Consolas" panose="020B0609020204030204" pitchFamily="34" charset="-120"/>
              </a:rPr>
              <a:t>para.innerText = 'New text here';</a:t>
            </a:r>
            <a:endParaRPr lang="en-US" sz="950" dirty="0"/>
          </a:p>
          <a:p>
            <a:pPr marL="0" indent="0">
              <a:buNone/>
            </a:pPr>
            <a:r>
              <a:rPr lang="en-US" sz="950" dirty="0">
                <a:solidFill>
                  <a:srgbClr val="A5F3FC"/>
                </a:solidFill>
                <a:latin typeface="Consolas" panose="020B0609020204030204" pitchFamily="34" charset="0"/>
                <a:ea typeface="Consolas" panose="020B0609020204030204" pitchFamily="34" charset="-122"/>
                <a:cs typeface="Consolas" panose="020B0609020204030204" pitchFamily="34" charset="-120"/>
              </a:rPr>
              <a:t>// Respects CSS display</a:t>
            </a:r>
            <a:endParaRPr lang="en-US" sz="950" dirty="0"/>
          </a:p>
        </p:txBody>
      </p:sp>
      <p:sp>
        <p:nvSpPr>
          <p:cNvPr id="27" name="Shape 25"/>
          <p:cNvSpPr/>
          <p:nvPr>
            <p:custDataLst>
              <p:tags r:id="rId23"/>
            </p:custDataLst>
          </p:nvPr>
        </p:nvSpPr>
        <p:spPr>
          <a:xfrm>
            <a:off x="6309360" y="4462272"/>
            <a:ext cx="2651760" cy="384048"/>
          </a:xfrm>
          <a:prstGeom prst="rect">
            <a:avLst/>
          </a:prstGeom>
          <a:solidFill>
            <a:srgbClr val="0D1F0D"/>
          </a:solidFill>
          <a:ln w="12700">
            <a:solidFill>
              <a:srgbClr val="06B6D4"/>
            </a:solidFill>
            <a:prstDash val="solid"/>
          </a:ln>
        </p:spPr>
      </p:sp>
      <p:sp>
        <p:nvSpPr>
          <p:cNvPr id="28" name="Text 26"/>
          <p:cNvSpPr/>
          <p:nvPr>
            <p:custDataLst>
              <p:tags r:id="rId24"/>
            </p:custDataLst>
          </p:nvPr>
        </p:nvSpPr>
        <p:spPr>
          <a:xfrm>
            <a:off x="6355080" y="4480560"/>
            <a:ext cx="2560320" cy="347472"/>
          </a:xfrm>
          <a:prstGeom prst="rect">
            <a:avLst/>
          </a:prstGeom>
          <a:noFill/>
        </p:spPr>
        <p:txBody>
          <a:bodyPr wrap="square" lIns="0" tIns="0" rIns="0" bIns="0" rtlCol="0" anchor="ctr"/>
          <a:lstStyle/>
          <a:p>
            <a:pPr marL="0" indent="0">
              <a:buNone/>
            </a:pPr>
            <a:r>
              <a:rPr lang="en-US" sz="1000" dirty="0">
                <a:solidFill>
                  <a:srgbClr val="06B6D4"/>
                </a:solidFill>
                <a:latin typeface="Calibri" panose="020F0502020204030204" pitchFamily="34" charset="0"/>
                <a:ea typeface="Calibri" panose="020F0502020204030204" pitchFamily="34" charset="-122"/>
                <a:cs typeface="Calibri" panose="020F0502020204030204" pitchFamily="34" charset="-120"/>
              </a:rPr>
              <a:t>ℹ  Slower – triggers layout reflow</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B82F6"/>
          </a:solidFill>
          <a:ln w="12700">
            <a:solidFill>
              <a:srgbClr val="3B82F6"/>
            </a:solidFill>
            <a:prstDash val="solid"/>
          </a:ln>
        </p:spPr>
      </p:sp>
      <p:sp>
        <p:nvSpPr>
          <p:cNvPr id="3" name="Text 1"/>
          <p:cNvSpPr/>
          <p:nvPr/>
        </p:nvSpPr>
        <p:spPr>
          <a:xfrm>
            <a:off x="365760" y="137160"/>
            <a:ext cx="8412480" cy="411480"/>
          </a:xfrm>
          <a:prstGeom prst="rect">
            <a:avLst/>
          </a:prstGeom>
          <a:noFill/>
        </p:spPr>
        <p:txBody>
          <a:bodyPr wrap="square" lIns="0" tIns="0" rIns="0" bIns="0" rtlCol="0" anchor="ctr"/>
          <a:lstStyle/>
          <a:p>
            <a:pPr marL="0" indent="0">
              <a:buNone/>
            </a:pPr>
            <a:r>
              <a:rPr lang="en-US" sz="2600" b="1" dirty="0">
                <a:solidFill>
                  <a:srgbClr val="3B82F6"/>
                </a:solidFill>
                <a:latin typeface="Calibri" panose="020F0502020204030204" pitchFamily="34" charset="0"/>
                <a:ea typeface="Calibri" panose="020F0502020204030204" pitchFamily="34" charset="-122"/>
                <a:cs typeface="Calibri" panose="020F0502020204030204" pitchFamily="34" charset="-120"/>
              </a:rPr>
              <a:t>Working with Attributes</a:t>
            </a:r>
            <a:endParaRPr lang="en-US" sz="2600" dirty="0"/>
          </a:p>
        </p:txBody>
      </p:sp>
      <p:sp>
        <p:nvSpPr>
          <p:cNvPr id="4" name="Shape 2"/>
          <p:cNvSpPr/>
          <p:nvPr/>
        </p:nvSpPr>
        <p:spPr>
          <a:xfrm>
            <a:off x="365760" y="576072"/>
            <a:ext cx="8412480" cy="36576"/>
          </a:xfrm>
          <a:prstGeom prst="rect">
            <a:avLst/>
          </a:prstGeom>
          <a:solidFill>
            <a:srgbClr val="1E293B"/>
          </a:solidFill>
          <a:ln w="12700">
            <a:solidFill>
              <a:srgbClr val="1E293B"/>
            </a:solidFill>
            <a:prstDash val="solid"/>
          </a:ln>
        </p:spPr>
      </p:sp>
      <p:sp>
        <p:nvSpPr>
          <p:cNvPr id="5" name="Shape 3"/>
          <p:cNvSpPr/>
          <p:nvPr/>
        </p:nvSpPr>
        <p:spPr>
          <a:xfrm>
            <a:off x="365760" y="685800"/>
            <a:ext cx="8412480" cy="548640"/>
          </a:xfrm>
          <a:prstGeom prst="rect">
            <a:avLst/>
          </a:prstGeom>
          <a:solidFill>
            <a:srgbClr val="1E293B"/>
          </a:solidFill>
          <a:ln w="12700">
            <a:solidFill>
              <a:srgbClr val="1E3A5F"/>
            </a:solidFill>
            <a:prstDash val="solid"/>
          </a:ln>
        </p:spPr>
      </p:sp>
      <p:sp>
        <p:nvSpPr>
          <p:cNvPr id="6" name="Text 4"/>
          <p:cNvSpPr/>
          <p:nvPr/>
        </p:nvSpPr>
        <p:spPr>
          <a:xfrm>
            <a:off x="594360" y="749808"/>
            <a:ext cx="7955280" cy="438912"/>
          </a:xfrm>
          <a:prstGeom prst="rect">
            <a:avLst/>
          </a:prstGeom>
          <a:noFill/>
        </p:spPr>
        <p:txBody>
          <a:bodyPr wrap="square" lIns="0" tIns="0" rIns="0" bIns="0" rtlCol="0" anchor="ctr"/>
          <a:lstStyle/>
          <a:p>
            <a:pPr marL="0" indent="0">
              <a:buNone/>
            </a:pPr>
            <a:r>
              <a:rPr lang="en-US" sz="1250" dirty="0">
                <a:solidFill>
                  <a:srgbClr val="F8FAFC"/>
                </a:solidFill>
                <a:latin typeface="Calibri" panose="020F0502020204030204" pitchFamily="34" charset="0"/>
                <a:ea typeface="Calibri" panose="020F0502020204030204" pitchFamily="34" charset="-122"/>
                <a:cs typeface="Calibri" panose="020F0502020204030204" pitchFamily="34" charset="-120"/>
              </a:rPr>
              <a:t>HTML attributes are extra information added to elements (e.g., src, href, id, class, type, value, disabled). JavaScript provides four key methods to read and modify them.</a:t>
            </a:r>
            <a:endParaRPr lang="en-US" sz="1250" dirty="0"/>
          </a:p>
        </p:txBody>
      </p:sp>
      <p:sp>
        <p:nvSpPr>
          <p:cNvPr id="7" name="Shape 5"/>
          <p:cNvSpPr/>
          <p:nvPr>
            <p:custDataLst>
              <p:tags r:id="rId1"/>
            </p:custDataLst>
          </p:nvPr>
        </p:nvSpPr>
        <p:spPr>
          <a:xfrm>
            <a:off x="365760" y="1371600"/>
            <a:ext cx="4206240" cy="1691640"/>
          </a:xfrm>
          <a:prstGeom prst="rect">
            <a:avLst/>
          </a:prstGeom>
          <a:solidFill>
            <a:srgbClr val="1E293B"/>
          </a:solidFill>
          <a:ln w="12700">
            <a:solidFill>
              <a:srgbClr val="10B981"/>
            </a:solidFill>
            <a:prstDash val="solid"/>
          </a:ln>
        </p:spPr>
      </p:sp>
      <p:sp>
        <p:nvSpPr>
          <p:cNvPr id="8" name="Text 6"/>
          <p:cNvSpPr/>
          <p:nvPr>
            <p:custDataLst>
              <p:tags r:id="rId2"/>
            </p:custDataLst>
          </p:nvPr>
        </p:nvSpPr>
        <p:spPr>
          <a:xfrm>
            <a:off x="475488" y="1463040"/>
            <a:ext cx="3977640" cy="274320"/>
          </a:xfrm>
          <a:prstGeom prst="rect">
            <a:avLst/>
          </a:prstGeom>
          <a:noFill/>
        </p:spPr>
        <p:txBody>
          <a:bodyPr wrap="square" lIns="0" tIns="0" rIns="0" bIns="0" rtlCol="0" anchor="ctr"/>
          <a:lstStyle/>
          <a:p>
            <a:pPr marL="0" indent="0">
              <a:buNone/>
            </a:pPr>
            <a:r>
              <a:rPr lang="en-US" sz="1250" b="1" dirty="0">
                <a:solidFill>
                  <a:srgbClr val="10B981"/>
                </a:solidFill>
                <a:latin typeface="Consolas" panose="020B0609020204030204" pitchFamily="34" charset="0"/>
                <a:ea typeface="Consolas" panose="020B0609020204030204" pitchFamily="34" charset="-122"/>
                <a:cs typeface="Consolas" panose="020B0609020204030204" pitchFamily="34" charset="-120"/>
              </a:rPr>
              <a:t>getAttribute(name)</a:t>
            </a:r>
            <a:endParaRPr lang="en-US" sz="1250" dirty="0"/>
          </a:p>
        </p:txBody>
      </p:sp>
      <p:sp>
        <p:nvSpPr>
          <p:cNvPr id="9" name="Text 7"/>
          <p:cNvSpPr/>
          <p:nvPr>
            <p:custDataLst>
              <p:tags r:id="rId3"/>
            </p:custDataLst>
          </p:nvPr>
        </p:nvSpPr>
        <p:spPr>
          <a:xfrm>
            <a:off x="475488" y="1783080"/>
            <a:ext cx="3977640" cy="457200"/>
          </a:xfrm>
          <a:prstGeom prst="rect">
            <a:avLst/>
          </a:prstGeom>
          <a:noFill/>
        </p:spPr>
        <p:txBody>
          <a:bodyPr wrap="square" lIns="0" tIns="0" rIns="0" bIns="0" rtlCol="0" anchor="ctr"/>
          <a:lstStyle/>
          <a:p>
            <a:pPr marL="0" indent="0">
              <a:buNone/>
            </a:pPr>
            <a:r>
              <a:rPr lang="en-US" sz="1100" dirty="0">
                <a:solidFill>
                  <a:srgbClr val="F8FAFC"/>
                </a:solidFill>
                <a:latin typeface="Calibri" panose="020F0502020204030204" pitchFamily="34" charset="0"/>
                <a:ea typeface="Calibri" panose="020F0502020204030204" pitchFamily="34" charset="-122"/>
                <a:cs typeface="Calibri" panose="020F0502020204030204" pitchFamily="34" charset="-120"/>
              </a:rPr>
              <a:t>Reads the current value of an attribute from an element. Returns null if the attribute doesn't exist.</a:t>
            </a:r>
            <a:endParaRPr lang="en-US" sz="1100" dirty="0"/>
          </a:p>
        </p:txBody>
      </p:sp>
      <p:sp>
        <p:nvSpPr>
          <p:cNvPr id="10" name="Shape 8"/>
          <p:cNvSpPr/>
          <p:nvPr>
            <p:custDataLst>
              <p:tags r:id="rId4"/>
            </p:custDataLst>
          </p:nvPr>
        </p:nvSpPr>
        <p:spPr>
          <a:xfrm>
            <a:off x="475488" y="2286000"/>
            <a:ext cx="3977640" cy="658368"/>
          </a:xfrm>
          <a:prstGeom prst="rect">
            <a:avLst/>
          </a:prstGeom>
          <a:solidFill>
            <a:srgbClr val="0D1117"/>
          </a:solidFill>
          <a:ln w="12700">
            <a:solidFill>
              <a:srgbClr val="10B981"/>
            </a:solidFill>
            <a:prstDash val="solid"/>
          </a:ln>
        </p:spPr>
      </p:sp>
      <p:sp>
        <p:nvSpPr>
          <p:cNvPr id="11" name="Text 9"/>
          <p:cNvSpPr/>
          <p:nvPr>
            <p:custDataLst>
              <p:tags r:id="rId5"/>
            </p:custDataLst>
          </p:nvPr>
        </p:nvSpPr>
        <p:spPr>
          <a:xfrm>
            <a:off x="566928" y="2322576"/>
            <a:ext cx="3794760" cy="585216"/>
          </a:xfrm>
          <a:prstGeom prst="rect">
            <a:avLst/>
          </a:prstGeom>
          <a:noFill/>
        </p:spPr>
        <p:txBody>
          <a:bodyPr wrap="square" lIns="0" tIns="0" rIns="0" bIns="0" rtlCol="0" anchor="ctr"/>
          <a:lstStyle/>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src = img.getAttribute('src');</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href = link.getAttribute('href');</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console.log(src); // e.g. 'photo.jpg'</a:t>
            </a:r>
            <a:endParaRPr lang="en-US" sz="1000" dirty="0"/>
          </a:p>
        </p:txBody>
      </p:sp>
      <p:sp>
        <p:nvSpPr>
          <p:cNvPr id="12" name="Shape 10"/>
          <p:cNvSpPr/>
          <p:nvPr>
            <p:custDataLst>
              <p:tags r:id="rId6"/>
            </p:custDataLst>
          </p:nvPr>
        </p:nvSpPr>
        <p:spPr>
          <a:xfrm>
            <a:off x="4754880" y="1371600"/>
            <a:ext cx="4206240" cy="1691640"/>
          </a:xfrm>
          <a:prstGeom prst="rect">
            <a:avLst/>
          </a:prstGeom>
          <a:solidFill>
            <a:srgbClr val="1E293B"/>
          </a:solidFill>
          <a:ln w="12700">
            <a:solidFill>
              <a:srgbClr val="3B82F6"/>
            </a:solidFill>
            <a:prstDash val="solid"/>
          </a:ln>
        </p:spPr>
      </p:sp>
      <p:sp>
        <p:nvSpPr>
          <p:cNvPr id="13" name="Text 11"/>
          <p:cNvSpPr/>
          <p:nvPr>
            <p:custDataLst>
              <p:tags r:id="rId7"/>
            </p:custDataLst>
          </p:nvPr>
        </p:nvSpPr>
        <p:spPr>
          <a:xfrm>
            <a:off x="4864608" y="1463040"/>
            <a:ext cx="3977640" cy="274320"/>
          </a:xfrm>
          <a:prstGeom prst="rect">
            <a:avLst/>
          </a:prstGeom>
          <a:noFill/>
        </p:spPr>
        <p:txBody>
          <a:bodyPr wrap="square" lIns="0" tIns="0" rIns="0" bIns="0" rtlCol="0" anchor="ctr"/>
          <a:lstStyle/>
          <a:p>
            <a:pPr marL="0" indent="0">
              <a:buNone/>
            </a:pPr>
            <a:r>
              <a:rPr lang="en-US" sz="1250" b="1" dirty="0">
                <a:solidFill>
                  <a:srgbClr val="3B82F6"/>
                </a:solidFill>
                <a:latin typeface="Consolas" panose="020B0609020204030204" pitchFamily="34" charset="0"/>
                <a:ea typeface="Consolas" panose="020B0609020204030204" pitchFamily="34" charset="-122"/>
                <a:cs typeface="Consolas" panose="020B0609020204030204" pitchFamily="34" charset="-120"/>
              </a:rPr>
              <a:t>setAttribute(name, value)</a:t>
            </a:r>
            <a:endParaRPr lang="en-US" sz="1250" dirty="0"/>
          </a:p>
        </p:txBody>
      </p:sp>
      <p:sp>
        <p:nvSpPr>
          <p:cNvPr id="14" name="Text 12"/>
          <p:cNvSpPr/>
          <p:nvPr>
            <p:custDataLst>
              <p:tags r:id="rId8"/>
            </p:custDataLst>
          </p:nvPr>
        </p:nvSpPr>
        <p:spPr>
          <a:xfrm>
            <a:off x="4864608" y="1783080"/>
            <a:ext cx="3977640" cy="457200"/>
          </a:xfrm>
          <a:prstGeom prst="rect">
            <a:avLst/>
          </a:prstGeom>
          <a:noFill/>
        </p:spPr>
        <p:txBody>
          <a:bodyPr wrap="square" lIns="0" tIns="0" rIns="0" bIns="0" rtlCol="0" anchor="ctr"/>
          <a:lstStyle/>
          <a:p>
            <a:pPr marL="0" indent="0">
              <a:buNone/>
            </a:pPr>
            <a:r>
              <a:rPr lang="en-US" sz="1100" dirty="0">
                <a:solidFill>
                  <a:srgbClr val="F8FAFC"/>
                </a:solidFill>
                <a:latin typeface="Calibri" panose="020F0502020204030204" pitchFamily="34" charset="0"/>
                <a:ea typeface="Calibri" panose="020F0502020204030204" pitchFamily="34" charset="-122"/>
                <a:cs typeface="Calibri" panose="020F0502020204030204" pitchFamily="34" charset="-120"/>
              </a:rPr>
              <a:t>Sets a new value for an attribute, or creates the attribute if it doesn't exist on the element.</a:t>
            </a:r>
            <a:endParaRPr lang="en-US" sz="1100" dirty="0"/>
          </a:p>
        </p:txBody>
      </p:sp>
      <p:sp>
        <p:nvSpPr>
          <p:cNvPr id="15" name="Shape 13"/>
          <p:cNvSpPr/>
          <p:nvPr>
            <p:custDataLst>
              <p:tags r:id="rId9"/>
            </p:custDataLst>
          </p:nvPr>
        </p:nvSpPr>
        <p:spPr>
          <a:xfrm>
            <a:off x="4864608" y="2286000"/>
            <a:ext cx="3977640" cy="658368"/>
          </a:xfrm>
          <a:prstGeom prst="rect">
            <a:avLst/>
          </a:prstGeom>
          <a:solidFill>
            <a:srgbClr val="0D1117"/>
          </a:solidFill>
          <a:ln w="12700">
            <a:solidFill>
              <a:srgbClr val="3B82F6"/>
            </a:solidFill>
            <a:prstDash val="solid"/>
          </a:ln>
        </p:spPr>
      </p:sp>
      <p:sp>
        <p:nvSpPr>
          <p:cNvPr id="16" name="Text 14"/>
          <p:cNvSpPr/>
          <p:nvPr>
            <p:custDataLst>
              <p:tags r:id="rId10"/>
            </p:custDataLst>
          </p:nvPr>
        </p:nvSpPr>
        <p:spPr>
          <a:xfrm>
            <a:off x="4956048" y="2322576"/>
            <a:ext cx="3794760" cy="585216"/>
          </a:xfrm>
          <a:prstGeom prst="rect">
            <a:avLst/>
          </a:prstGeom>
          <a:noFill/>
        </p:spPr>
        <p:txBody>
          <a:bodyPr wrap="square" lIns="0" tIns="0" rIns="0" bIns="0" rtlCol="0" anchor="ctr"/>
          <a:lstStyle/>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img.setAttribute('src', 'newImage.jpg');</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img.setAttribute('alt', 'A new photo');</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btn.setAttribute('disabled', 'true');</a:t>
            </a:r>
            <a:endParaRPr lang="en-US" sz="1000" dirty="0"/>
          </a:p>
        </p:txBody>
      </p:sp>
      <p:sp>
        <p:nvSpPr>
          <p:cNvPr id="17" name="Shape 15"/>
          <p:cNvSpPr/>
          <p:nvPr>
            <p:custDataLst>
              <p:tags r:id="rId11"/>
            </p:custDataLst>
          </p:nvPr>
        </p:nvSpPr>
        <p:spPr>
          <a:xfrm>
            <a:off x="365760" y="3200400"/>
            <a:ext cx="4206240" cy="1691640"/>
          </a:xfrm>
          <a:prstGeom prst="rect">
            <a:avLst/>
          </a:prstGeom>
          <a:solidFill>
            <a:srgbClr val="1E293B"/>
          </a:solidFill>
          <a:ln w="12700">
            <a:solidFill>
              <a:srgbClr val="F59E0B"/>
            </a:solidFill>
            <a:prstDash val="solid"/>
          </a:ln>
        </p:spPr>
      </p:sp>
      <p:sp>
        <p:nvSpPr>
          <p:cNvPr id="18" name="Text 16"/>
          <p:cNvSpPr/>
          <p:nvPr>
            <p:custDataLst>
              <p:tags r:id="rId12"/>
            </p:custDataLst>
          </p:nvPr>
        </p:nvSpPr>
        <p:spPr>
          <a:xfrm>
            <a:off x="475488" y="3291840"/>
            <a:ext cx="3977640" cy="274320"/>
          </a:xfrm>
          <a:prstGeom prst="rect">
            <a:avLst/>
          </a:prstGeom>
          <a:noFill/>
        </p:spPr>
        <p:txBody>
          <a:bodyPr wrap="square" lIns="0" tIns="0" rIns="0" bIns="0" rtlCol="0" anchor="ctr"/>
          <a:lstStyle/>
          <a:p>
            <a:pPr marL="0" indent="0">
              <a:buNone/>
            </a:pPr>
            <a:r>
              <a:rPr lang="en-US" sz="1250" b="1" dirty="0">
                <a:solidFill>
                  <a:srgbClr val="F59E0B"/>
                </a:solidFill>
                <a:latin typeface="Consolas" panose="020B0609020204030204" pitchFamily="34" charset="0"/>
                <a:ea typeface="Consolas" panose="020B0609020204030204" pitchFamily="34" charset="-122"/>
                <a:cs typeface="Consolas" panose="020B0609020204030204" pitchFamily="34" charset="-120"/>
              </a:rPr>
              <a:t>removeAttribute(name)</a:t>
            </a:r>
            <a:endParaRPr lang="en-US" sz="1250" dirty="0"/>
          </a:p>
        </p:txBody>
      </p:sp>
      <p:sp>
        <p:nvSpPr>
          <p:cNvPr id="19" name="Text 17"/>
          <p:cNvSpPr/>
          <p:nvPr>
            <p:custDataLst>
              <p:tags r:id="rId13"/>
            </p:custDataLst>
          </p:nvPr>
        </p:nvSpPr>
        <p:spPr>
          <a:xfrm>
            <a:off x="475488" y="3611880"/>
            <a:ext cx="3977640" cy="457200"/>
          </a:xfrm>
          <a:prstGeom prst="rect">
            <a:avLst/>
          </a:prstGeom>
          <a:noFill/>
        </p:spPr>
        <p:txBody>
          <a:bodyPr wrap="square" lIns="0" tIns="0" rIns="0" bIns="0" rtlCol="0" anchor="ctr"/>
          <a:lstStyle/>
          <a:p>
            <a:pPr marL="0" indent="0">
              <a:buNone/>
            </a:pPr>
            <a:r>
              <a:rPr lang="en-US" sz="1100" dirty="0">
                <a:solidFill>
                  <a:srgbClr val="F8FAFC"/>
                </a:solidFill>
                <a:latin typeface="Calibri" panose="020F0502020204030204" pitchFamily="34" charset="0"/>
                <a:ea typeface="Calibri" panose="020F0502020204030204" pitchFamily="34" charset="-122"/>
                <a:cs typeface="Calibri" panose="020F0502020204030204" pitchFamily="34" charset="-120"/>
              </a:rPr>
              <a:t>Completely removes the attribute from the element. Useful for enabling a disabled button, etc.</a:t>
            </a:r>
            <a:endParaRPr lang="en-US" sz="1100" dirty="0"/>
          </a:p>
        </p:txBody>
      </p:sp>
      <p:sp>
        <p:nvSpPr>
          <p:cNvPr id="20" name="Shape 18"/>
          <p:cNvSpPr/>
          <p:nvPr>
            <p:custDataLst>
              <p:tags r:id="rId14"/>
            </p:custDataLst>
          </p:nvPr>
        </p:nvSpPr>
        <p:spPr>
          <a:xfrm>
            <a:off x="475488" y="4114800"/>
            <a:ext cx="3977640" cy="658368"/>
          </a:xfrm>
          <a:prstGeom prst="rect">
            <a:avLst/>
          </a:prstGeom>
          <a:solidFill>
            <a:srgbClr val="0D1117"/>
          </a:solidFill>
          <a:ln w="12700">
            <a:solidFill>
              <a:srgbClr val="F59E0B"/>
            </a:solidFill>
            <a:prstDash val="solid"/>
          </a:ln>
        </p:spPr>
      </p:sp>
      <p:sp>
        <p:nvSpPr>
          <p:cNvPr id="21" name="Text 19"/>
          <p:cNvSpPr/>
          <p:nvPr>
            <p:custDataLst>
              <p:tags r:id="rId15"/>
            </p:custDataLst>
          </p:nvPr>
        </p:nvSpPr>
        <p:spPr>
          <a:xfrm>
            <a:off x="566928" y="4151376"/>
            <a:ext cx="3794760" cy="585216"/>
          </a:xfrm>
          <a:prstGeom prst="rect">
            <a:avLst/>
          </a:prstGeom>
          <a:noFill/>
        </p:spPr>
        <p:txBody>
          <a:bodyPr wrap="square" lIns="0" tIns="0" rIns="0" bIns="0" rtlCol="0" anchor="ctr"/>
          <a:lstStyle/>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btn.removeAttribute('disabled');</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link.removeAttribute('href');</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btn is now enabled again!</a:t>
            </a:r>
            <a:endParaRPr lang="en-US" sz="1000" dirty="0"/>
          </a:p>
        </p:txBody>
      </p:sp>
      <p:sp>
        <p:nvSpPr>
          <p:cNvPr id="22" name="Shape 20"/>
          <p:cNvSpPr/>
          <p:nvPr>
            <p:custDataLst>
              <p:tags r:id="rId16"/>
            </p:custDataLst>
          </p:nvPr>
        </p:nvSpPr>
        <p:spPr>
          <a:xfrm>
            <a:off x="4754880" y="3200400"/>
            <a:ext cx="4206240" cy="1691640"/>
          </a:xfrm>
          <a:prstGeom prst="rect">
            <a:avLst/>
          </a:prstGeom>
          <a:solidFill>
            <a:srgbClr val="1E293B"/>
          </a:solidFill>
          <a:ln w="12700">
            <a:solidFill>
              <a:srgbClr val="06B6D4"/>
            </a:solidFill>
            <a:prstDash val="solid"/>
          </a:ln>
        </p:spPr>
      </p:sp>
      <p:sp>
        <p:nvSpPr>
          <p:cNvPr id="23" name="Text 21"/>
          <p:cNvSpPr/>
          <p:nvPr>
            <p:custDataLst>
              <p:tags r:id="rId17"/>
            </p:custDataLst>
          </p:nvPr>
        </p:nvSpPr>
        <p:spPr>
          <a:xfrm>
            <a:off x="4864608" y="3291840"/>
            <a:ext cx="3977640" cy="274320"/>
          </a:xfrm>
          <a:prstGeom prst="rect">
            <a:avLst/>
          </a:prstGeom>
          <a:noFill/>
        </p:spPr>
        <p:txBody>
          <a:bodyPr wrap="square" lIns="0" tIns="0" rIns="0" bIns="0" rtlCol="0" anchor="ctr"/>
          <a:lstStyle/>
          <a:p>
            <a:pPr marL="0" indent="0">
              <a:buNone/>
            </a:pPr>
            <a:r>
              <a:rPr lang="en-US" sz="1250" b="1" dirty="0">
                <a:solidFill>
                  <a:srgbClr val="06B6D4"/>
                </a:solidFill>
                <a:latin typeface="Consolas" panose="020B0609020204030204" pitchFamily="34" charset="0"/>
                <a:ea typeface="Consolas" panose="020B0609020204030204" pitchFamily="34" charset="-122"/>
                <a:cs typeface="Consolas" panose="020B0609020204030204" pitchFamily="34" charset="-120"/>
              </a:rPr>
              <a:t>hasAttribute(name)</a:t>
            </a:r>
            <a:endParaRPr lang="en-US" sz="1250" dirty="0"/>
          </a:p>
        </p:txBody>
      </p:sp>
      <p:sp>
        <p:nvSpPr>
          <p:cNvPr id="24" name="Text 22"/>
          <p:cNvSpPr/>
          <p:nvPr>
            <p:custDataLst>
              <p:tags r:id="rId18"/>
            </p:custDataLst>
          </p:nvPr>
        </p:nvSpPr>
        <p:spPr>
          <a:xfrm>
            <a:off x="4864608" y="3611880"/>
            <a:ext cx="3977640" cy="457200"/>
          </a:xfrm>
          <a:prstGeom prst="rect">
            <a:avLst/>
          </a:prstGeom>
          <a:noFill/>
        </p:spPr>
        <p:txBody>
          <a:bodyPr wrap="square" lIns="0" tIns="0" rIns="0" bIns="0" rtlCol="0" anchor="ctr"/>
          <a:lstStyle/>
          <a:p>
            <a:pPr marL="0" indent="0">
              <a:buNone/>
            </a:pPr>
            <a:r>
              <a:rPr lang="en-US" sz="1100" dirty="0">
                <a:solidFill>
                  <a:srgbClr val="F8FAFC"/>
                </a:solidFill>
                <a:latin typeface="Calibri" panose="020F0502020204030204" pitchFamily="34" charset="0"/>
                <a:ea typeface="Calibri" panose="020F0502020204030204" pitchFamily="34" charset="-122"/>
                <a:cs typeface="Calibri" panose="020F0502020204030204" pitchFamily="34" charset="-120"/>
              </a:rPr>
              <a:t>Returns true or false — checks whether a certain attribute exists on the element.</a:t>
            </a:r>
            <a:endParaRPr lang="en-US" sz="1100" dirty="0"/>
          </a:p>
        </p:txBody>
      </p:sp>
      <p:sp>
        <p:nvSpPr>
          <p:cNvPr id="25" name="Shape 23"/>
          <p:cNvSpPr/>
          <p:nvPr>
            <p:custDataLst>
              <p:tags r:id="rId19"/>
            </p:custDataLst>
          </p:nvPr>
        </p:nvSpPr>
        <p:spPr>
          <a:xfrm>
            <a:off x="4864608" y="4114800"/>
            <a:ext cx="3977640" cy="658368"/>
          </a:xfrm>
          <a:prstGeom prst="rect">
            <a:avLst/>
          </a:prstGeom>
          <a:solidFill>
            <a:srgbClr val="0D1117"/>
          </a:solidFill>
          <a:ln w="12700">
            <a:solidFill>
              <a:srgbClr val="06B6D4"/>
            </a:solidFill>
            <a:prstDash val="solid"/>
          </a:ln>
        </p:spPr>
      </p:sp>
      <p:sp>
        <p:nvSpPr>
          <p:cNvPr id="26" name="Text 24"/>
          <p:cNvSpPr/>
          <p:nvPr>
            <p:custDataLst>
              <p:tags r:id="rId20"/>
            </p:custDataLst>
          </p:nvPr>
        </p:nvSpPr>
        <p:spPr>
          <a:xfrm>
            <a:off x="4956048" y="4151376"/>
            <a:ext cx="3794760" cy="585216"/>
          </a:xfrm>
          <a:prstGeom prst="rect">
            <a:avLst/>
          </a:prstGeom>
          <a:noFill/>
        </p:spPr>
        <p:txBody>
          <a:bodyPr wrap="square" lIns="0" tIns="0" rIns="0" bIns="0" rtlCol="0" anchor="ctr"/>
          <a:lstStyle/>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if (btn.hasAttribute('disabled')) {</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console.log('Button is disabled');</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B6D4"/>
          </a:solidFill>
          <a:ln w="12700">
            <a:solidFill>
              <a:srgbClr val="06B6D4"/>
            </a:solidFill>
            <a:prstDash val="solid"/>
          </a:ln>
        </p:spPr>
      </p:sp>
      <p:sp>
        <p:nvSpPr>
          <p:cNvPr id="3" name="Text 1"/>
          <p:cNvSpPr/>
          <p:nvPr/>
        </p:nvSpPr>
        <p:spPr>
          <a:xfrm>
            <a:off x="365760" y="137160"/>
            <a:ext cx="8412480" cy="411480"/>
          </a:xfrm>
          <a:prstGeom prst="rect">
            <a:avLst/>
          </a:prstGeom>
          <a:noFill/>
        </p:spPr>
        <p:txBody>
          <a:bodyPr wrap="square" lIns="0" tIns="0" rIns="0" bIns="0" rtlCol="0" anchor="ctr"/>
          <a:lstStyle/>
          <a:p>
            <a:pPr marL="0" indent="0">
              <a:buNone/>
            </a:pPr>
            <a:r>
              <a:rPr lang="en-US" sz="2400" b="1" dirty="0">
                <a:solidFill>
                  <a:srgbClr val="06B6D4"/>
                </a:solidFill>
                <a:latin typeface="Calibri" panose="020F0502020204030204" pitchFamily="34" charset="0"/>
                <a:ea typeface="Calibri" panose="020F0502020204030204" pitchFamily="34" charset="-122"/>
                <a:cs typeface="Calibri" panose="020F0502020204030204" pitchFamily="34" charset="-120"/>
              </a:rPr>
              <a:t>Changing CSS Styles with JavaScript</a:t>
            </a:r>
            <a:endParaRPr lang="en-US" sz="2400" dirty="0"/>
          </a:p>
        </p:txBody>
      </p:sp>
      <p:sp>
        <p:nvSpPr>
          <p:cNvPr id="4" name="Shape 2"/>
          <p:cNvSpPr/>
          <p:nvPr/>
        </p:nvSpPr>
        <p:spPr>
          <a:xfrm>
            <a:off x="365760" y="576072"/>
            <a:ext cx="8412480" cy="36576"/>
          </a:xfrm>
          <a:prstGeom prst="rect">
            <a:avLst/>
          </a:prstGeom>
          <a:solidFill>
            <a:srgbClr val="1E293B"/>
          </a:solidFill>
          <a:ln w="12700">
            <a:solidFill>
              <a:srgbClr val="1E293B"/>
            </a:solidFill>
            <a:prstDash val="solid"/>
          </a:ln>
        </p:spPr>
      </p:sp>
      <p:sp>
        <p:nvSpPr>
          <p:cNvPr id="5" name="Shape 3"/>
          <p:cNvSpPr/>
          <p:nvPr/>
        </p:nvSpPr>
        <p:spPr>
          <a:xfrm>
            <a:off x="365760" y="685800"/>
            <a:ext cx="5029200" cy="2194560"/>
          </a:xfrm>
          <a:prstGeom prst="rect">
            <a:avLst/>
          </a:prstGeom>
          <a:solidFill>
            <a:srgbClr val="1E293B"/>
          </a:solidFill>
          <a:ln w="12700">
            <a:solidFill>
              <a:srgbClr val="06B6D4"/>
            </a:solidFill>
            <a:prstDash val="solid"/>
          </a:ln>
        </p:spPr>
      </p:sp>
      <p:sp>
        <p:nvSpPr>
          <p:cNvPr id="6" name="Text 4"/>
          <p:cNvSpPr/>
          <p:nvPr/>
        </p:nvSpPr>
        <p:spPr>
          <a:xfrm>
            <a:off x="502920" y="777240"/>
            <a:ext cx="4754880" cy="274320"/>
          </a:xfrm>
          <a:prstGeom prst="rect">
            <a:avLst/>
          </a:prstGeom>
          <a:noFill/>
        </p:spPr>
        <p:txBody>
          <a:bodyPr wrap="square" lIns="0" tIns="0" rIns="0" bIns="0" rtlCol="0" anchor="ctr"/>
          <a:lstStyle/>
          <a:p>
            <a:pPr marL="0" indent="0">
              <a:buNone/>
            </a:pPr>
            <a:r>
              <a:rPr lang="en-US" sz="1400" b="1" dirty="0">
                <a:solidFill>
                  <a:srgbClr val="06B6D4"/>
                </a:solidFill>
                <a:latin typeface="Consolas" panose="020B0609020204030204" pitchFamily="34" charset="0"/>
                <a:ea typeface="Consolas" panose="020B0609020204030204" pitchFamily="34" charset="-122"/>
                <a:cs typeface="Consolas" panose="020B0609020204030204" pitchFamily="34" charset="-120"/>
              </a:rPr>
              <a:t>Method 1: element.style.property</a:t>
            </a:r>
            <a:endParaRPr lang="en-US" sz="1400" dirty="0"/>
          </a:p>
        </p:txBody>
      </p:sp>
      <p:sp>
        <p:nvSpPr>
          <p:cNvPr id="7" name="Text 5"/>
          <p:cNvSpPr/>
          <p:nvPr/>
        </p:nvSpPr>
        <p:spPr>
          <a:xfrm>
            <a:off x="502920" y="1097280"/>
            <a:ext cx="4754880" cy="457200"/>
          </a:xfrm>
          <a:prstGeom prst="rect">
            <a:avLst/>
          </a:prstGeom>
          <a:noFill/>
        </p:spPr>
        <p:txBody>
          <a:bodyPr wrap="square" lIns="0" tIns="0" rIns="0" bIns="0" rtlCol="0" anchor="ctr"/>
          <a:lstStyle/>
          <a:p>
            <a:pPr marL="0" indent="0">
              <a:buNone/>
            </a:pPr>
            <a:r>
              <a:rPr lang="en-US" sz="1200" dirty="0">
                <a:solidFill>
                  <a:srgbClr val="F8FAFC"/>
                </a:solidFill>
                <a:latin typeface="Calibri" panose="020F0502020204030204" pitchFamily="34" charset="0"/>
                <a:ea typeface="Calibri" panose="020F0502020204030204" pitchFamily="34" charset="-122"/>
                <a:cs typeface="Calibri" panose="020F0502020204030204" pitchFamily="34" charset="-120"/>
              </a:rPr>
              <a:t>Use camelCase for CSS property names (e.g., backgroundColor instead of background-color). Sets inline styles directly on the element.</a:t>
            </a:r>
            <a:endParaRPr lang="en-US" sz="1200" dirty="0"/>
          </a:p>
        </p:txBody>
      </p:sp>
      <p:sp>
        <p:nvSpPr>
          <p:cNvPr id="8" name="Shape 6"/>
          <p:cNvSpPr/>
          <p:nvPr/>
        </p:nvSpPr>
        <p:spPr>
          <a:xfrm>
            <a:off x="502920" y="1600200"/>
            <a:ext cx="4709160" cy="1097280"/>
          </a:xfrm>
          <a:prstGeom prst="rect">
            <a:avLst/>
          </a:prstGeom>
          <a:solidFill>
            <a:srgbClr val="0D1117"/>
          </a:solidFill>
          <a:ln w="12700">
            <a:solidFill>
              <a:srgbClr val="06B6D4"/>
            </a:solidFill>
            <a:prstDash val="solid"/>
          </a:ln>
        </p:spPr>
      </p:sp>
      <p:sp>
        <p:nvSpPr>
          <p:cNvPr id="9" name="Text 7"/>
          <p:cNvSpPr/>
          <p:nvPr/>
        </p:nvSpPr>
        <p:spPr>
          <a:xfrm>
            <a:off x="640080" y="1645920"/>
            <a:ext cx="4480560" cy="1005840"/>
          </a:xfrm>
          <a:prstGeom prst="rect">
            <a:avLst/>
          </a:prstGeom>
          <a:noFill/>
        </p:spPr>
        <p:txBody>
          <a:bodyPr wrap="square" lIns="0" tIns="0" rIns="0" bIns="0" rtlCol="0" anchor="ctr"/>
          <a:lstStyle/>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box = document.getElementById('box');</a:t>
            </a:r>
            <a:endParaRPr lang="en-US" sz="1100" dirty="0"/>
          </a:p>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box.style.color = 'red';</a:t>
            </a:r>
            <a:endParaRPr lang="en-US" sz="1100" dirty="0"/>
          </a:p>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box.style.backgroundColor = '#333';</a:t>
            </a:r>
            <a:endParaRPr lang="en-US" sz="1100" dirty="0"/>
          </a:p>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box.style.fontSize = '20px';</a:t>
            </a:r>
            <a:endParaRPr lang="en-US" sz="1100" dirty="0"/>
          </a:p>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box.style.padding = '10px';</a:t>
            </a:r>
            <a:endParaRPr lang="en-US" sz="1100" dirty="0"/>
          </a:p>
        </p:txBody>
      </p:sp>
      <p:sp>
        <p:nvSpPr>
          <p:cNvPr id="10" name="Shape 8"/>
          <p:cNvSpPr/>
          <p:nvPr/>
        </p:nvSpPr>
        <p:spPr>
          <a:xfrm>
            <a:off x="5577840" y="685800"/>
            <a:ext cx="3200400" cy="2194560"/>
          </a:xfrm>
          <a:prstGeom prst="rect">
            <a:avLst/>
          </a:prstGeom>
          <a:solidFill>
            <a:srgbClr val="1E293B"/>
          </a:solidFill>
          <a:ln w="12700">
            <a:solidFill>
              <a:srgbClr val="10B981"/>
            </a:solidFill>
            <a:prstDash val="solid"/>
          </a:ln>
        </p:spPr>
      </p:sp>
      <p:sp>
        <p:nvSpPr>
          <p:cNvPr id="11" name="Text 9"/>
          <p:cNvSpPr/>
          <p:nvPr/>
        </p:nvSpPr>
        <p:spPr>
          <a:xfrm>
            <a:off x="5715000" y="777240"/>
            <a:ext cx="2926080" cy="274320"/>
          </a:xfrm>
          <a:prstGeom prst="rect">
            <a:avLst/>
          </a:prstGeom>
          <a:noFill/>
        </p:spPr>
        <p:txBody>
          <a:bodyPr wrap="square" lIns="0" tIns="0" rIns="0" bIns="0" rtlCol="0" anchor="ctr"/>
          <a:lstStyle/>
          <a:p>
            <a:pPr marL="0" indent="0">
              <a:buNone/>
            </a:pPr>
            <a:r>
              <a:rPr lang="en-US" sz="1400" b="1" dirty="0">
                <a:solidFill>
                  <a:srgbClr val="10B981"/>
                </a:solidFill>
                <a:latin typeface="Consolas" panose="020B0609020204030204" pitchFamily="34" charset="0"/>
                <a:ea typeface="Consolas" panose="020B0609020204030204" pitchFamily="34" charset="-122"/>
                <a:cs typeface="Consolas" panose="020B0609020204030204" pitchFamily="34" charset="-120"/>
              </a:rPr>
              <a:t>Method 2: cssText</a:t>
            </a:r>
            <a:endParaRPr lang="en-US" sz="1400" dirty="0"/>
          </a:p>
        </p:txBody>
      </p:sp>
      <p:sp>
        <p:nvSpPr>
          <p:cNvPr id="12" name="Text 10"/>
          <p:cNvSpPr/>
          <p:nvPr/>
        </p:nvSpPr>
        <p:spPr>
          <a:xfrm>
            <a:off x="5715000" y="1097280"/>
            <a:ext cx="2926080" cy="457200"/>
          </a:xfrm>
          <a:prstGeom prst="rect">
            <a:avLst/>
          </a:prstGeom>
          <a:noFill/>
        </p:spPr>
        <p:txBody>
          <a:bodyPr wrap="square" lIns="0" tIns="0" rIns="0" bIns="0" rtlCol="0" anchor="ctr"/>
          <a:lstStyle/>
          <a:p>
            <a:pPr marL="0" indent="0">
              <a:buNone/>
            </a:pPr>
            <a:r>
              <a:rPr lang="en-US" sz="1200" dirty="0">
                <a:solidFill>
                  <a:srgbClr val="F8FAFC"/>
                </a:solidFill>
                <a:latin typeface="Calibri" panose="020F0502020204030204" pitchFamily="34" charset="0"/>
                <a:ea typeface="Calibri" panose="020F0502020204030204" pitchFamily="34" charset="-122"/>
                <a:cs typeface="Calibri" panose="020F0502020204030204" pitchFamily="34" charset="-120"/>
              </a:rPr>
              <a:t>Sets multiple styles at once using a CSS string. Replaces ALL existing inline styles.</a:t>
            </a:r>
            <a:endParaRPr lang="en-US" sz="1200" dirty="0"/>
          </a:p>
        </p:txBody>
      </p:sp>
      <p:sp>
        <p:nvSpPr>
          <p:cNvPr id="13" name="Shape 11"/>
          <p:cNvSpPr/>
          <p:nvPr/>
        </p:nvSpPr>
        <p:spPr>
          <a:xfrm>
            <a:off x="5715000" y="1600200"/>
            <a:ext cx="2926080" cy="1097280"/>
          </a:xfrm>
          <a:prstGeom prst="rect">
            <a:avLst/>
          </a:prstGeom>
          <a:solidFill>
            <a:srgbClr val="0D1117"/>
          </a:solidFill>
          <a:ln w="12700">
            <a:solidFill>
              <a:srgbClr val="10B981"/>
            </a:solidFill>
            <a:prstDash val="solid"/>
          </a:ln>
        </p:spPr>
      </p:sp>
      <p:sp>
        <p:nvSpPr>
          <p:cNvPr id="14" name="Text 12"/>
          <p:cNvSpPr/>
          <p:nvPr/>
        </p:nvSpPr>
        <p:spPr>
          <a:xfrm>
            <a:off x="5852160" y="1645920"/>
            <a:ext cx="2743200" cy="1005840"/>
          </a:xfrm>
          <a:prstGeom prst="rect">
            <a:avLst/>
          </a:prstGeom>
          <a:noFill/>
        </p:spPr>
        <p:txBody>
          <a:bodyPr wrap="square" lIns="0" tIns="0" rIns="0" bIns="0" rtlCol="0" anchor="ctr"/>
          <a:lstStyle/>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box.style.cssText = </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'color:red; font-size:20px;</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padding:10px; margin:5px';</a:t>
            </a:r>
            <a:endParaRPr lang="en-US" sz="1000" dirty="0"/>
          </a:p>
        </p:txBody>
      </p:sp>
      <p:sp>
        <p:nvSpPr>
          <p:cNvPr id="15" name="Text 13"/>
          <p:cNvSpPr/>
          <p:nvPr/>
        </p:nvSpPr>
        <p:spPr>
          <a:xfrm>
            <a:off x="365760" y="2999232"/>
            <a:ext cx="8412480" cy="274320"/>
          </a:xfrm>
          <a:prstGeom prst="rect">
            <a:avLst/>
          </a:prstGeom>
          <a:noFill/>
        </p:spPr>
        <p:txBody>
          <a:bodyPr wrap="square" lIns="0" tIns="0" rIns="0" bIns="0" rtlCol="0" anchor="ctr"/>
          <a:lstStyle/>
          <a:p>
            <a:pPr marL="0" indent="0">
              <a:buNone/>
            </a:pPr>
            <a:r>
              <a:rPr lang="en-US" sz="1300" b="1" dirty="0">
                <a:solidFill>
                  <a:srgbClr val="06B6D4"/>
                </a:solidFill>
                <a:latin typeface="Calibri" panose="020F0502020204030204" pitchFamily="34" charset="0"/>
                <a:ea typeface="Calibri" panose="020F0502020204030204" pitchFamily="34" charset="-122"/>
                <a:cs typeface="Calibri" panose="020F0502020204030204" pitchFamily="34" charset="-120"/>
              </a:rPr>
              <a:t>Common CSS Properties in JS (camelCase):</a:t>
            </a:r>
            <a:endParaRPr lang="en-US" sz="1300" dirty="0"/>
          </a:p>
        </p:txBody>
      </p:sp>
      <p:sp>
        <p:nvSpPr>
          <p:cNvPr id="16" name="Shape 14"/>
          <p:cNvSpPr/>
          <p:nvPr/>
        </p:nvSpPr>
        <p:spPr>
          <a:xfrm>
            <a:off x="365760" y="3337560"/>
            <a:ext cx="1737360" cy="329184"/>
          </a:xfrm>
          <a:prstGeom prst="rect">
            <a:avLst/>
          </a:prstGeom>
          <a:solidFill>
            <a:srgbClr val="3B82F6"/>
          </a:solidFill>
          <a:ln w="12700">
            <a:solidFill>
              <a:srgbClr val="1A2535"/>
            </a:solidFill>
            <a:prstDash val="solid"/>
          </a:ln>
        </p:spPr>
      </p:sp>
      <p:sp>
        <p:nvSpPr>
          <p:cNvPr id="17" name="Text 15"/>
          <p:cNvSpPr/>
          <p:nvPr/>
        </p:nvSpPr>
        <p:spPr>
          <a:xfrm>
            <a:off x="411480" y="3337560"/>
            <a:ext cx="1645920" cy="329184"/>
          </a:xfrm>
          <a:prstGeom prst="rect">
            <a:avLst/>
          </a:prstGeom>
          <a:noFill/>
        </p:spPr>
        <p:txBody>
          <a:bodyPr wrap="square" lIns="0" tIns="0" rIns="0" bIns="0" rtlCol="0" anchor="ctr"/>
          <a:lstStyle/>
          <a:p>
            <a:pPr marL="0" indent="0">
              <a:buNone/>
            </a:pPr>
            <a:r>
              <a:rPr lang="en-US" sz="110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CSS Property</a:t>
            </a:r>
            <a:endParaRPr lang="en-US" sz="1100" dirty="0"/>
          </a:p>
        </p:txBody>
      </p:sp>
      <p:sp>
        <p:nvSpPr>
          <p:cNvPr id="18" name="Shape 16"/>
          <p:cNvSpPr/>
          <p:nvPr/>
        </p:nvSpPr>
        <p:spPr>
          <a:xfrm>
            <a:off x="2194560" y="3337560"/>
            <a:ext cx="2468880" cy="329184"/>
          </a:xfrm>
          <a:prstGeom prst="rect">
            <a:avLst/>
          </a:prstGeom>
          <a:solidFill>
            <a:srgbClr val="3B82F6"/>
          </a:solidFill>
          <a:ln w="12700">
            <a:solidFill>
              <a:srgbClr val="1A2535"/>
            </a:solidFill>
            <a:prstDash val="solid"/>
          </a:ln>
        </p:spPr>
      </p:sp>
      <p:sp>
        <p:nvSpPr>
          <p:cNvPr id="19" name="Text 17"/>
          <p:cNvSpPr/>
          <p:nvPr/>
        </p:nvSpPr>
        <p:spPr>
          <a:xfrm>
            <a:off x="2240280" y="3337560"/>
            <a:ext cx="2377440" cy="329184"/>
          </a:xfrm>
          <a:prstGeom prst="rect">
            <a:avLst/>
          </a:prstGeom>
          <a:noFill/>
        </p:spPr>
        <p:txBody>
          <a:bodyPr wrap="square" lIns="0" tIns="0" rIns="0" bIns="0" rtlCol="0" anchor="ctr"/>
          <a:lstStyle/>
          <a:p>
            <a:pPr marL="0" indent="0">
              <a:buNone/>
            </a:pPr>
            <a:r>
              <a:rPr lang="en-US" sz="110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JavaScript Property</a:t>
            </a:r>
            <a:endParaRPr lang="en-US" sz="1100" dirty="0"/>
          </a:p>
        </p:txBody>
      </p:sp>
      <p:sp>
        <p:nvSpPr>
          <p:cNvPr id="20" name="Shape 18"/>
          <p:cNvSpPr/>
          <p:nvPr/>
        </p:nvSpPr>
        <p:spPr>
          <a:xfrm>
            <a:off x="4754880" y="3337560"/>
            <a:ext cx="1737360" cy="329184"/>
          </a:xfrm>
          <a:prstGeom prst="rect">
            <a:avLst/>
          </a:prstGeom>
          <a:solidFill>
            <a:srgbClr val="3B82F6"/>
          </a:solidFill>
          <a:ln w="12700">
            <a:solidFill>
              <a:srgbClr val="1A2535"/>
            </a:solidFill>
            <a:prstDash val="solid"/>
          </a:ln>
        </p:spPr>
      </p:sp>
      <p:sp>
        <p:nvSpPr>
          <p:cNvPr id="21" name="Text 19"/>
          <p:cNvSpPr/>
          <p:nvPr/>
        </p:nvSpPr>
        <p:spPr>
          <a:xfrm>
            <a:off x="4800600" y="3337560"/>
            <a:ext cx="1645920" cy="329184"/>
          </a:xfrm>
          <a:prstGeom prst="rect">
            <a:avLst/>
          </a:prstGeom>
          <a:noFill/>
        </p:spPr>
        <p:txBody>
          <a:bodyPr wrap="square" lIns="0" tIns="0" rIns="0" bIns="0" rtlCol="0" anchor="ctr"/>
          <a:lstStyle/>
          <a:p>
            <a:pPr marL="0" indent="0">
              <a:buNone/>
            </a:pPr>
            <a:r>
              <a:rPr lang="en-US" sz="110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CSS Property</a:t>
            </a:r>
            <a:endParaRPr lang="en-US" sz="1100" dirty="0"/>
          </a:p>
        </p:txBody>
      </p:sp>
      <p:sp>
        <p:nvSpPr>
          <p:cNvPr id="22" name="Shape 20"/>
          <p:cNvSpPr/>
          <p:nvPr/>
        </p:nvSpPr>
        <p:spPr>
          <a:xfrm>
            <a:off x="6583680" y="3337560"/>
            <a:ext cx="2468880" cy="329184"/>
          </a:xfrm>
          <a:prstGeom prst="rect">
            <a:avLst/>
          </a:prstGeom>
          <a:solidFill>
            <a:srgbClr val="3B82F6"/>
          </a:solidFill>
          <a:ln w="12700">
            <a:solidFill>
              <a:srgbClr val="1A2535"/>
            </a:solidFill>
            <a:prstDash val="solid"/>
          </a:ln>
        </p:spPr>
      </p:sp>
      <p:sp>
        <p:nvSpPr>
          <p:cNvPr id="23" name="Text 21"/>
          <p:cNvSpPr/>
          <p:nvPr/>
        </p:nvSpPr>
        <p:spPr>
          <a:xfrm>
            <a:off x="6629400" y="3337560"/>
            <a:ext cx="2377440" cy="329184"/>
          </a:xfrm>
          <a:prstGeom prst="rect">
            <a:avLst/>
          </a:prstGeom>
          <a:noFill/>
        </p:spPr>
        <p:txBody>
          <a:bodyPr wrap="square" lIns="0" tIns="0" rIns="0" bIns="0" rtlCol="0" anchor="ctr"/>
          <a:lstStyle/>
          <a:p>
            <a:pPr marL="0" indent="0">
              <a:buNone/>
            </a:pPr>
            <a:r>
              <a:rPr lang="en-US" sz="1100" b="1" dirty="0">
                <a:solidFill>
                  <a:srgbClr val="0F172A"/>
                </a:solidFill>
                <a:latin typeface="Consolas" panose="020B0609020204030204" pitchFamily="34" charset="0"/>
                <a:ea typeface="Consolas" panose="020B0609020204030204" pitchFamily="34" charset="-122"/>
                <a:cs typeface="Consolas" panose="020B0609020204030204" pitchFamily="34" charset="-120"/>
              </a:rPr>
              <a:t>JavaScript Property</a:t>
            </a:r>
            <a:endParaRPr lang="en-US" sz="1100" dirty="0"/>
          </a:p>
        </p:txBody>
      </p:sp>
      <p:sp>
        <p:nvSpPr>
          <p:cNvPr id="24" name="Shape 22"/>
          <p:cNvSpPr/>
          <p:nvPr/>
        </p:nvSpPr>
        <p:spPr>
          <a:xfrm>
            <a:off x="365760" y="3666744"/>
            <a:ext cx="1737360" cy="329184"/>
          </a:xfrm>
          <a:prstGeom prst="rect">
            <a:avLst/>
          </a:prstGeom>
          <a:solidFill>
            <a:srgbClr val="1E293B"/>
          </a:solidFill>
          <a:ln w="12700">
            <a:solidFill>
              <a:srgbClr val="1A2535"/>
            </a:solidFill>
            <a:prstDash val="solid"/>
          </a:ln>
        </p:spPr>
      </p:sp>
      <p:sp>
        <p:nvSpPr>
          <p:cNvPr id="25" name="Text 23"/>
          <p:cNvSpPr/>
          <p:nvPr/>
        </p:nvSpPr>
        <p:spPr>
          <a:xfrm>
            <a:off x="411480" y="3666744"/>
            <a:ext cx="1645920" cy="329184"/>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background-color</a:t>
            </a:r>
            <a:endParaRPr lang="en-US" sz="1100" dirty="0"/>
          </a:p>
        </p:txBody>
      </p:sp>
      <p:sp>
        <p:nvSpPr>
          <p:cNvPr id="26" name="Shape 24"/>
          <p:cNvSpPr/>
          <p:nvPr/>
        </p:nvSpPr>
        <p:spPr>
          <a:xfrm>
            <a:off x="2194560" y="3666744"/>
            <a:ext cx="2468880" cy="329184"/>
          </a:xfrm>
          <a:prstGeom prst="rect">
            <a:avLst/>
          </a:prstGeom>
          <a:solidFill>
            <a:srgbClr val="1E293B"/>
          </a:solidFill>
          <a:ln w="12700">
            <a:solidFill>
              <a:srgbClr val="1A2535"/>
            </a:solidFill>
            <a:prstDash val="solid"/>
          </a:ln>
        </p:spPr>
      </p:sp>
      <p:sp>
        <p:nvSpPr>
          <p:cNvPr id="27" name="Text 25"/>
          <p:cNvSpPr/>
          <p:nvPr/>
        </p:nvSpPr>
        <p:spPr>
          <a:xfrm>
            <a:off x="2240280" y="3666744"/>
            <a:ext cx="2377440" cy="329184"/>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backgroundColor</a:t>
            </a:r>
            <a:endParaRPr lang="en-US" sz="1100" dirty="0"/>
          </a:p>
        </p:txBody>
      </p:sp>
      <p:sp>
        <p:nvSpPr>
          <p:cNvPr id="28" name="Shape 26"/>
          <p:cNvSpPr/>
          <p:nvPr/>
        </p:nvSpPr>
        <p:spPr>
          <a:xfrm>
            <a:off x="4754880" y="3666744"/>
            <a:ext cx="1737360" cy="329184"/>
          </a:xfrm>
          <a:prstGeom prst="rect">
            <a:avLst/>
          </a:prstGeom>
          <a:solidFill>
            <a:srgbClr val="1E293B"/>
          </a:solidFill>
          <a:ln w="12700">
            <a:solidFill>
              <a:srgbClr val="1A2535"/>
            </a:solidFill>
            <a:prstDash val="solid"/>
          </a:ln>
        </p:spPr>
      </p:sp>
      <p:sp>
        <p:nvSpPr>
          <p:cNvPr id="29" name="Text 27"/>
          <p:cNvSpPr/>
          <p:nvPr/>
        </p:nvSpPr>
        <p:spPr>
          <a:xfrm>
            <a:off x="4800600" y="3666744"/>
            <a:ext cx="1645920" cy="329184"/>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font-size</a:t>
            </a:r>
            <a:endParaRPr lang="en-US" sz="1100" dirty="0"/>
          </a:p>
        </p:txBody>
      </p:sp>
      <p:sp>
        <p:nvSpPr>
          <p:cNvPr id="30" name="Shape 28"/>
          <p:cNvSpPr/>
          <p:nvPr/>
        </p:nvSpPr>
        <p:spPr>
          <a:xfrm>
            <a:off x="6583680" y="3666744"/>
            <a:ext cx="2468880" cy="329184"/>
          </a:xfrm>
          <a:prstGeom prst="rect">
            <a:avLst/>
          </a:prstGeom>
          <a:solidFill>
            <a:srgbClr val="1E293B"/>
          </a:solidFill>
          <a:ln w="12700">
            <a:solidFill>
              <a:srgbClr val="1A2535"/>
            </a:solidFill>
            <a:prstDash val="solid"/>
          </a:ln>
        </p:spPr>
      </p:sp>
      <p:sp>
        <p:nvSpPr>
          <p:cNvPr id="31" name="Text 29"/>
          <p:cNvSpPr/>
          <p:nvPr/>
        </p:nvSpPr>
        <p:spPr>
          <a:xfrm>
            <a:off x="6629400" y="3666744"/>
            <a:ext cx="2377440" cy="329184"/>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fontSize</a:t>
            </a:r>
            <a:endParaRPr lang="en-US" sz="1100" dirty="0"/>
          </a:p>
        </p:txBody>
      </p:sp>
      <p:sp>
        <p:nvSpPr>
          <p:cNvPr id="32" name="Shape 30"/>
          <p:cNvSpPr/>
          <p:nvPr/>
        </p:nvSpPr>
        <p:spPr>
          <a:xfrm>
            <a:off x="365760" y="3995928"/>
            <a:ext cx="1737360" cy="329184"/>
          </a:xfrm>
          <a:prstGeom prst="rect">
            <a:avLst/>
          </a:prstGeom>
          <a:solidFill>
            <a:srgbClr val="1E293B"/>
          </a:solidFill>
          <a:ln w="12700">
            <a:solidFill>
              <a:srgbClr val="1A2535"/>
            </a:solidFill>
            <a:prstDash val="solid"/>
          </a:ln>
        </p:spPr>
      </p:sp>
      <p:sp>
        <p:nvSpPr>
          <p:cNvPr id="33" name="Text 31"/>
          <p:cNvSpPr/>
          <p:nvPr/>
        </p:nvSpPr>
        <p:spPr>
          <a:xfrm>
            <a:off x="411480" y="3995928"/>
            <a:ext cx="1645920" cy="329184"/>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border-radius</a:t>
            </a:r>
            <a:endParaRPr lang="en-US" sz="1100" dirty="0"/>
          </a:p>
        </p:txBody>
      </p:sp>
      <p:sp>
        <p:nvSpPr>
          <p:cNvPr id="34" name="Shape 32"/>
          <p:cNvSpPr/>
          <p:nvPr/>
        </p:nvSpPr>
        <p:spPr>
          <a:xfrm>
            <a:off x="2194560" y="3995928"/>
            <a:ext cx="2468880" cy="329184"/>
          </a:xfrm>
          <a:prstGeom prst="rect">
            <a:avLst/>
          </a:prstGeom>
          <a:solidFill>
            <a:srgbClr val="1E293B"/>
          </a:solidFill>
          <a:ln w="12700">
            <a:solidFill>
              <a:srgbClr val="1A2535"/>
            </a:solidFill>
            <a:prstDash val="solid"/>
          </a:ln>
        </p:spPr>
      </p:sp>
      <p:sp>
        <p:nvSpPr>
          <p:cNvPr id="35" name="Text 33"/>
          <p:cNvSpPr/>
          <p:nvPr/>
        </p:nvSpPr>
        <p:spPr>
          <a:xfrm>
            <a:off x="2240280" y="3995928"/>
            <a:ext cx="2377440" cy="329184"/>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borderRadius</a:t>
            </a:r>
            <a:endParaRPr lang="en-US" sz="1100" dirty="0"/>
          </a:p>
        </p:txBody>
      </p:sp>
      <p:sp>
        <p:nvSpPr>
          <p:cNvPr id="36" name="Shape 34"/>
          <p:cNvSpPr/>
          <p:nvPr/>
        </p:nvSpPr>
        <p:spPr>
          <a:xfrm>
            <a:off x="4754880" y="3995928"/>
            <a:ext cx="1737360" cy="329184"/>
          </a:xfrm>
          <a:prstGeom prst="rect">
            <a:avLst/>
          </a:prstGeom>
          <a:solidFill>
            <a:srgbClr val="1E293B"/>
          </a:solidFill>
          <a:ln w="12700">
            <a:solidFill>
              <a:srgbClr val="1A2535"/>
            </a:solidFill>
            <a:prstDash val="solid"/>
          </a:ln>
        </p:spPr>
      </p:sp>
      <p:sp>
        <p:nvSpPr>
          <p:cNvPr id="37" name="Text 35"/>
          <p:cNvSpPr/>
          <p:nvPr/>
        </p:nvSpPr>
        <p:spPr>
          <a:xfrm>
            <a:off x="4800600" y="3995928"/>
            <a:ext cx="1645920" cy="329184"/>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margin-top</a:t>
            </a:r>
            <a:endParaRPr lang="en-US" sz="1100" dirty="0"/>
          </a:p>
        </p:txBody>
      </p:sp>
      <p:sp>
        <p:nvSpPr>
          <p:cNvPr id="38" name="Shape 36"/>
          <p:cNvSpPr/>
          <p:nvPr/>
        </p:nvSpPr>
        <p:spPr>
          <a:xfrm>
            <a:off x="6583680" y="3995928"/>
            <a:ext cx="2468880" cy="329184"/>
          </a:xfrm>
          <a:prstGeom prst="rect">
            <a:avLst/>
          </a:prstGeom>
          <a:solidFill>
            <a:srgbClr val="1E293B"/>
          </a:solidFill>
          <a:ln w="12700">
            <a:solidFill>
              <a:srgbClr val="1A2535"/>
            </a:solidFill>
            <a:prstDash val="solid"/>
          </a:ln>
        </p:spPr>
      </p:sp>
      <p:sp>
        <p:nvSpPr>
          <p:cNvPr id="39" name="Text 37"/>
          <p:cNvSpPr/>
          <p:nvPr/>
        </p:nvSpPr>
        <p:spPr>
          <a:xfrm>
            <a:off x="6629400" y="3995928"/>
            <a:ext cx="2377440" cy="329184"/>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marginTop</a:t>
            </a:r>
            <a:endParaRPr lang="en-US" sz="1100" dirty="0"/>
          </a:p>
        </p:txBody>
      </p:sp>
      <p:sp>
        <p:nvSpPr>
          <p:cNvPr id="40" name="Shape 38"/>
          <p:cNvSpPr/>
          <p:nvPr/>
        </p:nvSpPr>
        <p:spPr>
          <a:xfrm>
            <a:off x="365760" y="4325112"/>
            <a:ext cx="1737360" cy="329184"/>
          </a:xfrm>
          <a:prstGeom prst="rect">
            <a:avLst/>
          </a:prstGeom>
          <a:solidFill>
            <a:srgbClr val="1E293B"/>
          </a:solidFill>
          <a:ln w="12700">
            <a:solidFill>
              <a:srgbClr val="1A2535"/>
            </a:solidFill>
            <a:prstDash val="solid"/>
          </a:ln>
        </p:spPr>
      </p:sp>
      <p:sp>
        <p:nvSpPr>
          <p:cNvPr id="41" name="Text 39"/>
          <p:cNvSpPr/>
          <p:nvPr/>
        </p:nvSpPr>
        <p:spPr>
          <a:xfrm>
            <a:off x="411480" y="4325112"/>
            <a:ext cx="1645920" cy="329184"/>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text-align</a:t>
            </a:r>
            <a:endParaRPr lang="en-US" sz="1100" dirty="0"/>
          </a:p>
        </p:txBody>
      </p:sp>
      <p:sp>
        <p:nvSpPr>
          <p:cNvPr id="42" name="Shape 40"/>
          <p:cNvSpPr/>
          <p:nvPr/>
        </p:nvSpPr>
        <p:spPr>
          <a:xfrm>
            <a:off x="2194560" y="4325112"/>
            <a:ext cx="2468880" cy="329184"/>
          </a:xfrm>
          <a:prstGeom prst="rect">
            <a:avLst/>
          </a:prstGeom>
          <a:solidFill>
            <a:srgbClr val="1E293B"/>
          </a:solidFill>
          <a:ln w="12700">
            <a:solidFill>
              <a:srgbClr val="1A2535"/>
            </a:solidFill>
            <a:prstDash val="solid"/>
          </a:ln>
        </p:spPr>
      </p:sp>
      <p:sp>
        <p:nvSpPr>
          <p:cNvPr id="43" name="Text 41"/>
          <p:cNvSpPr/>
          <p:nvPr/>
        </p:nvSpPr>
        <p:spPr>
          <a:xfrm>
            <a:off x="2240280" y="4325112"/>
            <a:ext cx="2377440" cy="329184"/>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textAlign</a:t>
            </a:r>
            <a:endParaRPr lang="en-US" sz="1100" dirty="0"/>
          </a:p>
        </p:txBody>
      </p:sp>
      <p:sp>
        <p:nvSpPr>
          <p:cNvPr id="44" name="Shape 42"/>
          <p:cNvSpPr/>
          <p:nvPr/>
        </p:nvSpPr>
        <p:spPr>
          <a:xfrm>
            <a:off x="4754880" y="4325112"/>
            <a:ext cx="1737360" cy="329184"/>
          </a:xfrm>
          <a:prstGeom prst="rect">
            <a:avLst/>
          </a:prstGeom>
          <a:solidFill>
            <a:srgbClr val="1E293B"/>
          </a:solidFill>
          <a:ln w="12700">
            <a:solidFill>
              <a:srgbClr val="1A2535"/>
            </a:solidFill>
            <a:prstDash val="solid"/>
          </a:ln>
        </p:spPr>
      </p:sp>
      <p:sp>
        <p:nvSpPr>
          <p:cNvPr id="45" name="Text 43"/>
          <p:cNvSpPr/>
          <p:nvPr/>
        </p:nvSpPr>
        <p:spPr>
          <a:xfrm>
            <a:off x="4800600" y="4325112"/>
            <a:ext cx="1645920" cy="329184"/>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z-index</a:t>
            </a:r>
            <a:endParaRPr lang="en-US" sz="1100" dirty="0"/>
          </a:p>
        </p:txBody>
      </p:sp>
      <p:sp>
        <p:nvSpPr>
          <p:cNvPr id="46" name="Shape 44"/>
          <p:cNvSpPr/>
          <p:nvPr/>
        </p:nvSpPr>
        <p:spPr>
          <a:xfrm>
            <a:off x="6583680" y="4325112"/>
            <a:ext cx="2468880" cy="329184"/>
          </a:xfrm>
          <a:prstGeom prst="rect">
            <a:avLst/>
          </a:prstGeom>
          <a:solidFill>
            <a:srgbClr val="1E293B"/>
          </a:solidFill>
          <a:ln w="12700">
            <a:solidFill>
              <a:srgbClr val="1A2535"/>
            </a:solidFill>
            <a:prstDash val="solid"/>
          </a:ln>
        </p:spPr>
      </p:sp>
      <p:sp>
        <p:nvSpPr>
          <p:cNvPr id="47" name="Text 45"/>
          <p:cNvSpPr/>
          <p:nvPr/>
        </p:nvSpPr>
        <p:spPr>
          <a:xfrm>
            <a:off x="6629400" y="4325112"/>
            <a:ext cx="2377440" cy="329184"/>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zIndex</a:t>
            </a:r>
            <a:endParaRPr lang="en-US" sz="1100" dirty="0"/>
          </a:p>
        </p:txBody>
      </p:sp>
      <p:sp>
        <p:nvSpPr>
          <p:cNvPr id="48" name="Shape 46"/>
          <p:cNvSpPr/>
          <p:nvPr/>
        </p:nvSpPr>
        <p:spPr>
          <a:xfrm>
            <a:off x="365760" y="4654296"/>
            <a:ext cx="1737360" cy="329184"/>
          </a:xfrm>
          <a:prstGeom prst="rect">
            <a:avLst/>
          </a:prstGeom>
          <a:solidFill>
            <a:srgbClr val="1E293B"/>
          </a:solidFill>
          <a:ln w="12700">
            <a:solidFill>
              <a:srgbClr val="1A2535"/>
            </a:solidFill>
            <a:prstDash val="solid"/>
          </a:ln>
        </p:spPr>
      </p:sp>
      <p:sp>
        <p:nvSpPr>
          <p:cNvPr id="49" name="Text 47"/>
          <p:cNvSpPr/>
          <p:nvPr/>
        </p:nvSpPr>
        <p:spPr>
          <a:xfrm>
            <a:off x="411480" y="4654296"/>
            <a:ext cx="1645920" cy="329184"/>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display</a:t>
            </a:r>
            <a:endParaRPr lang="en-US" sz="1100" dirty="0"/>
          </a:p>
        </p:txBody>
      </p:sp>
      <p:sp>
        <p:nvSpPr>
          <p:cNvPr id="50" name="Shape 48"/>
          <p:cNvSpPr/>
          <p:nvPr/>
        </p:nvSpPr>
        <p:spPr>
          <a:xfrm>
            <a:off x="2194560" y="4654296"/>
            <a:ext cx="2468880" cy="329184"/>
          </a:xfrm>
          <a:prstGeom prst="rect">
            <a:avLst/>
          </a:prstGeom>
          <a:solidFill>
            <a:srgbClr val="1E293B"/>
          </a:solidFill>
          <a:ln w="12700">
            <a:solidFill>
              <a:srgbClr val="1A2535"/>
            </a:solidFill>
            <a:prstDash val="solid"/>
          </a:ln>
        </p:spPr>
      </p:sp>
      <p:sp>
        <p:nvSpPr>
          <p:cNvPr id="51" name="Text 49"/>
          <p:cNvSpPr/>
          <p:nvPr/>
        </p:nvSpPr>
        <p:spPr>
          <a:xfrm>
            <a:off x="2240280" y="4654296"/>
            <a:ext cx="2377440" cy="329184"/>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display</a:t>
            </a:r>
            <a:endParaRPr lang="en-US" sz="1100" dirty="0"/>
          </a:p>
        </p:txBody>
      </p:sp>
      <p:sp>
        <p:nvSpPr>
          <p:cNvPr id="52" name="Shape 50"/>
          <p:cNvSpPr/>
          <p:nvPr/>
        </p:nvSpPr>
        <p:spPr>
          <a:xfrm>
            <a:off x="4754880" y="4654296"/>
            <a:ext cx="1737360" cy="329184"/>
          </a:xfrm>
          <a:prstGeom prst="rect">
            <a:avLst/>
          </a:prstGeom>
          <a:solidFill>
            <a:srgbClr val="1E293B"/>
          </a:solidFill>
          <a:ln w="12700">
            <a:solidFill>
              <a:srgbClr val="1A2535"/>
            </a:solidFill>
            <a:prstDash val="solid"/>
          </a:ln>
        </p:spPr>
      </p:sp>
      <p:sp>
        <p:nvSpPr>
          <p:cNvPr id="53" name="Text 51"/>
          <p:cNvSpPr/>
          <p:nvPr/>
        </p:nvSpPr>
        <p:spPr>
          <a:xfrm>
            <a:off x="4800600" y="4654296"/>
            <a:ext cx="1645920" cy="329184"/>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padding-left</a:t>
            </a:r>
            <a:endParaRPr lang="en-US" sz="1100" dirty="0"/>
          </a:p>
        </p:txBody>
      </p:sp>
      <p:sp>
        <p:nvSpPr>
          <p:cNvPr id="54" name="Shape 52"/>
          <p:cNvSpPr/>
          <p:nvPr/>
        </p:nvSpPr>
        <p:spPr>
          <a:xfrm>
            <a:off x="6583680" y="4654296"/>
            <a:ext cx="2468880" cy="329184"/>
          </a:xfrm>
          <a:prstGeom prst="rect">
            <a:avLst/>
          </a:prstGeom>
          <a:solidFill>
            <a:srgbClr val="1E293B"/>
          </a:solidFill>
          <a:ln w="12700">
            <a:solidFill>
              <a:srgbClr val="1A2535"/>
            </a:solidFill>
            <a:prstDash val="solid"/>
          </a:ln>
        </p:spPr>
      </p:sp>
      <p:sp>
        <p:nvSpPr>
          <p:cNvPr id="55" name="Text 53"/>
          <p:cNvSpPr/>
          <p:nvPr/>
        </p:nvSpPr>
        <p:spPr>
          <a:xfrm>
            <a:off x="6629400" y="4654296"/>
            <a:ext cx="2377440" cy="329184"/>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paddingLeft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w="12700">
            <a:solidFill>
              <a:srgbClr val="F59E0B"/>
            </a:solidFill>
            <a:prstDash val="solid"/>
          </a:ln>
        </p:spPr>
      </p:sp>
      <p:sp>
        <p:nvSpPr>
          <p:cNvPr id="3" name="Text 1"/>
          <p:cNvSpPr/>
          <p:nvPr/>
        </p:nvSpPr>
        <p:spPr>
          <a:xfrm>
            <a:off x="365760" y="137160"/>
            <a:ext cx="8412480" cy="411480"/>
          </a:xfrm>
          <a:prstGeom prst="rect">
            <a:avLst/>
          </a:prstGeom>
          <a:noFill/>
        </p:spPr>
        <p:txBody>
          <a:bodyPr wrap="square" lIns="0" tIns="0" rIns="0" bIns="0" rtlCol="0" anchor="ctr"/>
          <a:lstStyle/>
          <a:p>
            <a:pPr marL="0" indent="0">
              <a:buNone/>
            </a:pPr>
            <a:r>
              <a:rPr lang="en-US" sz="2600" b="1" dirty="0">
                <a:solidFill>
                  <a:srgbClr val="F59E0B"/>
                </a:solidFill>
                <a:latin typeface="Calibri" panose="020F0502020204030204" pitchFamily="34" charset="0"/>
                <a:ea typeface="Calibri" panose="020F0502020204030204" pitchFamily="34" charset="-122"/>
                <a:cs typeface="Calibri" panose="020F0502020204030204" pitchFamily="34" charset="-120"/>
              </a:rPr>
              <a:t>Creating &amp; Removing Elements</a:t>
            </a:r>
            <a:endParaRPr lang="en-US" sz="2600" dirty="0"/>
          </a:p>
        </p:txBody>
      </p:sp>
      <p:sp>
        <p:nvSpPr>
          <p:cNvPr id="4" name="Shape 2"/>
          <p:cNvSpPr/>
          <p:nvPr/>
        </p:nvSpPr>
        <p:spPr>
          <a:xfrm>
            <a:off x="365760" y="576072"/>
            <a:ext cx="8412480" cy="36576"/>
          </a:xfrm>
          <a:prstGeom prst="rect">
            <a:avLst/>
          </a:prstGeom>
          <a:solidFill>
            <a:srgbClr val="1E293B"/>
          </a:solidFill>
          <a:ln w="12700">
            <a:solidFill>
              <a:srgbClr val="1E293B"/>
            </a:solidFill>
            <a:prstDash val="solid"/>
          </a:ln>
        </p:spPr>
      </p:sp>
      <p:sp>
        <p:nvSpPr>
          <p:cNvPr id="5" name="Shape 3"/>
          <p:cNvSpPr/>
          <p:nvPr/>
        </p:nvSpPr>
        <p:spPr>
          <a:xfrm>
            <a:off x="365760" y="685800"/>
            <a:ext cx="4206240" cy="4297680"/>
          </a:xfrm>
          <a:prstGeom prst="rect">
            <a:avLst/>
          </a:prstGeom>
          <a:solidFill>
            <a:srgbClr val="1E293B"/>
          </a:solidFill>
          <a:ln w="12700">
            <a:solidFill>
              <a:srgbClr val="10B981"/>
            </a:solidFill>
            <a:prstDash val="solid"/>
          </a:ln>
        </p:spPr>
      </p:sp>
      <p:sp>
        <p:nvSpPr>
          <p:cNvPr id="6" name="Text 4"/>
          <p:cNvSpPr/>
          <p:nvPr/>
        </p:nvSpPr>
        <p:spPr>
          <a:xfrm>
            <a:off x="502920" y="804672"/>
            <a:ext cx="3931920" cy="320040"/>
          </a:xfrm>
          <a:prstGeom prst="rect">
            <a:avLst/>
          </a:prstGeom>
          <a:noFill/>
        </p:spPr>
        <p:txBody>
          <a:bodyPr wrap="square" lIns="0" tIns="0" rIns="0" bIns="0" rtlCol="0" anchor="ctr"/>
          <a:lstStyle/>
          <a:p>
            <a:pPr marL="0" indent="0">
              <a:buNone/>
            </a:pPr>
            <a:r>
              <a:rPr lang="en-US" sz="1500" b="1" dirty="0">
                <a:solidFill>
                  <a:srgbClr val="10B981"/>
                </a:solidFill>
                <a:latin typeface="Calibri" panose="020F0502020204030204" pitchFamily="34" charset="0"/>
                <a:ea typeface="Calibri" panose="020F0502020204030204" pitchFamily="34" charset="-122"/>
                <a:cs typeface="Calibri" panose="020F0502020204030204" pitchFamily="34" charset="-120"/>
              </a:rPr>
              <a:t>Creating Elements</a:t>
            </a:r>
            <a:endParaRPr lang="en-US" sz="1500" dirty="0"/>
          </a:p>
        </p:txBody>
      </p:sp>
      <p:sp>
        <p:nvSpPr>
          <p:cNvPr id="7" name="Text 5"/>
          <p:cNvSpPr/>
          <p:nvPr/>
        </p:nvSpPr>
        <p:spPr>
          <a:xfrm>
            <a:off x="502920" y="1234440"/>
            <a:ext cx="3931920" cy="210312"/>
          </a:xfrm>
          <a:prstGeom prst="rect">
            <a:avLst/>
          </a:prstGeom>
          <a:noFill/>
        </p:spPr>
        <p:txBody>
          <a:bodyPr wrap="square" lIns="0" tIns="0" rIns="0" bIns="0" rtlCol="0" anchor="ctr"/>
          <a:lstStyle/>
          <a:p>
            <a:pPr marL="0" indent="0">
              <a:buNone/>
            </a:pPr>
            <a:r>
              <a:rPr lang="en-US" sz="1200" b="1" dirty="0">
                <a:solidFill>
                  <a:srgbClr val="10B981"/>
                </a:solidFill>
                <a:latin typeface="Consolas" panose="020B0609020204030204" pitchFamily="34" charset="0"/>
                <a:ea typeface="Consolas" panose="020B0609020204030204" pitchFamily="34" charset="-122"/>
                <a:cs typeface="Consolas" panose="020B0609020204030204" pitchFamily="34" charset="-120"/>
              </a:rPr>
              <a:t>createElement(tag)</a:t>
            </a:r>
            <a:endParaRPr lang="en-US" sz="1200" dirty="0"/>
          </a:p>
        </p:txBody>
      </p:sp>
      <p:sp>
        <p:nvSpPr>
          <p:cNvPr id="8" name="Text 6"/>
          <p:cNvSpPr/>
          <p:nvPr/>
        </p:nvSpPr>
        <p:spPr>
          <a:xfrm>
            <a:off x="502920" y="1435608"/>
            <a:ext cx="3931920" cy="256032"/>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Creates a new HTML element. Does NOT add it to the page yet.</a:t>
            </a:r>
            <a:endParaRPr lang="en-US" sz="1100" dirty="0"/>
          </a:p>
        </p:txBody>
      </p:sp>
      <p:sp>
        <p:nvSpPr>
          <p:cNvPr id="9" name="Text 7"/>
          <p:cNvSpPr/>
          <p:nvPr/>
        </p:nvSpPr>
        <p:spPr>
          <a:xfrm>
            <a:off x="502920" y="1737360"/>
            <a:ext cx="3931920" cy="210312"/>
          </a:xfrm>
          <a:prstGeom prst="rect">
            <a:avLst/>
          </a:prstGeom>
          <a:noFill/>
        </p:spPr>
        <p:txBody>
          <a:bodyPr wrap="square" lIns="0" tIns="0" rIns="0" bIns="0" rtlCol="0" anchor="ctr"/>
          <a:lstStyle/>
          <a:p>
            <a:pPr marL="0" indent="0">
              <a:buNone/>
            </a:pPr>
            <a:r>
              <a:rPr lang="en-US" sz="1200" b="1" dirty="0">
                <a:solidFill>
                  <a:srgbClr val="10B981"/>
                </a:solidFill>
                <a:latin typeface="Consolas" panose="020B0609020204030204" pitchFamily="34" charset="0"/>
                <a:ea typeface="Consolas" panose="020B0609020204030204" pitchFamily="34" charset="-122"/>
                <a:cs typeface="Consolas" panose="020B0609020204030204" pitchFamily="34" charset="-120"/>
              </a:rPr>
              <a:t>createTextNode(text)</a:t>
            </a:r>
            <a:endParaRPr lang="en-US" sz="1200" dirty="0"/>
          </a:p>
        </p:txBody>
      </p:sp>
      <p:sp>
        <p:nvSpPr>
          <p:cNvPr id="10" name="Text 8"/>
          <p:cNvSpPr/>
          <p:nvPr/>
        </p:nvSpPr>
        <p:spPr>
          <a:xfrm>
            <a:off x="502920" y="1938528"/>
            <a:ext cx="3931920" cy="256032"/>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Creates a new text node with the given text.</a:t>
            </a:r>
            <a:endParaRPr lang="en-US" sz="1100" dirty="0"/>
          </a:p>
        </p:txBody>
      </p:sp>
      <p:sp>
        <p:nvSpPr>
          <p:cNvPr id="11" name="Text 9"/>
          <p:cNvSpPr/>
          <p:nvPr/>
        </p:nvSpPr>
        <p:spPr>
          <a:xfrm>
            <a:off x="502920" y="2240280"/>
            <a:ext cx="3931920" cy="210312"/>
          </a:xfrm>
          <a:prstGeom prst="rect">
            <a:avLst/>
          </a:prstGeom>
          <a:noFill/>
        </p:spPr>
        <p:txBody>
          <a:bodyPr wrap="square" lIns="0" tIns="0" rIns="0" bIns="0" rtlCol="0" anchor="ctr"/>
          <a:lstStyle/>
          <a:p>
            <a:pPr marL="0" indent="0">
              <a:buNone/>
            </a:pPr>
            <a:r>
              <a:rPr lang="en-US" sz="1200" b="1" dirty="0">
                <a:solidFill>
                  <a:srgbClr val="10B981"/>
                </a:solidFill>
                <a:latin typeface="Consolas" panose="020B0609020204030204" pitchFamily="34" charset="0"/>
                <a:ea typeface="Consolas" panose="020B0609020204030204" pitchFamily="34" charset="-122"/>
                <a:cs typeface="Consolas" panose="020B0609020204030204" pitchFamily="34" charset="-120"/>
              </a:rPr>
              <a:t>appendChild(child)</a:t>
            </a:r>
            <a:endParaRPr lang="en-US" sz="1200" dirty="0"/>
          </a:p>
        </p:txBody>
      </p:sp>
      <p:sp>
        <p:nvSpPr>
          <p:cNvPr id="12" name="Text 10"/>
          <p:cNvSpPr/>
          <p:nvPr/>
        </p:nvSpPr>
        <p:spPr>
          <a:xfrm>
            <a:off x="502920" y="2441448"/>
            <a:ext cx="3931920" cy="256032"/>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Adds a child element as the LAST child of a parent.</a:t>
            </a:r>
            <a:endParaRPr lang="en-US" sz="1100" dirty="0"/>
          </a:p>
        </p:txBody>
      </p:sp>
      <p:sp>
        <p:nvSpPr>
          <p:cNvPr id="13" name="Text 11"/>
          <p:cNvSpPr/>
          <p:nvPr/>
        </p:nvSpPr>
        <p:spPr>
          <a:xfrm>
            <a:off x="502920" y="2743200"/>
            <a:ext cx="3931920" cy="210312"/>
          </a:xfrm>
          <a:prstGeom prst="rect">
            <a:avLst/>
          </a:prstGeom>
          <a:noFill/>
        </p:spPr>
        <p:txBody>
          <a:bodyPr wrap="square" lIns="0" tIns="0" rIns="0" bIns="0" rtlCol="0" anchor="ctr"/>
          <a:lstStyle/>
          <a:p>
            <a:pPr marL="0" indent="0">
              <a:buNone/>
            </a:pPr>
            <a:r>
              <a:rPr lang="en-US" sz="1200" b="1" dirty="0">
                <a:solidFill>
                  <a:srgbClr val="10B981"/>
                </a:solidFill>
                <a:latin typeface="Consolas" panose="020B0609020204030204" pitchFamily="34" charset="0"/>
                <a:ea typeface="Consolas" panose="020B0609020204030204" pitchFamily="34" charset="-122"/>
                <a:cs typeface="Consolas" panose="020B0609020204030204" pitchFamily="34" charset="-120"/>
              </a:rPr>
              <a:t>insertBefore(new, ref)</a:t>
            </a:r>
            <a:endParaRPr lang="en-US" sz="1200" dirty="0"/>
          </a:p>
        </p:txBody>
      </p:sp>
      <p:sp>
        <p:nvSpPr>
          <p:cNvPr id="14" name="Text 12"/>
          <p:cNvSpPr/>
          <p:nvPr/>
        </p:nvSpPr>
        <p:spPr>
          <a:xfrm>
            <a:off x="502920" y="2944368"/>
            <a:ext cx="3931920" cy="256032"/>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Inserts a new node before a reference node.</a:t>
            </a:r>
            <a:endParaRPr lang="en-US" sz="1100" dirty="0"/>
          </a:p>
        </p:txBody>
      </p:sp>
      <p:sp>
        <p:nvSpPr>
          <p:cNvPr id="15" name="Text 13"/>
          <p:cNvSpPr/>
          <p:nvPr/>
        </p:nvSpPr>
        <p:spPr>
          <a:xfrm>
            <a:off x="502920" y="3246120"/>
            <a:ext cx="3931920" cy="210312"/>
          </a:xfrm>
          <a:prstGeom prst="rect">
            <a:avLst/>
          </a:prstGeom>
          <a:noFill/>
        </p:spPr>
        <p:txBody>
          <a:bodyPr wrap="square" lIns="0" tIns="0" rIns="0" bIns="0" rtlCol="0" anchor="ctr"/>
          <a:lstStyle/>
          <a:p>
            <a:pPr marL="0" indent="0">
              <a:buNone/>
            </a:pPr>
            <a:r>
              <a:rPr lang="en-US" sz="1200" b="1" dirty="0">
                <a:solidFill>
                  <a:srgbClr val="10B981"/>
                </a:solidFill>
                <a:latin typeface="Consolas" panose="020B0609020204030204" pitchFamily="34" charset="0"/>
                <a:ea typeface="Consolas" panose="020B0609020204030204" pitchFamily="34" charset="-122"/>
                <a:cs typeface="Consolas" panose="020B0609020204030204" pitchFamily="34" charset="-120"/>
              </a:rPr>
              <a:t>prepend(child)</a:t>
            </a:r>
            <a:endParaRPr lang="en-US" sz="1200" dirty="0"/>
          </a:p>
        </p:txBody>
      </p:sp>
      <p:sp>
        <p:nvSpPr>
          <p:cNvPr id="16" name="Text 14"/>
          <p:cNvSpPr/>
          <p:nvPr/>
        </p:nvSpPr>
        <p:spPr>
          <a:xfrm>
            <a:off x="502920" y="3447288"/>
            <a:ext cx="3931920" cy="256032"/>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Inserts as the FIRST child of the parent.</a:t>
            </a:r>
            <a:endParaRPr lang="en-US" sz="1100" dirty="0"/>
          </a:p>
        </p:txBody>
      </p:sp>
      <p:sp>
        <p:nvSpPr>
          <p:cNvPr id="17" name="Shape 15"/>
          <p:cNvSpPr/>
          <p:nvPr/>
        </p:nvSpPr>
        <p:spPr>
          <a:xfrm>
            <a:off x="4754880" y="685800"/>
            <a:ext cx="4023360" cy="4297680"/>
          </a:xfrm>
          <a:prstGeom prst="rect">
            <a:avLst/>
          </a:prstGeom>
          <a:solidFill>
            <a:srgbClr val="1E293B"/>
          </a:solidFill>
          <a:ln w="12700">
            <a:solidFill>
              <a:srgbClr val="F59E0B"/>
            </a:solidFill>
            <a:prstDash val="solid"/>
          </a:ln>
        </p:spPr>
      </p:sp>
      <p:sp>
        <p:nvSpPr>
          <p:cNvPr id="18" name="Text 16"/>
          <p:cNvSpPr/>
          <p:nvPr/>
        </p:nvSpPr>
        <p:spPr>
          <a:xfrm>
            <a:off x="4892040" y="804672"/>
            <a:ext cx="3749040" cy="320040"/>
          </a:xfrm>
          <a:prstGeom prst="rect">
            <a:avLst/>
          </a:prstGeom>
          <a:noFill/>
        </p:spPr>
        <p:txBody>
          <a:bodyPr wrap="square" lIns="0" tIns="0" rIns="0" bIns="0" rtlCol="0" anchor="ctr"/>
          <a:lstStyle/>
          <a:p>
            <a:pPr marL="0" indent="0">
              <a:buNone/>
            </a:pPr>
            <a:r>
              <a:rPr lang="en-US" sz="1400" b="1" dirty="0">
                <a:solidFill>
                  <a:srgbClr val="F59E0B"/>
                </a:solidFill>
                <a:latin typeface="Calibri" panose="020F0502020204030204" pitchFamily="34" charset="0"/>
                <a:ea typeface="Calibri" panose="020F0502020204030204" pitchFamily="34" charset="-122"/>
                <a:cs typeface="Calibri" panose="020F0502020204030204" pitchFamily="34" charset="-120"/>
              </a:rPr>
              <a:t>Removing &amp; Replacing Elements</a:t>
            </a:r>
            <a:endParaRPr lang="en-US" sz="1400" dirty="0"/>
          </a:p>
        </p:txBody>
      </p:sp>
      <p:sp>
        <p:nvSpPr>
          <p:cNvPr id="19" name="Text 17"/>
          <p:cNvSpPr/>
          <p:nvPr/>
        </p:nvSpPr>
        <p:spPr>
          <a:xfrm>
            <a:off x="4892040" y="1234440"/>
            <a:ext cx="3749040" cy="210312"/>
          </a:xfrm>
          <a:prstGeom prst="rect">
            <a:avLst/>
          </a:prstGeom>
          <a:noFill/>
        </p:spPr>
        <p:txBody>
          <a:bodyPr wrap="square" lIns="0" tIns="0" rIns="0" bIns="0" rtlCol="0" anchor="ctr"/>
          <a:lstStyle/>
          <a:p>
            <a:pPr marL="0" indent="0">
              <a:buNone/>
            </a:pPr>
            <a:r>
              <a:rPr lang="en-US" sz="1200" b="1" dirty="0">
                <a:solidFill>
                  <a:srgbClr val="F59E0B"/>
                </a:solidFill>
                <a:latin typeface="Consolas" panose="020B0609020204030204" pitchFamily="34" charset="0"/>
                <a:ea typeface="Consolas" panose="020B0609020204030204" pitchFamily="34" charset="-122"/>
                <a:cs typeface="Consolas" panose="020B0609020204030204" pitchFamily="34" charset="-120"/>
              </a:rPr>
              <a:t>removeChild(child)</a:t>
            </a:r>
            <a:endParaRPr lang="en-US" sz="1200" dirty="0"/>
          </a:p>
        </p:txBody>
      </p:sp>
      <p:sp>
        <p:nvSpPr>
          <p:cNvPr id="20" name="Text 18"/>
          <p:cNvSpPr/>
          <p:nvPr/>
        </p:nvSpPr>
        <p:spPr>
          <a:xfrm>
            <a:off x="4892040" y="1435608"/>
            <a:ext cx="3749040" cy="256032"/>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Removes a child node from the parent element.</a:t>
            </a:r>
            <a:endParaRPr lang="en-US" sz="1100" dirty="0"/>
          </a:p>
        </p:txBody>
      </p:sp>
      <p:sp>
        <p:nvSpPr>
          <p:cNvPr id="21" name="Text 19"/>
          <p:cNvSpPr/>
          <p:nvPr/>
        </p:nvSpPr>
        <p:spPr>
          <a:xfrm>
            <a:off x="4892040" y="1737360"/>
            <a:ext cx="3749040" cy="210312"/>
          </a:xfrm>
          <a:prstGeom prst="rect">
            <a:avLst/>
          </a:prstGeom>
          <a:noFill/>
        </p:spPr>
        <p:txBody>
          <a:bodyPr wrap="square" lIns="0" tIns="0" rIns="0" bIns="0" rtlCol="0" anchor="ctr"/>
          <a:lstStyle/>
          <a:p>
            <a:pPr marL="0" indent="0">
              <a:buNone/>
            </a:pPr>
            <a:r>
              <a:rPr lang="en-US" sz="1200" b="1" dirty="0">
                <a:solidFill>
                  <a:srgbClr val="F59E0B"/>
                </a:solidFill>
                <a:latin typeface="Consolas" panose="020B0609020204030204" pitchFamily="34" charset="0"/>
                <a:ea typeface="Consolas" panose="020B0609020204030204" pitchFamily="34" charset="-122"/>
                <a:cs typeface="Consolas" panose="020B0609020204030204" pitchFamily="34" charset="-120"/>
              </a:rPr>
              <a:t>remove()</a:t>
            </a:r>
            <a:endParaRPr lang="en-US" sz="1200" dirty="0"/>
          </a:p>
        </p:txBody>
      </p:sp>
      <p:sp>
        <p:nvSpPr>
          <p:cNvPr id="22" name="Text 20"/>
          <p:cNvSpPr/>
          <p:nvPr/>
        </p:nvSpPr>
        <p:spPr>
          <a:xfrm>
            <a:off x="4892040" y="1938528"/>
            <a:ext cx="3749040" cy="256032"/>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Removes the element itself from the DOM directly.</a:t>
            </a:r>
            <a:endParaRPr lang="en-US" sz="1100" dirty="0"/>
          </a:p>
        </p:txBody>
      </p:sp>
      <p:sp>
        <p:nvSpPr>
          <p:cNvPr id="23" name="Text 21"/>
          <p:cNvSpPr/>
          <p:nvPr/>
        </p:nvSpPr>
        <p:spPr>
          <a:xfrm>
            <a:off x="4892040" y="2240280"/>
            <a:ext cx="3749040" cy="210312"/>
          </a:xfrm>
          <a:prstGeom prst="rect">
            <a:avLst/>
          </a:prstGeom>
          <a:noFill/>
        </p:spPr>
        <p:txBody>
          <a:bodyPr wrap="square" lIns="0" tIns="0" rIns="0" bIns="0" rtlCol="0" anchor="ctr"/>
          <a:lstStyle/>
          <a:p>
            <a:pPr marL="0" indent="0">
              <a:buNone/>
            </a:pPr>
            <a:r>
              <a:rPr lang="en-US" sz="1200" b="1" dirty="0">
                <a:solidFill>
                  <a:srgbClr val="F59E0B"/>
                </a:solidFill>
                <a:latin typeface="Consolas" panose="020B0609020204030204" pitchFamily="34" charset="0"/>
                <a:ea typeface="Consolas" panose="020B0609020204030204" pitchFamily="34" charset="-122"/>
                <a:cs typeface="Consolas" panose="020B0609020204030204" pitchFamily="34" charset="-120"/>
              </a:rPr>
              <a:t>replaceChild(new,old)</a:t>
            </a:r>
            <a:endParaRPr lang="en-US" sz="1200" dirty="0"/>
          </a:p>
        </p:txBody>
      </p:sp>
      <p:sp>
        <p:nvSpPr>
          <p:cNvPr id="24" name="Text 22"/>
          <p:cNvSpPr/>
          <p:nvPr/>
        </p:nvSpPr>
        <p:spPr>
          <a:xfrm>
            <a:off x="4892040" y="2441448"/>
            <a:ext cx="3749040" cy="256032"/>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Replaces a child node with a new node.</a:t>
            </a:r>
            <a:endParaRPr lang="en-US" sz="1100" dirty="0"/>
          </a:p>
        </p:txBody>
      </p:sp>
      <p:sp>
        <p:nvSpPr>
          <p:cNvPr id="25" name="Text 23"/>
          <p:cNvSpPr/>
          <p:nvPr/>
        </p:nvSpPr>
        <p:spPr>
          <a:xfrm>
            <a:off x="4892040" y="2743200"/>
            <a:ext cx="3749040" cy="210312"/>
          </a:xfrm>
          <a:prstGeom prst="rect">
            <a:avLst/>
          </a:prstGeom>
          <a:noFill/>
        </p:spPr>
        <p:txBody>
          <a:bodyPr wrap="square" lIns="0" tIns="0" rIns="0" bIns="0" rtlCol="0" anchor="ctr"/>
          <a:lstStyle/>
          <a:p>
            <a:pPr marL="0" indent="0">
              <a:buNone/>
            </a:pPr>
            <a:r>
              <a:rPr lang="en-US" sz="1200" b="1" dirty="0">
                <a:solidFill>
                  <a:srgbClr val="F59E0B"/>
                </a:solidFill>
                <a:latin typeface="Consolas" panose="020B0609020204030204" pitchFamily="34" charset="0"/>
                <a:ea typeface="Consolas" panose="020B0609020204030204" pitchFamily="34" charset="-122"/>
                <a:cs typeface="Consolas" panose="020B0609020204030204" pitchFamily="34" charset="-120"/>
              </a:rPr>
              <a:t>cloneNode(deep)</a:t>
            </a:r>
            <a:endParaRPr lang="en-US" sz="1200" dirty="0"/>
          </a:p>
        </p:txBody>
      </p:sp>
      <p:sp>
        <p:nvSpPr>
          <p:cNvPr id="26" name="Text 24"/>
          <p:cNvSpPr/>
          <p:nvPr/>
        </p:nvSpPr>
        <p:spPr>
          <a:xfrm>
            <a:off x="4892040" y="2944368"/>
            <a:ext cx="3749040" cy="256032"/>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Creates a copy. deep=true copies all children too.</a:t>
            </a:r>
            <a:endParaRPr lang="en-US" sz="1100" dirty="0"/>
          </a:p>
        </p:txBody>
      </p:sp>
      <p:sp>
        <p:nvSpPr>
          <p:cNvPr id="27" name="Shape 25"/>
          <p:cNvSpPr/>
          <p:nvPr/>
        </p:nvSpPr>
        <p:spPr>
          <a:xfrm>
            <a:off x="365760" y="3429000"/>
            <a:ext cx="8412480" cy="1463040"/>
          </a:xfrm>
          <a:prstGeom prst="rect">
            <a:avLst/>
          </a:prstGeom>
          <a:solidFill>
            <a:srgbClr val="0D1117"/>
          </a:solidFill>
          <a:ln w="12700">
            <a:solidFill>
              <a:srgbClr val="F59E0B"/>
            </a:solidFill>
            <a:prstDash val="solid"/>
          </a:ln>
        </p:spPr>
      </p:sp>
      <p:sp>
        <p:nvSpPr>
          <p:cNvPr id="28" name="Text 26"/>
          <p:cNvSpPr/>
          <p:nvPr/>
        </p:nvSpPr>
        <p:spPr>
          <a:xfrm>
            <a:off x="548640" y="3493008"/>
            <a:ext cx="8046720" cy="1353312"/>
          </a:xfrm>
          <a:prstGeom prst="rect">
            <a:avLst/>
          </a:prstGeom>
          <a:noFill/>
        </p:spPr>
        <p:txBody>
          <a:bodyPr wrap="square" lIns="0" tIns="0" rIns="0" bIns="0" rtlCol="0" anchor="ctr"/>
          <a:lstStyle/>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 Create a new paragraph and add to page</a:t>
            </a:r>
            <a:endParaRPr lang="en-US" sz="1100" dirty="0"/>
          </a:p>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newP = document.createElement('p');</a:t>
            </a:r>
            <a:endParaRPr lang="en-US" sz="1100" dirty="0"/>
          </a:p>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newP.textContent = 'I was created by JavaScript!';</a:t>
            </a:r>
            <a:endParaRPr lang="en-US" sz="1100" dirty="0"/>
          </a:p>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newP.style.color = 'blue';</a:t>
            </a:r>
            <a:endParaRPr lang="en-US" sz="1100" dirty="0"/>
          </a:p>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document.body.appendChild(newP);</a:t>
            </a:r>
            <a:endParaRPr lang="en-US" sz="1100" dirty="0"/>
          </a:p>
          <a:p>
            <a:pPr marL="0" indent="0">
              <a:buNone/>
            </a:pPr>
            <a:endParaRPr lang="en-US" sz="1100" dirty="0"/>
          </a:p>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 Remove an element</a:t>
            </a:r>
            <a:endParaRPr lang="en-US" sz="1100" dirty="0"/>
          </a:p>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old = document.getElementById('removeMe');</a:t>
            </a:r>
            <a:endParaRPr lang="en-US" sz="1100" dirty="0"/>
          </a:p>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old.remove();    // Modern — removes itself directly</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CD34D"/>
          </a:solidFill>
          <a:ln w="12700">
            <a:solidFill>
              <a:srgbClr val="FCD34D"/>
            </a:solidFill>
            <a:prstDash val="solid"/>
          </a:ln>
        </p:spPr>
      </p:sp>
      <p:sp>
        <p:nvSpPr>
          <p:cNvPr id="3" name="Text 1"/>
          <p:cNvSpPr/>
          <p:nvPr/>
        </p:nvSpPr>
        <p:spPr>
          <a:xfrm>
            <a:off x="365760" y="137160"/>
            <a:ext cx="8412480" cy="411480"/>
          </a:xfrm>
          <a:prstGeom prst="rect">
            <a:avLst/>
          </a:prstGeom>
          <a:noFill/>
        </p:spPr>
        <p:txBody>
          <a:bodyPr wrap="square" lIns="0" tIns="0" rIns="0" bIns="0" rtlCol="0" anchor="ctr"/>
          <a:lstStyle/>
          <a:p>
            <a:pPr marL="0" indent="0">
              <a:buNone/>
            </a:pPr>
            <a:r>
              <a:rPr lang="en-US" sz="2400" b="1" dirty="0">
                <a:solidFill>
                  <a:srgbClr val="FCD34D"/>
                </a:solidFill>
                <a:latin typeface="Calibri" panose="020F0502020204030204" pitchFamily="34" charset="0"/>
                <a:ea typeface="Calibri" panose="020F0502020204030204" pitchFamily="34" charset="-122"/>
                <a:cs typeface="Calibri" panose="020F0502020204030204" pitchFamily="34" charset="-120"/>
              </a:rPr>
              <a:t>Event Listeners — addEventListener</a:t>
            </a:r>
            <a:endParaRPr lang="en-US" sz="2400" dirty="0"/>
          </a:p>
        </p:txBody>
      </p:sp>
      <p:sp>
        <p:nvSpPr>
          <p:cNvPr id="4" name="Shape 2"/>
          <p:cNvSpPr/>
          <p:nvPr/>
        </p:nvSpPr>
        <p:spPr>
          <a:xfrm>
            <a:off x="365760" y="576072"/>
            <a:ext cx="8412480" cy="36576"/>
          </a:xfrm>
          <a:prstGeom prst="rect">
            <a:avLst/>
          </a:prstGeom>
          <a:solidFill>
            <a:srgbClr val="1E293B"/>
          </a:solidFill>
          <a:ln w="12700">
            <a:solidFill>
              <a:srgbClr val="1E293B"/>
            </a:solidFill>
            <a:prstDash val="solid"/>
          </a:ln>
        </p:spPr>
      </p:sp>
      <p:sp>
        <p:nvSpPr>
          <p:cNvPr id="5" name="Shape 3"/>
          <p:cNvSpPr/>
          <p:nvPr/>
        </p:nvSpPr>
        <p:spPr>
          <a:xfrm>
            <a:off x="365760" y="685800"/>
            <a:ext cx="8412480" cy="640080"/>
          </a:xfrm>
          <a:prstGeom prst="rect">
            <a:avLst/>
          </a:prstGeom>
          <a:solidFill>
            <a:srgbClr val="1E293B"/>
          </a:solidFill>
          <a:ln w="12700">
            <a:solidFill>
              <a:srgbClr val="1E3A5F"/>
            </a:solidFill>
            <a:prstDash val="solid"/>
          </a:ln>
        </p:spPr>
      </p:sp>
      <p:sp>
        <p:nvSpPr>
          <p:cNvPr id="6" name="Text 4"/>
          <p:cNvSpPr/>
          <p:nvPr/>
        </p:nvSpPr>
        <p:spPr>
          <a:xfrm>
            <a:off x="594360" y="749808"/>
            <a:ext cx="7955280" cy="530352"/>
          </a:xfrm>
          <a:prstGeom prst="rect">
            <a:avLst/>
          </a:prstGeom>
          <a:noFill/>
        </p:spPr>
        <p:txBody>
          <a:bodyPr wrap="square" lIns="0" tIns="0" rIns="0" bIns="0" rtlCol="0" anchor="ctr"/>
          <a:lstStyle/>
          <a:p>
            <a:pPr marL="0" indent="0">
              <a:buNone/>
            </a:pPr>
            <a:r>
              <a:rPr lang="en-US" sz="1250" dirty="0">
                <a:solidFill>
                  <a:srgbClr val="F8FAFC"/>
                </a:solidFill>
                <a:latin typeface="Calibri" panose="020F0502020204030204" pitchFamily="34" charset="0"/>
                <a:ea typeface="Calibri" panose="020F0502020204030204" pitchFamily="34" charset="-122"/>
                <a:cs typeface="Calibri" panose="020F0502020204030204" pitchFamily="34" charset="-120"/>
              </a:rPr>
              <a:t>addEventListener(event, function, useCapture) attaches an event handler to an element without overwriting existing ones. A single element can have multiple listeners for the same event.</a:t>
            </a:r>
            <a:endParaRPr lang="en-US" sz="1250" dirty="0"/>
          </a:p>
        </p:txBody>
      </p:sp>
      <p:sp>
        <p:nvSpPr>
          <p:cNvPr id="7" name="Shape 5"/>
          <p:cNvSpPr/>
          <p:nvPr/>
        </p:nvSpPr>
        <p:spPr>
          <a:xfrm>
            <a:off x="365760" y="1463040"/>
            <a:ext cx="8412480" cy="1417320"/>
          </a:xfrm>
          <a:prstGeom prst="rect">
            <a:avLst/>
          </a:prstGeom>
          <a:solidFill>
            <a:srgbClr val="0D1117"/>
          </a:solidFill>
          <a:ln w="12700">
            <a:solidFill>
              <a:srgbClr val="FCD34D"/>
            </a:solidFill>
            <a:prstDash val="solid"/>
          </a:ln>
        </p:spPr>
      </p:sp>
      <p:sp>
        <p:nvSpPr>
          <p:cNvPr id="8" name="Text 6"/>
          <p:cNvSpPr/>
          <p:nvPr/>
        </p:nvSpPr>
        <p:spPr>
          <a:xfrm>
            <a:off x="548640" y="1508760"/>
            <a:ext cx="8046720" cy="1325880"/>
          </a:xfrm>
          <a:prstGeom prst="rect">
            <a:avLst/>
          </a:prstGeom>
          <a:noFill/>
        </p:spPr>
        <p:txBody>
          <a:bodyPr wrap="square" lIns="0" tIns="0" rIns="0" bIns="0" rtlCol="0" anchor="ctr"/>
          <a:lstStyle/>
          <a:p>
            <a:pPr marL="0" indent="0">
              <a:buNone/>
            </a:pPr>
            <a:r>
              <a:rPr lang="en-US" sz="12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btn = document.getElementById('myBtn');</a:t>
            </a:r>
            <a:endParaRPr lang="en-US" sz="1200" dirty="0"/>
          </a:p>
          <a:p>
            <a:pPr marL="0" indent="0">
              <a:buNone/>
            </a:pPr>
            <a:endParaRPr lang="en-US" sz="1200" dirty="0"/>
          </a:p>
          <a:p>
            <a:pPr marL="0" indent="0">
              <a:buNone/>
            </a:pPr>
            <a:r>
              <a:rPr lang="en-US" sz="1200" dirty="0">
                <a:solidFill>
                  <a:srgbClr val="A5F3FC"/>
                </a:solidFill>
                <a:latin typeface="Consolas" panose="020B0609020204030204" pitchFamily="34" charset="0"/>
                <a:ea typeface="Consolas" panose="020B0609020204030204" pitchFamily="34" charset="-122"/>
                <a:cs typeface="Consolas" panose="020B0609020204030204" pitchFamily="34" charset="-120"/>
              </a:rPr>
              <a:t>// Syntax:  element.addEventListener('eventType', callbackFunction);</a:t>
            </a:r>
            <a:endParaRPr lang="en-US" sz="1200" dirty="0"/>
          </a:p>
          <a:p>
            <a:pPr marL="0" indent="0">
              <a:buNone/>
            </a:pPr>
            <a:r>
              <a:rPr lang="en-US" sz="1200" dirty="0">
                <a:solidFill>
                  <a:srgbClr val="A5F3FC"/>
                </a:solidFill>
                <a:latin typeface="Consolas" panose="020B0609020204030204" pitchFamily="34" charset="0"/>
                <a:ea typeface="Consolas" panose="020B0609020204030204" pitchFamily="34" charset="-122"/>
                <a:cs typeface="Consolas" panose="020B0609020204030204" pitchFamily="34" charset="-120"/>
              </a:rPr>
              <a:t>btn.addEventListener('click', function() {</a:t>
            </a:r>
            <a:endParaRPr lang="en-US" sz="1200" dirty="0"/>
          </a:p>
          <a:p>
            <a:pPr marL="0" indent="0">
              <a:buNone/>
            </a:pPr>
            <a:r>
              <a:rPr lang="en-US" sz="1200" dirty="0">
                <a:solidFill>
                  <a:srgbClr val="A5F3FC"/>
                </a:solidFill>
                <a:latin typeface="Consolas" panose="020B0609020204030204" pitchFamily="34" charset="0"/>
                <a:ea typeface="Consolas" panose="020B0609020204030204" pitchFamily="34" charset="-122"/>
                <a:cs typeface="Consolas" panose="020B0609020204030204" pitchFamily="34" charset="-120"/>
              </a:rPr>
              <a:t>  console.log('Button was clicked!');</a:t>
            </a:r>
            <a:endParaRPr lang="en-US" sz="1200" dirty="0"/>
          </a:p>
          <a:p>
            <a:pPr marL="0" indent="0">
              <a:buNone/>
            </a:pPr>
            <a:r>
              <a:rPr lang="en-US" sz="1200" dirty="0">
                <a:solidFill>
                  <a:srgbClr val="A5F3FC"/>
                </a:solidFill>
                <a:latin typeface="Consolas" panose="020B0609020204030204" pitchFamily="34" charset="0"/>
                <a:ea typeface="Consolas" panose="020B0609020204030204" pitchFamily="34" charset="-122"/>
                <a:cs typeface="Consolas" panose="020B0609020204030204" pitchFamily="34" charset="-120"/>
              </a:rPr>
              <a:t>  btn.style.background = 'green';</a:t>
            </a:r>
            <a:endParaRPr lang="en-US" sz="1200" dirty="0"/>
          </a:p>
          <a:p>
            <a:pPr marL="0" indent="0">
              <a:buNone/>
            </a:pPr>
            <a:r>
              <a:rPr lang="en-US" sz="1200" dirty="0">
                <a:solidFill>
                  <a:srgbClr val="A5F3FC"/>
                </a:solidFill>
                <a:latin typeface="Consolas" panose="020B0609020204030204" pitchFamily="34" charset="0"/>
                <a:ea typeface="Consolas" panose="020B0609020204030204" pitchFamily="34" charset="-122"/>
                <a:cs typeface="Consolas" panose="020B0609020204030204" pitchFamily="34" charset="-120"/>
              </a:rPr>
              <a:t>});</a:t>
            </a:r>
            <a:endParaRPr lang="en-US" sz="1200" dirty="0"/>
          </a:p>
        </p:txBody>
      </p:sp>
      <p:sp>
        <p:nvSpPr>
          <p:cNvPr id="9" name="Text 7"/>
          <p:cNvSpPr/>
          <p:nvPr/>
        </p:nvSpPr>
        <p:spPr>
          <a:xfrm>
            <a:off x="365760" y="2999232"/>
            <a:ext cx="8229600" cy="292608"/>
          </a:xfrm>
          <a:prstGeom prst="rect">
            <a:avLst/>
          </a:prstGeom>
          <a:noFill/>
        </p:spPr>
        <p:txBody>
          <a:bodyPr wrap="square" lIns="0" tIns="0" rIns="0" bIns="0" rtlCol="0" anchor="ctr"/>
          <a:lstStyle/>
          <a:p>
            <a:pPr marL="0" indent="0">
              <a:buNone/>
            </a:pPr>
            <a:r>
              <a:rPr lang="en-US" sz="1300" b="1" dirty="0">
                <a:solidFill>
                  <a:srgbClr val="FCD34D"/>
                </a:solidFill>
                <a:latin typeface="Calibri" panose="020F0502020204030204" pitchFamily="34" charset="0"/>
                <a:ea typeface="Calibri" panose="020F0502020204030204" pitchFamily="34" charset="-122"/>
                <a:cs typeface="Calibri" panose="020F0502020204030204" pitchFamily="34" charset="-120"/>
              </a:rPr>
              <a:t>Common Event Types:</a:t>
            </a:r>
            <a:endParaRPr lang="en-US" sz="1300" dirty="0"/>
          </a:p>
        </p:txBody>
      </p:sp>
      <p:sp>
        <p:nvSpPr>
          <p:cNvPr id="10" name="Shape 8"/>
          <p:cNvSpPr/>
          <p:nvPr/>
        </p:nvSpPr>
        <p:spPr>
          <a:xfrm>
            <a:off x="365760" y="3337560"/>
            <a:ext cx="8412480" cy="329184"/>
          </a:xfrm>
          <a:prstGeom prst="rect">
            <a:avLst/>
          </a:prstGeom>
          <a:solidFill>
            <a:srgbClr val="1E293B"/>
          </a:solidFill>
          <a:ln w="12700">
            <a:solidFill>
              <a:srgbClr val="1A2535"/>
            </a:solidFill>
            <a:prstDash val="solid"/>
          </a:ln>
        </p:spPr>
      </p:sp>
      <p:sp>
        <p:nvSpPr>
          <p:cNvPr id="11" name="Text 9"/>
          <p:cNvSpPr/>
          <p:nvPr/>
        </p:nvSpPr>
        <p:spPr>
          <a:xfrm>
            <a:off x="502920" y="3355848"/>
            <a:ext cx="1645920" cy="292608"/>
          </a:xfrm>
          <a:prstGeom prst="rect">
            <a:avLst/>
          </a:prstGeom>
          <a:noFill/>
        </p:spPr>
        <p:txBody>
          <a:bodyPr wrap="square" lIns="0" tIns="0" rIns="0" bIns="0" rtlCol="0" anchor="ctr"/>
          <a:lstStyle/>
          <a:p>
            <a:pPr marL="0" indent="0">
              <a:buNone/>
            </a:pPr>
            <a:r>
              <a:rPr lang="en-US" sz="1150" b="1" dirty="0">
                <a:solidFill>
                  <a:srgbClr val="FCD34D"/>
                </a:solidFill>
                <a:latin typeface="Calibri" panose="020F0502020204030204" pitchFamily="34" charset="0"/>
                <a:ea typeface="Calibri" panose="020F0502020204030204" pitchFamily="34" charset="-122"/>
                <a:cs typeface="Calibri" panose="020F0502020204030204" pitchFamily="34" charset="-120"/>
              </a:rPr>
              <a:t>Mouse Events:</a:t>
            </a:r>
            <a:endParaRPr lang="en-US" sz="1150" dirty="0"/>
          </a:p>
        </p:txBody>
      </p:sp>
      <p:sp>
        <p:nvSpPr>
          <p:cNvPr id="12" name="Text 10"/>
          <p:cNvSpPr/>
          <p:nvPr/>
        </p:nvSpPr>
        <p:spPr>
          <a:xfrm>
            <a:off x="2194560" y="3355848"/>
            <a:ext cx="6492240" cy="292608"/>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click, dblclick, mouseenter, mouseleave, mouseover, mousedown, mouseup</a:t>
            </a:r>
            <a:endParaRPr lang="en-US" sz="1100" dirty="0"/>
          </a:p>
        </p:txBody>
      </p:sp>
      <p:sp>
        <p:nvSpPr>
          <p:cNvPr id="13" name="Shape 11"/>
          <p:cNvSpPr/>
          <p:nvPr/>
        </p:nvSpPr>
        <p:spPr>
          <a:xfrm>
            <a:off x="365760" y="3666744"/>
            <a:ext cx="8412480" cy="329184"/>
          </a:xfrm>
          <a:prstGeom prst="rect">
            <a:avLst/>
          </a:prstGeom>
          <a:solidFill>
            <a:srgbClr val="1E3A5F"/>
          </a:solidFill>
          <a:ln w="12700">
            <a:solidFill>
              <a:srgbClr val="1A2535"/>
            </a:solidFill>
            <a:prstDash val="solid"/>
          </a:ln>
        </p:spPr>
      </p:sp>
      <p:sp>
        <p:nvSpPr>
          <p:cNvPr id="14" name="Text 12"/>
          <p:cNvSpPr/>
          <p:nvPr/>
        </p:nvSpPr>
        <p:spPr>
          <a:xfrm>
            <a:off x="502920" y="3685032"/>
            <a:ext cx="1645920" cy="292608"/>
          </a:xfrm>
          <a:prstGeom prst="rect">
            <a:avLst/>
          </a:prstGeom>
          <a:noFill/>
        </p:spPr>
        <p:txBody>
          <a:bodyPr wrap="square" lIns="0" tIns="0" rIns="0" bIns="0" rtlCol="0" anchor="ctr"/>
          <a:lstStyle/>
          <a:p>
            <a:pPr marL="0" indent="0">
              <a:buNone/>
            </a:pPr>
            <a:r>
              <a:rPr lang="en-US" sz="1150" b="1" dirty="0">
                <a:solidFill>
                  <a:srgbClr val="FCD34D"/>
                </a:solidFill>
                <a:latin typeface="Calibri" panose="020F0502020204030204" pitchFamily="34" charset="0"/>
                <a:ea typeface="Calibri" panose="020F0502020204030204" pitchFamily="34" charset="-122"/>
                <a:cs typeface="Calibri" panose="020F0502020204030204" pitchFamily="34" charset="-120"/>
              </a:rPr>
              <a:t>Keyboard Events:</a:t>
            </a:r>
            <a:endParaRPr lang="en-US" sz="1150" dirty="0"/>
          </a:p>
        </p:txBody>
      </p:sp>
      <p:sp>
        <p:nvSpPr>
          <p:cNvPr id="15" name="Text 13"/>
          <p:cNvSpPr/>
          <p:nvPr/>
        </p:nvSpPr>
        <p:spPr>
          <a:xfrm>
            <a:off x="2194560" y="3685032"/>
            <a:ext cx="6492240" cy="292608"/>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keydown, keyup, keypress (deprecated)</a:t>
            </a:r>
            <a:endParaRPr lang="en-US" sz="1100" dirty="0"/>
          </a:p>
        </p:txBody>
      </p:sp>
      <p:sp>
        <p:nvSpPr>
          <p:cNvPr id="16" name="Shape 14"/>
          <p:cNvSpPr/>
          <p:nvPr/>
        </p:nvSpPr>
        <p:spPr>
          <a:xfrm>
            <a:off x="365760" y="3995928"/>
            <a:ext cx="8412480" cy="329184"/>
          </a:xfrm>
          <a:prstGeom prst="rect">
            <a:avLst/>
          </a:prstGeom>
          <a:solidFill>
            <a:srgbClr val="1E293B"/>
          </a:solidFill>
          <a:ln w="12700">
            <a:solidFill>
              <a:srgbClr val="1A2535"/>
            </a:solidFill>
            <a:prstDash val="solid"/>
          </a:ln>
        </p:spPr>
      </p:sp>
      <p:sp>
        <p:nvSpPr>
          <p:cNvPr id="17" name="Text 15"/>
          <p:cNvSpPr/>
          <p:nvPr/>
        </p:nvSpPr>
        <p:spPr>
          <a:xfrm>
            <a:off x="502920" y="4014216"/>
            <a:ext cx="1645920" cy="292608"/>
          </a:xfrm>
          <a:prstGeom prst="rect">
            <a:avLst/>
          </a:prstGeom>
          <a:noFill/>
        </p:spPr>
        <p:txBody>
          <a:bodyPr wrap="square" lIns="0" tIns="0" rIns="0" bIns="0" rtlCol="0" anchor="ctr"/>
          <a:lstStyle/>
          <a:p>
            <a:pPr marL="0" indent="0">
              <a:buNone/>
            </a:pPr>
            <a:r>
              <a:rPr lang="en-US" sz="1150" b="1" dirty="0">
                <a:solidFill>
                  <a:srgbClr val="FCD34D"/>
                </a:solidFill>
                <a:latin typeface="Calibri" panose="020F0502020204030204" pitchFamily="34" charset="0"/>
                <a:ea typeface="Calibri" panose="020F0502020204030204" pitchFamily="34" charset="-122"/>
                <a:cs typeface="Calibri" panose="020F0502020204030204" pitchFamily="34" charset="-120"/>
              </a:rPr>
              <a:t>Form Events:</a:t>
            </a:r>
            <a:endParaRPr lang="en-US" sz="1150" dirty="0"/>
          </a:p>
        </p:txBody>
      </p:sp>
      <p:sp>
        <p:nvSpPr>
          <p:cNvPr id="18" name="Text 16"/>
          <p:cNvSpPr/>
          <p:nvPr/>
        </p:nvSpPr>
        <p:spPr>
          <a:xfrm>
            <a:off x="2194560" y="4014216"/>
            <a:ext cx="6492240" cy="292608"/>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submit, change, input, focus, blur, reset</a:t>
            </a:r>
            <a:endParaRPr lang="en-US" sz="1100" dirty="0"/>
          </a:p>
        </p:txBody>
      </p:sp>
      <p:sp>
        <p:nvSpPr>
          <p:cNvPr id="19" name="Shape 17"/>
          <p:cNvSpPr/>
          <p:nvPr/>
        </p:nvSpPr>
        <p:spPr>
          <a:xfrm>
            <a:off x="365760" y="4325112"/>
            <a:ext cx="8412480" cy="329184"/>
          </a:xfrm>
          <a:prstGeom prst="rect">
            <a:avLst/>
          </a:prstGeom>
          <a:solidFill>
            <a:srgbClr val="1E3A5F"/>
          </a:solidFill>
          <a:ln w="12700">
            <a:solidFill>
              <a:srgbClr val="1A2535"/>
            </a:solidFill>
            <a:prstDash val="solid"/>
          </a:ln>
        </p:spPr>
      </p:sp>
      <p:sp>
        <p:nvSpPr>
          <p:cNvPr id="20" name="Text 18"/>
          <p:cNvSpPr/>
          <p:nvPr/>
        </p:nvSpPr>
        <p:spPr>
          <a:xfrm>
            <a:off x="502920" y="4343400"/>
            <a:ext cx="1645920" cy="292608"/>
          </a:xfrm>
          <a:prstGeom prst="rect">
            <a:avLst/>
          </a:prstGeom>
          <a:noFill/>
        </p:spPr>
        <p:txBody>
          <a:bodyPr wrap="square" lIns="0" tIns="0" rIns="0" bIns="0" rtlCol="0" anchor="ctr"/>
          <a:lstStyle/>
          <a:p>
            <a:pPr marL="0" indent="0">
              <a:buNone/>
            </a:pPr>
            <a:r>
              <a:rPr lang="en-US" sz="1150" b="1" dirty="0">
                <a:solidFill>
                  <a:srgbClr val="FCD34D"/>
                </a:solidFill>
                <a:latin typeface="Calibri" panose="020F0502020204030204" pitchFamily="34" charset="0"/>
                <a:ea typeface="Calibri" panose="020F0502020204030204" pitchFamily="34" charset="-122"/>
                <a:cs typeface="Calibri" panose="020F0502020204030204" pitchFamily="34" charset="-120"/>
              </a:rPr>
              <a:t>Window Events:</a:t>
            </a:r>
            <a:endParaRPr lang="en-US" sz="1150" dirty="0"/>
          </a:p>
        </p:txBody>
      </p:sp>
      <p:sp>
        <p:nvSpPr>
          <p:cNvPr id="21" name="Text 19"/>
          <p:cNvSpPr/>
          <p:nvPr/>
        </p:nvSpPr>
        <p:spPr>
          <a:xfrm>
            <a:off x="2194560" y="4343400"/>
            <a:ext cx="6492240" cy="292608"/>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load, resize, scroll, unload, DOMContentLoaded</a:t>
            </a:r>
            <a:endParaRPr lang="en-US" sz="1100" dirty="0"/>
          </a:p>
        </p:txBody>
      </p:sp>
      <p:sp>
        <p:nvSpPr>
          <p:cNvPr id="22" name="Shape 20"/>
          <p:cNvSpPr/>
          <p:nvPr/>
        </p:nvSpPr>
        <p:spPr>
          <a:xfrm>
            <a:off x="365760" y="4654296"/>
            <a:ext cx="8412480" cy="329184"/>
          </a:xfrm>
          <a:prstGeom prst="rect">
            <a:avLst/>
          </a:prstGeom>
          <a:solidFill>
            <a:srgbClr val="1E293B"/>
          </a:solidFill>
          <a:ln w="12700">
            <a:solidFill>
              <a:srgbClr val="1A2535"/>
            </a:solidFill>
            <a:prstDash val="solid"/>
          </a:ln>
        </p:spPr>
      </p:sp>
      <p:sp>
        <p:nvSpPr>
          <p:cNvPr id="23" name="Text 21"/>
          <p:cNvSpPr/>
          <p:nvPr/>
        </p:nvSpPr>
        <p:spPr>
          <a:xfrm>
            <a:off x="502920" y="4672584"/>
            <a:ext cx="1645920" cy="292608"/>
          </a:xfrm>
          <a:prstGeom prst="rect">
            <a:avLst/>
          </a:prstGeom>
          <a:noFill/>
        </p:spPr>
        <p:txBody>
          <a:bodyPr wrap="square" lIns="0" tIns="0" rIns="0" bIns="0" rtlCol="0" anchor="ctr"/>
          <a:lstStyle/>
          <a:p>
            <a:pPr marL="0" indent="0">
              <a:buNone/>
            </a:pPr>
            <a:r>
              <a:rPr lang="en-US" sz="1150" b="1" dirty="0">
                <a:solidFill>
                  <a:srgbClr val="FCD34D"/>
                </a:solidFill>
                <a:latin typeface="Calibri" panose="020F0502020204030204" pitchFamily="34" charset="0"/>
                <a:ea typeface="Calibri" panose="020F0502020204030204" pitchFamily="34" charset="-122"/>
                <a:cs typeface="Calibri" panose="020F0502020204030204" pitchFamily="34" charset="-120"/>
              </a:rPr>
              <a:t>Drag Events:</a:t>
            </a:r>
            <a:endParaRPr lang="en-US" sz="1150" dirty="0"/>
          </a:p>
        </p:txBody>
      </p:sp>
      <p:sp>
        <p:nvSpPr>
          <p:cNvPr id="24" name="Text 22"/>
          <p:cNvSpPr/>
          <p:nvPr/>
        </p:nvSpPr>
        <p:spPr>
          <a:xfrm>
            <a:off x="2194560" y="4672584"/>
            <a:ext cx="6492240" cy="292608"/>
          </a:xfrm>
          <a:prstGeom prst="rect">
            <a:avLst/>
          </a:prstGeom>
          <a:noFill/>
        </p:spPr>
        <p:txBody>
          <a:bodyPr wrap="square" lIns="0" tIns="0" rIns="0" bIns="0" rtlCol="0" anchor="ctr"/>
          <a:lstStyle/>
          <a:p>
            <a:pPr marL="0" indent="0">
              <a:buNone/>
            </a:pPr>
            <a:r>
              <a:rPr lang="en-US" sz="1100" dirty="0">
                <a:solidFill>
                  <a:srgbClr val="F8FAFC"/>
                </a:solidFill>
                <a:latin typeface="Consolas" panose="020B0609020204030204" pitchFamily="34" charset="0"/>
                <a:ea typeface="Consolas" panose="020B0609020204030204" pitchFamily="34" charset="-122"/>
                <a:cs typeface="Consolas" panose="020B0609020204030204" pitchFamily="34" charset="-120"/>
              </a:rPr>
              <a:t>drag, dragstart, dragend, drop</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D1B4E"/>
          </a:solidFill>
          <a:ln w="12700">
            <a:solidFill>
              <a:srgbClr val="2D1B4E"/>
            </a:solidFill>
            <a:prstDash val="solid"/>
          </a:ln>
        </p:spPr>
      </p:sp>
      <p:pic>
        <p:nvPicPr>
          <p:cNvPr id="3" name="Image 0" descr="preencoded.png"/>
          <p:cNvPicPr>
            <a:picLocks noChangeAspect="1"/>
          </p:cNvPicPr>
          <p:nvPr/>
        </p:nvPicPr>
        <p:blipFill>
          <a:blip r:embed="rId1"/>
          <a:stretch>
            <a:fillRect/>
          </a:stretch>
        </p:blipFill>
        <p:spPr>
          <a:xfrm>
            <a:off x="320040" y="91440"/>
            <a:ext cx="320040" cy="320040"/>
          </a:xfrm>
          <a:prstGeom prst="rect">
            <a:avLst/>
          </a:prstGeom>
        </p:spPr>
      </p:pic>
      <p:sp>
        <p:nvSpPr>
          <p:cNvPr id="4" name="Text 1"/>
          <p:cNvSpPr/>
          <p:nvPr/>
        </p:nvSpPr>
        <p:spPr>
          <a:xfrm>
            <a:off x="731520" y="73152"/>
            <a:ext cx="8229600" cy="384048"/>
          </a:xfrm>
          <a:prstGeom prst="rect">
            <a:avLst/>
          </a:prstGeom>
          <a:noFill/>
        </p:spPr>
        <p:txBody>
          <a:bodyPr wrap="square" lIns="0" tIns="0" rIns="0" bIns="0" rtlCol="0" anchor="ctr"/>
          <a:lstStyle/>
          <a:p>
            <a:pPr marL="0" indent="0">
              <a:buNone/>
            </a:pPr>
            <a:r>
              <a:rPr lang="en-US" sz="2000" b="1" kern="0" spc="200" dirty="0">
                <a:solidFill>
                  <a:srgbClr val="F8FAFC"/>
                </a:solidFill>
                <a:latin typeface="Calibri" panose="020F0502020204030204" pitchFamily="34" charset="0"/>
                <a:ea typeface="Calibri" panose="020F0502020204030204" pitchFamily="34" charset="-122"/>
                <a:cs typeface="Calibri" panose="020F0502020204030204" pitchFamily="34" charset="-120"/>
              </a:rPr>
              <a:t>SECTION 3 — CLASSLIST API</a:t>
            </a:r>
            <a:endParaRPr lang="en-US" sz="2000" dirty="0"/>
          </a:p>
        </p:txBody>
      </p:sp>
      <p:sp>
        <p:nvSpPr>
          <p:cNvPr id="5" name="Text 2"/>
          <p:cNvSpPr/>
          <p:nvPr/>
        </p:nvSpPr>
        <p:spPr>
          <a:xfrm>
            <a:off x="365760" y="640080"/>
            <a:ext cx="8412480" cy="384048"/>
          </a:xfrm>
          <a:prstGeom prst="rect">
            <a:avLst/>
          </a:prstGeom>
          <a:noFill/>
        </p:spPr>
        <p:txBody>
          <a:bodyPr wrap="square" lIns="0" tIns="0" rIns="0" bIns="0" rtlCol="0" anchor="ctr"/>
          <a:lstStyle/>
          <a:p>
            <a:pPr marL="0" indent="0">
              <a:buNone/>
            </a:pPr>
            <a:r>
              <a:rPr lang="en-US" sz="1700" i="1" dirty="0">
                <a:solidFill>
                  <a:srgbClr val="B57BF6"/>
                </a:solidFill>
                <a:latin typeface="Calibri" panose="020F0502020204030204" pitchFamily="34" charset="0"/>
                <a:ea typeface="Calibri" panose="020F0502020204030204" pitchFamily="34" charset="-122"/>
                <a:cs typeface="Calibri" panose="020F0502020204030204" pitchFamily="34" charset="-120"/>
              </a:rPr>
              <a:t>The Modern Way to Manage CSS Classes in JavaScript</a:t>
            </a:r>
            <a:endParaRPr lang="en-US" sz="1700" dirty="0"/>
          </a:p>
        </p:txBody>
      </p:sp>
      <p:sp>
        <p:nvSpPr>
          <p:cNvPr id="6" name="Shape 3"/>
          <p:cNvSpPr/>
          <p:nvPr/>
        </p:nvSpPr>
        <p:spPr>
          <a:xfrm>
            <a:off x="365760" y="1097280"/>
            <a:ext cx="8412480" cy="777240"/>
          </a:xfrm>
          <a:prstGeom prst="rect">
            <a:avLst/>
          </a:prstGeom>
          <a:solidFill>
            <a:srgbClr val="1E293B"/>
          </a:solidFill>
          <a:ln w="12700">
            <a:solidFill>
              <a:srgbClr val="1E3A5F"/>
            </a:solidFill>
            <a:prstDash val="solid"/>
          </a:ln>
        </p:spPr>
      </p:sp>
      <p:sp>
        <p:nvSpPr>
          <p:cNvPr id="7" name="Text 4"/>
          <p:cNvSpPr/>
          <p:nvPr/>
        </p:nvSpPr>
        <p:spPr>
          <a:xfrm>
            <a:off x="594360" y="1170432"/>
            <a:ext cx="3657600" cy="256032"/>
          </a:xfrm>
          <a:prstGeom prst="rect">
            <a:avLst/>
          </a:prstGeom>
          <a:noFill/>
        </p:spPr>
        <p:txBody>
          <a:bodyPr wrap="square" lIns="0" tIns="0" rIns="0" bIns="0" rtlCol="0" anchor="ctr"/>
          <a:lstStyle/>
          <a:p>
            <a:pPr marL="0" indent="0">
              <a:buNone/>
            </a:pPr>
            <a:r>
              <a:rPr lang="en-US" sz="1300" b="1" dirty="0">
                <a:solidFill>
                  <a:srgbClr val="B57BF6"/>
                </a:solidFill>
                <a:latin typeface="Calibri" panose="020F0502020204030204" pitchFamily="34" charset="0"/>
                <a:ea typeface="Calibri" panose="020F0502020204030204" pitchFamily="34" charset="-122"/>
                <a:cs typeface="Calibri" panose="020F0502020204030204" pitchFamily="34" charset="-120"/>
              </a:rPr>
              <a:t>What is classList?</a:t>
            </a:r>
            <a:endParaRPr lang="en-US" sz="1300" dirty="0"/>
          </a:p>
        </p:txBody>
      </p:sp>
      <p:sp>
        <p:nvSpPr>
          <p:cNvPr id="8" name="Text 5"/>
          <p:cNvSpPr/>
          <p:nvPr/>
        </p:nvSpPr>
        <p:spPr>
          <a:xfrm>
            <a:off x="594360" y="1444752"/>
            <a:ext cx="7955280" cy="365760"/>
          </a:xfrm>
          <a:prstGeom prst="rect">
            <a:avLst/>
          </a:prstGeom>
          <a:noFill/>
        </p:spPr>
        <p:txBody>
          <a:bodyPr wrap="square" lIns="0" tIns="0" rIns="0" bIns="0" rtlCol="0" anchor="ctr"/>
          <a:lstStyle/>
          <a:p>
            <a:pPr marL="0" indent="0">
              <a:buNone/>
            </a:pPr>
            <a:r>
              <a:rPr lang="en-US" sz="1250" dirty="0">
                <a:solidFill>
                  <a:srgbClr val="F8FAFC"/>
                </a:solidFill>
                <a:latin typeface="Calibri" panose="020F0502020204030204" pitchFamily="34" charset="0"/>
                <a:ea typeface="Calibri" panose="020F0502020204030204" pitchFamily="34" charset="-122"/>
                <a:cs typeface="Calibri" panose="020F0502020204030204" pitchFamily="34" charset="-120"/>
              </a:rPr>
              <a:t>classList is a read-only property that returns a live DOMTokenList collection of the class attributes of an element. It provides convenient methods to add, remove, toggle, and check CSS classes — without having to manually edit the className string.</a:t>
            </a:r>
            <a:endParaRPr lang="en-US" sz="1250" dirty="0"/>
          </a:p>
        </p:txBody>
      </p:sp>
      <p:sp>
        <p:nvSpPr>
          <p:cNvPr id="9" name="Text 6"/>
          <p:cNvSpPr/>
          <p:nvPr/>
        </p:nvSpPr>
        <p:spPr>
          <a:xfrm>
            <a:off x="365760" y="1993392"/>
            <a:ext cx="4023360" cy="274320"/>
          </a:xfrm>
          <a:prstGeom prst="rect">
            <a:avLst/>
          </a:prstGeom>
          <a:noFill/>
        </p:spPr>
        <p:txBody>
          <a:bodyPr wrap="square" lIns="0" tIns="0" rIns="0" bIns="0" rtlCol="0" anchor="ctr"/>
          <a:lstStyle/>
          <a:p>
            <a:pPr marL="0" indent="0">
              <a:buNone/>
            </a:pPr>
            <a:r>
              <a:rPr lang="en-US" sz="1300" b="1" dirty="0">
                <a:solidFill>
                  <a:srgbClr val="F59E0B"/>
                </a:solidFill>
                <a:latin typeface="Calibri" panose="020F0502020204030204" pitchFamily="34" charset="0"/>
                <a:ea typeface="Calibri" panose="020F0502020204030204" pitchFamily="34" charset="-122"/>
                <a:cs typeface="Calibri" panose="020F0502020204030204" pitchFamily="34" charset="-120"/>
              </a:rPr>
              <a:t>Old Way (error-prone):</a:t>
            </a:r>
            <a:endParaRPr lang="en-US" sz="1300" dirty="0"/>
          </a:p>
        </p:txBody>
      </p:sp>
      <p:sp>
        <p:nvSpPr>
          <p:cNvPr id="10" name="Text 7"/>
          <p:cNvSpPr/>
          <p:nvPr/>
        </p:nvSpPr>
        <p:spPr>
          <a:xfrm>
            <a:off x="4754880" y="1993392"/>
            <a:ext cx="4023360" cy="274320"/>
          </a:xfrm>
          <a:prstGeom prst="rect">
            <a:avLst/>
          </a:prstGeom>
          <a:noFill/>
        </p:spPr>
        <p:txBody>
          <a:bodyPr wrap="square" lIns="0" tIns="0" rIns="0" bIns="0" rtlCol="0" anchor="ctr"/>
          <a:lstStyle/>
          <a:p>
            <a:pPr marL="0" indent="0">
              <a:buNone/>
            </a:pPr>
            <a:r>
              <a:rPr lang="en-US" sz="1300" b="1" dirty="0">
                <a:solidFill>
                  <a:srgbClr val="B57BF6"/>
                </a:solidFill>
                <a:latin typeface="Calibri" panose="020F0502020204030204" pitchFamily="34" charset="0"/>
                <a:ea typeface="Calibri" panose="020F0502020204030204" pitchFamily="34" charset="-122"/>
                <a:cs typeface="Calibri" panose="020F0502020204030204" pitchFamily="34" charset="-120"/>
              </a:rPr>
              <a:t>Modern Way (classList):</a:t>
            </a:r>
            <a:endParaRPr lang="en-US" sz="1300" dirty="0"/>
          </a:p>
        </p:txBody>
      </p:sp>
      <p:sp>
        <p:nvSpPr>
          <p:cNvPr id="11" name="Shape 8"/>
          <p:cNvSpPr/>
          <p:nvPr/>
        </p:nvSpPr>
        <p:spPr>
          <a:xfrm>
            <a:off x="365760" y="2304288"/>
            <a:ext cx="4114800" cy="1097280"/>
          </a:xfrm>
          <a:prstGeom prst="rect">
            <a:avLst/>
          </a:prstGeom>
          <a:solidFill>
            <a:srgbClr val="0D1117"/>
          </a:solidFill>
          <a:ln w="12700">
            <a:solidFill>
              <a:srgbClr val="F59E0B"/>
            </a:solidFill>
            <a:prstDash val="solid"/>
          </a:ln>
        </p:spPr>
      </p:sp>
      <p:sp>
        <p:nvSpPr>
          <p:cNvPr id="12" name="Text 9"/>
          <p:cNvSpPr/>
          <p:nvPr/>
        </p:nvSpPr>
        <p:spPr>
          <a:xfrm>
            <a:off x="502920" y="2350008"/>
            <a:ext cx="3886200" cy="1005840"/>
          </a:xfrm>
          <a:prstGeom prst="rect">
            <a:avLst/>
          </a:prstGeom>
          <a:noFill/>
        </p:spPr>
        <p:txBody>
          <a:bodyPr wrap="square" lIns="0" tIns="0" rIns="0" bIns="0" rtlCol="0" anchor="ctr"/>
          <a:lstStyle/>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 Manually editing className string</a:t>
            </a:r>
            <a:endParaRPr lang="en-US" sz="1100" dirty="0"/>
          </a:p>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let el = document.getElementById('box');</a:t>
            </a:r>
            <a:endParaRPr lang="en-US" sz="1100" dirty="0"/>
          </a:p>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el.className += ' active';</a:t>
            </a:r>
            <a:endParaRPr lang="en-US" sz="1100" dirty="0"/>
          </a:p>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 Bug risk: extra spaces, duplicates</a:t>
            </a:r>
            <a:endParaRPr lang="en-US" sz="1100" dirty="0"/>
          </a:p>
        </p:txBody>
      </p:sp>
      <p:sp>
        <p:nvSpPr>
          <p:cNvPr id="13" name="Shape 10"/>
          <p:cNvSpPr/>
          <p:nvPr/>
        </p:nvSpPr>
        <p:spPr>
          <a:xfrm>
            <a:off x="4754880" y="2304288"/>
            <a:ext cx="4114800" cy="1097280"/>
          </a:xfrm>
          <a:prstGeom prst="rect">
            <a:avLst/>
          </a:prstGeom>
          <a:solidFill>
            <a:srgbClr val="0D1117"/>
          </a:solidFill>
          <a:ln w="12700">
            <a:solidFill>
              <a:srgbClr val="B57BF6"/>
            </a:solidFill>
            <a:prstDash val="solid"/>
          </a:ln>
        </p:spPr>
      </p:sp>
      <p:sp>
        <p:nvSpPr>
          <p:cNvPr id="14" name="Text 11"/>
          <p:cNvSpPr/>
          <p:nvPr/>
        </p:nvSpPr>
        <p:spPr>
          <a:xfrm>
            <a:off x="4892040" y="2350008"/>
            <a:ext cx="3886200" cy="1005840"/>
          </a:xfrm>
          <a:prstGeom prst="rect">
            <a:avLst/>
          </a:prstGeom>
          <a:noFill/>
        </p:spPr>
        <p:txBody>
          <a:bodyPr wrap="square" lIns="0" tIns="0" rIns="0" bIns="0" rtlCol="0" anchor="ctr"/>
          <a:lstStyle/>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 Using classList — clean &amp; safe</a:t>
            </a:r>
            <a:endParaRPr lang="en-US" sz="1100" dirty="0"/>
          </a:p>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let el = document.getElementById('box');</a:t>
            </a:r>
            <a:endParaRPr lang="en-US" sz="1100" dirty="0"/>
          </a:p>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el.classList.add('active');</a:t>
            </a:r>
            <a:endParaRPr lang="en-US" sz="1100" dirty="0"/>
          </a:p>
          <a:p>
            <a:pPr marL="0" indent="0">
              <a:buNone/>
            </a:pPr>
            <a:r>
              <a:rPr lang="en-US" sz="1100" dirty="0">
                <a:solidFill>
                  <a:srgbClr val="A5F3FC"/>
                </a:solidFill>
                <a:latin typeface="Consolas" panose="020B0609020204030204" pitchFamily="34" charset="0"/>
                <a:ea typeface="Consolas" panose="020B0609020204030204" pitchFamily="34" charset="-122"/>
                <a:cs typeface="Consolas" panose="020B0609020204030204" pitchFamily="34" charset="-120"/>
              </a:rPr>
              <a:t>// No duplicates, no string bugs!</a:t>
            </a:r>
            <a:endParaRPr lang="en-US" sz="1100" dirty="0"/>
          </a:p>
        </p:txBody>
      </p:sp>
      <p:sp>
        <p:nvSpPr>
          <p:cNvPr id="15" name="Text 12"/>
          <p:cNvSpPr/>
          <p:nvPr/>
        </p:nvSpPr>
        <p:spPr>
          <a:xfrm>
            <a:off x="365760" y="3520440"/>
            <a:ext cx="8229600" cy="274320"/>
          </a:xfrm>
          <a:prstGeom prst="rect">
            <a:avLst/>
          </a:prstGeom>
          <a:noFill/>
        </p:spPr>
        <p:txBody>
          <a:bodyPr wrap="square" lIns="0" tIns="0" rIns="0" bIns="0" rtlCol="0" anchor="ctr"/>
          <a:lstStyle/>
          <a:p>
            <a:pPr marL="0" indent="0">
              <a:buNone/>
            </a:pPr>
            <a:r>
              <a:rPr lang="en-US" sz="1300" b="1" dirty="0">
                <a:solidFill>
                  <a:srgbClr val="B57BF6"/>
                </a:solidFill>
                <a:latin typeface="Calibri" panose="020F0502020204030204" pitchFamily="34" charset="0"/>
                <a:ea typeface="Calibri" panose="020F0502020204030204" pitchFamily="34" charset="-122"/>
                <a:cs typeface="Calibri" panose="020F0502020204030204" pitchFamily="34" charset="-120"/>
              </a:rPr>
              <a:t>classList Methods at a Glance:</a:t>
            </a:r>
            <a:endParaRPr lang="en-US" sz="1300" dirty="0"/>
          </a:p>
        </p:txBody>
      </p:sp>
      <p:sp>
        <p:nvSpPr>
          <p:cNvPr id="16" name="Shape 13"/>
          <p:cNvSpPr/>
          <p:nvPr/>
        </p:nvSpPr>
        <p:spPr>
          <a:xfrm>
            <a:off x="365760" y="3858768"/>
            <a:ext cx="2011680" cy="347472"/>
          </a:xfrm>
          <a:prstGeom prst="roundRect">
            <a:avLst>
              <a:gd name="adj" fmla="val 15789"/>
            </a:avLst>
          </a:prstGeom>
          <a:solidFill>
            <a:srgbClr val="2D1B4E"/>
          </a:solidFill>
          <a:ln w="12700">
            <a:solidFill>
              <a:srgbClr val="B57BF6"/>
            </a:solidFill>
            <a:prstDash val="solid"/>
          </a:ln>
        </p:spPr>
      </p:sp>
      <p:sp>
        <p:nvSpPr>
          <p:cNvPr id="17" name="Text 14"/>
          <p:cNvSpPr/>
          <p:nvPr/>
        </p:nvSpPr>
        <p:spPr>
          <a:xfrm>
            <a:off x="365760" y="3858768"/>
            <a:ext cx="2011680" cy="347472"/>
          </a:xfrm>
          <a:prstGeom prst="rect">
            <a:avLst/>
          </a:prstGeom>
          <a:noFill/>
        </p:spPr>
        <p:txBody>
          <a:bodyPr wrap="square" lIns="0" tIns="0" rIns="0" bIns="0" rtlCol="0" anchor="ctr"/>
          <a:lstStyle/>
          <a:p>
            <a:pPr marL="0" indent="0" algn="ctr">
              <a:buNone/>
            </a:pPr>
            <a:r>
              <a:rPr lang="en-US" sz="1300" b="1" dirty="0">
                <a:solidFill>
                  <a:srgbClr val="B57BF6"/>
                </a:solidFill>
                <a:latin typeface="Consolas" panose="020B0609020204030204" pitchFamily="34" charset="0"/>
                <a:ea typeface="Consolas" panose="020B0609020204030204" pitchFamily="34" charset="-122"/>
                <a:cs typeface="Consolas" panose="020B0609020204030204" pitchFamily="34" charset="-120"/>
              </a:rPr>
              <a:t>add()</a:t>
            </a:r>
            <a:endParaRPr lang="en-US" sz="1300" dirty="0"/>
          </a:p>
        </p:txBody>
      </p:sp>
      <p:sp>
        <p:nvSpPr>
          <p:cNvPr id="18" name="Shape 15"/>
          <p:cNvSpPr/>
          <p:nvPr/>
        </p:nvSpPr>
        <p:spPr>
          <a:xfrm>
            <a:off x="2514600" y="3858768"/>
            <a:ext cx="2011680" cy="347472"/>
          </a:xfrm>
          <a:prstGeom prst="roundRect">
            <a:avLst>
              <a:gd name="adj" fmla="val 15789"/>
            </a:avLst>
          </a:prstGeom>
          <a:solidFill>
            <a:srgbClr val="2D1B4E"/>
          </a:solidFill>
          <a:ln w="12700">
            <a:solidFill>
              <a:srgbClr val="B57BF6"/>
            </a:solidFill>
            <a:prstDash val="solid"/>
          </a:ln>
        </p:spPr>
      </p:sp>
      <p:sp>
        <p:nvSpPr>
          <p:cNvPr id="19" name="Text 16"/>
          <p:cNvSpPr/>
          <p:nvPr/>
        </p:nvSpPr>
        <p:spPr>
          <a:xfrm>
            <a:off x="2514600" y="3858768"/>
            <a:ext cx="2011680" cy="347472"/>
          </a:xfrm>
          <a:prstGeom prst="rect">
            <a:avLst/>
          </a:prstGeom>
          <a:noFill/>
        </p:spPr>
        <p:txBody>
          <a:bodyPr wrap="square" lIns="0" tIns="0" rIns="0" bIns="0" rtlCol="0" anchor="ctr"/>
          <a:lstStyle/>
          <a:p>
            <a:pPr marL="0" indent="0" algn="ctr">
              <a:buNone/>
            </a:pPr>
            <a:r>
              <a:rPr lang="en-US" sz="1300" b="1" dirty="0">
                <a:solidFill>
                  <a:srgbClr val="B57BF6"/>
                </a:solidFill>
                <a:latin typeface="Consolas" panose="020B0609020204030204" pitchFamily="34" charset="0"/>
                <a:ea typeface="Consolas" panose="020B0609020204030204" pitchFamily="34" charset="-122"/>
                <a:cs typeface="Consolas" panose="020B0609020204030204" pitchFamily="34" charset="-120"/>
              </a:rPr>
              <a:t>remove()</a:t>
            </a:r>
            <a:endParaRPr lang="en-US" sz="1300" dirty="0"/>
          </a:p>
        </p:txBody>
      </p:sp>
      <p:sp>
        <p:nvSpPr>
          <p:cNvPr id="20" name="Shape 17"/>
          <p:cNvSpPr/>
          <p:nvPr/>
        </p:nvSpPr>
        <p:spPr>
          <a:xfrm>
            <a:off x="4663440" y="3858768"/>
            <a:ext cx="2011680" cy="347472"/>
          </a:xfrm>
          <a:prstGeom prst="roundRect">
            <a:avLst>
              <a:gd name="adj" fmla="val 15789"/>
            </a:avLst>
          </a:prstGeom>
          <a:solidFill>
            <a:srgbClr val="2D1B4E"/>
          </a:solidFill>
          <a:ln w="12700">
            <a:solidFill>
              <a:srgbClr val="B57BF6"/>
            </a:solidFill>
            <a:prstDash val="solid"/>
          </a:ln>
        </p:spPr>
      </p:sp>
      <p:sp>
        <p:nvSpPr>
          <p:cNvPr id="21" name="Text 18"/>
          <p:cNvSpPr/>
          <p:nvPr/>
        </p:nvSpPr>
        <p:spPr>
          <a:xfrm>
            <a:off x="4663440" y="3858768"/>
            <a:ext cx="2011680" cy="347472"/>
          </a:xfrm>
          <a:prstGeom prst="rect">
            <a:avLst/>
          </a:prstGeom>
          <a:noFill/>
        </p:spPr>
        <p:txBody>
          <a:bodyPr wrap="square" lIns="0" tIns="0" rIns="0" bIns="0" rtlCol="0" anchor="ctr"/>
          <a:lstStyle/>
          <a:p>
            <a:pPr marL="0" indent="0" algn="ctr">
              <a:buNone/>
            </a:pPr>
            <a:r>
              <a:rPr lang="en-US" sz="1300" b="1" dirty="0">
                <a:solidFill>
                  <a:srgbClr val="B57BF6"/>
                </a:solidFill>
                <a:latin typeface="Consolas" panose="020B0609020204030204" pitchFamily="34" charset="0"/>
                <a:ea typeface="Consolas" panose="020B0609020204030204" pitchFamily="34" charset="-122"/>
                <a:cs typeface="Consolas" panose="020B0609020204030204" pitchFamily="34" charset="-120"/>
              </a:rPr>
              <a:t>toggle()</a:t>
            </a:r>
            <a:endParaRPr lang="en-US" sz="1300" dirty="0"/>
          </a:p>
        </p:txBody>
      </p:sp>
      <p:sp>
        <p:nvSpPr>
          <p:cNvPr id="22" name="Shape 19"/>
          <p:cNvSpPr/>
          <p:nvPr/>
        </p:nvSpPr>
        <p:spPr>
          <a:xfrm>
            <a:off x="6812280" y="3858768"/>
            <a:ext cx="2011680" cy="347472"/>
          </a:xfrm>
          <a:prstGeom prst="roundRect">
            <a:avLst>
              <a:gd name="adj" fmla="val 15789"/>
            </a:avLst>
          </a:prstGeom>
          <a:solidFill>
            <a:srgbClr val="2D1B4E"/>
          </a:solidFill>
          <a:ln w="12700">
            <a:solidFill>
              <a:srgbClr val="B57BF6"/>
            </a:solidFill>
            <a:prstDash val="solid"/>
          </a:ln>
        </p:spPr>
      </p:sp>
      <p:sp>
        <p:nvSpPr>
          <p:cNvPr id="23" name="Text 20"/>
          <p:cNvSpPr/>
          <p:nvPr/>
        </p:nvSpPr>
        <p:spPr>
          <a:xfrm>
            <a:off x="6812280" y="3858768"/>
            <a:ext cx="2011680" cy="347472"/>
          </a:xfrm>
          <a:prstGeom prst="rect">
            <a:avLst/>
          </a:prstGeom>
          <a:noFill/>
        </p:spPr>
        <p:txBody>
          <a:bodyPr wrap="square" lIns="0" tIns="0" rIns="0" bIns="0" rtlCol="0" anchor="ctr"/>
          <a:lstStyle/>
          <a:p>
            <a:pPr marL="0" indent="0" algn="ctr">
              <a:buNone/>
            </a:pPr>
            <a:r>
              <a:rPr lang="en-US" sz="1300" b="1" dirty="0">
                <a:solidFill>
                  <a:srgbClr val="B57BF6"/>
                </a:solidFill>
                <a:latin typeface="Consolas" panose="020B0609020204030204" pitchFamily="34" charset="0"/>
                <a:ea typeface="Consolas" panose="020B0609020204030204" pitchFamily="34" charset="-122"/>
                <a:cs typeface="Consolas" panose="020B0609020204030204" pitchFamily="34" charset="-120"/>
              </a:rPr>
              <a:t>contains()</a:t>
            </a:r>
            <a:endParaRPr lang="en-US" sz="1300" dirty="0"/>
          </a:p>
        </p:txBody>
      </p:sp>
      <p:sp>
        <p:nvSpPr>
          <p:cNvPr id="24" name="Shape 21"/>
          <p:cNvSpPr/>
          <p:nvPr/>
        </p:nvSpPr>
        <p:spPr>
          <a:xfrm>
            <a:off x="365760" y="4297680"/>
            <a:ext cx="2011680" cy="347472"/>
          </a:xfrm>
          <a:prstGeom prst="roundRect">
            <a:avLst>
              <a:gd name="adj" fmla="val 15789"/>
            </a:avLst>
          </a:prstGeom>
          <a:solidFill>
            <a:srgbClr val="2D1B4E"/>
          </a:solidFill>
          <a:ln w="12700">
            <a:solidFill>
              <a:srgbClr val="B57BF6"/>
            </a:solidFill>
            <a:prstDash val="solid"/>
          </a:ln>
        </p:spPr>
      </p:sp>
      <p:sp>
        <p:nvSpPr>
          <p:cNvPr id="25" name="Text 22"/>
          <p:cNvSpPr/>
          <p:nvPr/>
        </p:nvSpPr>
        <p:spPr>
          <a:xfrm>
            <a:off x="365760" y="4297680"/>
            <a:ext cx="2011680" cy="347472"/>
          </a:xfrm>
          <a:prstGeom prst="rect">
            <a:avLst/>
          </a:prstGeom>
          <a:noFill/>
        </p:spPr>
        <p:txBody>
          <a:bodyPr wrap="square" lIns="0" tIns="0" rIns="0" bIns="0" rtlCol="0" anchor="ctr"/>
          <a:lstStyle/>
          <a:p>
            <a:pPr marL="0" indent="0" algn="ctr">
              <a:buNone/>
            </a:pPr>
            <a:r>
              <a:rPr lang="en-US" sz="1300" b="1" dirty="0">
                <a:solidFill>
                  <a:srgbClr val="B57BF6"/>
                </a:solidFill>
                <a:latin typeface="Consolas" panose="020B0609020204030204" pitchFamily="34" charset="0"/>
                <a:ea typeface="Consolas" panose="020B0609020204030204" pitchFamily="34" charset="-122"/>
                <a:cs typeface="Consolas" panose="020B0609020204030204" pitchFamily="34" charset="-120"/>
              </a:rPr>
              <a:t>replace()</a:t>
            </a:r>
            <a:endParaRPr lang="en-US" sz="1300" dirty="0"/>
          </a:p>
        </p:txBody>
      </p:sp>
      <p:sp>
        <p:nvSpPr>
          <p:cNvPr id="26" name="Shape 23"/>
          <p:cNvSpPr/>
          <p:nvPr/>
        </p:nvSpPr>
        <p:spPr>
          <a:xfrm>
            <a:off x="2514600" y="4297680"/>
            <a:ext cx="2011680" cy="347472"/>
          </a:xfrm>
          <a:prstGeom prst="roundRect">
            <a:avLst>
              <a:gd name="adj" fmla="val 15789"/>
            </a:avLst>
          </a:prstGeom>
          <a:solidFill>
            <a:srgbClr val="2D1B4E"/>
          </a:solidFill>
          <a:ln w="12700">
            <a:solidFill>
              <a:srgbClr val="B57BF6"/>
            </a:solidFill>
            <a:prstDash val="solid"/>
          </a:ln>
        </p:spPr>
      </p:sp>
      <p:sp>
        <p:nvSpPr>
          <p:cNvPr id="27" name="Text 24"/>
          <p:cNvSpPr/>
          <p:nvPr/>
        </p:nvSpPr>
        <p:spPr>
          <a:xfrm>
            <a:off x="2514600" y="4297680"/>
            <a:ext cx="2011680" cy="347472"/>
          </a:xfrm>
          <a:prstGeom prst="rect">
            <a:avLst/>
          </a:prstGeom>
          <a:noFill/>
        </p:spPr>
        <p:txBody>
          <a:bodyPr wrap="square" lIns="0" tIns="0" rIns="0" bIns="0" rtlCol="0" anchor="ctr"/>
          <a:lstStyle/>
          <a:p>
            <a:pPr marL="0" indent="0" algn="ctr">
              <a:buNone/>
            </a:pPr>
            <a:r>
              <a:rPr lang="en-US" sz="1300" b="1" dirty="0">
                <a:solidFill>
                  <a:srgbClr val="B57BF6"/>
                </a:solidFill>
                <a:latin typeface="Consolas" panose="020B0609020204030204" pitchFamily="34" charset="0"/>
                <a:ea typeface="Consolas" panose="020B0609020204030204" pitchFamily="34" charset="-122"/>
                <a:cs typeface="Consolas" panose="020B0609020204030204" pitchFamily="34" charset="-120"/>
              </a:rPr>
              <a:t>item()</a:t>
            </a:r>
            <a:endParaRPr lang="en-US" sz="1300" dirty="0"/>
          </a:p>
        </p:txBody>
      </p:sp>
      <p:sp>
        <p:nvSpPr>
          <p:cNvPr id="28" name="Shape 25"/>
          <p:cNvSpPr/>
          <p:nvPr/>
        </p:nvSpPr>
        <p:spPr>
          <a:xfrm>
            <a:off x="4663440" y="4297680"/>
            <a:ext cx="2011680" cy="347472"/>
          </a:xfrm>
          <a:prstGeom prst="roundRect">
            <a:avLst>
              <a:gd name="adj" fmla="val 15789"/>
            </a:avLst>
          </a:prstGeom>
          <a:solidFill>
            <a:srgbClr val="2D1B4E"/>
          </a:solidFill>
          <a:ln w="12700">
            <a:solidFill>
              <a:srgbClr val="B57BF6"/>
            </a:solidFill>
            <a:prstDash val="solid"/>
          </a:ln>
        </p:spPr>
      </p:sp>
      <p:sp>
        <p:nvSpPr>
          <p:cNvPr id="29" name="Text 26"/>
          <p:cNvSpPr/>
          <p:nvPr/>
        </p:nvSpPr>
        <p:spPr>
          <a:xfrm>
            <a:off x="4663440" y="4297680"/>
            <a:ext cx="2011680" cy="347472"/>
          </a:xfrm>
          <a:prstGeom prst="rect">
            <a:avLst/>
          </a:prstGeom>
          <a:noFill/>
        </p:spPr>
        <p:txBody>
          <a:bodyPr wrap="square" lIns="0" tIns="0" rIns="0" bIns="0" rtlCol="0" anchor="ctr"/>
          <a:lstStyle/>
          <a:p>
            <a:pPr marL="0" indent="0" algn="ctr">
              <a:buNone/>
            </a:pPr>
            <a:r>
              <a:rPr lang="en-US" sz="1300" b="1" dirty="0">
                <a:solidFill>
                  <a:srgbClr val="B57BF6"/>
                </a:solidFill>
                <a:latin typeface="Consolas" panose="020B0609020204030204" pitchFamily="34" charset="0"/>
                <a:ea typeface="Consolas" panose="020B0609020204030204" pitchFamily="34" charset="-122"/>
                <a:cs typeface="Consolas" panose="020B0609020204030204" pitchFamily="34" charset="-120"/>
              </a:rPr>
              <a:t>entries()</a:t>
            </a:r>
            <a:endParaRPr lang="en-US" sz="1300" dirty="0"/>
          </a:p>
        </p:txBody>
      </p:sp>
      <p:sp>
        <p:nvSpPr>
          <p:cNvPr id="30" name="Shape 27"/>
          <p:cNvSpPr/>
          <p:nvPr/>
        </p:nvSpPr>
        <p:spPr>
          <a:xfrm>
            <a:off x="6812280" y="4297680"/>
            <a:ext cx="2011680" cy="347472"/>
          </a:xfrm>
          <a:prstGeom prst="roundRect">
            <a:avLst>
              <a:gd name="adj" fmla="val 15789"/>
            </a:avLst>
          </a:prstGeom>
          <a:solidFill>
            <a:srgbClr val="2D1B4E"/>
          </a:solidFill>
          <a:ln w="12700">
            <a:solidFill>
              <a:srgbClr val="B57BF6"/>
            </a:solidFill>
            <a:prstDash val="solid"/>
          </a:ln>
        </p:spPr>
      </p:sp>
      <p:sp>
        <p:nvSpPr>
          <p:cNvPr id="31" name="Text 28"/>
          <p:cNvSpPr/>
          <p:nvPr/>
        </p:nvSpPr>
        <p:spPr>
          <a:xfrm>
            <a:off x="6812280" y="4297680"/>
            <a:ext cx="2011680" cy="347472"/>
          </a:xfrm>
          <a:prstGeom prst="rect">
            <a:avLst/>
          </a:prstGeom>
          <a:noFill/>
        </p:spPr>
        <p:txBody>
          <a:bodyPr wrap="square" lIns="0" tIns="0" rIns="0" bIns="0" rtlCol="0" anchor="ctr"/>
          <a:lstStyle/>
          <a:p>
            <a:pPr marL="0" indent="0" algn="ctr">
              <a:buNone/>
            </a:pPr>
            <a:r>
              <a:rPr lang="en-US" sz="1300" b="1" dirty="0">
                <a:solidFill>
                  <a:srgbClr val="B57BF6"/>
                </a:solidFill>
                <a:latin typeface="Consolas" panose="020B0609020204030204" pitchFamily="34" charset="0"/>
                <a:ea typeface="Consolas" panose="020B0609020204030204" pitchFamily="34" charset="-122"/>
                <a:cs typeface="Consolas" panose="020B0609020204030204" pitchFamily="34" charset="-120"/>
              </a:rPr>
              <a:t>forEach()</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57BF6"/>
          </a:solidFill>
          <a:ln w="12700">
            <a:solidFill>
              <a:srgbClr val="B57BF6"/>
            </a:solidFill>
            <a:prstDash val="solid"/>
          </a:ln>
        </p:spPr>
      </p:sp>
      <p:sp>
        <p:nvSpPr>
          <p:cNvPr id="3" name="Text 1"/>
          <p:cNvSpPr/>
          <p:nvPr/>
        </p:nvSpPr>
        <p:spPr>
          <a:xfrm>
            <a:off x="365760" y="137160"/>
            <a:ext cx="8412480" cy="411480"/>
          </a:xfrm>
          <a:prstGeom prst="rect">
            <a:avLst/>
          </a:prstGeom>
          <a:noFill/>
        </p:spPr>
        <p:txBody>
          <a:bodyPr wrap="square" lIns="0" tIns="0" rIns="0" bIns="0" rtlCol="0" anchor="ctr"/>
          <a:lstStyle/>
          <a:p>
            <a:pPr marL="0" indent="0">
              <a:buNone/>
            </a:pPr>
            <a:r>
              <a:rPr lang="en-US" sz="2400" b="1" dirty="0">
                <a:solidFill>
                  <a:srgbClr val="B57BF6"/>
                </a:solidFill>
                <a:latin typeface="Consolas" panose="020B0609020204030204" pitchFamily="34" charset="0"/>
                <a:ea typeface="Consolas" panose="020B0609020204030204" pitchFamily="34" charset="-122"/>
                <a:cs typeface="Consolas" panose="020B0609020204030204" pitchFamily="34" charset="-120"/>
              </a:rPr>
              <a:t>classList.add( )  &amp;  classList.remove( )</a:t>
            </a:r>
            <a:endParaRPr lang="en-US" sz="2400" dirty="0"/>
          </a:p>
        </p:txBody>
      </p:sp>
      <p:sp>
        <p:nvSpPr>
          <p:cNvPr id="4" name="Shape 2"/>
          <p:cNvSpPr/>
          <p:nvPr/>
        </p:nvSpPr>
        <p:spPr>
          <a:xfrm>
            <a:off x="365760" y="576072"/>
            <a:ext cx="8412480" cy="36576"/>
          </a:xfrm>
          <a:prstGeom prst="rect">
            <a:avLst/>
          </a:prstGeom>
          <a:solidFill>
            <a:srgbClr val="1E293B"/>
          </a:solidFill>
          <a:ln w="12700">
            <a:solidFill>
              <a:srgbClr val="1E293B"/>
            </a:solidFill>
            <a:prstDash val="solid"/>
          </a:ln>
        </p:spPr>
      </p:sp>
      <p:sp>
        <p:nvSpPr>
          <p:cNvPr id="5" name="Shape 3"/>
          <p:cNvSpPr/>
          <p:nvPr/>
        </p:nvSpPr>
        <p:spPr>
          <a:xfrm>
            <a:off x="365760" y="685800"/>
            <a:ext cx="4114800" cy="4206240"/>
          </a:xfrm>
          <a:prstGeom prst="rect">
            <a:avLst/>
          </a:prstGeom>
          <a:solidFill>
            <a:srgbClr val="1E293B"/>
          </a:solidFill>
          <a:ln w="12700">
            <a:solidFill>
              <a:srgbClr val="B57BF6"/>
            </a:solidFill>
            <a:prstDash val="solid"/>
          </a:ln>
        </p:spPr>
      </p:sp>
      <p:sp>
        <p:nvSpPr>
          <p:cNvPr id="6" name="Text 4"/>
          <p:cNvSpPr/>
          <p:nvPr/>
        </p:nvSpPr>
        <p:spPr>
          <a:xfrm>
            <a:off x="502920" y="804672"/>
            <a:ext cx="3840480" cy="292608"/>
          </a:xfrm>
          <a:prstGeom prst="rect">
            <a:avLst/>
          </a:prstGeom>
          <a:noFill/>
        </p:spPr>
        <p:txBody>
          <a:bodyPr wrap="square" lIns="0" tIns="0" rIns="0" bIns="0" rtlCol="0" anchor="ctr"/>
          <a:lstStyle/>
          <a:p>
            <a:pPr marL="0" indent="0">
              <a:buNone/>
            </a:pPr>
            <a:r>
              <a:rPr lang="en-US" sz="1600" b="1" dirty="0">
                <a:solidFill>
                  <a:srgbClr val="B57BF6"/>
                </a:solidFill>
                <a:latin typeface="Consolas" panose="020B0609020204030204" pitchFamily="34" charset="0"/>
                <a:ea typeface="Consolas" panose="020B0609020204030204" pitchFamily="34" charset="-122"/>
                <a:cs typeface="Consolas" panose="020B0609020204030204" pitchFamily="34" charset="-120"/>
              </a:rPr>
              <a:t>classList.add()</a:t>
            </a:r>
            <a:endParaRPr lang="en-US" sz="1600" dirty="0"/>
          </a:p>
        </p:txBody>
      </p:sp>
      <p:sp>
        <p:nvSpPr>
          <p:cNvPr id="7" name="Text 5"/>
          <p:cNvSpPr/>
          <p:nvPr/>
        </p:nvSpPr>
        <p:spPr>
          <a:xfrm>
            <a:off x="502920" y="1161288"/>
            <a:ext cx="3840480" cy="685800"/>
          </a:xfrm>
          <a:prstGeom prst="rect">
            <a:avLst/>
          </a:prstGeom>
          <a:noFill/>
        </p:spPr>
        <p:txBody>
          <a:bodyPr wrap="square" lIns="0" tIns="0" rIns="0" bIns="0" rtlCol="0" anchor="ctr"/>
          <a:lstStyle/>
          <a:p>
            <a:pPr marL="0" indent="0">
              <a:buNone/>
            </a:pPr>
            <a:r>
              <a:rPr lang="en-US" sz="1200" dirty="0">
                <a:solidFill>
                  <a:srgbClr val="F8FAFC"/>
                </a:solidFill>
                <a:latin typeface="Calibri" panose="020F0502020204030204" pitchFamily="34" charset="0"/>
                <a:ea typeface="Calibri" panose="020F0502020204030204" pitchFamily="34" charset="-122"/>
                <a:cs typeface="Calibri" panose="020F0502020204030204" pitchFamily="34" charset="-120"/>
              </a:rPr>
              <a:t>Adds one or more CSS class names to an element. If the class already exists, it is NOT added again (no duplicates). You can add multiple classes at once by passing multiple arguments.</a:t>
            </a:r>
            <a:endParaRPr lang="en-US" sz="1200" dirty="0"/>
          </a:p>
        </p:txBody>
      </p:sp>
      <p:sp>
        <p:nvSpPr>
          <p:cNvPr id="8" name="Shape 6"/>
          <p:cNvSpPr/>
          <p:nvPr/>
        </p:nvSpPr>
        <p:spPr>
          <a:xfrm>
            <a:off x="502920" y="1920240"/>
            <a:ext cx="3840480" cy="1828800"/>
          </a:xfrm>
          <a:prstGeom prst="rect">
            <a:avLst/>
          </a:prstGeom>
          <a:solidFill>
            <a:srgbClr val="0D1117"/>
          </a:solidFill>
          <a:ln w="12700">
            <a:solidFill>
              <a:srgbClr val="B57BF6"/>
            </a:solidFill>
            <a:prstDash val="solid"/>
          </a:ln>
        </p:spPr>
      </p:sp>
      <p:sp>
        <p:nvSpPr>
          <p:cNvPr id="9" name="Text 7"/>
          <p:cNvSpPr/>
          <p:nvPr/>
        </p:nvSpPr>
        <p:spPr>
          <a:xfrm>
            <a:off x="640080" y="1965960"/>
            <a:ext cx="3657600" cy="1737360"/>
          </a:xfrm>
          <a:prstGeom prst="rect">
            <a:avLst/>
          </a:prstGeom>
          <a:noFill/>
        </p:spPr>
        <p:txBody>
          <a:bodyPr wrap="square" lIns="0" tIns="0" rIns="0" bIns="0" rtlCol="0" anchor="ctr"/>
          <a:lstStyle/>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el = document.querySelector('.box');</a:t>
            </a:r>
            <a:endParaRPr lang="en-US" sz="1050" dirty="0"/>
          </a:p>
          <a:p>
            <a:pPr marL="0" indent="0">
              <a:buNone/>
            </a:pP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Add single class</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el.classList.add('active');</a:t>
            </a:r>
            <a:endParaRPr lang="en-US" sz="1050" dirty="0"/>
          </a:p>
          <a:p>
            <a:pPr marL="0" indent="0">
              <a:buNone/>
            </a:pP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Add multiple classes at once</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el.classList.add('active', 'highlighted', 'visible');</a:t>
            </a:r>
            <a:endParaRPr lang="en-US" sz="1050" dirty="0"/>
          </a:p>
          <a:p>
            <a:pPr marL="0" indent="0">
              <a:buNone/>
            </a:pP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No duplicate — safe to call again</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el.classList.add('active'); // ignored</a:t>
            </a:r>
            <a:endParaRPr lang="en-US" sz="1050" dirty="0"/>
          </a:p>
        </p:txBody>
      </p:sp>
      <p:sp>
        <p:nvSpPr>
          <p:cNvPr id="10" name="Shape 8"/>
          <p:cNvSpPr/>
          <p:nvPr/>
        </p:nvSpPr>
        <p:spPr>
          <a:xfrm>
            <a:off x="502920" y="3813048"/>
            <a:ext cx="3840480" cy="438912"/>
          </a:xfrm>
          <a:prstGeom prst="rect">
            <a:avLst/>
          </a:prstGeom>
          <a:solidFill>
            <a:srgbClr val="1C1040"/>
          </a:solidFill>
          <a:ln w="12700">
            <a:solidFill>
              <a:srgbClr val="B57BF6"/>
            </a:solidFill>
            <a:prstDash val="solid"/>
          </a:ln>
        </p:spPr>
      </p:sp>
      <p:sp>
        <p:nvSpPr>
          <p:cNvPr id="11" name="Text 9"/>
          <p:cNvSpPr/>
          <p:nvPr/>
        </p:nvSpPr>
        <p:spPr>
          <a:xfrm>
            <a:off x="640080" y="3858768"/>
            <a:ext cx="3657600" cy="347472"/>
          </a:xfrm>
          <a:prstGeom prst="rect">
            <a:avLst/>
          </a:prstGeom>
          <a:noFill/>
        </p:spPr>
        <p:txBody>
          <a:bodyPr wrap="square" lIns="0" tIns="0" rIns="0" bIns="0" rtlCol="0" anchor="ctr"/>
          <a:lstStyle/>
          <a:p>
            <a:pPr marL="0" indent="0">
              <a:buNone/>
            </a:pPr>
            <a:r>
              <a:rPr lang="en-US" sz="1050" dirty="0">
                <a:solidFill>
                  <a:srgbClr val="B57BF6"/>
                </a:solidFill>
                <a:latin typeface="Consolas" panose="020B0609020204030204" pitchFamily="34" charset="0"/>
                <a:ea typeface="Consolas" panose="020B0609020204030204" pitchFamily="34" charset="-122"/>
                <a:cs typeface="Consolas" panose="020B0609020204030204" pitchFamily="34" charset="-120"/>
              </a:rPr>
              <a:t>Result: &lt;div class='box active highlighted visible'&gt;</a:t>
            </a:r>
            <a:endParaRPr lang="en-US" sz="1050" dirty="0"/>
          </a:p>
        </p:txBody>
      </p:sp>
      <p:sp>
        <p:nvSpPr>
          <p:cNvPr id="12" name="Shape 10"/>
          <p:cNvSpPr/>
          <p:nvPr/>
        </p:nvSpPr>
        <p:spPr>
          <a:xfrm>
            <a:off x="4663440" y="685800"/>
            <a:ext cx="4114800" cy="4206240"/>
          </a:xfrm>
          <a:prstGeom prst="rect">
            <a:avLst/>
          </a:prstGeom>
          <a:solidFill>
            <a:srgbClr val="1E293B"/>
          </a:solidFill>
          <a:ln w="12700">
            <a:solidFill>
              <a:srgbClr val="F59E0B"/>
            </a:solidFill>
            <a:prstDash val="solid"/>
          </a:ln>
        </p:spPr>
      </p:sp>
      <p:sp>
        <p:nvSpPr>
          <p:cNvPr id="13" name="Text 11"/>
          <p:cNvSpPr/>
          <p:nvPr/>
        </p:nvSpPr>
        <p:spPr>
          <a:xfrm>
            <a:off x="4800600" y="804672"/>
            <a:ext cx="3840480" cy="292608"/>
          </a:xfrm>
          <a:prstGeom prst="rect">
            <a:avLst/>
          </a:prstGeom>
          <a:noFill/>
        </p:spPr>
        <p:txBody>
          <a:bodyPr wrap="square" lIns="0" tIns="0" rIns="0" bIns="0" rtlCol="0" anchor="ctr"/>
          <a:lstStyle/>
          <a:p>
            <a:pPr marL="0" indent="0">
              <a:buNone/>
            </a:pPr>
            <a:r>
              <a:rPr lang="en-US" sz="1600" b="1" dirty="0">
                <a:solidFill>
                  <a:srgbClr val="F59E0B"/>
                </a:solidFill>
                <a:latin typeface="Consolas" panose="020B0609020204030204" pitchFamily="34" charset="0"/>
                <a:ea typeface="Consolas" panose="020B0609020204030204" pitchFamily="34" charset="-122"/>
                <a:cs typeface="Consolas" panose="020B0609020204030204" pitchFamily="34" charset="-120"/>
              </a:rPr>
              <a:t>classList.remove()</a:t>
            </a:r>
            <a:endParaRPr lang="en-US" sz="1600" dirty="0"/>
          </a:p>
        </p:txBody>
      </p:sp>
      <p:sp>
        <p:nvSpPr>
          <p:cNvPr id="14" name="Text 12"/>
          <p:cNvSpPr/>
          <p:nvPr/>
        </p:nvSpPr>
        <p:spPr>
          <a:xfrm>
            <a:off x="4800600" y="1161288"/>
            <a:ext cx="3840480" cy="685800"/>
          </a:xfrm>
          <a:prstGeom prst="rect">
            <a:avLst/>
          </a:prstGeom>
          <a:noFill/>
        </p:spPr>
        <p:txBody>
          <a:bodyPr wrap="square" lIns="0" tIns="0" rIns="0" bIns="0" rtlCol="0" anchor="ctr"/>
          <a:lstStyle/>
          <a:p>
            <a:pPr marL="0" indent="0">
              <a:buNone/>
            </a:pPr>
            <a:r>
              <a:rPr lang="en-US" sz="1200" dirty="0">
                <a:solidFill>
                  <a:srgbClr val="F8FAFC"/>
                </a:solidFill>
                <a:latin typeface="Calibri" panose="020F0502020204030204" pitchFamily="34" charset="0"/>
                <a:ea typeface="Calibri" panose="020F0502020204030204" pitchFamily="34" charset="-122"/>
                <a:cs typeface="Calibri" panose="020F0502020204030204" pitchFamily="34" charset="-120"/>
              </a:rPr>
              <a:t>Removes one or more CSS class names from an element. If the class does NOT exist, no error is thrown — it fails silently. Multiple classes can be removed at once.</a:t>
            </a:r>
            <a:endParaRPr lang="en-US" sz="1200" dirty="0"/>
          </a:p>
        </p:txBody>
      </p:sp>
      <p:sp>
        <p:nvSpPr>
          <p:cNvPr id="15" name="Shape 13"/>
          <p:cNvSpPr/>
          <p:nvPr/>
        </p:nvSpPr>
        <p:spPr>
          <a:xfrm>
            <a:off x="4800600" y="1920240"/>
            <a:ext cx="3840480" cy="1828800"/>
          </a:xfrm>
          <a:prstGeom prst="rect">
            <a:avLst/>
          </a:prstGeom>
          <a:solidFill>
            <a:srgbClr val="0D1117"/>
          </a:solidFill>
          <a:ln w="12700">
            <a:solidFill>
              <a:srgbClr val="F59E0B"/>
            </a:solidFill>
            <a:prstDash val="solid"/>
          </a:ln>
        </p:spPr>
      </p:sp>
      <p:sp>
        <p:nvSpPr>
          <p:cNvPr id="16" name="Text 14"/>
          <p:cNvSpPr/>
          <p:nvPr/>
        </p:nvSpPr>
        <p:spPr>
          <a:xfrm>
            <a:off x="4937760" y="1965960"/>
            <a:ext cx="3657600" cy="1737360"/>
          </a:xfrm>
          <a:prstGeom prst="rect">
            <a:avLst/>
          </a:prstGeom>
          <a:noFill/>
        </p:spPr>
        <p:txBody>
          <a:bodyPr wrap="square" lIns="0" tIns="0" rIns="0" bIns="0" rtlCol="0" anchor="ctr"/>
          <a:lstStyle/>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el = document.querySelector('.box');</a:t>
            </a:r>
            <a:endParaRPr lang="en-US" sz="1050" dirty="0"/>
          </a:p>
          <a:p>
            <a:pPr marL="0" indent="0">
              <a:buNone/>
            </a:pP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Remove single class</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el.classList.remove('active');</a:t>
            </a:r>
            <a:endParaRPr lang="en-US" sz="1050" dirty="0"/>
          </a:p>
          <a:p>
            <a:pPr marL="0" indent="0">
              <a:buNone/>
            </a:pP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Remove multiple classes at once</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el.classList.remove('active', 'highlighted');</a:t>
            </a:r>
            <a:endParaRPr lang="en-US" sz="1050" dirty="0"/>
          </a:p>
          <a:p>
            <a:pPr marL="0" indent="0">
              <a:buNone/>
            </a:pP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No error if class doesn't exist</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el.classList.remove('nonExistent'); // safe</a:t>
            </a:r>
            <a:endParaRPr lang="en-US" sz="1050" dirty="0"/>
          </a:p>
        </p:txBody>
      </p:sp>
      <p:sp>
        <p:nvSpPr>
          <p:cNvPr id="17" name="Shape 15"/>
          <p:cNvSpPr/>
          <p:nvPr/>
        </p:nvSpPr>
        <p:spPr>
          <a:xfrm>
            <a:off x="4800600" y="3813048"/>
            <a:ext cx="3840480" cy="438912"/>
          </a:xfrm>
          <a:prstGeom prst="rect">
            <a:avLst/>
          </a:prstGeom>
          <a:solidFill>
            <a:srgbClr val="1A1A0D"/>
          </a:solidFill>
          <a:ln w="12700">
            <a:solidFill>
              <a:srgbClr val="F59E0B"/>
            </a:solidFill>
            <a:prstDash val="solid"/>
          </a:ln>
        </p:spPr>
      </p:sp>
      <p:sp>
        <p:nvSpPr>
          <p:cNvPr id="18" name="Text 16"/>
          <p:cNvSpPr/>
          <p:nvPr/>
        </p:nvSpPr>
        <p:spPr>
          <a:xfrm>
            <a:off x="4937760" y="3858768"/>
            <a:ext cx="3657600" cy="347472"/>
          </a:xfrm>
          <a:prstGeom prst="rect">
            <a:avLst/>
          </a:prstGeom>
          <a:noFill/>
        </p:spPr>
        <p:txBody>
          <a:bodyPr wrap="square" lIns="0" tIns="0" rIns="0" bIns="0" rtlCol="0" anchor="ctr"/>
          <a:lstStyle/>
          <a:p>
            <a:pPr marL="0" indent="0">
              <a:buNone/>
            </a:pPr>
            <a:r>
              <a:rPr lang="en-US" sz="1050" dirty="0">
                <a:solidFill>
                  <a:srgbClr val="F59E0B"/>
                </a:solidFill>
                <a:latin typeface="Consolas" panose="020B0609020204030204" pitchFamily="34" charset="0"/>
                <a:ea typeface="Consolas" panose="020B0609020204030204" pitchFamily="34" charset="-122"/>
                <a:cs typeface="Consolas" panose="020B0609020204030204" pitchFamily="34" charset="-120"/>
              </a:rPr>
              <a:t>Result: &lt;div class='box visible'&gt;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0B981"/>
          </a:solidFill>
          <a:ln w="12700">
            <a:solidFill>
              <a:srgbClr val="10B981"/>
            </a:solidFill>
            <a:prstDash val="solid"/>
          </a:ln>
        </p:spPr>
      </p:sp>
      <p:sp>
        <p:nvSpPr>
          <p:cNvPr id="3" name="Text 1"/>
          <p:cNvSpPr/>
          <p:nvPr/>
        </p:nvSpPr>
        <p:spPr>
          <a:xfrm>
            <a:off x="365760" y="137160"/>
            <a:ext cx="8412480" cy="411480"/>
          </a:xfrm>
          <a:prstGeom prst="rect">
            <a:avLst/>
          </a:prstGeom>
          <a:noFill/>
        </p:spPr>
        <p:txBody>
          <a:bodyPr wrap="square" lIns="0" tIns="0" rIns="0" bIns="0" rtlCol="0" anchor="ctr"/>
          <a:lstStyle/>
          <a:p>
            <a:pPr marL="0" indent="0">
              <a:buNone/>
            </a:pPr>
            <a:r>
              <a:rPr lang="en-US" sz="2600" b="1" dirty="0">
                <a:solidFill>
                  <a:srgbClr val="10B981"/>
                </a:solidFill>
                <a:latin typeface="Consolas" panose="020B0609020204030204" pitchFamily="34" charset="0"/>
                <a:ea typeface="Consolas" panose="020B0609020204030204" pitchFamily="34" charset="-122"/>
                <a:cs typeface="Consolas" panose="020B0609020204030204" pitchFamily="34" charset="-120"/>
              </a:rPr>
              <a:t>classList.toggle( )</a:t>
            </a:r>
            <a:endParaRPr lang="en-US" sz="2600" dirty="0"/>
          </a:p>
        </p:txBody>
      </p:sp>
      <p:sp>
        <p:nvSpPr>
          <p:cNvPr id="4" name="Shape 2"/>
          <p:cNvSpPr/>
          <p:nvPr/>
        </p:nvSpPr>
        <p:spPr>
          <a:xfrm>
            <a:off x="365760" y="576072"/>
            <a:ext cx="8412480" cy="36576"/>
          </a:xfrm>
          <a:prstGeom prst="rect">
            <a:avLst/>
          </a:prstGeom>
          <a:solidFill>
            <a:srgbClr val="1E293B"/>
          </a:solidFill>
          <a:ln w="12700">
            <a:solidFill>
              <a:srgbClr val="1E293B"/>
            </a:solidFill>
            <a:prstDash val="solid"/>
          </a:ln>
        </p:spPr>
      </p:sp>
      <p:sp>
        <p:nvSpPr>
          <p:cNvPr id="5" name="Shape 3"/>
          <p:cNvSpPr/>
          <p:nvPr/>
        </p:nvSpPr>
        <p:spPr>
          <a:xfrm>
            <a:off x="365760" y="685800"/>
            <a:ext cx="8412480" cy="777240"/>
          </a:xfrm>
          <a:prstGeom prst="rect">
            <a:avLst/>
          </a:prstGeom>
          <a:solidFill>
            <a:srgbClr val="1E293B"/>
          </a:solidFill>
          <a:ln w="12700">
            <a:solidFill>
              <a:srgbClr val="1E3A5F"/>
            </a:solidFill>
            <a:prstDash val="solid"/>
          </a:ln>
        </p:spPr>
      </p:sp>
      <p:sp>
        <p:nvSpPr>
          <p:cNvPr id="6" name="Text 4"/>
          <p:cNvSpPr/>
          <p:nvPr/>
        </p:nvSpPr>
        <p:spPr>
          <a:xfrm>
            <a:off x="594360" y="749808"/>
            <a:ext cx="7955280" cy="658368"/>
          </a:xfrm>
          <a:prstGeom prst="rect">
            <a:avLst/>
          </a:prstGeom>
          <a:noFill/>
        </p:spPr>
        <p:txBody>
          <a:bodyPr wrap="square" lIns="0" tIns="0" rIns="0" bIns="0" rtlCol="0" anchor="ctr"/>
          <a:lstStyle/>
          <a:p>
            <a:pPr marL="0" indent="0">
              <a:buNone/>
            </a:pPr>
            <a:r>
              <a:rPr lang="en-US" sz="1250" dirty="0">
                <a:solidFill>
                  <a:srgbClr val="F8FAFC"/>
                </a:solidFill>
                <a:latin typeface="Calibri" panose="020F0502020204030204" pitchFamily="34" charset="0"/>
                <a:ea typeface="Calibri" panose="020F0502020204030204" pitchFamily="34" charset="-122"/>
                <a:cs typeface="Calibri" panose="020F0502020204030204" pitchFamily="34" charset="-120"/>
              </a:rPr>
              <a:t>Definition: Adds the class if it does NOT exist; removes it if it DOES exist. This is perfect for ON/OFF switches like dark mode, hamburger menus, and show/hide toggles. Returns true if the class was added, false if removed.</a:t>
            </a:r>
            <a:endParaRPr lang="en-US" sz="1250" dirty="0"/>
          </a:p>
        </p:txBody>
      </p:sp>
      <p:sp>
        <p:nvSpPr>
          <p:cNvPr id="7" name="Text 5"/>
          <p:cNvSpPr/>
          <p:nvPr/>
        </p:nvSpPr>
        <p:spPr>
          <a:xfrm>
            <a:off x="365760" y="1572768"/>
            <a:ext cx="3657600" cy="274320"/>
          </a:xfrm>
          <a:prstGeom prst="rect">
            <a:avLst/>
          </a:prstGeom>
          <a:noFill/>
        </p:spPr>
        <p:txBody>
          <a:bodyPr wrap="square" lIns="0" tIns="0" rIns="0" bIns="0" rtlCol="0" anchor="ctr"/>
          <a:lstStyle/>
          <a:p>
            <a:pPr marL="0" indent="0">
              <a:buNone/>
            </a:pPr>
            <a:r>
              <a:rPr lang="en-US" sz="1300" b="1" dirty="0">
                <a:solidFill>
                  <a:srgbClr val="10B981"/>
                </a:solidFill>
                <a:latin typeface="Calibri" panose="020F0502020204030204" pitchFamily="34" charset="0"/>
                <a:ea typeface="Calibri" panose="020F0502020204030204" pitchFamily="34" charset="-122"/>
                <a:cs typeface="Calibri" panose="020F0502020204030204" pitchFamily="34" charset="-120"/>
              </a:rPr>
              <a:t>How toggle() Works:</a:t>
            </a:r>
            <a:endParaRPr lang="en-US" sz="1300" dirty="0"/>
          </a:p>
        </p:txBody>
      </p:sp>
      <p:sp>
        <p:nvSpPr>
          <p:cNvPr id="8" name="Shape 6"/>
          <p:cNvSpPr/>
          <p:nvPr/>
        </p:nvSpPr>
        <p:spPr>
          <a:xfrm>
            <a:off x="457200" y="1920240"/>
            <a:ext cx="1828800" cy="640080"/>
          </a:xfrm>
          <a:prstGeom prst="rect">
            <a:avLst/>
          </a:prstGeom>
          <a:solidFill>
            <a:srgbClr val="1E293B"/>
          </a:solidFill>
          <a:ln w="12700">
            <a:solidFill>
              <a:srgbClr val="F59E0B"/>
            </a:solidFill>
            <a:prstDash val="solid"/>
          </a:ln>
        </p:spPr>
      </p:sp>
      <p:sp>
        <p:nvSpPr>
          <p:cNvPr id="9" name="Text 7"/>
          <p:cNvSpPr/>
          <p:nvPr/>
        </p:nvSpPr>
        <p:spPr>
          <a:xfrm>
            <a:off x="457200" y="1920240"/>
            <a:ext cx="1828800" cy="640080"/>
          </a:xfrm>
          <a:prstGeom prst="rect">
            <a:avLst/>
          </a:prstGeom>
          <a:noFill/>
        </p:spPr>
        <p:txBody>
          <a:bodyPr wrap="square" lIns="0" tIns="0" rIns="0" bIns="0" rtlCol="0" anchor="ctr"/>
          <a:lstStyle/>
          <a:p>
            <a:pPr marL="0" indent="0" algn="ctr">
              <a:buNone/>
            </a:pPr>
            <a:r>
              <a:rPr lang="en-US" sz="1200" dirty="0">
                <a:solidFill>
                  <a:srgbClr val="F8FAFC"/>
                </a:solidFill>
                <a:latin typeface="Calibri" panose="020F0502020204030204" pitchFamily="34" charset="0"/>
                <a:ea typeface="Calibri" panose="020F0502020204030204" pitchFamily="34" charset="-122"/>
                <a:cs typeface="Calibri" panose="020F0502020204030204" pitchFamily="34" charset="-120"/>
              </a:rPr>
              <a:t>Element</a:t>
            </a:r>
            <a:endParaRPr lang="en-US" sz="1200" dirty="0"/>
          </a:p>
          <a:p>
            <a:pPr marL="0" indent="0" algn="ctr">
              <a:buNone/>
            </a:pPr>
            <a:r>
              <a:rPr lang="en-US" sz="1200" dirty="0">
                <a:solidFill>
                  <a:srgbClr val="F8FAFC"/>
                </a:solidFill>
                <a:latin typeface="Calibri" panose="020F0502020204030204" pitchFamily="34" charset="0"/>
                <a:ea typeface="Calibri" panose="020F0502020204030204" pitchFamily="34" charset="-122"/>
                <a:cs typeface="Calibri" panose="020F0502020204030204" pitchFamily="34" charset="-120"/>
              </a:rPr>
              <a:t>HAS class</a:t>
            </a:r>
            <a:endParaRPr lang="en-US" sz="1200" dirty="0"/>
          </a:p>
        </p:txBody>
      </p:sp>
      <p:sp>
        <p:nvSpPr>
          <p:cNvPr id="10" name="Shape 8"/>
          <p:cNvSpPr/>
          <p:nvPr/>
        </p:nvSpPr>
        <p:spPr>
          <a:xfrm>
            <a:off x="2377440" y="2084832"/>
            <a:ext cx="1828800" cy="320040"/>
          </a:xfrm>
          <a:prstGeom prst="rect">
            <a:avLst/>
          </a:prstGeom>
          <a:solidFill>
            <a:srgbClr val="1E3A5F"/>
          </a:solidFill>
          <a:ln w="12700">
            <a:solidFill>
              <a:srgbClr val="06B6D4"/>
            </a:solidFill>
            <a:prstDash val="solid"/>
          </a:ln>
        </p:spPr>
      </p:sp>
      <p:sp>
        <p:nvSpPr>
          <p:cNvPr id="11" name="Text 9"/>
          <p:cNvSpPr/>
          <p:nvPr/>
        </p:nvSpPr>
        <p:spPr>
          <a:xfrm>
            <a:off x="2377440" y="2084832"/>
            <a:ext cx="1828800" cy="320040"/>
          </a:xfrm>
          <a:prstGeom prst="rect">
            <a:avLst/>
          </a:prstGeom>
          <a:noFill/>
        </p:spPr>
        <p:txBody>
          <a:bodyPr wrap="square" lIns="0" tIns="0" rIns="0" bIns="0" rtlCol="0" anchor="ctr"/>
          <a:lstStyle/>
          <a:p>
            <a:pPr marL="0" indent="0" algn="ctr">
              <a:buNone/>
            </a:pPr>
            <a:r>
              <a:rPr lang="en-US" sz="1100" dirty="0">
                <a:solidFill>
                  <a:srgbClr val="06B6D4"/>
                </a:solidFill>
                <a:latin typeface="Consolas" panose="020B0609020204030204" pitchFamily="34" charset="0"/>
                <a:ea typeface="Consolas" panose="020B0609020204030204" pitchFamily="34" charset="-122"/>
                <a:cs typeface="Consolas" panose="020B0609020204030204" pitchFamily="34" charset="-120"/>
              </a:rPr>
              <a:t>.toggle('dark')</a:t>
            </a:r>
            <a:endParaRPr lang="en-US" sz="1100" dirty="0"/>
          </a:p>
        </p:txBody>
      </p:sp>
      <p:sp>
        <p:nvSpPr>
          <p:cNvPr id="12" name="Shape 10"/>
          <p:cNvSpPr/>
          <p:nvPr/>
        </p:nvSpPr>
        <p:spPr>
          <a:xfrm>
            <a:off x="4297680" y="1920240"/>
            <a:ext cx="2011680" cy="640080"/>
          </a:xfrm>
          <a:prstGeom prst="rect">
            <a:avLst/>
          </a:prstGeom>
          <a:solidFill>
            <a:srgbClr val="1E3A5F"/>
          </a:solidFill>
          <a:ln w="12700">
            <a:solidFill>
              <a:srgbClr val="F59E0B"/>
            </a:solidFill>
            <a:prstDash val="solid"/>
          </a:ln>
        </p:spPr>
      </p:sp>
      <p:sp>
        <p:nvSpPr>
          <p:cNvPr id="13" name="Text 11"/>
          <p:cNvSpPr/>
          <p:nvPr/>
        </p:nvSpPr>
        <p:spPr>
          <a:xfrm>
            <a:off x="4297680" y="1920240"/>
            <a:ext cx="2011680" cy="640080"/>
          </a:xfrm>
          <a:prstGeom prst="rect">
            <a:avLst/>
          </a:prstGeom>
          <a:noFill/>
        </p:spPr>
        <p:txBody>
          <a:bodyPr wrap="square" lIns="0" tIns="0" rIns="0" bIns="0" rtlCol="0" anchor="ctr"/>
          <a:lstStyle/>
          <a:p>
            <a:pPr marL="0" indent="0" algn="ctr">
              <a:buNone/>
            </a:pPr>
            <a:r>
              <a:rPr lang="en-US" sz="1200" b="1" dirty="0">
                <a:solidFill>
                  <a:srgbClr val="F59E0B"/>
                </a:solidFill>
                <a:latin typeface="Calibri" panose="020F0502020204030204" pitchFamily="34" charset="0"/>
                <a:ea typeface="Calibri" panose="020F0502020204030204" pitchFamily="34" charset="-122"/>
                <a:cs typeface="Calibri" panose="020F0502020204030204" pitchFamily="34" charset="-120"/>
              </a:rPr>
              <a:t>→ Class REMOVED</a:t>
            </a:r>
            <a:endParaRPr lang="en-US" sz="1200" dirty="0"/>
          </a:p>
        </p:txBody>
      </p:sp>
      <p:sp>
        <p:nvSpPr>
          <p:cNvPr id="14" name="Shape 12"/>
          <p:cNvSpPr/>
          <p:nvPr/>
        </p:nvSpPr>
        <p:spPr>
          <a:xfrm>
            <a:off x="4754880" y="1920240"/>
            <a:ext cx="1828800" cy="640080"/>
          </a:xfrm>
          <a:prstGeom prst="rect">
            <a:avLst/>
          </a:prstGeom>
          <a:solidFill>
            <a:srgbClr val="1E293B"/>
          </a:solidFill>
          <a:ln w="12700">
            <a:solidFill>
              <a:srgbClr val="10B981"/>
            </a:solidFill>
            <a:prstDash val="solid"/>
          </a:ln>
        </p:spPr>
      </p:sp>
      <p:sp>
        <p:nvSpPr>
          <p:cNvPr id="15" name="Text 13"/>
          <p:cNvSpPr/>
          <p:nvPr/>
        </p:nvSpPr>
        <p:spPr>
          <a:xfrm>
            <a:off x="4754880" y="1920240"/>
            <a:ext cx="1828800" cy="640080"/>
          </a:xfrm>
          <a:prstGeom prst="rect">
            <a:avLst/>
          </a:prstGeom>
          <a:noFill/>
        </p:spPr>
        <p:txBody>
          <a:bodyPr wrap="square" lIns="0" tIns="0" rIns="0" bIns="0" rtlCol="0" anchor="ctr"/>
          <a:lstStyle/>
          <a:p>
            <a:pPr marL="0" indent="0" algn="ctr">
              <a:buNone/>
            </a:pPr>
            <a:r>
              <a:rPr lang="en-US" sz="1200" dirty="0">
                <a:solidFill>
                  <a:srgbClr val="F8FAFC"/>
                </a:solidFill>
                <a:latin typeface="Calibri" panose="020F0502020204030204" pitchFamily="34" charset="0"/>
                <a:ea typeface="Calibri" panose="020F0502020204030204" pitchFamily="34" charset="-122"/>
                <a:cs typeface="Calibri" panose="020F0502020204030204" pitchFamily="34" charset="-120"/>
              </a:rPr>
              <a:t>Element has</a:t>
            </a:r>
            <a:endParaRPr lang="en-US" sz="1200" dirty="0"/>
          </a:p>
          <a:p>
            <a:pPr marL="0" indent="0" algn="ctr">
              <a:buNone/>
            </a:pPr>
            <a:r>
              <a:rPr lang="en-US" sz="1200" dirty="0">
                <a:solidFill>
                  <a:srgbClr val="F8FAFC"/>
                </a:solidFill>
                <a:latin typeface="Calibri" panose="020F0502020204030204" pitchFamily="34" charset="0"/>
                <a:ea typeface="Calibri" panose="020F0502020204030204" pitchFamily="34" charset="-122"/>
                <a:cs typeface="Calibri" panose="020F0502020204030204" pitchFamily="34" charset="-120"/>
              </a:rPr>
              <a:t>NO class</a:t>
            </a:r>
            <a:endParaRPr lang="en-US" sz="1200" dirty="0"/>
          </a:p>
        </p:txBody>
      </p:sp>
      <p:sp>
        <p:nvSpPr>
          <p:cNvPr id="16" name="Shape 14"/>
          <p:cNvSpPr/>
          <p:nvPr/>
        </p:nvSpPr>
        <p:spPr>
          <a:xfrm>
            <a:off x="6675120" y="2084832"/>
            <a:ext cx="1828800" cy="320040"/>
          </a:xfrm>
          <a:prstGeom prst="rect">
            <a:avLst/>
          </a:prstGeom>
          <a:solidFill>
            <a:srgbClr val="1E3A5F"/>
          </a:solidFill>
          <a:ln w="12700">
            <a:solidFill>
              <a:srgbClr val="06B6D4"/>
            </a:solidFill>
            <a:prstDash val="solid"/>
          </a:ln>
        </p:spPr>
      </p:sp>
      <p:sp>
        <p:nvSpPr>
          <p:cNvPr id="17" name="Text 15"/>
          <p:cNvSpPr/>
          <p:nvPr/>
        </p:nvSpPr>
        <p:spPr>
          <a:xfrm>
            <a:off x="6675120" y="2084832"/>
            <a:ext cx="1828800" cy="320040"/>
          </a:xfrm>
          <a:prstGeom prst="rect">
            <a:avLst/>
          </a:prstGeom>
          <a:noFill/>
        </p:spPr>
        <p:txBody>
          <a:bodyPr wrap="square" lIns="0" tIns="0" rIns="0" bIns="0" rtlCol="0" anchor="ctr"/>
          <a:lstStyle/>
          <a:p>
            <a:pPr marL="0" indent="0" algn="ctr">
              <a:buNone/>
            </a:pPr>
            <a:r>
              <a:rPr lang="en-US" sz="1100" dirty="0">
                <a:solidFill>
                  <a:srgbClr val="06B6D4"/>
                </a:solidFill>
                <a:latin typeface="Consolas" panose="020B0609020204030204" pitchFamily="34" charset="0"/>
                <a:ea typeface="Consolas" panose="020B0609020204030204" pitchFamily="34" charset="-122"/>
                <a:cs typeface="Consolas" panose="020B0609020204030204" pitchFamily="34" charset="-120"/>
              </a:rPr>
              <a:t>.toggle('dark')</a:t>
            </a:r>
            <a:endParaRPr lang="en-US" sz="1100" dirty="0"/>
          </a:p>
        </p:txBody>
      </p:sp>
      <p:sp>
        <p:nvSpPr>
          <p:cNvPr id="18" name="Shape 16"/>
          <p:cNvSpPr/>
          <p:nvPr/>
        </p:nvSpPr>
        <p:spPr>
          <a:xfrm>
            <a:off x="8595360" y="1920240"/>
            <a:ext cx="2011680" cy="640080"/>
          </a:xfrm>
          <a:prstGeom prst="rect">
            <a:avLst/>
          </a:prstGeom>
          <a:solidFill>
            <a:srgbClr val="1E3A5F"/>
          </a:solidFill>
          <a:ln w="12700">
            <a:solidFill>
              <a:srgbClr val="10B981"/>
            </a:solidFill>
            <a:prstDash val="solid"/>
          </a:ln>
        </p:spPr>
      </p:sp>
      <p:sp>
        <p:nvSpPr>
          <p:cNvPr id="19" name="Text 17"/>
          <p:cNvSpPr/>
          <p:nvPr/>
        </p:nvSpPr>
        <p:spPr>
          <a:xfrm>
            <a:off x="8595360" y="1920240"/>
            <a:ext cx="2011680" cy="640080"/>
          </a:xfrm>
          <a:prstGeom prst="rect">
            <a:avLst/>
          </a:prstGeom>
          <a:noFill/>
        </p:spPr>
        <p:txBody>
          <a:bodyPr wrap="square" lIns="0" tIns="0" rIns="0" bIns="0" rtlCol="0" anchor="ctr"/>
          <a:lstStyle/>
          <a:p>
            <a:pPr marL="0" indent="0" algn="ctr">
              <a:buNone/>
            </a:pPr>
            <a:r>
              <a:rPr lang="en-US" sz="1200" b="1" dirty="0">
                <a:solidFill>
                  <a:srgbClr val="10B981"/>
                </a:solidFill>
                <a:latin typeface="Calibri" panose="020F0502020204030204" pitchFamily="34" charset="0"/>
                <a:ea typeface="Calibri" panose="020F0502020204030204" pitchFamily="34" charset="-122"/>
                <a:cs typeface="Calibri" panose="020F0502020204030204" pitchFamily="34" charset="-120"/>
              </a:rPr>
              <a:t>→ Class ADDED</a:t>
            </a:r>
            <a:endParaRPr lang="en-US" sz="1200" dirty="0"/>
          </a:p>
        </p:txBody>
      </p:sp>
      <p:sp>
        <p:nvSpPr>
          <p:cNvPr id="20" name="Text 18"/>
          <p:cNvSpPr/>
          <p:nvPr/>
        </p:nvSpPr>
        <p:spPr>
          <a:xfrm>
            <a:off x="365760" y="2743200"/>
            <a:ext cx="3657600" cy="274320"/>
          </a:xfrm>
          <a:prstGeom prst="rect">
            <a:avLst/>
          </a:prstGeom>
          <a:noFill/>
        </p:spPr>
        <p:txBody>
          <a:bodyPr wrap="square" lIns="0" tIns="0" rIns="0" bIns="0" rtlCol="0" anchor="ctr"/>
          <a:lstStyle/>
          <a:p>
            <a:pPr marL="0" indent="0">
              <a:buNone/>
            </a:pPr>
            <a:r>
              <a:rPr lang="en-US" sz="1300" b="1" dirty="0">
                <a:solidFill>
                  <a:srgbClr val="06B6D4"/>
                </a:solidFill>
                <a:latin typeface="Calibri" panose="020F0502020204030204" pitchFamily="34" charset="0"/>
                <a:ea typeface="Calibri" panose="020F0502020204030204" pitchFamily="34" charset="-122"/>
                <a:cs typeface="Calibri" panose="020F0502020204030204" pitchFamily="34" charset="-120"/>
              </a:rPr>
              <a:t>Syntax &amp; Examples:</a:t>
            </a:r>
            <a:endParaRPr lang="en-US" sz="1300" dirty="0"/>
          </a:p>
        </p:txBody>
      </p:sp>
      <p:sp>
        <p:nvSpPr>
          <p:cNvPr id="21" name="Shape 19"/>
          <p:cNvSpPr/>
          <p:nvPr/>
        </p:nvSpPr>
        <p:spPr>
          <a:xfrm>
            <a:off x="365760" y="3063240"/>
            <a:ext cx="8412480" cy="1005840"/>
          </a:xfrm>
          <a:prstGeom prst="rect">
            <a:avLst/>
          </a:prstGeom>
          <a:solidFill>
            <a:srgbClr val="0D1117"/>
          </a:solidFill>
          <a:ln w="12700">
            <a:solidFill>
              <a:srgbClr val="10B981"/>
            </a:solidFill>
            <a:prstDash val="solid"/>
          </a:ln>
        </p:spPr>
      </p:sp>
      <p:sp>
        <p:nvSpPr>
          <p:cNvPr id="22" name="Text 20"/>
          <p:cNvSpPr/>
          <p:nvPr/>
        </p:nvSpPr>
        <p:spPr>
          <a:xfrm>
            <a:off x="548640" y="3108960"/>
            <a:ext cx="8046720" cy="914400"/>
          </a:xfrm>
          <a:prstGeom prst="rect">
            <a:avLst/>
          </a:prstGeom>
          <a:noFill/>
        </p:spPr>
        <p:txBody>
          <a:bodyPr wrap="square" lIns="0" tIns="0" rIns="0" bIns="0" rtlCol="0" anchor="ctr"/>
          <a:lstStyle/>
          <a:p>
            <a:pPr marL="0" indent="0">
              <a:buNone/>
            </a:pPr>
            <a:r>
              <a:rPr lang="en-US" sz="1200" dirty="0">
                <a:solidFill>
                  <a:srgbClr val="A5F3FC"/>
                </a:solidFill>
                <a:latin typeface="Consolas" panose="020B0609020204030204" pitchFamily="34" charset="0"/>
                <a:ea typeface="Consolas" panose="020B0609020204030204" pitchFamily="34" charset="-122"/>
                <a:cs typeface="Consolas" panose="020B0609020204030204" pitchFamily="34" charset="-120"/>
              </a:rPr>
              <a:t>el.classList.toggle('active');            // Toggles 'active' on/off</a:t>
            </a:r>
            <a:endParaRPr lang="en-US" sz="1200" dirty="0"/>
          </a:p>
          <a:p>
            <a:pPr marL="0" indent="0">
              <a:buNone/>
            </a:pPr>
            <a:r>
              <a:rPr lang="en-US" sz="1200" dirty="0">
                <a:solidFill>
                  <a:srgbClr val="A5F3FC"/>
                </a:solidFill>
                <a:latin typeface="Consolas" panose="020B0609020204030204" pitchFamily="34" charset="0"/>
                <a:ea typeface="Consolas" panose="020B0609020204030204" pitchFamily="34" charset="-122"/>
                <a:cs typeface="Consolas" panose="020B0609020204030204" pitchFamily="34" charset="-120"/>
              </a:rPr>
              <a:t>el.classList.toggle('dark', true);        // Force ADD  (like add)</a:t>
            </a:r>
            <a:endParaRPr lang="en-US" sz="1200" dirty="0"/>
          </a:p>
          <a:p>
            <a:pPr marL="0" indent="0">
              <a:buNone/>
            </a:pPr>
            <a:r>
              <a:rPr lang="en-US" sz="1200" dirty="0">
                <a:solidFill>
                  <a:srgbClr val="A5F3FC"/>
                </a:solidFill>
                <a:latin typeface="Consolas" panose="020B0609020204030204" pitchFamily="34" charset="0"/>
                <a:ea typeface="Consolas" panose="020B0609020204030204" pitchFamily="34" charset="-122"/>
                <a:cs typeface="Consolas" panose="020B0609020204030204" pitchFamily="34" charset="-120"/>
              </a:rPr>
              <a:t>el.classList.toggle('dark', false);       // Force REMOVE (like remove)</a:t>
            </a:r>
            <a:endParaRPr lang="en-US" sz="1200" dirty="0"/>
          </a:p>
          <a:p>
            <a:pPr marL="0" indent="0">
              <a:buNone/>
            </a:pPr>
            <a:r>
              <a:rPr lang="en-US" sz="12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isOn = el.classList.toggle('open'); // Returns true if added</a:t>
            </a:r>
            <a:endParaRPr lang="en-US" sz="1200" dirty="0"/>
          </a:p>
        </p:txBody>
      </p:sp>
      <p:sp>
        <p:nvSpPr>
          <p:cNvPr id="23" name="Text 21"/>
          <p:cNvSpPr/>
          <p:nvPr/>
        </p:nvSpPr>
        <p:spPr>
          <a:xfrm>
            <a:off x="365760" y="4187952"/>
            <a:ext cx="4572000" cy="274320"/>
          </a:xfrm>
          <a:prstGeom prst="rect">
            <a:avLst/>
          </a:prstGeom>
          <a:noFill/>
        </p:spPr>
        <p:txBody>
          <a:bodyPr wrap="square" lIns="0" tIns="0" rIns="0" bIns="0" rtlCol="0" anchor="ctr"/>
          <a:lstStyle/>
          <a:p>
            <a:pPr marL="0" indent="0">
              <a:buNone/>
            </a:pPr>
            <a:r>
              <a:rPr lang="en-US" sz="1300" b="1" dirty="0">
                <a:solidFill>
                  <a:srgbClr val="10B981"/>
                </a:solidFill>
                <a:latin typeface="Calibri" panose="020F0502020204030204" pitchFamily="34" charset="0"/>
                <a:ea typeface="Calibri" panose="020F0502020204030204" pitchFamily="34" charset="-122"/>
                <a:cs typeface="Calibri" panose="020F0502020204030204" pitchFamily="34" charset="-120"/>
              </a:rPr>
              <a:t>Real-World Example — Dark Mode Toggle:</a:t>
            </a:r>
            <a:endParaRPr lang="en-US" sz="1300" dirty="0"/>
          </a:p>
        </p:txBody>
      </p:sp>
      <p:sp>
        <p:nvSpPr>
          <p:cNvPr id="24" name="Shape 22"/>
          <p:cNvSpPr/>
          <p:nvPr/>
        </p:nvSpPr>
        <p:spPr>
          <a:xfrm>
            <a:off x="365760" y="4498848"/>
            <a:ext cx="8412480" cy="548640"/>
          </a:xfrm>
          <a:prstGeom prst="rect">
            <a:avLst/>
          </a:prstGeom>
          <a:solidFill>
            <a:srgbClr val="0D1117"/>
          </a:solidFill>
          <a:ln w="12700">
            <a:solidFill>
              <a:srgbClr val="10B981"/>
            </a:solidFill>
            <a:prstDash val="solid"/>
          </a:ln>
        </p:spPr>
      </p:sp>
      <p:sp>
        <p:nvSpPr>
          <p:cNvPr id="25" name="Text 23"/>
          <p:cNvSpPr/>
          <p:nvPr/>
        </p:nvSpPr>
        <p:spPr>
          <a:xfrm>
            <a:off x="548640" y="4535424"/>
            <a:ext cx="8046720" cy="475488"/>
          </a:xfrm>
          <a:prstGeom prst="rect">
            <a:avLst/>
          </a:prstGeom>
          <a:noFill/>
        </p:spPr>
        <p:txBody>
          <a:bodyPr wrap="square" lIns="0" tIns="0" rIns="0" bIns="0" rtlCol="0" anchor="ctr"/>
          <a:lstStyle/>
          <a:p>
            <a:pPr marL="0" indent="0">
              <a:buNone/>
            </a:pPr>
            <a:r>
              <a:rPr lang="en-US" sz="12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btn = document.getElementById('darkModeBtn');</a:t>
            </a:r>
            <a:endParaRPr lang="en-US" sz="1200" dirty="0"/>
          </a:p>
          <a:p>
            <a:pPr marL="0" indent="0">
              <a:buNone/>
            </a:pPr>
            <a:r>
              <a:rPr lang="en-US" sz="1200" dirty="0">
                <a:solidFill>
                  <a:srgbClr val="A5F3FC"/>
                </a:solidFill>
                <a:latin typeface="Consolas" panose="020B0609020204030204" pitchFamily="34" charset="0"/>
                <a:ea typeface="Consolas" panose="020B0609020204030204" pitchFamily="34" charset="-122"/>
                <a:cs typeface="Consolas" panose="020B0609020204030204" pitchFamily="34" charset="-120"/>
              </a:rPr>
              <a:t>btn.addEventListener('click', () =&gt; document.body.classList.toggle('dark-mode'));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57BF6"/>
          </a:solidFill>
          <a:ln w="12700">
            <a:solidFill>
              <a:srgbClr val="B57BF6"/>
            </a:solidFill>
            <a:prstDash val="solid"/>
          </a:ln>
        </p:spPr>
      </p:sp>
      <p:sp>
        <p:nvSpPr>
          <p:cNvPr id="3" name="Text 1"/>
          <p:cNvSpPr/>
          <p:nvPr/>
        </p:nvSpPr>
        <p:spPr>
          <a:xfrm>
            <a:off x="365760" y="137160"/>
            <a:ext cx="8412480" cy="411480"/>
          </a:xfrm>
          <a:prstGeom prst="rect">
            <a:avLst/>
          </a:prstGeom>
          <a:noFill/>
        </p:spPr>
        <p:txBody>
          <a:bodyPr wrap="square" lIns="0" tIns="0" rIns="0" bIns="0" rtlCol="0" anchor="ctr"/>
          <a:lstStyle/>
          <a:p>
            <a:pPr marL="0" indent="0">
              <a:buNone/>
            </a:pPr>
            <a:r>
              <a:rPr lang="en-US" sz="2200" b="1" dirty="0">
                <a:solidFill>
                  <a:srgbClr val="B57BF6"/>
                </a:solidFill>
                <a:latin typeface="Consolas" panose="020B0609020204030204" pitchFamily="34" charset="0"/>
                <a:ea typeface="Consolas" panose="020B0609020204030204" pitchFamily="34" charset="-122"/>
                <a:cs typeface="Consolas" panose="020B0609020204030204" pitchFamily="34" charset="-120"/>
              </a:rPr>
              <a:t>classList.contains( )  &amp;  classList.replace( )</a:t>
            </a:r>
            <a:endParaRPr lang="en-US" sz="2200" dirty="0"/>
          </a:p>
        </p:txBody>
      </p:sp>
      <p:sp>
        <p:nvSpPr>
          <p:cNvPr id="4" name="Shape 2"/>
          <p:cNvSpPr/>
          <p:nvPr/>
        </p:nvSpPr>
        <p:spPr>
          <a:xfrm>
            <a:off x="365760" y="576072"/>
            <a:ext cx="8412480" cy="36576"/>
          </a:xfrm>
          <a:prstGeom prst="rect">
            <a:avLst/>
          </a:prstGeom>
          <a:solidFill>
            <a:srgbClr val="1E293B"/>
          </a:solidFill>
          <a:ln w="12700">
            <a:solidFill>
              <a:srgbClr val="1E293B"/>
            </a:solidFill>
            <a:prstDash val="solid"/>
          </a:ln>
        </p:spPr>
      </p:sp>
      <p:sp>
        <p:nvSpPr>
          <p:cNvPr id="5" name="Shape 3"/>
          <p:cNvSpPr/>
          <p:nvPr/>
        </p:nvSpPr>
        <p:spPr>
          <a:xfrm>
            <a:off x="365760" y="685800"/>
            <a:ext cx="4114800" cy="3657600"/>
          </a:xfrm>
          <a:prstGeom prst="rect">
            <a:avLst/>
          </a:prstGeom>
          <a:solidFill>
            <a:srgbClr val="1E293B"/>
          </a:solidFill>
          <a:ln w="12700">
            <a:solidFill>
              <a:srgbClr val="B57BF6"/>
            </a:solidFill>
            <a:prstDash val="solid"/>
          </a:ln>
        </p:spPr>
      </p:sp>
      <p:sp>
        <p:nvSpPr>
          <p:cNvPr id="6" name="Text 4"/>
          <p:cNvSpPr/>
          <p:nvPr/>
        </p:nvSpPr>
        <p:spPr>
          <a:xfrm>
            <a:off x="502920" y="804672"/>
            <a:ext cx="3840480" cy="292608"/>
          </a:xfrm>
          <a:prstGeom prst="rect">
            <a:avLst/>
          </a:prstGeom>
          <a:noFill/>
        </p:spPr>
        <p:txBody>
          <a:bodyPr wrap="square" lIns="0" tIns="0" rIns="0" bIns="0" rtlCol="0" anchor="ctr"/>
          <a:lstStyle/>
          <a:p>
            <a:pPr marL="0" indent="0">
              <a:buNone/>
            </a:pPr>
            <a:r>
              <a:rPr lang="en-US" sz="1500" b="1" dirty="0">
                <a:solidFill>
                  <a:srgbClr val="B57BF6"/>
                </a:solidFill>
                <a:latin typeface="Consolas" panose="020B0609020204030204" pitchFamily="34" charset="0"/>
                <a:ea typeface="Consolas" panose="020B0609020204030204" pitchFamily="34" charset="-122"/>
                <a:cs typeface="Consolas" panose="020B0609020204030204" pitchFamily="34" charset="-120"/>
              </a:rPr>
              <a:t>classList.contains()</a:t>
            </a:r>
            <a:endParaRPr lang="en-US" sz="1500" dirty="0"/>
          </a:p>
        </p:txBody>
      </p:sp>
      <p:sp>
        <p:nvSpPr>
          <p:cNvPr id="7" name="Text 5"/>
          <p:cNvSpPr/>
          <p:nvPr/>
        </p:nvSpPr>
        <p:spPr>
          <a:xfrm>
            <a:off x="502920" y="1161288"/>
            <a:ext cx="3840480" cy="530352"/>
          </a:xfrm>
          <a:prstGeom prst="rect">
            <a:avLst/>
          </a:prstGeom>
          <a:noFill/>
        </p:spPr>
        <p:txBody>
          <a:bodyPr wrap="square" lIns="0" tIns="0" rIns="0" bIns="0" rtlCol="0" anchor="ctr"/>
          <a:lstStyle/>
          <a:p>
            <a:pPr marL="0" indent="0">
              <a:buNone/>
            </a:pPr>
            <a:r>
              <a:rPr lang="en-US" sz="1200" dirty="0">
                <a:solidFill>
                  <a:srgbClr val="F8FAFC"/>
                </a:solidFill>
                <a:latin typeface="Calibri" panose="020F0502020204030204" pitchFamily="34" charset="0"/>
                <a:ea typeface="Calibri" panose="020F0502020204030204" pitchFamily="34" charset="-122"/>
                <a:cs typeface="Calibri" panose="020F0502020204030204" pitchFamily="34" charset="-120"/>
              </a:rPr>
              <a:t>Returns true if the element has the specified class, false if it doesn't. Very useful for conditional logic — check before acting.</a:t>
            </a:r>
            <a:endParaRPr lang="en-US" sz="1200" dirty="0"/>
          </a:p>
        </p:txBody>
      </p:sp>
      <p:sp>
        <p:nvSpPr>
          <p:cNvPr id="8" name="Shape 6"/>
          <p:cNvSpPr/>
          <p:nvPr/>
        </p:nvSpPr>
        <p:spPr>
          <a:xfrm>
            <a:off x="502920" y="1764792"/>
            <a:ext cx="3840480" cy="1874520"/>
          </a:xfrm>
          <a:prstGeom prst="rect">
            <a:avLst/>
          </a:prstGeom>
          <a:solidFill>
            <a:srgbClr val="0D1117"/>
          </a:solidFill>
          <a:ln w="12700">
            <a:solidFill>
              <a:srgbClr val="B57BF6"/>
            </a:solidFill>
            <a:prstDash val="solid"/>
          </a:ln>
        </p:spPr>
      </p:sp>
      <p:sp>
        <p:nvSpPr>
          <p:cNvPr id="9" name="Text 7"/>
          <p:cNvSpPr/>
          <p:nvPr/>
        </p:nvSpPr>
        <p:spPr>
          <a:xfrm>
            <a:off x="640080" y="1810512"/>
            <a:ext cx="3657600" cy="1783080"/>
          </a:xfrm>
          <a:prstGeom prst="rect">
            <a:avLst/>
          </a:prstGeom>
          <a:noFill/>
        </p:spPr>
        <p:txBody>
          <a:bodyPr wrap="square" lIns="0" tIns="0" rIns="0" bIns="0" rtlCol="0" anchor="ctr"/>
          <a:lstStyle/>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el = document.querySelector('.card');</a:t>
            </a:r>
            <a:endParaRPr lang="en-US" sz="1000" dirty="0"/>
          </a:p>
          <a:p>
            <a:pPr marL="0" indent="0">
              <a:buNone/>
            </a:pP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Check if class exists</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if (el.classList.contains('active')) {</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console.log('Element is active!');</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el.classList.remove('active');</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else {</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el.classList.add('active');</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a:t>
            </a:r>
            <a:endParaRPr lang="en-US" sz="1000" dirty="0"/>
          </a:p>
          <a:p>
            <a:pPr marL="0" indent="0">
              <a:buNone/>
            </a:pP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Returns true or false</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isHidden = el.classList.contains('hidden');</a:t>
            </a:r>
            <a:endParaRPr lang="en-US" sz="1000" dirty="0"/>
          </a:p>
        </p:txBody>
      </p:sp>
      <p:sp>
        <p:nvSpPr>
          <p:cNvPr id="10" name="Shape 8"/>
          <p:cNvSpPr/>
          <p:nvPr/>
        </p:nvSpPr>
        <p:spPr>
          <a:xfrm>
            <a:off x="502920" y="3703320"/>
            <a:ext cx="3840480" cy="502920"/>
          </a:xfrm>
          <a:prstGeom prst="rect">
            <a:avLst/>
          </a:prstGeom>
          <a:solidFill>
            <a:srgbClr val="1C1040"/>
          </a:solidFill>
          <a:ln w="12700">
            <a:solidFill>
              <a:srgbClr val="B57BF6"/>
            </a:solidFill>
            <a:prstDash val="solid"/>
          </a:ln>
        </p:spPr>
      </p:sp>
      <p:sp>
        <p:nvSpPr>
          <p:cNvPr id="11" name="Text 9"/>
          <p:cNvSpPr/>
          <p:nvPr/>
        </p:nvSpPr>
        <p:spPr>
          <a:xfrm>
            <a:off x="640080" y="3749040"/>
            <a:ext cx="3657600" cy="411480"/>
          </a:xfrm>
          <a:prstGeom prst="rect">
            <a:avLst/>
          </a:prstGeom>
          <a:noFill/>
        </p:spPr>
        <p:txBody>
          <a:bodyPr wrap="square" lIns="0" tIns="0" rIns="0" bIns="0" rtlCol="0" anchor="ctr"/>
          <a:lstStyle/>
          <a:p>
            <a:pPr marL="0" indent="0">
              <a:buNone/>
            </a:pPr>
            <a:r>
              <a:rPr lang="en-US" sz="1100" dirty="0">
                <a:solidFill>
                  <a:srgbClr val="B57BF6"/>
                </a:solidFill>
                <a:latin typeface="Calibri" panose="020F0502020204030204" pitchFamily="34" charset="0"/>
                <a:ea typeface="Calibri" panose="020F0502020204030204" pitchFamily="34" charset="-122"/>
                <a:cs typeface="Calibri" panose="020F0502020204030204" pitchFamily="34" charset="-120"/>
              </a:rPr>
              <a:t>✔ Use for conditional checks before toggling or manipulating classes.</a:t>
            </a:r>
            <a:endParaRPr lang="en-US" sz="1100" dirty="0"/>
          </a:p>
        </p:txBody>
      </p:sp>
      <p:sp>
        <p:nvSpPr>
          <p:cNvPr id="12" name="Shape 10"/>
          <p:cNvSpPr/>
          <p:nvPr/>
        </p:nvSpPr>
        <p:spPr>
          <a:xfrm>
            <a:off x="4663440" y="685800"/>
            <a:ext cx="4114800" cy="3657600"/>
          </a:xfrm>
          <a:prstGeom prst="rect">
            <a:avLst/>
          </a:prstGeom>
          <a:solidFill>
            <a:srgbClr val="1E293B"/>
          </a:solidFill>
          <a:ln w="12700">
            <a:solidFill>
              <a:srgbClr val="06B6D4"/>
            </a:solidFill>
            <a:prstDash val="solid"/>
          </a:ln>
        </p:spPr>
      </p:sp>
      <p:sp>
        <p:nvSpPr>
          <p:cNvPr id="13" name="Text 11"/>
          <p:cNvSpPr/>
          <p:nvPr/>
        </p:nvSpPr>
        <p:spPr>
          <a:xfrm>
            <a:off x="4800600" y="804672"/>
            <a:ext cx="3840480" cy="292608"/>
          </a:xfrm>
          <a:prstGeom prst="rect">
            <a:avLst/>
          </a:prstGeom>
          <a:noFill/>
        </p:spPr>
        <p:txBody>
          <a:bodyPr wrap="square" lIns="0" tIns="0" rIns="0" bIns="0" rtlCol="0" anchor="ctr"/>
          <a:lstStyle/>
          <a:p>
            <a:pPr marL="0" indent="0">
              <a:buNone/>
            </a:pPr>
            <a:r>
              <a:rPr lang="en-US" sz="1500" b="1" dirty="0">
                <a:solidFill>
                  <a:srgbClr val="06B6D4"/>
                </a:solidFill>
                <a:latin typeface="Consolas" panose="020B0609020204030204" pitchFamily="34" charset="0"/>
                <a:ea typeface="Consolas" panose="020B0609020204030204" pitchFamily="34" charset="-122"/>
                <a:cs typeface="Consolas" panose="020B0609020204030204" pitchFamily="34" charset="-120"/>
              </a:rPr>
              <a:t>classList.replace()</a:t>
            </a:r>
            <a:endParaRPr lang="en-US" sz="1500" dirty="0"/>
          </a:p>
        </p:txBody>
      </p:sp>
      <p:sp>
        <p:nvSpPr>
          <p:cNvPr id="14" name="Text 12"/>
          <p:cNvSpPr/>
          <p:nvPr/>
        </p:nvSpPr>
        <p:spPr>
          <a:xfrm>
            <a:off x="4800600" y="1161288"/>
            <a:ext cx="3840480" cy="530352"/>
          </a:xfrm>
          <a:prstGeom prst="rect">
            <a:avLst/>
          </a:prstGeom>
          <a:noFill/>
        </p:spPr>
        <p:txBody>
          <a:bodyPr wrap="square" lIns="0" tIns="0" rIns="0" bIns="0" rtlCol="0" anchor="ctr"/>
          <a:lstStyle/>
          <a:p>
            <a:pPr marL="0" indent="0">
              <a:buNone/>
            </a:pPr>
            <a:r>
              <a:rPr lang="en-US" sz="1200" dirty="0">
                <a:solidFill>
                  <a:srgbClr val="F8FAFC"/>
                </a:solidFill>
                <a:latin typeface="Calibri" panose="020F0502020204030204" pitchFamily="34" charset="0"/>
                <a:ea typeface="Calibri" panose="020F0502020204030204" pitchFamily="34" charset="-122"/>
                <a:cs typeface="Calibri" panose="020F0502020204030204" pitchFamily="34" charset="-120"/>
              </a:rPr>
              <a:t>Replaces an existing class with a new one. Returns true if the replacement happened, false if the old class was not found. Cleaner than removing then adding.</a:t>
            </a:r>
            <a:endParaRPr lang="en-US" sz="1200" dirty="0"/>
          </a:p>
        </p:txBody>
      </p:sp>
      <p:sp>
        <p:nvSpPr>
          <p:cNvPr id="15" name="Shape 13"/>
          <p:cNvSpPr/>
          <p:nvPr/>
        </p:nvSpPr>
        <p:spPr>
          <a:xfrm>
            <a:off x="4800600" y="1764792"/>
            <a:ext cx="3840480" cy="1874520"/>
          </a:xfrm>
          <a:prstGeom prst="rect">
            <a:avLst/>
          </a:prstGeom>
          <a:solidFill>
            <a:srgbClr val="0D1117"/>
          </a:solidFill>
          <a:ln w="12700">
            <a:solidFill>
              <a:srgbClr val="06B6D4"/>
            </a:solidFill>
            <a:prstDash val="solid"/>
          </a:ln>
        </p:spPr>
      </p:sp>
      <p:sp>
        <p:nvSpPr>
          <p:cNvPr id="16" name="Text 14"/>
          <p:cNvSpPr/>
          <p:nvPr/>
        </p:nvSpPr>
        <p:spPr>
          <a:xfrm>
            <a:off x="4937760" y="1810512"/>
            <a:ext cx="3657600" cy="1783080"/>
          </a:xfrm>
          <a:prstGeom prst="rect">
            <a:avLst/>
          </a:prstGeom>
          <a:noFill/>
        </p:spPr>
        <p:txBody>
          <a:bodyPr wrap="square" lIns="0" tIns="0" rIns="0" bIns="0" rtlCol="0" anchor="ctr"/>
          <a:lstStyle/>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btn = document.querySelector('button');</a:t>
            </a:r>
            <a:endParaRPr lang="en-US" sz="1000" dirty="0"/>
          </a:p>
          <a:p>
            <a:pPr marL="0" indent="0">
              <a:buNone/>
            </a:pP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Replace 'inactive' with 'active'</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btn.classList.replace('inactive', 'active');</a:t>
            </a:r>
            <a:endParaRPr lang="en-US" sz="1000" dirty="0"/>
          </a:p>
          <a:p>
            <a:pPr marL="0" indent="0">
              <a:buNone/>
            </a:pP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Returns true if replaced successfully</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success = btn.classList.replace('old', 'new');</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console.log(success); // true or false</a:t>
            </a:r>
            <a:endParaRPr lang="en-US" sz="1000" dirty="0"/>
          </a:p>
          <a:p>
            <a:pPr marL="0" indent="0">
              <a:buNone/>
            </a:pP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Old way (2 steps — messy):</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btn.classList.remove('inactive');</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btn.classList.add('active');</a:t>
            </a:r>
            <a:endParaRPr lang="en-US" sz="1000" dirty="0"/>
          </a:p>
        </p:txBody>
      </p:sp>
      <p:sp>
        <p:nvSpPr>
          <p:cNvPr id="17" name="Shape 15"/>
          <p:cNvSpPr/>
          <p:nvPr/>
        </p:nvSpPr>
        <p:spPr>
          <a:xfrm>
            <a:off x="4800600" y="3703320"/>
            <a:ext cx="3840480" cy="502920"/>
          </a:xfrm>
          <a:prstGeom prst="rect">
            <a:avLst/>
          </a:prstGeom>
          <a:solidFill>
            <a:srgbClr val="0D1A1F"/>
          </a:solidFill>
          <a:ln w="12700">
            <a:solidFill>
              <a:srgbClr val="06B6D4"/>
            </a:solidFill>
            <a:prstDash val="solid"/>
          </a:ln>
        </p:spPr>
      </p:sp>
      <p:sp>
        <p:nvSpPr>
          <p:cNvPr id="18" name="Text 16"/>
          <p:cNvSpPr/>
          <p:nvPr/>
        </p:nvSpPr>
        <p:spPr>
          <a:xfrm>
            <a:off x="4937760" y="3749040"/>
            <a:ext cx="3657600" cy="411480"/>
          </a:xfrm>
          <a:prstGeom prst="rect">
            <a:avLst/>
          </a:prstGeom>
          <a:noFill/>
        </p:spPr>
        <p:txBody>
          <a:bodyPr wrap="square" lIns="0" tIns="0" rIns="0" bIns="0" rtlCol="0" anchor="ctr"/>
          <a:lstStyle/>
          <a:p>
            <a:pPr marL="0" indent="0">
              <a:buNone/>
            </a:pPr>
            <a:r>
              <a:rPr lang="en-US" sz="1100" dirty="0">
                <a:solidFill>
                  <a:srgbClr val="06B6D4"/>
                </a:solidFill>
                <a:latin typeface="Calibri" panose="020F0502020204030204" pitchFamily="34" charset="0"/>
                <a:ea typeface="Calibri" panose="020F0502020204030204" pitchFamily="34" charset="-122"/>
                <a:cs typeface="Calibri" panose="020F0502020204030204" pitchFamily="34" charset="-120"/>
              </a:rPr>
              <a:t>✔ Cleaner than remove + add — single operation, single return value.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57BF6"/>
          </a:solidFill>
          <a:ln w="12700">
            <a:solidFill>
              <a:srgbClr val="B57BF6"/>
            </a:solidFill>
            <a:prstDash val="solid"/>
          </a:ln>
        </p:spPr>
      </p:sp>
      <p:sp>
        <p:nvSpPr>
          <p:cNvPr id="3" name="Text 1"/>
          <p:cNvSpPr/>
          <p:nvPr/>
        </p:nvSpPr>
        <p:spPr>
          <a:xfrm>
            <a:off x="365760" y="137160"/>
            <a:ext cx="8412480" cy="411480"/>
          </a:xfrm>
          <a:prstGeom prst="rect">
            <a:avLst/>
          </a:prstGeom>
          <a:noFill/>
        </p:spPr>
        <p:txBody>
          <a:bodyPr wrap="square" lIns="0" tIns="0" rIns="0" bIns="0" rtlCol="0" anchor="ctr"/>
          <a:lstStyle/>
          <a:p>
            <a:pPr marL="0" indent="0">
              <a:buNone/>
            </a:pPr>
            <a:r>
              <a:rPr lang="en-US" sz="2200" b="1" dirty="0">
                <a:solidFill>
                  <a:srgbClr val="B57BF6"/>
                </a:solidFill>
                <a:latin typeface="Consolas" panose="020B0609020204030204" pitchFamily="34" charset="0"/>
                <a:ea typeface="Consolas" panose="020B0609020204030204" pitchFamily="34" charset="-122"/>
                <a:cs typeface="Consolas" panose="020B0609020204030204" pitchFamily="34" charset="-120"/>
              </a:rPr>
              <a:t>classList — item( ), value, length &amp; Iteration</a:t>
            </a:r>
            <a:endParaRPr lang="en-US" sz="2200" dirty="0"/>
          </a:p>
        </p:txBody>
      </p:sp>
      <p:sp>
        <p:nvSpPr>
          <p:cNvPr id="4" name="Shape 2"/>
          <p:cNvSpPr/>
          <p:nvPr/>
        </p:nvSpPr>
        <p:spPr>
          <a:xfrm>
            <a:off x="365760" y="576072"/>
            <a:ext cx="8412480" cy="36576"/>
          </a:xfrm>
          <a:prstGeom prst="rect">
            <a:avLst/>
          </a:prstGeom>
          <a:solidFill>
            <a:srgbClr val="1E293B"/>
          </a:solidFill>
          <a:ln w="12700">
            <a:solidFill>
              <a:srgbClr val="1E293B"/>
            </a:solidFill>
            <a:prstDash val="solid"/>
          </a:ln>
        </p:spPr>
      </p:sp>
      <p:sp>
        <p:nvSpPr>
          <p:cNvPr id="5" name="Shape 3"/>
          <p:cNvSpPr/>
          <p:nvPr/>
        </p:nvSpPr>
        <p:spPr>
          <a:xfrm>
            <a:off x="365760" y="685800"/>
            <a:ext cx="4160520" cy="2057400"/>
          </a:xfrm>
          <a:prstGeom prst="rect">
            <a:avLst/>
          </a:prstGeom>
          <a:solidFill>
            <a:srgbClr val="1E293B"/>
          </a:solidFill>
          <a:ln w="12700">
            <a:solidFill>
              <a:srgbClr val="3B82F6"/>
            </a:solidFill>
            <a:prstDash val="solid"/>
          </a:ln>
        </p:spPr>
      </p:sp>
      <p:sp>
        <p:nvSpPr>
          <p:cNvPr id="6" name="Text 4"/>
          <p:cNvSpPr/>
          <p:nvPr/>
        </p:nvSpPr>
        <p:spPr>
          <a:xfrm>
            <a:off x="475488" y="777240"/>
            <a:ext cx="3931920" cy="274320"/>
          </a:xfrm>
          <a:prstGeom prst="rect">
            <a:avLst/>
          </a:prstGeom>
          <a:noFill/>
        </p:spPr>
        <p:txBody>
          <a:bodyPr wrap="square" lIns="0" tIns="0" rIns="0" bIns="0" rtlCol="0" anchor="ctr"/>
          <a:lstStyle/>
          <a:p>
            <a:pPr marL="0" indent="0">
              <a:buNone/>
            </a:pPr>
            <a:r>
              <a:rPr lang="en-US" sz="1300" b="1" dirty="0">
                <a:solidFill>
                  <a:srgbClr val="3B82F6"/>
                </a:solidFill>
                <a:latin typeface="Consolas" panose="020B0609020204030204" pitchFamily="34" charset="0"/>
                <a:ea typeface="Consolas" panose="020B0609020204030204" pitchFamily="34" charset="-122"/>
                <a:cs typeface="Consolas" panose="020B0609020204030204" pitchFamily="34" charset="-120"/>
              </a:rPr>
              <a:t>classList.item(index)</a:t>
            </a:r>
            <a:endParaRPr lang="en-US" sz="1300" dirty="0"/>
          </a:p>
        </p:txBody>
      </p:sp>
      <p:sp>
        <p:nvSpPr>
          <p:cNvPr id="7" name="Text 5"/>
          <p:cNvSpPr/>
          <p:nvPr/>
        </p:nvSpPr>
        <p:spPr>
          <a:xfrm>
            <a:off x="475488" y="1106424"/>
            <a:ext cx="3931920" cy="594360"/>
          </a:xfrm>
          <a:prstGeom prst="rect">
            <a:avLst/>
          </a:prstGeom>
          <a:noFill/>
        </p:spPr>
        <p:txBody>
          <a:bodyPr wrap="square" lIns="0" tIns="0" rIns="0" bIns="0" rtlCol="0" anchor="ctr"/>
          <a:lstStyle/>
          <a:p>
            <a:pPr marL="0" indent="0">
              <a:buNone/>
            </a:pPr>
            <a:r>
              <a:rPr lang="en-US" sz="1100" dirty="0">
                <a:solidFill>
                  <a:srgbClr val="F8FAFC"/>
                </a:solidFill>
                <a:latin typeface="Calibri" panose="020F0502020204030204" pitchFamily="34" charset="0"/>
                <a:ea typeface="Calibri" panose="020F0502020204030204" pitchFamily="34" charset="-122"/>
                <a:cs typeface="Calibri" panose="020F0502020204030204" pitchFamily="34" charset="-120"/>
              </a:rPr>
              <a:t>Returns the class name at the given index position (0-based). Returns null if the index is out of range. Useful for accessing classes by position.</a:t>
            </a:r>
            <a:endParaRPr lang="en-US" sz="1100" dirty="0"/>
          </a:p>
        </p:txBody>
      </p:sp>
      <p:sp>
        <p:nvSpPr>
          <p:cNvPr id="8" name="Shape 6"/>
          <p:cNvSpPr/>
          <p:nvPr/>
        </p:nvSpPr>
        <p:spPr>
          <a:xfrm>
            <a:off x="475488" y="1728216"/>
            <a:ext cx="3931920" cy="896112"/>
          </a:xfrm>
          <a:prstGeom prst="rect">
            <a:avLst/>
          </a:prstGeom>
          <a:solidFill>
            <a:srgbClr val="0D1117"/>
          </a:solidFill>
          <a:ln w="12700">
            <a:solidFill>
              <a:srgbClr val="3B82F6"/>
            </a:solidFill>
            <a:prstDash val="solid"/>
          </a:ln>
        </p:spPr>
      </p:sp>
      <p:sp>
        <p:nvSpPr>
          <p:cNvPr id="9" name="Text 7"/>
          <p:cNvSpPr/>
          <p:nvPr/>
        </p:nvSpPr>
        <p:spPr>
          <a:xfrm>
            <a:off x="566928" y="1764792"/>
            <a:ext cx="3749040" cy="822960"/>
          </a:xfrm>
          <a:prstGeom prst="rect">
            <a:avLst/>
          </a:prstGeom>
          <a:noFill/>
        </p:spPr>
        <p:txBody>
          <a:bodyPr wrap="square" lIns="0" tIns="0" rIns="0" bIns="0" rtlCol="0" anchor="ctr"/>
          <a:lstStyle/>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el.classList.add('a','b','c');</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el.classList.item(0); // 'a'</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el.classList.item(1); // 'b'</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el.classList.item(5); // null</a:t>
            </a:r>
            <a:endParaRPr lang="en-US" sz="1000" dirty="0"/>
          </a:p>
        </p:txBody>
      </p:sp>
      <p:sp>
        <p:nvSpPr>
          <p:cNvPr id="10" name="Shape 8"/>
          <p:cNvSpPr/>
          <p:nvPr/>
        </p:nvSpPr>
        <p:spPr>
          <a:xfrm>
            <a:off x="4754880" y="685800"/>
            <a:ext cx="4160520" cy="2057400"/>
          </a:xfrm>
          <a:prstGeom prst="rect">
            <a:avLst/>
          </a:prstGeom>
          <a:solidFill>
            <a:srgbClr val="1E293B"/>
          </a:solidFill>
          <a:ln w="12700">
            <a:solidFill>
              <a:srgbClr val="10B981"/>
            </a:solidFill>
            <a:prstDash val="solid"/>
          </a:ln>
        </p:spPr>
      </p:sp>
      <p:sp>
        <p:nvSpPr>
          <p:cNvPr id="11" name="Text 9"/>
          <p:cNvSpPr/>
          <p:nvPr/>
        </p:nvSpPr>
        <p:spPr>
          <a:xfrm>
            <a:off x="4864608" y="777240"/>
            <a:ext cx="3931920" cy="274320"/>
          </a:xfrm>
          <a:prstGeom prst="rect">
            <a:avLst/>
          </a:prstGeom>
          <a:noFill/>
        </p:spPr>
        <p:txBody>
          <a:bodyPr wrap="square" lIns="0" tIns="0" rIns="0" bIns="0" rtlCol="0" anchor="ctr"/>
          <a:lstStyle/>
          <a:p>
            <a:pPr marL="0" indent="0">
              <a:buNone/>
            </a:pPr>
            <a:r>
              <a:rPr lang="en-US" sz="1300" b="1" dirty="0">
                <a:solidFill>
                  <a:srgbClr val="10B981"/>
                </a:solidFill>
                <a:latin typeface="Consolas" panose="020B0609020204030204" pitchFamily="34" charset="0"/>
                <a:ea typeface="Consolas" panose="020B0609020204030204" pitchFamily="34" charset="-122"/>
                <a:cs typeface="Consolas" panose="020B0609020204030204" pitchFamily="34" charset="-120"/>
              </a:rPr>
              <a:t>classList.length</a:t>
            </a:r>
            <a:endParaRPr lang="en-US" sz="1300" dirty="0"/>
          </a:p>
        </p:txBody>
      </p:sp>
      <p:sp>
        <p:nvSpPr>
          <p:cNvPr id="12" name="Text 10"/>
          <p:cNvSpPr/>
          <p:nvPr/>
        </p:nvSpPr>
        <p:spPr>
          <a:xfrm>
            <a:off x="4864608" y="1106424"/>
            <a:ext cx="3931920" cy="594360"/>
          </a:xfrm>
          <a:prstGeom prst="rect">
            <a:avLst/>
          </a:prstGeom>
          <a:noFill/>
        </p:spPr>
        <p:txBody>
          <a:bodyPr wrap="square" lIns="0" tIns="0" rIns="0" bIns="0" rtlCol="0" anchor="ctr"/>
          <a:lstStyle/>
          <a:p>
            <a:pPr marL="0" indent="0">
              <a:buNone/>
            </a:pPr>
            <a:r>
              <a:rPr lang="en-US" sz="1100" dirty="0">
                <a:solidFill>
                  <a:srgbClr val="F8FAFC"/>
                </a:solidFill>
                <a:latin typeface="Calibri" panose="020F0502020204030204" pitchFamily="34" charset="0"/>
                <a:ea typeface="Calibri" panose="020F0502020204030204" pitchFamily="34" charset="-122"/>
                <a:cs typeface="Calibri" panose="020F0502020204030204" pitchFamily="34" charset="-120"/>
              </a:rPr>
              <a:t>A read-only property that returns the total number of classes currently on the element. Great for validation or looping.</a:t>
            </a:r>
            <a:endParaRPr lang="en-US" sz="1100" dirty="0"/>
          </a:p>
        </p:txBody>
      </p:sp>
      <p:sp>
        <p:nvSpPr>
          <p:cNvPr id="13" name="Shape 11"/>
          <p:cNvSpPr/>
          <p:nvPr/>
        </p:nvSpPr>
        <p:spPr>
          <a:xfrm>
            <a:off x="4864608" y="1728216"/>
            <a:ext cx="3931920" cy="896112"/>
          </a:xfrm>
          <a:prstGeom prst="rect">
            <a:avLst/>
          </a:prstGeom>
          <a:solidFill>
            <a:srgbClr val="0D1117"/>
          </a:solidFill>
          <a:ln w="12700">
            <a:solidFill>
              <a:srgbClr val="10B981"/>
            </a:solidFill>
            <a:prstDash val="solid"/>
          </a:ln>
        </p:spPr>
      </p:sp>
      <p:sp>
        <p:nvSpPr>
          <p:cNvPr id="14" name="Text 12"/>
          <p:cNvSpPr/>
          <p:nvPr/>
        </p:nvSpPr>
        <p:spPr>
          <a:xfrm>
            <a:off x="4956048" y="1764792"/>
            <a:ext cx="3749040" cy="822960"/>
          </a:xfrm>
          <a:prstGeom prst="rect">
            <a:avLst/>
          </a:prstGeom>
          <a:noFill/>
        </p:spPr>
        <p:txBody>
          <a:bodyPr wrap="square" lIns="0" tIns="0" rIns="0" bIns="0" rtlCol="0" anchor="ctr"/>
          <a:lstStyle/>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el.classList.add('x','y','z');</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console.log(el.classList.length); </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 3</a:t>
            </a:r>
            <a:endParaRPr lang="en-US" sz="1000" dirty="0"/>
          </a:p>
          <a:p>
            <a:pPr marL="0" indent="0">
              <a:buNone/>
            </a:pP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for(let i=0; i&lt;el.classList.length; i++){</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console.log(el.classList.item(i));</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a:t>
            </a:r>
            <a:endParaRPr lang="en-US" sz="1000" dirty="0"/>
          </a:p>
        </p:txBody>
      </p:sp>
      <p:sp>
        <p:nvSpPr>
          <p:cNvPr id="15" name="Shape 13"/>
          <p:cNvSpPr/>
          <p:nvPr/>
        </p:nvSpPr>
        <p:spPr>
          <a:xfrm>
            <a:off x="365760" y="2862072"/>
            <a:ext cx="4160520" cy="2057400"/>
          </a:xfrm>
          <a:prstGeom prst="rect">
            <a:avLst/>
          </a:prstGeom>
          <a:solidFill>
            <a:srgbClr val="1E293B"/>
          </a:solidFill>
          <a:ln w="12700">
            <a:solidFill>
              <a:srgbClr val="F59E0B"/>
            </a:solidFill>
            <a:prstDash val="solid"/>
          </a:ln>
        </p:spPr>
      </p:sp>
      <p:sp>
        <p:nvSpPr>
          <p:cNvPr id="16" name="Text 14"/>
          <p:cNvSpPr/>
          <p:nvPr/>
        </p:nvSpPr>
        <p:spPr>
          <a:xfrm>
            <a:off x="475488" y="2953512"/>
            <a:ext cx="3931920" cy="274320"/>
          </a:xfrm>
          <a:prstGeom prst="rect">
            <a:avLst/>
          </a:prstGeom>
          <a:noFill/>
        </p:spPr>
        <p:txBody>
          <a:bodyPr wrap="square" lIns="0" tIns="0" rIns="0" bIns="0" rtlCol="0" anchor="ctr"/>
          <a:lstStyle/>
          <a:p>
            <a:pPr marL="0" indent="0">
              <a:buNone/>
            </a:pPr>
            <a:r>
              <a:rPr lang="en-US" sz="1300" b="1" dirty="0">
                <a:solidFill>
                  <a:srgbClr val="F59E0B"/>
                </a:solidFill>
                <a:latin typeface="Consolas" panose="020B0609020204030204" pitchFamily="34" charset="0"/>
                <a:ea typeface="Consolas" panose="020B0609020204030204" pitchFamily="34" charset="-122"/>
                <a:cs typeface="Consolas" panose="020B0609020204030204" pitchFamily="34" charset="-120"/>
              </a:rPr>
              <a:t>classList.value</a:t>
            </a:r>
            <a:endParaRPr lang="en-US" sz="1300" dirty="0"/>
          </a:p>
        </p:txBody>
      </p:sp>
      <p:sp>
        <p:nvSpPr>
          <p:cNvPr id="17" name="Text 15"/>
          <p:cNvSpPr/>
          <p:nvPr/>
        </p:nvSpPr>
        <p:spPr>
          <a:xfrm>
            <a:off x="475488" y="3282696"/>
            <a:ext cx="3931920" cy="594360"/>
          </a:xfrm>
          <a:prstGeom prst="rect">
            <a:avLst/>
          </a:prstGeom>
          <a:noFill/>
        </p:spPr>
        <p:txBody>
          <a:bodyPr wrap="square" lIns="0" tIns="0" rIns="0" bIns="0" rtlCol="0" anchor="ctr"/>
          <a:lstStyle/>
          <a:p>
            <a:pPr marL="0" indent="0">
              <a:buNone/>
            </a:pPr>
            <a:r>
              <a:rPr lang="en-US" sz="1100" dirty="0">
                <a:solidFill>
                  <a:srgbClr val="F8FAFC"/>
                </a:solidFill>
                <a:latin typeface="Calibri" panose="020F0502020204030204" pitchFamily="34" charset="0"/>
                <a:ea typeface="Calibri" panose="020F0502020204030204" pitchFamily="34" charset="-122"/>
                <a:cs typeface="Calibri" panose="020F0502020204030204" pitchFamily="34" charset="-120"/>
              </a:rPr>
              <a:t>Returns the entire class list as a single string. Can also be SET to replace all classes with a new string. Equivalent to reading className.</a:t>
            </a:r>
            <a:endParaRPr lang="en-US" sz="1100" dirty="0"/>
          </a:p>
        </p:txBody>
      </p:sp>
      <p:sp>
        <p:nvSpPr>
          <p:cNvPr id="18" name="Shape 16"/>
          <p:cNvSpPr/>
          <p:nvPr/>
        </p:nvSpPr>
        <p:spPr>
          <a:xfrm>
            <a:off x="475488" y="3904488"/>
            <a:ext cx="3931920" cy="896112"/>
          </a:xfrm>
          <a:prstGeom prst="rect">
            <a:avLst/>
          </a:prstGeom>
          <a:solidFill>
            <a:srgbClr val="0D1117"/>
          </a:solidFill>
          <a:ln w="12700">
            <a:solidFill>
              <a:srgbClr val="F59E0B"/>
            </a:solidFill>
            <a:prstDash val="solid"/>
          </a:ln>
        </p:spPr>
      </p:sp>
      <p:sp>
        <p:nvSpPr>
          <p:cNvPr id="19" name="Text 17"/>
          <p:cNvSpPr/>
          <p:nvPr/>
        </p:nvSpPr>
        <p:spPr>
          <a:xfrm>
            <a:off x="566928" y="3941064"/>
            <a:ext cx="3749040" cy="822960"/>
          </a:xfrm>
          <a:prstGeom prst="rect">
            <a:avLst/>
          </a:prstGeom>
          <a:noFill/>
        </p:spPr>
        <p:txBody>
          <a:bodyPr wrap="square" lIns="0" tIns="0" rIns="0" bIns="0" rtlCol="0" anchor="ctr"/>
          <a:lstStyle/>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console.log(el.classList.value);</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 'box active highlighted'</a:t>
            </a:r>
            <a:endParaRPr lang="en-US" sz="1000" dirty="0"/>
          </a:p>
          <a:p>
            <a:pPr marL="0" indent="0">
              <a:buNone/>
            </a:pP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Replace ALL classes:</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el.classList.value = 'new-class';</a:t>
            </a:r>
            <a:endParaRPr lang="en-US" sz="1000" dirty="0"/>
          </a:p>
        </p:txBody>
      </p:sp>
      <p:sp>
        <p:nvSpPr>
          <p:cNvPr id="20" name="Shape 18"/>
          <p:cNvSpPr/>
          <p:nvPr/>
        </p:nvSpPr>
        <p:spPr>
          <a:xfrm>
            <a:off x="4754880" y="2862072"/>
            <a:ext cx="4160520" cy="2057400"/>
          </a:xfrm>
          <a:prstGeom prst="rect">
            <a:avLst/>
          </a:prstGeom>
          <a:solidFill>
            <a:srgbClr val="1E293B"/>
          </a:solidFill>
          <a:ln w="12700">
            <a:solidFill>
              <a:srgbClr val="06B6D4"/>
            </a:solidFill>
            <a:prstDash val="solid"/>
          </a:ln>
        </p:spPr>
      </p:sp>
      <p:sp>
        <p:nvSpPr>
          <p:cNvPr id="21" name="Text 19"/>
          <p:cNvSpPr/>
          <p:nvPr/>
        </p:nvSpPr>
        <p:spPr>
          <a:xfrm>
            <a:off x="4864608" y="2953512"/>
            <a:ext cx="3931920" cy="274320"/>
          </a:xfrm>
          <a:prstGeom prst="rect">
            <a:avLst/>
          </a:prstGeom>
          <a:noFill/>
        </p:spPr>
        <p:txBody>
          <a:bodyPr wrap="square" lIns="0" tIns="0" rIns="0" bIns="0" rtlCol="0" anchor="ctr"/>
          <a:lstStyle/>
          <a:p>
            <a:pPr marL="0" indent="0">
              <a:buNone/>
            </a:pPr>
            <a:r>
              <a:rPr lang="en-US" sz="1300" b="1" dirty="0">
                <a:solidFill>
                  <a:srgbClr val="06B6D4"/>
                </a:solidFill>
                <a:latin typeface="Consolas" panose="020B0609020204030204" pitchFamily="34" charset="0"/>
                <a:ea typeface="Consolas" panose="020B0609020204030204" pitchFamily="34" charset="-122"/>
                <a:cs typeface="Consolas" panose="020B0609020204030204" pitchFamily="34" charset="-120"/>
              </a:rPr>
              <a:t>classList.forEach()</a:t>
            </a:r>
            <a:endParaRPr lang="en-US" sz="1300" dirty="0"/>
          </a:p>
        </p:txBody>
      </p:sp>
      <p:sp>
        <p:nvSpPr>
          <p:cNvPr id="22" name="Text 20"/>
          <p:cNvSpPr/>
          <p:nvPr/>
        </p:nvSpPr>
        <p:spPr>
          <a:xfrm>
            <a:off x="4864608" y="3282696"/>
            <a:ext cx="3931920" cy="594360"/>
          </a:xfrm>
          <a:prstGeom prst="rect">
            <a:avLst/>
          </a:prstGeom>
          <a:noFill/>
        </p:spPr>
        <p:txBody>
          <a:bodyPr wrap="square" lIns="0" tIns="0" rIns="0" bIns="0" rtlCol="0" anchor="ctr"/>
          <a:lstStyle/>
          <a:p>
            <a:pPr marL="0" indent="0">
              <a:buNone/>
            </a:pPr>
            <a:r>
              <a:rPr lang="en-US" sz="1100" dirty="0">
                <a:solidFill>
                  <a:srgbClr val="F8FAFC"/>
                </a:solidFill>
                <a:latin typeface="Calibri" panose="020F0502020204030204" pitchFamily="34" charset="0"/>
                <a:ea typeface="Calibri" panose="020F0502020204030204" pitchFamily="34" charset="-122"/>
                <a:cs typeface="Calibri" panose="020F0502020204030204" pitchFamily="34" charset="-120"/>
              </a:rPr>
              <a:t>Iterates over each class in the classList. Also supports entries(), keys(), and values() — just like arrays.</a:t>
            </a:r>
            <a:endParaRPr lang="en-US" sz="1100" dirty="0"/>
          </a:p>
        </p:txBody>
      </p:sp>
      <p:sp>
        <p:nvSpPr>
          <p:cNvPr id="23" name="Shape 21"/>
          <p:cNvSpPr/>
          <p:nvPr/>
        </p:nvSpPr>
        <p:spPr>
          <a:xfrm>
            <a:off x="4864608" y="3904488"/>
            <a:ext cx="3931920" cy="896112"/>
          </a:xfrm>
          <a:prstGeom prst="rect">
            <a:avLst/>
          </a:prstGeom>
          <a:solidFill>
            <a:srgbClr val="0D1117"/>
          </a:solidFill>
          <a:ln w="12700">
            <a:solidFill>
              <a:srgbClr val="06B6D4"/>
            </a:solidFill>
            <a:prstDash val="solid"/>
          </a:ln>
        </p:spPr>
      </p:sp>
      <p:sp>
        <p:nvSpPr>
          <p:cNvPr id="24" name="Text 22"/>
          <p:cNvSpPr/>
          <p:nvPr/>
        </p:nvSpPr>
        <p:spPr>
          <a:xfrm>
            <a:off x="4956048" y="3941064"/>
            <a:ext cx="3749040" cy="822960"/>
          </a:xfrm>
          <a:prstGeom prst="rect">
            <a:avLst/>
          </a:prstGeom>
          <a:noFill/>
        </p:spPr>
        <p:txBody>
          <a:bodyPr wrap="square" lIns="0" tIns="0" rIns="0" bIns="0" rtlCol="0" anchor="ctr"/>
          <a:lstStyle/>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el.classList.forEach(cls =&gt; {</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console.log(cls);</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Prints each class name</a:t>
            </a:r>
            <a:endParaRPr lang="en-US" sz="1000" dirty="0"/>
          </a:p>
          <a:p>
            <a:pPr marL="0" indent="0">
              <a:buNone/>
            </a:pP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Also works:</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for (const cls of el.classList) {</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  console.log(cls);</a:t>
            </a:r>
            <a:endParaRPr lang="en-US" sz="1000" dirty="0"/>
          </a:p>
          <a:p>
            <a:pPr marL="0" indent="0">
              <a:buNone/>
            </a:pPr>
            <a:r>
              <a:rPr lang="en-US" sz="1000" dirty="0">
                <a:solidFill>
                  <a:srgbClr val="A5F3FC"/>
                </a:solidFill>
                <a:latin typeface="Consolas" panose="020B0609020204030204" pitchFamily="34" charset="0"/>
                <a:ea typeface="Consolas" panose="020B0609020204030204" pitchFamily="34" charset="-122"/>
                <a:cs typeface="Consolas" panose="020B0609020204030204" pitchFamily="34" charset="-120"/>
              </a:rPr>
              <a:t>}</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57BF6"/>
          </a:solidFill>
          <a:ln w="12700">
            <a:solidFill>
              <a:srgbClr val="B57BF6"/>
            </a:solidFill>
            <a:prstDash val="solid"/>
          </a:ln>
        </p:spPr>
      </p:sp>
      <p:sp>
        <p:nvSpPr>
          <p:cNvPr id="3" name="Text 1"/>
          <p:cNvSpPr/>
          <p:nvPr/>
        </p:nvSpPr>
        <p:spPr>
          <a:xfrm>
            <a:off x="365760" y="137160"/>
            <a:ext cx="8412480" cy="411480"/>
          </a:xfrm>
          <a:prstGeom prst="rect">
            <a:avLst/>
          </a:prstGeom>
          <a:noFill/>
        </p:spPr>
        <p:txBody>
          <a:bodyPr wrap="square" lIns="0" tIns="0" rIns="0" bIns="0" rtlCol="0" anchor="ctr"/>
          <a:lstStyle/>
          <a:p>
            <a:pPr marL="0" indent="0">
              <a:buNone/>
            </a:pPr>
            <a:r>
              <a:rPr lang="en-US" sz="2400" b="1" dirty="0">
                <a:solidFill>
                  <a:srgbClr val="B57BF6"/>
                </a:solidFill>
                <a:latin typeface="Calibri" panose="020F0502020204030204" pitchFamily="34" charset="0"/>
                <a:ea typeface="Calibri" panose="020F0502020204030204" pitchFamily="34" charset="-122"/>
                <a:cs typeface="Calibri" panose="020F0502020204030204" pitchFamily="34" charset="-120"/>
              </a:rPr>
              <a:t>classList — Complete Cheatsheet</a:t>
            </a:r>
            <a:endParaRPr lang="en-US" sz="2400" dirty="0"/>
          </a:p>
        </p:txBody>
      </p:sp>
      <p:sp>
        <p:nvSpPr>
          <p:cNvPr id="4" name="Shape 2"/>
          <p:cNvSpPr/>
          <p:nvPr/>
        </p:nvSpPr>
        <p:spPr>
          <a:xfrm>
            <a:off x="365760" y="576072"/>
            <a:ext cx="8412480" cy="36576"/>
          </a:xfrm>
          <a:prstGeom prst="rect">
            <a:avLst/>
          </a:prstGeom>
          <a:solidFill>
            <a:srgbClr val="1E293B"/>
          </a:solidFill>
          <a:ln w="12700">
            <a:solidFill>
              <a:srgbClr val="1E293B"/>
            </a:solidFill>
            <a:prstDash val="solid"/>
          </a:ln>
        </p:spPr>
      </p:sp>
      <p:sp>
        <p:nvSpPr>
          <p:cNvPr id="5" name="Shape 3"/>
          <p:cNvSpPr/>
          <p:nvPr/>
        </p:nvSpPr>
        <p:spPr>
          <a:xfrm>
            <a:off x="365760" y="658368"/>
            <a:ext cx="1920240" cy="329184"/>
          </a:xfrm>
          <a:prstGeom prst="rect">
            <a:avLst/>
          </a:prstGeom>
          <a:solidFill>
            <a:srgbClr val="B57BF6"/>
          </a:solidFill>
          <a:ln w="12700">
            <a:solidFill>
              <a:srgbClr val="B57BF6"/>
            </a:solidFill>
            <a:prstDash val="solid"/>
          </a:ln>
        </p:spPr>
      </p:sp>
      <p:sp>
        <p:nvSpPr>
          <p:cNvPr id="6" name="Text 4"/>
          <p:cNvSpPr/>
          <p:nvPr/>
        </p:nvSpPr>
        <p:spPr>
          <a:xfrm>
            <a:off x="411480" y="658368"/>
            <a:ext cx="1828800" cy="329184"/>
          </a:xfrm>
          <a:prstGeom prst="rect">
            <a:avLst/>
          </a:prstGeom>
          <a:noFill/>
        </p:spPr>
        <p:txBody>
          <a:bodyPr wrap="square" lIns="0" tIns="0" rIns="0" bIns="0" rtlCol="0" anchor="ctr"/>
          <a:lstStyle/>
          <a:p>
            <a:pPr marL="0" indent="0" algn="ctr">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Method / Property</a:t>
            </a:r>
            <a:endParaRPr lang="en-US" sz="1200" dirty="0"/>
          </a:p>
        </p:txBody>
      </p:sp>
      <p:sp>
        <p:nvSpPr>
          <p:cNvPr id="7" name="Shape 5"/>
          <p:cNvSpPr/>
          <p:nvPr/>
        </p:nvSpPr>
        <p:spPr>
          <a:xfrm>
            <a:off x="2286000" y="658368"/>
            <a:ext cx="2743200" cy="329184"/>
          </a:xfrm>
          <a:prstGeom prst="rect">
            <a:avLst/>
          </a:prstGeom>
          <a:solidFill>
            <a:srgbClr val="B57BF6"/>
          </a:solidFill>
          <a:ln w="12700">
            <a:solidFill>
              <a:srgbClr val="B57BF6"/>
            </a:solidFill>
            <a:prstDash val="solid"/>
          </a:ln>
        </p:spPr>
      </p:sp>
      <p:sp>
        <p:nvSpPr>
          <p:cNvPr id="8" name="Text 6"/>
          <p:cNvSpPr/>
          <p:nvPr/>
        </p:nvSpPr>
        <p:spPr>
          <a:xfrm>
            <a:off x="2331720" y="658368"/>
            <a:ext cx="2651760" cy="329184"/>
          </a:xfrm>
          <a:prstGeom prst="rect">
            <a:avLst/>
          </a:prstGeom>
          <a:noFill/>
        </p:spPr>
        <p:txBody>
          <a:bodyPr wrap="square" lIns="0" tIns="0" rIns="0" bIns="0" rtlCol="0" anchor="ctr"/>
          <a:lstStyle/>
          <a:p>
            <a:pPr marL="0" indent="0" algn="ctr">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Description</a:t>
            </a:r>
            <a:endParaRPr lang="en-US" sz="1200" dirty="0"/>
          </a:p>
        </p:txBody>
      </p:sp>
      <p:sp>
        <p:nvSpPr>
          <p:cNvPr id="9" name="Shape 7"/>
          <p:cNvSpPr/>
          <p:nvPr/>
        </p:nvSpPr>
        <p:spPr>
          <a:xfrm>
            <a:off x="5029200" y="658368"/>
            <a:ext cx="1188720" cy="329184"/>
          </a:xfrm>
          <a:prstGeom prst="rect">
            <a:avLst/>
          </a:prstGeom>
          <a:solidFill>
            <a:srgbClr val="B57BF6"/>
          </a:solidFill>
          <a:ln w="12700">
            <a:solidFill>
              <a:srgbClr val="B57BF6"/>
            </a:solidFill>
            <a:prstDash val="solid"/>
          </a:ln>
        </p:spPr>
      </p:sp>
      <p:sp>
        <p:nvSpPr>
          <p:cNvPr id="10" name="Text 8"/>
          <p:cNvSpPr/>
          <p:nvPr/>
        </p:nvSpPr>
        <p:spPr>
          <a:xfrm>
            <a:off x="5074920" y="658368"/>
            <a:ext cx="1097280" cy="329184"/>
          </a:xfrm>
          <a:prstGeom prst="rect">
            <a:avLst/>
          </a:prstGeom>
          <a:noFill/>
        </p:spPr>
        <p:txBody>
          <a:bodyPr wrap="square" lIns="0" tIns="0" rIns="0" bIns="0" rtlCol="0" anchor="ctr"/>
          <a:lstStyle/>
          <a:p>
            <a:pPr marL="0" indent="0" algn="ctr">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Returns</a:t>
            </a:r>
            <a:endParaRPr lang="en-US" sz="1200" dirty="0"/>
          </a:p>
        </p:txBody>
      </p:sp>
      <p:sp>
        <p:nvSpPr>
          <p:cNvPr id="11" name="Shape 9"/>
          <p:cNvSpPr/>
          <p:nvPr/>
        </p:nvSpPr>
        <p:spPr>
          <a:xfrm>
            <a:off x="6217920" y="658368"/>
            <a:ext cx="2560320" cy="329184"/>
          </a:xfrm>
          <a:prstGeom prst="rect">
            <a:avLst/>
          </a:prstGeom>
          <a:solidFill>
            <a:srgbClr val="B57BF6"/>
          </a:solidFill>
          <a:ln w="12700">
            <a:solidFill>
              <a:srgbClr val="B57BF6"/>
            </a:solidFill>
            <a:prstDash val="solid"/>
          </a:ln>
        </p:spPr>
      </p:sp>
      <p:sp>
        <p:nvSpPr>
          <p:cNvPr id="12" name="Text 10"/>
          <p:cNvSpPr/>
          <p:nvPr/>
        </p:nvSpPr>
        <p:spPr>
          <a:xfrm>
            <a:off x="6263640" y="658368"/>
            <a:ext cx="2468880" cy="329184"/>
          </a:xfrm>
          <a:prstGeom prst="rect">
            <a:avLst/>
          </a:prstGeom>
          <a:noFill/>
        </p:spPr>
        <p:txBody>
          <a:bodyPr wrap="square" lIns="0" tIns="0" rIns="0" bIns="0" rtlCol="0" anchor="ctr"/>
          <a:lstStyle/>
          <a:p>
            <a:pPr marL="0" indent="0" algn="ctr">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Example</a:t>
            </a:r>
            <a:endParaRPr lang="en-US" sz="1200" dirty="0"/>
          </a:p>
        </p:txBody>
      </p:sp>
      <p:sp>
        <p:nvSpPr>
          <p:cNvPr id="13" name="Shape 11"/>
          <p:cNvSpPr/>
          <p:nvPr/>
        </p:nvSpPr>
        <p:spPr>
          <a:xfrm>
            <a:off x="365760" y="1005840"/>
            <a:ext cx="1920240" cy="384048"/>
          </a:xfrm>
          <a:prstGeom prst="rect">
            <a:avLst/>
          </a:prstGeom>
          <a:solidFill>
            <a:srgbClr val="1E293B"/>
          </a:solidFill>
          <a:ln w="12700">
            <a:solidFill>
              <a:srgbClr val="1A2535"/>
            </a:solidFill>
            <a:prstDash val="solid"/>
          </a:ln>
        </p:spPr>
      </p:sp>
      <p:sp>
        <p:nvSpPr>
          <p:cNvPr id="14" name="Text 12"/>
          <p:cNvSpPr/>
          <p:nvPr/>
        </p:nvSpPr>
        <p:spPr>
          <a:xfrm>
            <a:off x="411480" y="1024128"/>
            <a:ext cx="1828800" cy="347472"/>
          </a:xfrm>
          <a:prstGeom prst="rect">
            <a:avLst/>
          </a:prstGeom>
          <a:noFill/>
        </p:spPr>
        <p:txBody>
          <a:bodyPr wrap="square" lIns="0" tIns="0" rIns="0" bIns="0" rtlCol="0" anchor="ctr"/>
          <a:lstStyle/>
          <a:p>
            <a:pPr marL="0" indent="0">
              <a:buNone/>
            </a:pPr>
            <a:r>
              <a:rPr lang="en-US" sz="1050" dirty="0">
                <a:solidFill>
                  <a:srgbClr val="B57BF6"/>
                </a:solidFill>
                <a:latin typeface="Consolas" panose="020B0609020204030204" pitchFamily="34" charset="0"/>
                <a:ea typeface="Consolas" panose="020B0609020204030204" pitchFamily="34" charset="-122"/>
                <a:cs typeface="Consolas" panose="020B0609020204030204" pitchFamily="34" charset="-120"/>
              </a:rPr>
              <a:t>add('cls')</a:t>
            </a:r>
            <a:endParaRPr lang="en-US" sz="1050" dirty="0"/>
          </a:p>
        </p:txBody>
      </p:sp>
      <p:sp>
        <p:nvSpPr>
          <p:cNvPr id="15" name="Shape 13"/>
          <p:cNvSpPr/>
          <p:nvPr/>
        </p:nvSpPr>
        <p:spPr>
          <a:xfrm>
            <a:off x="2286000" y="1005840"/>
            <a:ext cx="2743200" cy="384048"/>
          </a:xfrm>
          <a:prstGeom prst="rect">
            <a:avLst/>
          </a:prstGeom>
          <a:solidFill>
            <a:srgbClr val="1E293B"/>
          </a:solidFill>
          <a:ln w="12700">
            <a:solidFill>
              <a:srgbClr val="1A2535"/>
            </a:solidFill>
            <a:prstDash val="solid"/>
          </a:ln>
        </p:spPr>
      </p:sp>
      <p:sp>
        <p:nvSpPr>
          <p:cNvPr id="16" name="Text 14"/>
          <p:cNvSpPr/>
          <p:nvPr/>
        </p:nvSpPr>
        <p:spPr>
          <a:xfrm>
            <a:off x="2331720" y="1024128"/>
            <a:ext cx="265176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Adds a class (no duplicate)</a:t>
            </a:r>
            <a:endParaRPr lang="en-US" sz="1050" dirty="0"/>
          </a:p>
        </p:txBody>
      </p:sp>
      <p:sp>
        <p:nvSpPr>
          <p:cNvPr id="17" name="Shape 15"/>
          <p:cNvSpPr/>
          <p:nvPr/>
        </p:nvSpPr>
        <p:spPr>
          <a:xfrm>
            <a:off x="5029200" y="1005840"/>
            <a:ext cx="1188720" cy="384048"/>
          </a:xfrm>
          <a:prstGeom prst="rect">
            <a:avLst/>
          </a:prstGeom>
          <a:solidFill>
            <a:srgbClr val="1E293B"/>
          </a:solidFill>
          <a:ln w="12700">
            <a:solidFill>
              <a:srgbClr val="1A2535"/>
            </a:solidFill>
            <a:prstDash val="solid"/>
          </a:ln>
        </p:spPr>
      </p:sp>
      <p:sp>
        <p:nvSpPr>
          <p:cNvPr id="18" name="Text 16"/>
          <p:cNvSpPr/>
          <p:nvPr/>
        </p:nvSpPr>
        <p:spPr>
          <a:xfrm>
            <a:off x="5074920" y="1024128"/>
            <a:ext cx="1097280" cy="347472"/>
          </a:xfrm>
          <a:prstGeom prst="rect">
            <a:avLst/>
          </a:prstGeom>
          <a:noFill/>
        </p:spPr>
        <p:txBody>
          <a:bodyPr wrap="square" lIns="0" tIns="0" rIns="0" bIns="0" rtlCol="0" anchor="ctr"/>
          <a:lstStyle/>
          <a:p>
            <a:pPr marL="0" indent="0">
              <a:buNone/>
            </a:pPr>
            <a:r>
              <a:rPr lang="en-US" sz="1050" dirty="0">
                <a:solidFill>
                  <a:srgbClr val="FCD34D"/>
                </a:solidFill>
                <a:latin typeface="Consolas" panose="020B0609020204030204" pitchFamily="34" charset="0"/>
                <a:ea typeface="Consolas" panose="020B0609020204030204" pitchFamily="34" charset="-122"/>
                <a:cs typeface="Consolas" panose="020B0609020204030204" pitchFamily="34" charset="-120"/>
              </a:rPr>
              <a:t>undefined</a:t>
            </a:r>
            <a:endParaRPr lang="en-US" sz="1050" dirty="0"/>
          </a:p>
        </p:txBody>
      </p:sp>
      <p:sp>
        <p:nvSpPr>
          <p:cNvPr id="19" name="Shape 17"/>
          <p:cNvSpPr/>
          <p:nvPr/>
        </p:nvSpPr>
        <p:spPr>
          <a:xfrm>
            <a:off x="6217920" y="1005840"/>
            <a:ext cx="2560320" cy="384048"/>
          </a:xfrm>
          <a:prstGeom prst="rect">
            <a:avLst/>
          </a:prstGeom>
          <a:solidFill>
            <a:srgbClr val="1E293B"/>
          </a:solidFill>
          <a:ln w="12700">
            <a:solidFill>
              <a:srgbClr val="1A2535"/>
            </a:solidFill>
            <a:prstDash val="solid"/>
          </a:ln>
        </p:spPr>
      </p:sp>
      <p:sp>
        <p:nvSpPr>
          <p:cNvPr id="20" name="Text 18"/>
          <p:cNvSpPr/>
          <p:nvPr/>
        </p:nvSpPr>
        <p:spPr>
          <a:xfrm>
            <a:off x="6263640" y="1024128"/>
            <a:ext cx="246888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el.classList.add('active')</a:t>
            </a:r>
            <a:endParaRPr lang="en-US" sz="1050" dirty="0"/>
          </a:p>
        </p:txBody>
      </p:sp>
      <p:sp>
        <p:nvSpPr>
          <p:cNvPr id="21" name="Shape 19"/>
          <p:cNvSpPr/>
          <p:nvPr/>
        </p:nvSpPr>
        <p:spPr>
          <a:xfrm>
            <a:off x="365760" y="1389888"/>
            <a:ext cx="1920240" cy="384048"/>
          </a:xfrm>
          <a:prstGeom prst="rect">
            <a:avLst/>
          </a:prstGeom>
          <a:solidFill>
            <a:srgbClr val="1E3A5F"/>
          </a:solidFill>
          <a:ln w="12700">
            <a:solidFill>
              <a:srgbClr val="1A2535"/>
            </a:solidFill>
            <a:prstDash val="solid"/>
          </a:ln>
        </p:spPr>
      </p:sp>
      <p:sp>
        <p:nvSpPr>
          <p:cNvPr id="22" name="Text 20"/>
          <p:cNvSpPr/>
          <p:nvPr/>
        </p:nvSpPr>
        <p:spPr>
          <a:xfrm>
            <a:off x="411480" y="1408176"/>
            <a:ext cx="1828800" cy="347472"/>
          </a:xfrm>
          <a:prstGeom prst="rect">
            <a:avLst/>
          </a:prstGeom>
          <a:noFill/>
        </p:spPr>
        <p:txBody>
          <a:bodyPr wrap="square" lIns="0" tIns="0" rIns="0" bIns="0" rtlCol="0" anchor="ctr"/>
          <a:lstStyle/>
          <a:p>
            <a:pPr marL="0" indent="0">
              <a:buNone/>
            </a:pPr>
            <a:r>
              <a:rPr lang="en-US" sz="1050" dirty="0">
                <a:solidFill>
                  <a:srgbClr val="B57BF6"/>
                </a:solidFill>
                <a:latin typeface="Consolas" panose="020B0609020204030204" pitchFamily="34" charset="0"/>
                <a:ea typeface="Consolas" panose="020B0609020204030204" pitchFamily="34" charset="-122"/>
                <a:cs typeface="Consolas" panose="020B0609020204030204" pitchFamily="34" charset="-120"/>
              </a:rPr>
              <a:t>remove('cls')</a:t>
            </a:r>
            <a:endParaRPr lang="en-US" sz="1050" dirty="0"/>
          </a:p>
        </p:txBody>
      </p:sp>
      <p:sp>
        <p:nvSpPr>
          <p:cNvPr id="23" name="Shape 21"/>
          <p:cNvSpPr/>
          <p:nvPr/>
        </p:nvSpPr>
        <p:spPr>
          <a:xfrm>
            <a:off x="2286000" y="1389888"/>
            <a:ext cx="2743200" cy="384048"/>
          </a:xfrm>
          <a:prstGeom prst="rect">
            <a:avLst/>
          </a:prstGeom>
          <a:solidFill>
            <a:srgbClr val="1E3A5F"/>
          </a:solidFill>
          <a:ln w="12700">
            <a:solidFill>
              <a:srgbClr val="1A2535"/>
            </a:solidFill>
            <a:prstDash val="solid"/>
          </a:ln>
        </p:spPr>
      </p:sp>
      <p:sp>
        <p:nvSpPr>
          <p:cNvPr id="24" name="Text 22"/>
          <p:cNvSpPr/>
          <p:nvPr/>
        </p:nvSpPr>
        <p:spPr>
          <a:xfrm>
            <a:off x="2331720" y="1408176"/>
            <a:ext cx="265176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Removes a class (no error if absent)</a:t>
            </a:r>
            <a:endParaRPr lang="en-US" sz="1050" dirty="0"/>
          </a:p>
        </p:txBody>
      </p:sp>
      <p:sp>
        <p:nvSpPr>
          <p:cNvPr id="25" name="Shape 23"/>
          <p:cNvSpPr/>
          <p:nvPr/>
        </p:nvSpPr>
        <p:spPr>
          <a:xfrm>
            <a:off x="5029200" y="1389888"/>
            <a:ext cx="1188720" cy="384048"/>
          </a:xfrm>
          <a:prstGeom prst="rect">
            <a:avLst/>
          </a:prstGeom>
          <a:solidFill>
            <a:srgbClr val="1E3A5F"/>
          </a:solidFill>
          <a:ln w="12700">
            <a:solidFill>
              <a:srgbClr val="1A2535"/>
            </a:solidFill>
            <a:prstDash val="solid"/>
          </a:ln>
        </p:spPr>
      </p:sp>
      <p:sp>
        <p:nvSpPr>
          <p:cNvPr id="26" name="Text 24"/>
          <p:cNvSpPr/>
          <p:nvPr/>
        </p:nvSpPr>
        <p:spPr>
          <a:xfrm>
            <a:off x="5074920" y="1408176"/>
            <a:ext cx="1097280" cy="347472"/>
          </a:xfrm>
          <a:prstGeom prst="rect">
            <a:avLst/>
          </a:prstGeom>
          <a:noFill/>
        </p:spPr>
        <p:txBody>
          <a:bodyPr wrap="square" lIns="0" tIns="0" rIns="0" bIns="0" rtlCol="0" anchor="ctr"/>
          <a:lstStyle/>
          <a:p>
            <a:pPr marL="0" indent="0">
              <a:buNone/>
            </a:pPr>
            <a:r>
              <a:rPr lang="en-US" sz="1050" dirty="0">
                <a:solidFill>
                  <a:srgbClr val="FCD34D"/>
                </a:solidFill>
                <a:latin typeface="Consolas" panose="020B0609020204030204" pitchFamily="34" charset="0"/>
                <a:ea typeface="Consolas" panose="020B0609020204030204" pitchFamily="34" charset="-122"/>
                <a:cs typeface="Consolas" panose="020B0609020204030204" pitchFamily="34" charset="-120"/>
              </a:rPr>
              <a:t>undefined</a:t>
            </a:r>
            <a:endParaRPr lang="en-US" sz="1050" dirty="0"/>
          </a:p>
        </p:txBody>
      </p:sp>
      <p:sp>
        <p:nvSpPr>
          <p:cNvPr id="27" name="Shape 25"/>
          <p:cNvSpPr/>
          <p:nvPr/>
        </p:nvSpPr>
        <p:spPr>
          <a:xfrm>
            <a:off x="6217920" y="1389888"/>
            <a:ext cx="2560320" cy="384048"/>
          </a:xfrm>
          <a:prstGeom prst="rect">
            <a:avLst/>
          </a:prstGeom>
          <a:solidFill>
            <a:srgbClr val="1E3A5F"/>
          </a:solidFill>
          <a:ln w="12700">
            <a:solidFill>
              <a:srgbClr val="1A2535"/>
            </a:solidFill>
            <a:prstDash val="solid"/>
          </a:ln>
        </p:spPr>
      </p:sp>
      <p:sp>
        <p:nvSpPr>
          <p:cNvPr id="28" name="Text 26"/>
          <p:cNvSpPr/>
          <p:nvPr/>
        </p:nvSpPr>
        <p:spPr>
          <a:xfrm>
            <a:off x="6263640" y="1408176"/>
            <a:ext cx="246888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el.classList.remove('active')</a:t>
            </a:r>
            <a:endParaRPr lang="en-US" sz="1050" dirty="0"/>
          </a:p>
        </p:txBody>
      </p:sp>
      <p:sp>
        <p:nvSpPr>
          <p:cNvPr id="29" name="Shape 27"/>
          <p:cNvSpPr/>
          <p:nvPr/>
        </p:nvSpPr>
        <p:spPr>
          <a:xfrm>
            <a:off x="365760" y="1773936"/>
            <a:ext cx="1920240" cy="384048"/>
          </a:xfrm>
          <a:prstGeom prst="rect">
            <a:avLst/>
          </a:prstGeom>
          <a:solidFill>
            <a:srgbClr val="1E293B"/>
          </a:solidFill>
          <a:ln w="12700">
            <a:solidFill>
              <a:srgbClr val="1A2535"/>
            </a:solidFill>
            <a:prstDash val="solid"/>
          </a:ln>
        </p:spPr>
      </p:sp>
      <p:sp>
        <p:nvSpPr>
          <p:cNvPr id="30" name="Text 28"/>
          <p:cNvSpPr/>
          <p:nvPr/>
        </p:nvSpPr>
        <p:spPr>
          <a:xfrm>
            <a:off x="411480" y="1792224"/>
            <a:ext cx="1828800" cy="347472"/>
          </a:xfrm>
          <a:prstGeom prst="rect">
            <a:avLst/>
          </a:prstGeom>
          <a:noFill/>
        </p:spPr>
        <p:txBody>
          <a:bodyPr wrap="square" lIns="0" tIns="0" rIns="0" bIns="0" rtlCol="0" anchor="ctr"/>
          <a:lstStyle/>
          <a:p>
            <a:pPr marL="0" indent="0">
              <a:buNone/>
            </a:pPr>
            <a:r>
              <a:rPr lang="en-US" sz="1050" dirty="0">
                <a:solidFill>
                  <a:srgbClr val="B57BF6"/>
                </a:solidFill>
                <a:latin typeface="Consolas" panose="020B0609020204030204" pitchFamily="34" charset="0"/>
                <a:ea typeface="Consolas" panose="020B0609020204030204" pitchFamily="34" charset="-122"/>
                <a:cs typeface="Consolas" panose="020B0609020204030204" pitchFamily="34" charset="-120"/>
              </a:rPr>
              <a:t>toggle('cls')</a:t>
            </a:r>
            <a:endParaRPr lang="en-US" sz="1050" dirty="0"/>
          </a:p>
        </p:txBody>
      </p:sp>
      <p:sp>
        <p:nvSpPr>
          <p:cNvPr id="31" name="Shape 29"/>
          <p:cNvSpPr/>
          <p:nvPr/>
        </p:nvSpPr>
        <p:spPr>
          <a:xfrm>
            <a:off x="2286000" y="1773936"/>
            <a:ext cx="2743200" cy="384048"/>
          </a:xfrm>
          <a:prstGeom prst="rect">
            <a:avLst/>
          </a:prstGeom>
          <a:solidFill>
            <a:srgbClr val="1E293B"/>
          </a:solidFill>
          <a:ln w="12700">
            <a:solidFill>
              <a:srgbClr val="1A2535"/>
            </a:solidFill>
            <a:prstDash val="solid"/>
          </a:ln>
        </p:spPr>
      </p:sp>
      <p:sp>
        <p:nvSpPr>
          <p:cNvPr id="32" name="Text 30"/>
          <p:cNvSpPr/>
          <p:nvPr/>
        </p:nvSpPr>
        <p:spPr>
          <a:xfrm>
            <a:off x="2331720" y="1792224"/>
            <a:ext cx="265176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Add if absent, remove if present</a:t>
            </a:r>
            <a:endParaRPr lang="en-US" sz="1050" dirty="0"/>
          </a:p>
        </p:txBody>
      </p:sp>
      <p:sp>
        <p:nvSpPr>
          <p:cNvPr id="33" name="Shape 31"/>
          <p:cNvSpPr/>
          <p:nvPr/>
        </p:nvSpPr>
        <p:spPr>
          <a:xfrm>
            <a:off x="5029200" y="1773936"/>
            <a:ext cx="1188720" cy="384048"/>
          </a:xfrm>
          <a:prstGeom prst="rect">
            <a:avLst/>
          </a:prstGeom>
          <a:solidFill>
            <a:srgbClr val="1E293B"/>
          </a:solidFill>
          <a:ln w="12700">
            <a:solidFill>
              <a:srgbClr val="1A2535"/>
            </a:solidFill>
            <a:prstDash val="solid"/>
          </a:ln>
        </p:spPr>
      </p:sp>
      <p:sp>
        <p:nvSpPr>
          <p:cNvPr id="34" name="Text 32"/>
          <p:cNvSpPr/>
          <p:nvPr/>
        </p:nvSpPr>
        <p:spPr>
          <a:xfrm>
            <a:off x="5074920" y="1792224"/>
            <a:ext cx="1097280" cy="347472"/>
          </a:xfrm>
          <a:prstGeom prst="rect">
            <a:avLst/>
          </a:prstGeom>
          <a:noFill/>
        </p:spPr>
        <p:txBody>
          <a:bodyPr wrap="square" lIns="0" tIns="0" rIns="0" bIns="0" rtlCol="0" anchor="ctr"/>
          <a:lstStyle/>
          <a:p>
            <a:pPr marL="0" indent="0">
              <a:buNone/>
            </a:pPr>
            <a:r>
              <a:rPr lang="en-US" sz="1050" dirty="0">
                <a:solidFill>
                  <a:srgbClr val="FCD34D"/>
                </a:solidFill>
                <a:latin typeface="Consolas" panose="020B0609020204030204" pitchFamily="34" charset="0"/>
                <a:ea typeface="Consolas" panose="020B0609020204030204" pitchFamily="34" charset="-122"/>
                <a:cs typeface="Consolas" panose="020B0609020204030204" pitchFamily="34" charset="-120"/>
              </a:rPr>
              <a:t>Boolean</a:t>
            </a:r>
            <a:endParaRPr lang="en-US" sz="1050" dirty="0"/>
          </a:p>
        </p:txBody>
      </p:sp>
      <p:sp>
        <p:nvSpPr>
          <p:cNvPr id="35" name="Shape 33"/>
          <p:cNvSpPr/>
          <p:nvPr/>
        </p:nvSpPr>
        <p:spPr>
          <a:xfrm>
            <a:off x="6217920" y="1773936"/>
            <a:ext cx="2560320" cy="384048"/>
          </a:xfrm>
          <a:prstGeom prst="rect">
            <a:avLst/>
          </a:prstGeom>
          <a:solidFill>
            <a:srgbClr val="1E293B"/>
          </a:solidFill>
          <a:ln w="12700">
            <a:solidFill>
              <a:srgbClr val="1A2535"/>
            </a:solidFill>
            <a:prstDash val="solid"/>
          </a:ln>
        </p:spPr>
      </p:sp>
      <p:sp>
        <p:nvSpPr>
          <p:cNvPr id="36" name="Text 34"/>
          <p:cNvSpPr/>
          <p:nvPr/>
        </p:nvSpPr>
        <p:spPr>
          <a:xfrm>
            <a:off x="6263640" y="1792224"/>
            <a:ext cx="246888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el.classList.toggle('open')</a:t>
            </a:r>
            <a:endParaRPr lang="en-US" sz="1050" dirty="0"/>
          </a:p>
        </p:txBody>
      </p:sp>
      <p:sp>
        <p:nvSpPr>
          <p:cNvPr id="37" name="Shape 35"/>
          <p:cNvSpPr/>
          <p:nvPr/>
        </p:nvSpPr>
        <p:spPr>
          <a:xfrm>
            <a:off x="365760" y="2157984"/>
            <a:ext cx="1920240" cy="384048"/>
          </a:xfrm>
          <a:prstGeom prst="rect">
            <a:avLst/>
          </a:prstGeom>
          <a:solidFill>
            <a:srgbClr val="1E3A5F"/>
          </a:solidFill>
          <a:ln w="12700">
            <a:solidFill>
              <a:srgbClr val="1A2535"/>
            </a:solidFill>
            <a:prstDash val="solid"/>
          </a:ln>
        </p:spPr>
      </p:sp>
      <p:sp>
        <p:nvSpPr>
          <p:cNvPr id="38" name="Text 36"/>
          <p:cNvSpPr/>
          <p:nvPr/>
        </p:nvSpPr>
        <p:spPr>
          <a:xfrm>
            <a:off x="411480" y="2176272"/>
            <a:ext cx="1828800" cy="347472"/>
          </a:xfrm>
          <a:prstGeom prst="rect">
            <a:avLst/>
          </a:prstGeom>
          <a:noFill/>
        </p:spPr>
        <p:txBody>
          <a:bodyPr wrap="square" lIns="0" tIns="0" rIns="0" bIns="0" rtlCol="0" anchor="ctr"/>
          <a:lstStyle/>
          <a:p>
            <a:pPr marL="0" indent="0">
              <a:buNone/>
            </a:pPr>
            <a:r>
              <a:rPr lang="en-US" sz="1050" dirty="0">
                <a:solidFill>
                  <a:srgbClr val="B57BF6"/>
                </a:solidFill>
                <a:latin typeface="Consolas" panose="020B0609020204030204" pitchFamily="34" charset="0"/>
                <a:ea typeface="Consolas" panose="020B0609020204030204" pitchFamily="34" charset="-122"/>
                <a:cs typeface="Consolas" panose="020B0609020204030204" pitchFamily="34" charset="-120"/>
              </a:rPr>
              <a:t>contains('cls')</a:t>
            </a:r>
            <a:endParaRPr lang="en-US" sz="1050" dirty="0"/>
          </a:p>
        </p:txBody>
      </p:sp>
      <p:sp>
        <p:nvSpPr>
          <p:cNvPr id="39" name="Shape 37"/>
          <p:cNvSpPr/>
          <p:nvPr/>
        </p:nvSpPr>
        <p:spPr>
          <a:xfrm>
            <a:off x="2286000" y="2157984"/>
            <a:ext cx="2743200" cy="384048"/>
          </a:xfrm>
          <a:prstGeom prst="rect">
            <a:avLst/>
          </a:prstGeom>
          <a:solidFill>
            <a:srgbClr val="1E3A5F"/>
          </a:solidFill>
          <a:ln w="12700">
            <a:solidFill>
              <a:srgbClr val="1A2535"/>
            </a:solidFill>
            <a:prstDash val="solid"/>
          </a:ln>
        </p:spPr>
      </p:sp>
      <p:sp>
        <p:nvSpPr>
          <p:cNvPr id="40" name="Text 38"/>
          <p:cNvSpPr/>
          <p:nvPr/>
        </p:nvSpPr>
        <p:spPr>
          <a:xfrm>
            <a:off x="2331720" y="2176272"/>
            <a:ext cx="265176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Checks if class exists</a:t>
            </a:r>
            <a:endParaRPr lang="en-US" sz="1050" dirty="0"/>
          </a:p>
        </p:txBody>
      </p:sp>
      <p:sp>
        <p:nvSpPr>
          <p:cNvPr id="41" name="Shape 39"/>
          <p:cNvSpPr/>
          <p:nvPr/>
        </p:nvSpPr>
        <p:spPr>
          <a:xfrm>
            <a:off x="5029200" y="2157984"/>
            <a:ext cx="1188720" cy="384048"/>
          </a:xfrm>
          <a:prstGeom prst="rect">
            <a:avLst/>
          </a:prstGeom>
          <a:solidFill>
            <a:srgbClr val="1E3A5F"/>
          </a:solidFill>
          <a:ln w="12700">
            <a:solidFill>
              <a:srgbClr val="1A2535"/>
            </a:solidFill>
            <a:prstDash val="solid"/>
          </a:ln>
        </p:spPr>
      </p:sp>
      <p:sp>
        <p:nvSpPr>
          <p:cNvPr id="42" name="Text 40"/>
          <p:cNvSpPr/>
          <p:nvPr/>
        </p:nvSpPr>
        <p:spPr>
          <a:xfrm>
            <a:off x="5074920" y="2176272"/>
            <a:ext cx="1097280" cy="347472"/>
          </a:xfrm>
          <a:prstGeom prst="rect">
            <a:avLst/>
          </a:prstGeom>
          <a:noFill/>
        </p:spPr>
        <p:txBody>
          <a:bodyPr wrap="square" lIns="0" tIns="0" rIns="0" bIns="0" rtlCol="0" anchor="ctr"/>
          <a:lstStyle/>
          <a:p>
            <a:pPr marL="0" indent="0">
              <a:buNone/>
            </a:pPr>
            <a:r>
              <a:rPr lang="en-US" sz="1050" dirty="0">
                <a:solidFill>
                  <a:srgbClr val="FCD34D"/>
                </a:solidFill>
                <a:latin typeface="Consolas" panose="020B0609020204030204" pitchFamily="34" charset="0"/>
                <a:ea typeface="Consolas" panose="020B0609020204030204" pitchFamily="34" charset="-122"/>
                <a:cs typeface="Consolas" panose="020B0609020204030204" pitchFamily="34" charset="-120"/>
              </a:rPr>
              <a:t>Boolean</a:t>
            </a:r>
            <a:endParaRPr lang="en-US" sz="1050" dirty="0"/>
          </a:p>
        </p:txBody>
      </p:sp>
      <p:sp>
        <p:nvSpPr>
          <p:cNvPr id="43" name="Shape 41"/>
          <p:cNvSpPr/>
          <p:nvPr/>
        </p:nvSpPr>
        <p:spPr>
          <a:xfrm>
            <a:off x="6217920" y="2157984"/>
            <a:ext cx="2560320" cy="384048"/>
          </a:xfrm>
          <a:prstGeom prst="rect">
            <a:avLst/>
          </a:prstGeom>
          <a:solidFill>
            <a:srgbClr val="1E3A5F"/>
          </a:solidFill>
          <a:ln w="12700">
            <a:solidFill>
              <a:srgbClr val="1A2535"/>
            </a:solidFill>
            <a:prstDash val="solid"/>
          </a:ln>
        </p:spPr>
      </p:sp>
      <p:sp>
        <p:nvSpPr>
          <p:cNvPr id="44" name="Text 42"/>
          <p:cNvSpPr/>
          <p:nvPr/>
        </p:nvSpPr>
        <p:spPr>
          <a:xfrm>
            <a:off x="6263640" y="2176272"/>
            <a:ext cx="246888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el.classList.contains('x')</a:t>
            </a:r>
            <a:endParaRPr lang="en-US" sz="1050" dirty="0"/>
          </a:p>
        </p:txBody>
      </p:sp>
      <p:sp>
        <p:nvSpPr>
          <p:cNvPr id="45" name="Shape 43"/>
          <p:cNvSpPr/>
          <p:nvPr/>
        </p:nvSpPr>
        <p:spPr>
          <a:xfrm>
            <a:off x="365760" y="2542032"/>
            <a:ext cx="1920240" cy="384048"/>
          </a:xfrm>
          <a:prstGeom prst="rect">
            <a:avLst/>
          </a:prstGeom>
          <a:solidFill>
            <a:srgbClr val="1E293B"/>
          </a:solidFill>
          <a:ln w="12700">
            <a:solidFill>
              <a:srgbClr val="1A2535"/>
            </a:solidFill>
            <a:prstDash val="solid"/>
          </a:ln>
        </p:spPr>
      </p:sp>
      <p:sp>
        <p:nvSpPr>
          <p:cNvPr id="46" name="Text 44"/>
          <p:cNvSpPr/>
          <p:nvPr/>
        </p:nvSpPr>
        <p:spPr>
          <a:xfrm>
            <a:off x="411480" y="2560320"/>
            <a:ext cx="1828800" cy="347472"/>
          </a:xfrm>
          <a:prstGeom prst="rect">
            <a:avLst/>
          </a:prstGeom>
          <a:noFill/>
        </p:spPr>
        <p:txBody>
          <a:bodyPr wrap="square" lIns="0" tIns="0" rIns="0" bIns="0" rtlCol="0" anchor="ctr"/>
          <a:lstStyle/>
          <a:p>
            <a:pPr marL="0" indent="0">
              <a:buNone/>
            </a:pPr>
            <a:r>
              <a:rPr lang="en-US" sz="1050" dirty="0">
                <a:solidFill>
                  <a:srgbClr val="B57BF6"/>
                </a:solidFill>
                <a:latin typeface="Consolas" panose="020B0609020204030204" pitchFamily="34" charset="0"/>
                <a:ea typeface="Consolas" panose="020B0609020204030204" pitchFamily="34" charset="-122"/>
                <a:cs typeface="Consolas" panose="020B0609020204030204" pitchFamily="34" charset="-120"/>
              </a:rPr>
              <a:t>replace(o,n)</a:t>
            </a:r>
            <a:endParaRPr lang="en-US" sz="1050" dirty="0"/>
          </a:p>
        </p:txBody>
      </p:sp>
      <p:sp>
        <p:nvSpPr>
          <p:cNvPr id="47" name="Shape 45"/>
          <p:cNvSpPr/>
          <p:nvPr/>
        </p:nvSpPr>
        <p:spPr>
          <a:xfrm>
            <a:off x="2286000" y="2542032"/>
            <a:ext cx="2743200" cy="384048"/>
          </a:xfrm>
          <a:prstGeom prst="rect">
            <a:avLst/>
          </a:prstGeom>
          <a:solidFill>
            <a:srgbClr val="1E293B"/>
          </a:solidFill>
          <a:ln w="12700">
            <a:solidFill>
              <a:srgbClr val="1A2535"/>
            </a:solidFill>
            <a:prstDash val="solid"/>
          </a:ln>
        </p:spPr>
      </p:sp>
      <p:sp>
        <p:nvSpPr>
          <p:cNvPr id="48" name="Text 46"/>
          <p:cNvSpPr/>
          <p:nvPr/>
        </p:nvSpPr>
        <p:spPr>
          <a:xfrm>
            <a:off x="2331720" y="2560320"/>
            <a:ext cx="265176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Replaces old class with new class</a:t>
            </a:r>
            <a:endParaRPr lang="en-US" sz="1050" dirty="0"/>
          </a:p>
        </p:txBody>
      </p:sp>
      <p:sp>
        <p:nvSpPr>
          <p:cNvPr id="49" name="Shape 47"/>
          <p:cNvSpPr/>
          <p:nvPr/>
        </p:nvSpPr>
        <p:spPr>
          <a:xfrm>
            <a:off x="5029200" y="2542032"/>
            <a:ext cx="1188720" cy="384048"/>
          </a:xfrm>
          <a:prstGeom prst="rect">
            <a:avLst/>
          </a:prstGeom>
          <a:solidFill>
            <a:srgbClr val="1E293B"/>
          </a:solidFill>
          <a:ln w="12700">
            <a:solidFill>
              <a:srgbClr val="1A2535"/>
            </a:solidFill>
            <a:prstDash val="solid"/>
          </a:ln>
        </p:spPr>
      </p:sp>
      <p:sp>
        <p:nvSpPr>
          <p:cNvPr id="50" name="Text 48"/>
          <p:cNvSpPr/>
          <p:nvPr/>
        </p:nvSpPr>
        <p:spPr>
          <a:xfrm>
            <a:off x="5074920" y="2560320"/>
            <a:ext cx="1097280" cy="347472"/>
          </a:xfrm>
          <a:prstGeom prst="rect">
            <a:avLst/>
          </a:prstGeom>
          <a:noFill/>
        </p:spPr>
        <p:txBody>
          <a:bodyPr wrap="square" lIns="0" tIns="0" rIns="0" bIns="0" rtlCol="0" anchor="ctr"/>
          <a:lstStyle/>
          <a:p>
            <a:pPr marL="0" indent="0">
              <a:buNone/>
            </a:pPr>
            <a:r>
              <a:rPr lang="en-US" sz="1050" dirty="0">
                <a:solidFill>
                  <a:srgbClr val="FCD34D"/>
                </a:solidFill>
                <a:latin typeface="Consolas" panose="020B0609020204030204" pitchFamily="34" charset="0"/>
                <a:ea typeface="Consolas" panose="020B0609020204030204" pitchFamily="34" charset="-122"/>
                <a:cs typeface="Consolas" panose="020B0609020204030204" pitchFamily="34" charset="-120"/>
              </a:rPr>
              <a:t>Boolean</a:t>
            </a:r>
            <a:endParaRPr lang="en-US" sz="1050" dirty="0"/>
          </a:p>
        </p:txBody>
      </p:sp>
      <p:sp>
        <p:nvSpPr>
          <p:cNvPr id="51" name="Shape 49"/>
          <p:cNvSpPr/>
          <p:nvPr/>
        </p:nvSpPr>
        <p:spPr>
          <a:xfrm>
            <a:off x="6217920" y="2542032"/>
            <a:ext cx="2560320" cy="384048"/>
          </a:xfrm>
          <a:prstGeom prst="rect">
            <a:avLst/>
          </a:prstGeom>
          <a:solidFill>
            <a:srgbClr val="1E293B"/>
          </a:solidFill>
          <a:ln w="12700">
            <a:solidFill>
              <a:srgbClr val="1A2535"/>
            </a:solidFill>
            <a:prstDash val="solid"/>
          </a:ln>
        </p:spPr>
      </p:sp>
      <p:sp>
        <p:nvSpPr>
          <p:cNvPr id="52" name="Text 50"/>
          <p:cNvSpPr/>
          <p:nvPr/>
        </p:nvSpPr>
        <p:spPr>
          <a:xfrm>
            <a:off x="6263640" y="2560320"/>
            <a:ext cx="246888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el.classList.replace('a','b')</a:t>
            </a:r>
            <a:endParaRPr lang="en-US" sz="1050" dirty="0"/>
          </a:p>
        </p:txBody>
      </p:sp>
      <p:sp>
        <p:nvSpPr>
          <p:cNvPr id="53" name="Shape 51"/>
          <p:cNvSpPr/>
          <p:nvPr/>
        </p:nvSpPr>
        <p:spPr>
          <a:xfrm>
            <a:off x="365760" y="2926080"/>
            <a:ext cx="1920240" cy="384048"/>
          </a:xfrm>
          <a:prstGeom prst="rect">
            <a:avLst/>
          </a:prstGeom>
          <a:solidFill>
            <a:srgbClr val="1E3A5F"/>
          </a:solidFill>
          <a:ln w="12700">
            <a:solidFill>
              <a:srgbClr val="1A2535"/>
            </a:solidFill>
            <a:prstDash val="solid"/>
          </a:ln>
        </p:spPr>
      </p:sp>
      <p:sp>
        <p:nvSpPr>
          <p:cNvPr id="54" name="Text 52"/>
          <p:cNvSpPr/>
          <p:nvPr/>
        </p:nvSpPr>
        <p:spPr>
          <a:xfrm>
            <a:off x="411480" y="2944368"/>
            <a:ext cx="1828800" cy="347472"/>
          </a:xfrm>
          <a:prstGeom prst="rect">
            <a:avLst/>
          </a:prstGeom>
          <a:noFill/>
        </p:spPr>
        <p:txBody>
          <a:bodyPr wrap="square" lIns="0" tIns="0" rIns="0" bIns="0" rtlCol="0" anchor="ctr"/>
          <a:lstStyle/>
          <a:p>
            <a:pPr marL="0" indent="0">
              <a:buNone/>
            </a:pPr>
            <a:r>
              <a:rPr lang="en-US" sz="1050" dirty="0">
                <a:solidFill>
                  <a:srgbClr val="B57BF6"/>
                </a:solidFill>
                <a:latin typeface="Consolas" panose="020B0609020204030204" pitchFamily="34" charset="0"/>
                <a:ea typeface="Consolas" panose="020B0609020204030204" pitchFamily="34" charset="-122"/>
                <a:cs typeface="Consolas" panose="020B0609020204030204" pitchFamily="34" charset="-120"/>
              </a:rPr>
              <a:t>item(index)</a:t>
            </a:r>
            <a:endParaRPr lang="en-US" sz="1050" dirty="0"/>
          </a:p>
        </p:txBody>
      </p:sp>
      <p:sp>
        <p:nvSpPr>
          <p:cNvPr id="55" name="Shape 53"/>
          <p:cNvSpPr/>
          <p:nvPr/>
        </p:nvSpPr>
        <p:spPr>
          <a:xfrm>
            <a:off x="2286000" y="2926080"/>
            <a:ext cx="2743200" cy="384048"/>
          </a:xfrm>
          <a:prstGeom prst="rect">
            <a:avLst/>
          </a:prstGeom>
          <a:solidFill>
            <a:srgbClr val="1E3A5F"/>
          </a:solidFill>
          <a:ln w="12700">
            <a:solidFill>
              <a:srgbClr val="1A2535"/>
            </a:solidFill>
            <a:prstDash val="solid"/>
          </a:ln>
        </p:spPr>
      </p:sp>
      <p:sp>
        <p:nvSpPr>
          <p:cNvPr id="56" name="Text 54"/>
          <p:cNvSpPr/>
          <p:nvPr/>
        </p:nvSpPr>
        <p:spPr>
          <a:xfrm>
            <a:off x="2331720" y="2944368"/>
            <a:ext cx="265176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Class at given index (0-based)</a:t>
            </a:r>
            <a:endParaRPr lang="en-US" sz="1050" dirty="0"/>
          </a:p>
        </p:txBody>
      </p:sp>
      <p:sp>
        <p:nvSpPr>
          <p:cNvPr id="57" name="Shape 55"/>
          <p:cNvSpPr/>
          <p:nvPr/>
        </p:nvSpPr>
        <p:spPr>
          <a:xfrm>
            <a:off x="5029200" y="2926080"/>
            <a:ext cx="1188720" cy="384048"/>
          </a:xfrm>
          <a:prstGeom prst="rect">
            <a:avLst/>
          </a:prstGeom>
          <a:solidFill>
            <a:srgbClr val="1E3A5F"/>
          </a:solidFill>
          <a:ln w="12700">
            <a:solidFill>
              <a:srgbClr val="1A2535"/>
            </a:solidFill>
            <a:prstDash val="solid"/>
          </a:ln>
        </p:spPr>
      </p:sp>
      <p:sp>
        <p:nvSpPr>
          <p:cNvPr id="58" name="Text 56"/>
          <p:cNvSpPr/>
          <p:nvPr/>
        </p:nvSpPr>
        <p:spPr>
          <a:xfrm>
            <a:off x="5074920" y="2944368"/>
            <a:ext cx="1097280" cy="347472"/>
          </a:xfrm>
          <a:prstGeom prst="rect">
            <a:avLst/>
          </a:prstGeom>
          <a:noFill/>
        </p:spPr>
        <p:txBody>
          <a:bodyPr wrap="square" lIns="0" tIns="0" rIns="0" bIns="0" rtlCol="0" anchor="ctr"/>
          <a:lstStyle/>
          <a:p>
            <a:pPr marL="0" indent="0">
              <a:buNone/>
            </a:pPr>
            <a:r>
              <a:rPr lang="en-US" sz="1050" dirty="0">
                <a:solidFill>
                  <a:srgbClr val="FCD34D"/>
                </a:solidFill>
                <a:latin typeface="Consolas" panose="020B0609020204030204" pitchFamily="34" charset="0"/>
                <a:ea typeface="Consolas" panose="020B0609020204030204" pitchFamily="34" charset="-122"/>
                <a:cs typeface="Consolas" panose="020B0609020204030204" pitchFamily="34" charset="-120"/>
              </a:rPr>
              <a:t>String/null</a:t>
            </a:r>
            <a:endParaRPr lang="en-US" sz="1050" dirty="0"/>
          </a:p>
        </p:txBody>
      </p:sp>
      <p:sp>
        <p:nvSpPr>
          <p:cNvPr id="59" name="Shape 57"/>
          <p:cNvSpPr/>
          <p:nvPr/>
        </p:nvSpPr>
        <p:spPr>
          <a:xfrm>
            <a:off x="6217920" y="2926080"/>
            <a:ext cx="2560320" cy="384048"/>
          </a:xfrm>
          <a:prstGeom prst="rect">
            <a:avLst/>
          </a:prstGeom>
          <a:solidFill>
            <a:srgbClr val="1E3A5F"/>
          </a:solidFill>
          <a:ln w="12700">
            <a:solidFill>
              <a:srgbClr val="1A2535"/>
            </a:solidFill>
            <a:prstDash val="solid"/>
          </a:ln>
        </p:spPr>
      </p:sp>
      <p:sp>
        <p:nvSpPr>
          <p:cNvPr id="60" name="Text 58"/>
          <p:cNvSpPr/>
          <p:nvPr/>
        </p:nvSpPr>
        <p:spPr>
          <a:xfrm>
            <a:off x="6263640" y="2944368"/>
            <a:ext cx="246888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el.classList.item(0)</a:t>
            </a:r>
            <a:endParaRPr lang="en-US" sz="1050" dirty="0"/>
          </a:p>
        </p:txBody>
      </p:sp>
      <p:sp>
        <p:nvSpPr>
          <p:cNvPr id="61" name="Shape 59"/>
          <p:cNvSpPr/>
          <p:nvPr/>
        </p:nvSpPr>
        <p:spPr>
          <a:xfrm>
            <a:off x="365760" y="3310128"/>
            <a:ext cx="1920240" cy="384048"/>
          </a:xfrm>
          <a:prstGeom prst="rect">
            <a:avLst/>
          </a:prstGeom>
          <a:solidFill>
            <a:srgbClr val="1E293B"/>
          </a:solidFill>
          <a:ln w="12700">
            <a:solidFill>
              <a:srgbClr val="1A2535"/>
            </a:solidFill>
            <a:prstDash val="solid"/>
          </a:ln>
        </p:spPr>
      </p:sp>
      <p:sp>
        <p:nvSpPr>
          <p:cNvPr id="62" name="Text 60"/>
          <p:cNvSpPr/>
          <p:nvPr/>
        </p:nvSpPr>
        <p:spPr>
          <a:xfrm>
            <a:off x="411480" y="3328416"/>
            <a:ext cx="1828800" cy="347472"/>
          </a:xfrm>
          <a:prstGeom prst="rect">
            <a:avLst/>
          </a:prstGeom>
          <a:noFill/>
        </p:spPr>
        <p:txBody>
          <a:bodyPr wrap="square" lIns="0" tIns="0" rIns="0" bIns="0" rtlCol="0" anchor="ctr"/>
          <a:lstStyle/>
          <a:p>
            <a:pPr marL="0" indent="0">
              <a:buNone/>
            </a:pPr>
            <a:r>
              <a:rPr lang="en-US" sz="1050" dirty="0">
                <a:solidFill>
                  <a:srgbClr val="B57BF6"/>
                </a:solidFill>
                <a:latin typeface="Consolas" panose="020B0609020204030204" pitchFamily="34" charset="0"/>
                <a:ea typeface="Consolas" panose="020B0609020204030204" pitchFamily="34" charset="-122"/>
                <a:cs typeface="Consolas" panose="020B0609020204030204" pitchFamily="34" charset="-120"/>
              </a:rPr>
              <a:t>.length</a:t>
            </a:r>
            <a:endParaRPr lang="en-US" sz="1050" dirty="0"/>
          </a:p>
        </p:txBody>
      </p:sp>
      <p:sp>
        <p:nvSpPr>
          <p:cNvPr id="63" name="Shape 61"/>
          <p:cNvSpPr/>
          <p:nvPr/>
        </p:nvSpPr>
        <p:spPr>
          <a:xfrm>
            <a:off x="2286000" y="3310128"/>
            <a:ext cx="2743200" cy="384048"/>
          </a:xfrm>
          <a:prstGeom prst="rect">
            <a:avLst/>
          </a:prstGeom>
          <a:solidFill>
            <a:srgbClr val="1E293B"/>
          </a:solidFill>
          <a:ln w="12700">
            <a:solidFill>
              <a:srgbClr val="1A2535"/>
            </a:solidFill>
            <a:prstDash val="solid"/>
          </a:ln>
        </p:spPr>
      </p:sp>
      <p:sp>
        <p:nvSpPr>
          <p:cNvPr id="64" name="Text 62"/>
          <p:cNvSpPr/>
          <p:nvPr/>
        </p:nvSpPr>
        <p:spPr>
          <a:xfrm>
            <a:off x="2331720" y="3328416"/>
            <a:ext cx="265176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Total number of classes</a:t>
            </a:r>
            <a:endParaRPr lang="en-US" sz="1050" dirty="0"/>
          </a:p>
        </p:txBody>
      </p:sp>
      <p:sp>
        <p:nvSpPr>
          <p:cNvPr id="65" name="Shape 63"/>
          <p:cNvSpPr/>
          <p:nvPr/>
        </p:nvSpPr>
        <p:spPr>
          <a:xfrm>
            <a:off x="5029200" y="3310128"/>
            <a:ext cx="1188720" cy="384048"/>
          </a:xfrm>
          <a:prstGeom prst="rect">
            <a:avLst/>
          </a:prstGeom>
          <a:solidFill>
            <a:srgbClr val="1E293B"/>
          </a:solidFill>
          <a:ln w="12700">
            <a:solidFill>
              <a:srgbClr val="1A2535"/>
            </a:solidFill>
            <a:prstDash val="solid"/>
          </a:ln>
        </p:spPr>
      </p:sp>
      <p:sp>
        <p:nvSpPr>
          <p:cNvPr id="66" name="Text 64"/>
          <p:cNvSpPr/>
          <p:nvPr/>
        </p:nvSpPr>
        <p:spPr>
          <a:xfrm>
            <a:off x="5074920" y="3328416"/>
            <a:ext cx="1097280" cy="347472"/>
          </a:xfrm>
          <a:prstGeom prst="rect">
            <a:avLst/>
          </a:prstGeom>
          <a:noFill/>
        </p:spPr>
        <p:txBody>
          <a:bodyPr wrap="square" lIns="0" tIns="0" rIns="0" bIns="0" rtlCol="0" anchor="ctr"/>
          <a:lstStyle/>
          <a:p>
            <a:pPr marL="0" indent="0">
              <a:buNone/>
            </a:pPr>
            <a:r>
              <a:rPr lang="en-US" sz="1050" dirty="0">
                <a:solidFill>
                  <a:srgbClr val="FCD34D"/>
                </a:solidFill>
                <a:latin typeface="Consolas" panose="020B0609020204030204" pitchFamily="34" charset="0"/>
                <a:ea typeface="Consolas" panose="020B0609020204030204" pitchFamily="34" charset="-122"/>
                <a:cs typeface="Consolas" panose="020B0609020204030204" pitchFamily="34" charset="-120"/>
              </a:rPr>
              <a:t>Number</a:t>
            </a:r>
            <a:endParaRPr lang="en-US" sz="1050" dirty="0"/>
          </a:p>
        </p:txBody>
      </p:sp>
      <p:sp>
        <p:nvSpPr>
          <p:cNvPr id="67" name="Shape 65"/>
          <p:cNvSpPr/>
          <p:nvPr/>
        </p:nvSpPr>
        <p:spPr>
          <a:xfrm>
            <a:off x="6217920" y="3310128"/>
            <a:ext cx="2560320" cy="384048"/>
          </a:xfrm>
          <a:prstGeom prst="rect">
            <a:avLst/>
          </a:prstGeom>
          <a:solidFill>
            <a:srgbClr val="1E293B"/>
          </a:solidFill>
          <a:ln w="12700">
            <a:solidFill>
              <a:srgbClr val="1A2535"/>
            </a:solidFill>
            <a:prstDash val="solid"/>
          </a:ln>
        </p:spPr>
      </p:sp>
      <p:sp>
        <p:nvSpPr>
          <p:cNvPr id="68" name="Text 66"/>
          <p:cNvSpPr/>
          <p:nvPr/>
        </p:nvSpPr>
        <p:spPr>
          <a:xfrm>
            <a:off x="6263640" y="3328416"/>
            <a:ext cx="246888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el.classList.length</a:t>
            </a:r>
            <a:endParaRPr lang="en-US" sz="1050" dirty="0"/>
          </a:p>
        </p:txBody>
      </p:sp>
      <p:sp>
        <p:nvSpPr>
          <p:cNvPr id="69" name="Shape 67"/>
          <p:cNvSpPr/>
          <p:nvPr/>
        </p:nvSpPr>
        <p:spPr>
          <a:xfrm>
            <a:off x="365760" y="3694176"/>
            <a:ext cx="1920240" cy="384048"/>
          </a:xfrm>
          <a:prstGeom prst="rect">
            <a:avLst/>
          </a:prstGeom>
          <a:solidFill>
            <a:srgbClr val="1E3A5F"/>
          </a:solidFill>
          <a:ln w="12700">
            <a:solidFill>
              <a:srgbClr val="1A2535"/>
            </a:solidFill>
            <a:prstDash val="solid"/>
          </a:ln>
        </p:spPr>
      </p:sp>
      <p:sp>
        <p:nvSpPr>
          <p:cNvPr id="70" name="Text 68"/>
          <p:cNvSpPr/>
          <p:nvPr/>
        </p:nvSpPr>
        <p:spPr>
          <a:xfrm>
            <a:off x="411480" y="3712464"/>
            <a:ext cx="1828800" cy="347472"/>
          </a:xfrm>
          <a:prstGeom prst="rect">
            <a:avLst/>
          </a:prstGeom>
          <a:noFill/>
        </p:spPr>
        <p:txBody>
          <a:bodyPr wrap="square" lIns="0" tIns="0" rIns="0" bIns="0" rtlCol="0" anchor="ctr"/>
          <a:lstStyle/>
          <a:p>
            <a:pPr marL="0" indent="0">
              <a:buNone/>
            </a:pPr>
            <a:r>
              <a:rPr lang="en-US" sz="1050" dirty="0">
                <a:solidFill>
                  <a:srgbClr val="B57BF6"/>
                </a:solidFill>
                <a:latin typeface="Consolas" panose="020B0609020204030204" pitchFamily="34" charset="0"/>
                <a:ea typeface="Consolas" panose="020B0609020204030204" pitchFamily="34" charset="-122"/>
                <a:cs typeface="Consolas" panose="020B0609020204030204" pitchFamily="34" charset="-120"/>
              </a:rPr>
              <a:t>.value</a:t>
            </a:r>
            <a:endParaRPr lang="en-US" sz="1050" dirty="0"/>
          </a:p>
        </p:txBody>
      </p:sp>
      <p:sp>
        <p:nvSpPr>
          <p:cNvPr id="71" name="Shape 69"/>
          <p:cNvSpPr/>
          <p:nvPr/>
        </p:nvSpPr>
        <p:spPr>
          <a:xfrm>
            <a:off x="2286000" y="3694176"/>
            <a:ext cx="2743200" cy="384048"/>
          </a:xfrm>
          <a:prstGeom prst="rect">
            <a:avLst/>
          </a:prstGeom>
          <a:solidFill>
            <a:srgbClr val="1E3A5F"/>
          </a:solidFill>
          <a:ln w="12700">
            <a:solidFill>
              <a:srgbClr val="1A2535"/>
            </a:solidFill>
            <a:prstDash val="solid"/>
          </a:ln>
        </p:spPr>
      </p:sp>
      <p:sp>
        <p:nvSpPr>
          <p:cNvPr id="72" name="Text 70"/>
          <p:cNvSpPr/>
          <p:nvPr/>
        </p:nvSpPr>
        <p:spPr>
          <a:xfrm>
            <a:off x="2331720" y="3712464"/>
            <a:ext cx="265176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All classes as a string</a:t>
            </a:r>
            <a:endParaRPr lang="en-US" sz="1050" dirty="0"/>
          </a:p>
        </p:txBody>
      </p:sp>
      <p:sp>
        <p:nvSpPr>
          <p:cNvPr id="73" name="Shape 71"/>
          <p:cNvSpPr/>
          <p:nvPr/>
        </p:nvSpPr>
        <p:spPr>
          <a:xfrm>
            <a:off x="5029200" y="3694176"/>
            <a:ext cx="1188720" cy="384048"/>
          </a:xfrm>
          <a:prstGeom prst="rect">
            <a:avLst/>
          </a:prstGeom>
          <a:solidFill>
            <a:srgbClr val="1E3A5F"/>
          </a:solidFill>
          <a:ln w="12700">
            <a:solidFill>
              <a:srgbClr val="1A2535"/>
            </a:solidFill>
            <a:prstDash val="solid"/>
          </a:ln>
        </p:spPr>
      </p:sp>
      <p:sp>
        <p:nvSpPr>
          <p:cNvPr id="74" name="Text 72"/>
          <p:cNvSpPr/>
          <p:nvPr/>
        </p:nvSpPr>
        <p:spPr>
          <a:xfrm>
            <a:off x="5074920" y="3712464"/>
            <a:ext cx="1097280" cy="347472"/>
          </a:xfrm>
          <a:prstGeom prst="rect">
            <a:avLst/>
          </a:prstGeom>
          <a:noFill/>
        </p:spPr>
        <p:txBody>
          <a:bodyPr wrap="square" lIns="0" tIns="0" rIns="0" bIns="0" rtlCol="0" anchor="ctr"/>
          <a:lstStyle/>
          <a:p>
            <a:pPr marL="0" indent="0">
              <a:buNone/>
            </a:pPr>
            <a:r>
              <a:rPr lang="en-US" sz="1050" dirty="0">
                <a:solidFill>
                  <a:srgbClr val="FCD34D"/>
                </a:solidFill>
                <a:latin typeface="Consolas" panose="020B0609020204030204" pitchFamily="34" charset="0"/>
                <a:ea typeface="Consolas" panose="020B0609020204030204" pitchFamily="34" charset="-122"/>
                <a:cs typeface="Consolas" panose="020B0609020204030204" pitchFamily="34" charset="-120"/>
              </a:rPr>
              <a:t>String</a:t>
            </a:r>
            <a:endParaRPr lang="en-US" sz="1050" dirty="0"/>
          </a:p>
        </p:txBody>
      </p:sp>
      <p:sp>
        <p:nvSpPr>
          <p:cNvPr id="75" name="Shape 73"/>
          <p:cNvSpPr/>
          <p:nvPr/>
        </p:nvSpPr>
        <p:spPr>
          <a:xfrm>
            <a:off x="6217920" y="3694176"/>
            <a:ext cx="2560320" cy="384048"/>
          </a:xfrm>
          <a:prstGeom prst="rect">
            <a:avLst/>
          </a:prstGeom>
          <a:solidFill>
            <a:srgbClr val="1E3A5F"/>
          </a:solidFill>
          <a:ln w="12700">
            <a:solidFill>
              <a:srgbClr val="1A2535"/>
            </a:solidFill>
            <a:prstDash val="solid"/>
          </a:ln>
        </p:spPr>
      </p:sp>
      <p:sp>
        <p:nvSpPr>
          <p:cNvPr id="76" name="Text 74"/>
          <p:cNvSpPr/>
          <p:nvPr/>
        </p:nvSpPr>
        <p:spPr>
          <a:xfrm>
            <a:off x="6263640" y="3712464"/>
            <a:ext cx="246888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el.classList.value</a:t>
            </a:r>
            <a:endParaRPr lang="en-US" sz="1050" dirty="0"/>
          </a:p>
        </p:txBody>
      </p:sp>
      <p:sp>
        <p:nvSpPr>
          <p:cNvPr id="77" name="Shape 75"/>
          <p:cNvSpPr/>
          <p:nvPr/>
        </p:nvSpPr>
        <p:spPr>
          <a:xfrm>
            <a:off x="365760" y="4078224"/>
            <a:ext cx="1920240" cy="384048"/>
          </a:xfrm>
          <a:prstGeom prst="rect">
            <a:avLst/>
          </a:prstGeom>
          <a:solidFill>
            <a:srgbClr val="1E293B"/>
          </a:solidFill>
          <a:ln w="12700">
            <a:solidFill>
              <a:srgbClr val="1A2535"/>
            </a:solidFill>
            <a:prstDash val="solid"/>
          </a:ln>
        </p:spPr>
      </p:sp>
      <p:sp>
        <p:nvSpPr>
          <p:cNvPr id="78" name="Text 76"/>
          <p:cNvSpPr/>
          <p:nvPr/>
        </p:nvSpPr>
        <p:spPr>
          <a:xfrm>
            <a:off x="411480" y="4096512"/>
            <a:ext cx="1828800" cy="347472"/>
          </a:xfrm>
          <a:prstGeom prst="rect">
            <a:avLst/>
          </a:prstGeom>
          <a:noFill/>
        </p:spPr>
        <p:txBody>
          <a:bodyPr wrap="square" lIns="0" tIns="0" rIns="0" bIns="0" rtlCol="0" anchor="ctr"/>
          <a:lstStyle/>
          <a:p>
            <a:pPr marL="0" indent="0">
              <a:buNone/>
            </a:pPr>
            <a:r>
              <a:rPr lang="en-US" sz="1050" dirty="0">
                <a:solidFill>
                  <a:srgbClr val="B57BF6"/>
                </a:solidFill>
                <a:latin typeface="Consolas" panose="020B0609020204030204" pitchFamily="34" charset="0"/>
                <a:ea typeface="Consolas" panose="020B0609020204030204" pitchFamily="34" charset="-122"/>
                <a:cs typeface="Consolas" panose="020B0609020204030204" pitchFamily="34" charset="-120"/>
              </a:rPr>
              <a:t>forEach(fn)</a:t>
            </a:r>
            <a:endParaRPr lang="en-US" sz="1050" dirty="0"/>
          </a:p>
        </p:txBody>
      </p:sp>
      <p:sp>
        <p:nvSpPr>
          <p:cNvPr id="79" name="Shape 77"/>
          <p:cNvSpPr/>
          <p:nvPr/>
        </p:nvSpPr>
        <p:spPr>
          <a:xfrm>
            <a:off x="2286000" y="4078224"/>
            <a:ext cx="2743200" cy="384048"/>
          </a:xfrm>
          <a:prstGeom prst="rect">
            <a:avLst/>
          </a:prstGeom>
          <a:solidFill>
            <a:srgbClr val="1E293B"/>
          </a:solidFill>
          <a:ln w="12700">
            <a:solidFill>
              <a:srgbClr val="1A2535"/>
            </a:solidFill>
            <a:prstDash val="solid"/>
          </a:ln>
        </p:spPr>
      </p:sp>
      <p:sp>
        <p:nvSpPr>
          <p:cNvPr id="80" name="Text 78"/>
          <p:cNvSpPr/>
          <p:nvPr/>
        </p:nvSpPr>
        <p:spPr>
          <a:xfrm>
            <a:off x="2331720" y="4096512"/>
            <a:ext cx="265176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Iterates over each class</a:t>
            </a:r>
            <a:endParaRPr lang="en-US" sz="1050" dirty="0"/>
          </a:p>
        </p:txBody>
      </p:sp>
      <p:sp>
        <p:nvSpPr>
          <p:cNvPr id="81" name="Shape 79"/>
          <p:cNvSpPr/>
          <p:nvPr/>
        </p:nvSpPr>
        <p:spPr>
          <a:xfrm>
            <a:off x="5029200" y="4078224"/>
            <a:ext cx="1188720" cy="384048"/>
          </a:xfrm>
          <a:prstGeom prst="rect">
            <a:avLst/>
          </a:prstGeom>
          <a:solidFill>
            <a:srgbClr val="1E293B"/>
          </a:solidFill>
          <a:ln w="12700">
            <a:solidFill>
              <a:srgbClr val="1A2535"/>
            </a:solidFill>
            <a:prstDash val="solid"/>
          </a:ln>
        </p:spPr>
      </p:sp>
      <p:sp>
        <p:nvSpPr>
          <p:cNvPr id="82" name="Text 80"/>
          <p:cNvSpPr/>
          <p:nvPr/>
        </p:nvSpPr>
        <p:spPr>
          <a:xfrm>
            <a:off x="5074920" y="4096512"/>
            <a:ext cx="1097280" cy="347472"/>
          </a:xfrm>
          <a:prstGeom prst="rect">
            <a:avLst/>
          </a:prstGeom>
          <a:noFill/>
        </p:spPr>
        <p:txBody>
          <a:bodyPr wrap="square" lIns="0" tIns="0" rIns="0" bIns="0" rtlCol="0" anchor="ctr"/>
          <a:lstStyle/>
          <a:p>
            <a:pPr marL="0" indent="0">
              <a:buNone/>
            </a:pPr>
            <a:r>
              <a:rPr lang="en-US" sz="1050" dirty="0">
                <a:solidFill>
                  <a:srgbClr val="FCD34D"/>
                </a:solidFill>
                <a:latin typeface="Consolas" panose="020B0609020204030204" pitchFamily="34" charset="0"/>
                <a:ea typeface="Consolas" panose="020B0609020204030204" pitchFamily="34" charset="-122"/>
                <a:cs typeface="Consolas" panose="020B0609020204030204" pitchFamily="34" charset="-120"/>
              </a:rPr>
              <a:t>undefined</a:t>
            </a:r>
            <a:endParaRPr lang="en-US" sz="1050" dirty="0"/>
          </a:p>
        </p:txBody>
      </p:sp>
      <p:sp>
        <p:nvSpPr>
          <p:cNvPr id="83" name="Shape 81"/>
          <p:cNvSpPr/>
          <p:nvPr/>
        </p:nvSpPr>
        <p:spPr>
          <a:xfrm>
            <a:off x="6217920" y="4078224"/>
            <a:ext cx="2560320" cy="384048"/>
          </a:xfrm>
          <a:prstGeom prst="rect">
            <a:avLst/>
          </a:prstGeom>
          <a:solidFill>
            <a:srgbClr val="1E293B"/>
          </a:solidFill>
          <a:ln w="12700">
            <a:solidFill>
              <a:srgbClr val="1A2535"/>
            </a:solidFill>
            <a:prstDash val="solid"/>
          </a:ln>
        </p:spPr>
      </p:sp>
      <p:sp>
        <p:nvSpPr>
          <p:cNvPr id="84" name="Text 82"/>
          <p:cNvSpPr/>
          <p:nvPr/>
        </p:nvSpPr>
        <p:spPr>
          <a:xfrm>
            <a:off x="6263640" y="4096512"/>
            <a:ext cx="246888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el.classList.forEach(c=&gt;...)</a:t>
            </a:r>
            <a:endParaRPr lang="en-US" sz="1050" dirty="0"/>
          </a:p>
        </p:txBody>
      </p:sp>
      <p:sp>
        <p:nvSpPr>
          <p:cNvPr id="85" name="Shape 83"/>
          <p:cNvSpPr/>
          <p:nvPr/>
        </p:nvSpPr>
        <p:spPr>
          <a:xfrm>
            <a:off x="365760" y="4462272"/>
            <a:ext cx="1920240" cy="384048"/>
          </a:xfrm>
          <a:prstGeom prst="rect">
            <a:avLst/>
          </a:prstGeom>
          <a:solidFill>
            <a:srgbClr val="1E3A5F"/>
          </a:solidFill>
          <a:ln w="12700">
            <a:solidFill>
              <a:srgbClr val="1A2535"/>
            </a:solidFill>
            <a:prstDash val="solid"/>
          </a:ln>
        </p:spPr>
      </p:sp>
      <p:sp>
        <p:nvSpPr>
          <p:cNvPr id="86" name="Text 84"/>
          <p:cNvSpPr/>
          <p:nvPr/>
        </p:nvSpPr>
        <p:spPr>
          <a:xfrm>
            <a:off x="411480" y="4480560"/>
            <a:ext cx="1828800" cy="347472"/>
          </a:xfrm>
          <a:prstGeom prst="rect">
            <a:avLst/>
          </a:prstGeom>
          <a:noFill/>
        </p:spPr>
        <p:txBody>
          <a:bodyPr wrap="square" lIns="0" tIns="0" rIns="0" bIns="0" rtlCol="0" anchor="ctr"/>
          <a:lstStyle/>
          <a:p>
            <a:pPr marL="0" indent="0">
              <a:buNone/>
            </a:pPr>
            <a:r>
              <a:rPr lang="en-US" sz="1050" dirty="0">
                <a:solidFill>
                  <a:srgbClr val="B57BF6"/>
                </a:solidFill>
                <a:latin typeface="Consolas" panose="020B0609020204030204" pitchFamily="34" charset="0"/>
                <a:ea typeface="Consolas" panose="020B0609020204030204" pitchFamily="34" charset="-122"/>
                <a:cs typeface="Consolas" panose="020B0609020204030204" pitchFamily="34" charset="-120"/>
              </a:rPr>
              <a:t>entries()</a:t>
            </a:r>
            <a:endParaRPr lang="en-US" sz="1050" dirty="0"/>
          </a:p>
        </p:txBody>
      </p:sp>
      <p:sp>
        <p:nvSpPr>
          <p:cNvPr id="87" name="Shape 85"/>
          <p:cNvSpPr/>
          <p:nvPr/>
        </p:nvSpPr>
        <p:spPr>
          <a:xfrm>
            <a:off x="2286000" y="4462272"/>
            <a:ext cx="2743200" cy="384048"/>
          </a:xfrm>
          <a:prstGeom prst="rect">
            <a:avLst/>
          </a:prstGeom>
          <a:solidFill>
            <a:srgbClr val="1E3A5F"/>
          </a:solidFill>
          <a:ln w="12700">
            <a:solidFill>
              <a:srgbClr val="1A2535"/>
            </a:solidFill>
            <a:prstDash val="solid"/>
          </a:ln>
        </p:spPr>
      </p:sp>
      <p:sp>
        <p:nvSpPr>
          <p:cNvPr id="88" name="Text 86"/>
          <p:cNvSpPr/>
          <p:nvPr/>
        </p:nvSpPr>
        <p:spPr>
          <a:xfrm>
            <a:off x="2331720" y="4480560"/>
            <a:ext cx="265176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Returns [index, class] iterator</a:t>
            </a:r>
            <a:endParaRPr lang="en-US" sz="1050" dirty="0"/>
          </a:p>
        </p:txBody>
      </p:sp>
      <p:sp>
        <p:nvSpPr>
          <p:cNvPr id="89" name="Shape 87"/>
          <p:cNvSpPr/>
          <p:nvPr/>
        </p:nvSpPr>
        <p:spPr>
          <a:xfrm>
            <a:off x="5029200" y="4462272"/>
            <a:ext cx="1188720" cy="384048"/>
          </a:xfrm>
          <a:prstGeom prst="rect">
            <a:avLst/>
          </a:prstGeom>
          <a:solidFill>
            <a:srgbClr val="1E3A5F"/>
          </a:solidFill>
          <a:ln w="12700">
            <a:solidFill>
              <a:srgbClr val="1A2535"/>
            </a:solidFill>
            <a:prstDash val="solid"/>
          </a:ln>
        </p:spPr>
      </p:sp>
      <p:sp>
        <p:nvSpPr>
          <p:cNvPr id="90" name="Text 88"/>
          <p:cNvSpPr/>
          <p:nvPr/>
        </p:nvSpPr>
        <p:spPr>
          <a:xfrm>
            <a:off x="5074920" y="4480560"/>
            <a:ext cx="1097280" cy="347472"/>
          </a:xfrm>
          <a:prstGeom prst="rect">
            <a:avLst/>
          </a:prstGeom>
          <a:noFill/>
        </p:spPr>
        <p:txBody>
          <a:bodyPr wrap="square" lIns="0" tIns="0" rIns="0" bIns="0" rtlCol="0" anchor="ctr"/>
          <a:lstStyle/>
          <a:p>
            <a:pPr marL="0" indent="0">
              <a:buNone/>
            </a:pPr>
            <a:r>
              <a:rPr lang="en-US" sz="1050" dirty="0">
                <a:solidFill>
                  <a:srgbClr val="FCD34D"/>
                </a:solidFill>
                <a:latin typeface="Consolas" panose="020B0609020204030204" pitchFamily="34" charset="0"/>
                <a:ea typeface="Consolas" panose="020B0609020204030204" pitchFamily="34" charset="-122"/>
                <a:cs typeface="Consolas" panose="020B0609020204030204" pitchFamily="34" charset="-120"/>
              </a:rPr>
              <a:t>Iterator</a:t>
            </a:r>
            <a:endParaRPr lang="en-US" sz="1050" dirty="0"/>
          </a:p>
        </p:txBody>
      </p:sp>
      <p:sp>
        <p:nvSpPr>
          <p:cNvPr id="91" name="Shape 89"/>
          <p:cNvSpPr/>
          <p:nvPr/>
        </p:nvSpPr>
        <p:spPr>
          <a:xfrm>
            <a:off x="6217920" y="4462272"/>
            <a:ext cx="2560320" cy="384048"/>
          </a:xfrm>
          <a:prstGeom prst="rect">
            <a:avLst/>
          </a:prstGeom>
          <a:solidFill>
            <a:srgbClr val="1E3A5F"/>
          </a:solidFill>
          <a:ln w="12700">
            <a:solidFill>
              <a:srgbClr val="1A2535"/>
            </a:solidFill>
            <a:prstDash val="solid"/>
          </a:ln>
        </p:spPr>
      </p:sp>
      <p:sp>
        <p:nvSpPr>
          <p:cNvPr id="92" name="Text 90"/>
          <p:cNvSpPr/>
          <p:nvPr/>
        </p:nvSpPr>
        <p:spPr>
          <a:xfrm>
            <a:off x="6263640" y="4480560"/>
            <a:ext cx="2468880" cy="347472"/>
          </a:xfrm>
          <a:prstGeom prst="rect">
            <a:avLst/>
          </a:prstGeom>
          <a:noFill/>
        </p:spPr>
        <p:txBody>
          <a:bodyPr wrap="square" lIns="0" tIns="0" rIns="0" bIns="0" rtlCol="0" anchor="ctr"/>
          <a:lstStyle/>
          <a:p>
            <a:pPr marL="0" indent="0">
              <a:buNone/>
            </a:pPr>
            <a:r>
              <a:rPr lang="en-US" sz="1050" dirty="0">
                <a:solidFill>
                  <a:srgbClr val="F8FAFC"/>
                </a:solidFill>
                <a:latin typeface="Consolas" panose="020B0609020204030204" pitchFamily="34" charset="0"/>
                <a:ea typeface="Consolas" panose="020B0609020204030204" pitchFamily="34" charset="-122"/>
                <a:cs typeface="Consolas" panose="020B0609020204030204" pitchFamily="34" charset="-120"/>
              </a:rPr>
              <a:t>for(let e of el.classList.entries())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B82F6"/>
          </a:solidFill>
          <a:ln w="12700">
            <a:solidFill>
              <a:srgbClr val="3B82F6"/>
            </a:solidFill>
            <a:prstDash val="solid"/>
          </a:ln>
        </p:spPr>
      </p:sp>
      <p:sp>
        <p:nvSpPr>
          <p:cNvPr id="3" name="Text 1"/>
          <p:cNvSpPr/>
          <p:nvPr/>
        </p:nvSpPr>
        <p:spPr>
          <a:xfrm>
            <a:off x="365760" y="137160"/>
            <a:ext cx="8412480" cy="411480"/>
          </a:xfrm>
          <a:prstGeom prst="rect">
            <a:avLst/>
          </a:prstGeom>
          <a:noFill/>
        </p:spPr>
        <p:txBody>
          <a:bodyPr wrap="square" lIns="0" tIns="0" rIns="0" bIns="0" rtlCol="0" anchor="ctr"/>
          <a:lstStyle/>
          <a:p>
            <a:pPr marL="0" indent="0">
              <a:buNone/>
            </a:pPr>
            <a:r>
              <a:rPr lang="en-US" sz="2200" b="1" dirty="0">
                <a:solidFill>
                  <a:srgbClr val="F8FAFC"/>
                </a:solidFill>
                <a:latin typeface="Calibri" panose="020F0502020204030204" pitchFamily="34" charset="0"/>
                <a:ea typeface="Calibri" panose="020F0502020204030204" pitchFamily="34" charset="-122"/>
                <a:cs typeface="Calibri" panose="020F0502020204030204" pitchFamily="34" charset="-120"/>
              </a:rPr>
              <a:t>Putting It All Together — Practical Example</a:t>
            </a:r>
            <a:endParaRPr lang="en-US" sz="2200" dirty="0"/>
          </a:p>
        </p:txBody>
      </p:sp>
      <p:sp>
        <p:nvSpPr>
          <p:cNvPr id="4" name="Shape 2"/>
          <p:cNvSpPr/>
          <p:nvPr/>
        </p:nvSpPr>
        <p:spPr>
          <a:xfrm>
            <a:off x="365760" y="576072"/>
            <a:ext cx="8412480" cy="36576"/>
          </a:xfrm>
          <a:prstGeom prst="rect">
            <a:avLst/>
          </a:prstGeom>
          <a:solidFill>
            <a:srgbClr val="1E293B"/>
          </a:solidFill>
          <a:ln w="12700">
            <a:solidFill>
              <a:srgbClr val="1E293B"/>
            </a:solidFill>
            <a:prstDash val="solid"/>
          </a:ln>
        </p:spPr>
      </p:sp>
      <p:sp>
        <p:nvSpPr>
          <p:cNvPr id="5" name="Text 3"/>
          <p:cNvSpPr/>
          <p:nvPr/>
        </p:nvSpPr>
        <p:spPr>
          <a:xfrm>
            <a:off x="365760" y="658368"/>
            <a:ext cx="8412480" cy="274320"/>
          </a:xfrm>
          <a:prstGeom prst="rect">
            <a:avLst/>
          </a:prstGeom>
          <a:noFill/>
        </p:spPr>
        <p:txBody>
          <a:bodyPr wrap="square" lIns="0" tIns="0" rIns="0" bIns="0" rtlCol="0" anchor="ctr"/>
          <a:lstStyle/>
          <a:p>
            <a:pPr marL="0" indent="0">
              <a:buNone/>
            </a:pPr>
            <a:r>
              <a:rPr lang="en-US" sz="1300" b="1" dirty="0">
                <a:solidFill>
                  <a:srgbClr val="06B6D4"/>
                </a:solidFill>
                <a:latin typeface="Calibri" panose="020F0502020204030204" pitchFamily="34" charset="0"/>
                <a:ea typeface="Calibri" panose="020F0502020204030204" pitchFamily="34" charset="-122"/>
                <a:cs typeface="Calibri" panose="020F0502020204030204" pitchFamily="34" charset="-120"/>
              </a:rPr>
              <a:t>Interactive Card with Toggle, Attribute &amp; Style Changes:</a:t>
            </a:r>
            <a:endParaRPr lang="en-US" sz="1300" dirty="0"/>
          </a:p>
        </p:txBody>
      </p:sp>
      <p:sp>
        <p:nvSpPr>
          <p:cNvPr id="6" name="Shape 4"/>
          <p:cNvSpPr/>
          <p:nvPr/>
        </p:nvSpPr>
        <p:spPr>
          <a:xfrm>
            <a:off x="365760" y="960120"/>
            <a:ext cx="8412480" cy="3977640"/>
          </a:xfrm>
          <a:prstGeom prst="rect">
            <a:avLst/>
          </a:prstGeom>
          <a:solidFill>
            <a:srgbClr val="0D1117"/>
          </a:solidFill>
          <a:ln w="12700">
            <a:solidFill>
              <a:srgbClr val="3B82F6"/>
            </a:solidFill>
            <a:prstDash val="solid"/>
          </a:ln>
        </p:spPr>
      </p:sp>
      <p:sp>
        <p:nvSpPr>
          <p:cNvPr id="7" name="Text 5"/>
          <p:cNvSpPr/>
          <p:nvPr/>
        </p:nvSpPr>
        <p:spPr>
          <a:xfrm>
            <a:off x="548640" y="1005840"/>
            <a:ext cx="8046720" cy="3886200"/>
          </a:xfrm>
          <a:prstGeom prst="rect">
            <a:avLst/>
          </a:prstGeom>
          <a:noFill/>
        </p:spPr>
        <p:txBody>
          <a:bodyPr wrap="square" lIns="0" tIns="0" rIns="0" bIns="0" rtlCol="0" anchor="ctr"/>
          <a:lstStyle/>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&lt;!-- HTML --&gt;</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&lt;div id="card" class="card"&gt;</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&lt;h2 id="card-title"&gt;Welcome!&lt;/h2&gt;</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&lt;button id="toggleBtn"&gt;Toggle Dark Mode&lt;/button&gt;</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&lt;button id="hideBtn"&gt;Hide Card&lt;/button&gt;</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&lt;/div&gt;</a:t>
            </a:r>
            <a:endParaRPr lang="en-US" sz="1050" dirty="0"/>
          </a:p>
          <a:p>
            <a:pPr marL="0" indent="0">
              <a:buNone/>
            </a:pP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JavaScript */</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1. DOM SELECTION — grab all needed elements</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card      = document.getElementById('card');</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title     = document.getElementById('card-title');</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toggleBtn = document.getElementById('toggleBtn');</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const hideBtn   = document.getElementById('hideBtn');</a:t>
            </a:r>
            <a:endParaRPr lang="en-US" sz="1050" dirty="0"/>
          </a:p>
          <a:p>
            <a:pPr marL="0" indent="0">
              <a:buNone/>
            </a:pP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2. DOM MANIPULATION — change title content</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title.textContent = 'Hello, JavaScript DOM!';</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title.style.color = '#3B82F6';</a:t>
            </a:r>
            <a:endParaRPr lang="en-US" sz="1050" dirty="0"/>
          </a:p>
          <a:p>
            <a:pPr marL="0" indent="0">
              <a:buNone/>
            </a:pP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3. CLASSLIST — toggle dark mode on button click</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toggleBtn.addEventListener('click', () =&gt; {</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card.classList.toggle('dark-mode');</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const isDark = card.classList.contains('dark-mode');</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toggleBtn.textContent = isDark ? 'Disable Dark Mode' : 'Enable Dark Mode';</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a:t>
            </a:r>
            <a:endParaRPr lang="en-US" sz="1050" dirty="0"/>
          </a:p>
          <a:p>
            <a:pPr marL="0" indent="0">
              <a:buNone/>
            </a:pP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4. setAttribute + classList — hide/show card</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hideBtn.addEventListener('click', () =&gt; {</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card.classList.toggle('hidden');</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  hideBtn.setAttribute('aria-pressed', card.classList.contains('hidden'));</a:t>
            </a:r>
            <a:endParaRPr lang="en-US" sz="1050" dirty="0"/>
          </a:p>
          <a:p>
            <a:pPr marL="0" indent="0">
              <a:buNone/>
            </a:pPr>
            <a:r>
              <a:rPr lang="en-US" sz="1050" dirty="0">
                <a:solidFill>
                  <a:srgbClr val="A5F3FC"/>
                </a:solidFill>
                <a:latin typeface="Consolas" panose="020B0609020204030204" pitchFamily="34" charset="0"/>
                <a:ea typeface="Consolas" panose="020B0609020204030204" pitchFamily="34" charset="-122"/>
                <a:cs typeface="Consolas" panose="020B0609020204030204" pitchFamily="34" charset="-120"/>
              </a:rPr>
              <a:t>});</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E3A5F"/>
          </a:solidFill>
          <a:ln w="12700">
            <a:solidFill>
              <a:srgbClr val="1E3A5F"/>
            </a:solidFill>
            <a:prstDash val="solid"/>
          </a:ln>
        </p:spPr>
      </p:sp>
      <p:pic>
        <p:nvPicPr>
          <p:cNvPr id="3" name="Image 0" descr="preencoded.png"/>
          <p:cNvPicPr>
            <a:picLocks noChangeAspect="1"/>
          </p:cNvPicPr>
          <p:nvPr/>
        </p:nvPicPr>
        <p:blipFill>
          <a:blip r:embed="rId1"/>
          <a:stretch>
            <a:fillRect/>
          </a:stretch>
        </p:blipFill>
        <p:spPr>
          <a:xfrm>
            <a:off x="320040" y="91440"/>
            <a:ext cx="320040" cy="320040"/>
          </a:xfrm>
          <a:prstGeom prst="rect">
            <a:avLst/>
          </a:prstGeom>
        </p:spPr>
      </p:pic>
      <p:sp>
        <p:nvSpPr>
          <p:cNvPr id="4" name="Text 1"/>
          <p:cNvSpPr/>
          <p:nvPr/>
        </p:nvSpPr>
        <p:spPr>
          <a:xfrm>
            <a:off x="731520" y="73152"/>
            <a:ext cx="8229600" cy="384048"/>
          </a:xfrm>
          <a:prstGeom prst="rect">
            <a:avLst/>
          </a:prstGeom>
          <a:noFill/>
        </p:spPr>
        <p:txBody>
          <a:bodyPr wrap="square" lIns="0" tIns="0" rIns="0" bIns="0" rtlCol="0" anchor="ctr"/>
          <a:lstStyle/>
          <a:p>
            <a:pPr marL="0" indent="0">
              <a:buNone/>
            </a:pPr>
            <a:r>
              <a:rPr lang="en-US" sz="2000" b="1" kern="0" spc="200" dirty="0">
                <a:solidFill>
                  <a:srgbClr val="F8FAFC"/>
                </a:solidFill>
                <a:latin typeface="Calibri" panose="020F0502020204030204" pitchFamily="34" charset="0"/>
                <a:ea typeface="Calibri" panose="020F0502020204030204" pitchFamily="34" charset="-122"/>
                <a:cs typeface="Calibri" panose="020F0502020204030204" pitchFamily="34" charset="-120"/>
              </a:rPr>
              <a:t>SUMMARY — Key Takeaways</a:t>
            </a:r>
            <a:endParaRPr lang="en-US" sz="2000" dirty="0"/>
          </a:p>
        </p:txBody>
      </p:sp>
      <p:sp>
        <p:nvSpPr>
          <p:cNvPr id="5" name="Shape 2"/>
          <p:cNvSpPr/>
          <p:nvPr/>
        </p:nvSpPr>
        <p:spPr>
          <a:xfrm>
            <a:off x="365760" y="621792"/>
            <a:ext cx="8412480" cy="1371600"/>
          </a:xfrm>
          <a:prstGeom prst="rect">
            <a:avLst/>
          </a:prstGeom>
          <a:solidFill>
            <a:srgbClr val="1E293B"/>
          </a:solidFill>
          <a:ln w="12700">
            <a:solidFill>
              <a:srgbClr val="3B82F6"/>
            </a:solidFill>
            <a:prstDash val="solid"/>
          </a:ln>
        </p:spPr>
      </p:sp>
      <p:sp>
        <p:nvSpPr>
          <p:cNvPr id="6" name="Shape 3"/>
          <p:cNvSpPr/>
          <p:nvPr/>
        </p:nvSpPr>
        <p:spPr>
          <a:xfrm>
            <a:off x="365760" y="621792"/>
            <a:ext cx="64008" cy="1371600"/>
          </a:xfrm>
          <a:prstGeom prst="rect">
            <a:avLst/>
          </a:prstGeom>
          <a:solidFill>
            <a:srgbClr val="3B82F6"/>
          </a:solidFill>
          <a:ln w="12700">
            <a:solidFill>
              <a:srgbClr val="3B82F6"/>
            </a:solidFill>
            <a:prstDash val="solid"/>
          </a:ln>
        </p:spPr>
      </p:sp>
      <p:sp>
        <p:nvSpPr>
          <p:cNvPr id="7" name="Text 4"/>
          <p:cNvSpPr/>
          <p:nvPr/>
        </p:nvSpPr>
        <p:spPr>
          <a:xfrm>
            <a:off x="548640" y="694944"/>
            <a:ext cx="2743200" cy="274320"/>
          </a:xfrm>
          <a:prstGeom prst="rect">
            <a:avLst/>
          </a:prstGeom>
          <a:noFill/>
        </p:spPr>
        <p:txBody>
          <a:bodyPr wrap="square" lIns="0" tIns="0" rIns="0" bIns="0" rtlCol="0" anchor="ctr"/>
          <a:lstStyle/>
          <a:p>
            <a:pPr marL="0" indent="0">
              <a:buNone/>
            </a:pPr>
            <a:r>
              <a:rPr lang="en-US" sz="1400" b="1" dirty="0">
                <a:solidFill>
                  <a:srgbClr val="3B82F6"/>
                </a:solidFill>
                <a:latin typeface="Calibri" panose="020F0502020204030204" pitchFamily="34" charset="0"/>
                <a:ea typeface="Calibri" panose="020F0502020204030204" pitchFamily="34" charset="-122"/>
                <a:cs typeface="Calibri" panose="020F0502020204030204" pitchFamily="34" charset="-120"/>
              </a:rPr>
              <a:t>DOM Selection</a:t>
            </a:r>
            <a:endParaRPr lang="en-US" sz="1400" dirty="0"/>
          </a:p>
        </p:txBody>
      </p:sp>
      <p:sp>
        <p:nvSpPr>
          <p:cNvPr id="8" name="Text 5"/>
          <p:cNvSpPr/>
          <p:nvPr/>
        </p:nvSpPr>
        <p:spPr>
          <a:xfrm>
            <a:off x="548640" y="1033272"/>
            <a:ext cx="8046720" cy="228600"/>
          </a:xfrm>
          <a:prstGeom prst="rect">
            <a:avLst/>
          </a:prstGeom>
          <a:noFill/>
        </p:spPr>
        <p:txBody>
          <a:bodyPr wrap="square" lIns="0" tIns="0" rIns="0" bIns="0" rtlCol="0" anchor="ctr"/>
          <a:lstStyle/>
          <a:p>
            <a:pPr marL="0" indent="0">
              <a:buNone/>
            </a:pPr>
            <a:r>
              <a:rPr lang="en-US" sz="1150" dirty="0">
                <a:solidFill>
                  <a:srgbClr val="F8FAFC"/>
                </a:solidFill>
                <a:latin typeface="Calibri" panose="020F0502020204030204" pitchFamily="34" charset="0"/>
                <a:ea typeface="Calibri" panose="020F0502020204030204" pitchFamily="34" charset="-122"/>
                <a:cs typeface="Calibri" panose="020F0502020204030204" pitchFamily="34" charset="-120"/>
              </a:rPr>
              <a:t>getElementById()  —  fastest, for unique elements by ID</a:t>
            </a:r>
            <a:endParaRPr lang="en-US" sz="1150" dirty="0"/>
          </a:p>
        </p:txBody>
      </p:sp>
      <p:sp>
        <p:nvSpPr>
          <p:cNvPr id="9" name="Text 6"/>
          <p:cNvSpPr/>
          <p:nvPr/>
        </p:nvSpPr>
        <p:spPr>
          <a:xfrm>
            <a:off x="548640" y="1280160"/>
            <a:ext cx="8046720" cy="228600"/>
          </a:xfrm>
          <a:prstGeom prst="rect">
            <a:avLst/>
          </a:prstGeom>
          <a:noFill/>
        </p:spPr>
        <p:txBody>
          <a:bodyPr wrap="square" lIns="0" tIns="0" rIns="0" bIns="0" rtlCol="0" anchor="ctr"/>
          <a:lstStyle/>
          <a:p>
            <a:pPr marL="0" indent="0">
              <a:buNone/>
            </a:pPr>
            <a:r>
              <a:rPr lang="en-US" sz="1150" dirty="0">
                <a:solidFill>
                  <a:srgbClr val="F8FAFC"/>
                </a:solidFill>
                <a:latin typeface="Calibri" panose="020F0502020204030204" pitchFamily="34" charset="0"/>
                <a:ea typeface="Calibri" panose="020F0502020204030204" pitchFamily="34" charset="-122"/>
                <a:cs typeface="Calibri" panose="020F0502020204030204" pitchFamily="34" charset="-120"/>
              </a:rPr>
              <a:t>getElementsByClassName() / getElementsByTagName()  —  live HTMLCollections</a:t>
            </a:r>
            <a:endParaRPr lang="en-US" sz="1150" dirty="0"/>
          </a:p>
        </p:txBody>
      </p:sp>
      <p:sp>
        <p:nvSpPr>
          <p:cNvPr id="10" name="Text 7"/>
          <p:cNvSpPr/>
          <p:nvPr/>
        </p:nvSpPr>
        <p:spPr>
          <a:xfrm>
            <a:off x="548640" y="1527048"/>
            <a:ext cx="8046720" cy="228600"/>
          </a:xfrm>
          <a:prstGeom prst="rect">
            <a:avLst/>
          </a:prstGeom>
          <a:noFill/>
        </p:spPr>
        <p:txBody>
          <a:bodyPr wrap="square" lIns="0" tIns="0" rIns="0" bIns="0" rtlCol="0" anchor="ctr"/>
          <a:lstStyle/>
          <a:p>
            <a:pPr marL="0" indent="0">
              <a:buNone/>
            </a:pPr>
            <a:r>
              <a:rPr lang="en-US" sz="1150" dirty="0">
                <a:solidFill>
                  <a:srgbClr val="F8FAFC"/>
                </a:solidFill>
                <a:latin typeface="Calibri" panose="020F0502020204030204" pitchFamily="34" charset="0"/>
                <a:ea typeface="Calibri" panose="020F0502020204030204" pitchFamily="34" charset="-122"/>
                <a:cs typeface="Calibri" panose="020F0502020204030204" pitchFamily="34" charset="-120"/>
              </a:rPr>
              <a:t>querySelector()  —  returns FIRST match of any CSS selector</a:t>
            </a:r>
            <a:endParaRPr lang="en-US" sz="1150" dirty="0"/>
          </a:p>
        </p:txBody>
      </p:sp>
      <p:sp>
        <p:nvSpPr>
          <p:cNvPr id="11" name="Text 8"/>
          <p:cNvSpPr/>
          <p:nvPr/>
        </p:nvSpPr>
        <p:spPr>
          <a:xfrm>
            <a:off x="548640" y="1773936"/>
            <a:ext cx="8046720" cy="228600"/>
          </a:xfrm>
          <a:prstGeom prst="rect">
            <a:avLst/>
          </a:prstGeom>
          <a:noFill/>
        </p:spPr>
        <p:txBody>
          <a:bodyPr wrap="square" lIns="0" tIns="0" rIns="0" bIns="0" rtlCol="0" anchor="ctr"/>
          <a:lstStyle/>
          <a:p>
            <a:pPr marL="0" indent="0">
              <a:buNone/>
            </a:pPr>
            <a:r>
              <a:rPr lang="en-US" sz="1150" dirty="0">
                <a:solidFill>
                  <a:srgbClr val="F8FAFC"/>
                </a:solidFill>
                <a:latin typeface="Calibri" panose="020F0502020204030204" pitchFamily="34" charset="0"/>
                <a:ea typeface="Calibri" panose="020F0502020204030204" pitchFamily="34" charset="-122"/>
                <a:cs typeface="Calibri" panose="020F0502020204030204" pitchFamily="34" charset="-120"/>
              </a:rPr>
              <a:t>querySelectorAll()  —  returns ALL matches as a static NodeList</a:t>
            </a:r>
            <a:endParaRPr lang="en-US" sz="1150" dirty="0"/>
          </a:p>
        </p:txBody>
      </p:sp>
      <p:sp>
        <p:nvSpPr>
          <p:cNvPr id="12" name="Shape 9"/>
          <p:cNvSpPr/>
          <p:nvPr/>
        </p:nvSpPr>
        <p:spPr>
          <a:xfrm>
            <a:off x="365760" y="2084832"/>
            <a:ext cx="8412480" cy="1371600"/>
          </a:xfrm>
          <a:prstGeom prst="rect">
            <a:avLst/>
          </a:prstGeom>
          <a:solidFill>
            <a:srgbClr val="1E293B"/>
          </a:solidFill>
          <a:ln w="12700">
            <a:solidFill>
              <a:srgbClr val="10B981"/>
            </a:solidFill>
            <a:prstDash val="solid"/>
          </a:ln>
        </p:spPr>
      </p:sp>
      <p:sp>
        <p:nvSpPr>
          <p:cNvPr id="13" name="Shape 10"/>
          <p:cNvSpPr/>
          <p:nvPr/>
        </p:nvSpPr>
        <p:spPr>
          <a:xfrm>
            <a:off x="365760" y="2084832"/>
            <a:ext cx="64008" cy="1371600"/>
          </a:xfrm>
          <a:prstGeom prst="rect">
            <a:avLst/>
          </a:prstGeom>
          <a:solidFill>
            <a:srgbClr val="10B981"/>
          </a:solidFill>
          <a:ln w="12700">
            <a:solidFill>
              <a:srgbClr val="10B981"/>
            </a:solidFill>
            <a:prstDash val="solid"/>
          </a:ln>
        </p:spPr>
      </p:sp>
      <p:sp>
        <p:nvSpPr>
          <p:cNvPr id="14" name="Text 11"/>
          <p:cNvSpPr/>
          <p:nvPr/>
        </p:nvSpPr>
        <p:spPr>
          <a:xfrm>
            <a:off x="548640" y="2157984"/>
            <a:ext cx="2743200" cy="274320"/>
          </a:xfrm>
          <a:prstGeom prst="rect">
            <a:avLst/>
          </a:prstGeom>
          <a:noFill/>
        </p:spPr>
        <p:txBody>
          <a:bodyPr wrap="square" lIns="0" tIns="0" rIns="0" bIns="0" rtlCol="0" anchor="ctr"/>
          <a:lstStyle/>
          <a:p>
            <a:pPr marL="0" indent="0">
              <a:buNone/>
            </a:pPr>
            <a:r>
              <a:rPr lang="en-US" sz="1400" b="1" dirty="0">
                <a:solidFill>
                  <a:srgbClr val="10B981"/>
                </a:solidFill>
                <a:latin typeface="Calibri" panose="020F0502020204030204" pitchFamily="34" charset="0"/>
                <a:ea typeface="Calibri" panose="020F0502020204030204" pitchFamily="34" charset="-122"/>
                <a:cs typeface="Calibri" panose="020F0502020204030204" pitchFamily="34" charset="-120"/>
              </a:rPr>
              <a:t>DOM Manipulation</a:t>
            </a:r>
            <a:endParaRPr lang="en-US" sz="1400" dirty="0"/>
          </a:p>
        </p:txBody>
      </p:sp>
      <p:sp>
        <p:nvSpPr>
          <p:cNvPr id="15" name="Text 12"/>
          <p:cNvSpPr/>
          <p:nvPr/>
        </p:nvSpPr>
        <p:spPr>
          <a:xfrm>
            <a:off x="548640" y="2496312"/>
            <a:ext cx="8046720" cy="228600"/>
          </a:xfrm>
          <a:prstGeom prst="rect">
            <a:avLst/>
          </a:prstGeom>
          <a:noFill/>
        </p:spPr>
        <p:txBody>
          <a:bodyPr wrap="square" lIns="0" tIns="0" rIns="0" bIns="0" rtlCol="0" anchor="ctr"/>
          <a:lstStyle/>
          <a:p>
            <a:pPr marL="0" indent="0">
              <a:buNone/>
            </a:pPr>
            <a:r>
              <a:rPr lang="en-US" sz="1150" dirty="0">
                <a:solidFill>
                  <a:srgbClr val="F8FAFC"/>
                </a:solidFill>
                <a:latin typeface="Calibri" panose="020F0502020204030204" pitchFamily="34" charset="0"/>
                <a:ea typeface="Calibri" panose="020F0502020204030204" pitchFamily="34" charset="-122"/>
                <a:cs typeface="Calibri" panose="020F0502020204030204" pitchFamily="34" charset="-120"/>
              </a:rPr>
              <a:t>textContent / innerHTML / innerText  —  change element content</a:t>
            </a:r>
            <a:endParaRPr lang="en-US" sz="1150" dirty="0"/>
          </a:p>
        </p:txBody>
      </p:sp>
      <p:sp>
        <p:nvSpPr>
          <p:cNvPr id="16" name="Text 13"/>
          <p:cNvSpPr/>
          <p:nvPr/>
        </p:nvSpPr>
        <p:spPr>
          <a:xfrm>
            <a:off x="548640" y="2743200"/>
            <a:ext cx="8046720" cy="228600"/>
          </a:xfrm>
          <a:prstGeom prst="rect">
            <a:avLst/>
          </a:prstGeom>
          <a:noFill/>
        </p:spPr>
        <p:txBody>
          <a:bodyPr wrap="square" lIns="0" tIns="0" rIns="0" bIns="0" rtlCol="0" anchor="ctr"/>
          <a:lstStyle/>
          <a:p>
            <a:pPr marL="0" indent="0">
              <a:buNone/>
            </a:pPr>
            <a:r>
              <a:rPr lang="en-US" sz="1150" dirty="0">
                <a:solidFill>
                  <a:srgbClr val="F8FAFC"/>
                </a:solidFill>
                <a:latin typeface="Calibri" panose="020F0502020204030204" pitchFamily="34" charset="0"/>
                <a:ea typeface="Calibri" panose="020F0502020204030204" pitchFamily="34" charset="-122"/>
                <a:cs typeface="Calibri" panose="020F0502020204030204" pitchFamily="34" charset="-120"/>
              </a:rPr>
              <a:t>getAttribute / setAttribute / removeAttribute  —  manage attributes</a:t>
            </a:r>
            <a:endParaRPr lang="en-US" sz="1150" dirty="0"/>
          </a:p>
        </p:txBody>
      </p:sp>
      <p:sp>
        <p:nvSpPr>
          <p:cNvPr id="17" name="Text 14"/>
          <p:cNvSpPr/>
          <p:nvPr/>
        </p:nvSpPr>
        <p:spPr>
          <a:xfrm>
            <a:off x="548640" y="2990088"/>
            <a:ext cx="8046720" cy="228600"/>
          </a:xfrm>
          <a:prstGeom prst="rect">
            <a:avLst/>
          </a:prstGeom>
          <a:noFill/>
        </p:spPr>
        <p:txBody>
          <a:bodyPr wrap="square" lIns="0" tIns="0" rIns="0" bIns="0" rtlCol="0" anchor="ctr"/>
          <a:lstStyle/>
          <a:p>
            <a:pPr marL="0" indent="0">
              <a:buNone/>
            </a:pPr>
            <a:r>
              <a:rPr lang="en-US" sz="1150" dirty="0">
                <a:solidFill>
                  <a:srgbClr val="F8FAFC"/>
                </a:solidFill>
                <a:latin typeface="Calibri" panose="020F0502020204030204" pitchFamily="34" charset="0"/>
                <a:ea typeface="Calibri" panose="020F0502020204030204" pitchFamily="34" charset="-122"/>
                <a:cs typeface="Calibri" panose="020F0502020204030204" pitchFamily="34" charset="-120"/>
              </a:rPr>
              <a:t>element.style.property  —  change CSS inline styles (camelCase)</a:t>
            </a:r>
            <a:endParaRPr lang="en-US" sz="1150" dirty="0"/>
          </a:p>
        </p:txBody>
      </p:sp>
      <p:sp>
        <p:nvSpPr>
          <p:cNvPr id="18" name="Text 15"/>
          <p:cNvSpPr/>
          <p:nvPr/>
        </p:nvSpPr>
        <p:spPr>
          <a:xfrm>
            <a:off x="548640" y="3236976"/>
            <a:ext cx="8046720" cy="228600"/>
          </a:xfrm>
          <a:prstGeom prst="rect">
            <a:avLst/>
          </a:prstGeom>
          <a:noFill/>
        </p:spPr>
        <p:txBody>
          <a:bodyPr wrap="square" lIns="0" tIns="0" rIns="0" bIns="0" rtlCol="0" anchor="ctr"/>
          <a:lstStyle/>
          <a:p>
            <a:pPr marL="0" indent="0">
              <a:buNone/>
            </a:pPr>
            <a:r>
              <a:rPr lang="en-US" sz="1150" dirty="0">
                <a:solidFill>
                  <a:srgbClr val="F8FAFC"/>
                </a:solidFill>
                <a:latin typeface="Calibri" panose="020F0502020204030204" pitchFamily="34" charset="0"/>
                <a:ea typeface="Calibri" panose="020F0502020204030204" pitchFamily="34" charset="-122"/>
                <a:cs typeface="Calibri" panose="020F0502020204030204" pitchFamily="34" charset="-120"/>
              </a:rPr>
              <a:t>createElement / appendChild / removeChild / remove()  —  manage DOM tree</a:t>
            </a:r>
            <a:endParaRPr lang="en-US" sz="1150" dirty="0"/>
          </a:p>
        </p:txBody>
      </p:sp>
      <p:sp>
        <p:nvSpPr>
          <p:cNvPr id="19" name="Shape 16"/>
          <p:cNvSpPr/>
          <p:nvPr/>
        </p:nvSpPr>
        <p:spPr>
          <a:xfrm>
            <a:off x="365760" y="3547872"/>
            <a:ext cx="8412480" cy="1371600"/>
          </a:xfrm>
          <a:prstGeom prst="rect">
            <a:avLst/>
          </a:prstGeom>
          <a:solidFill>
            <a:srgbClr val="1E293B"/>
          </a:solidFill>
          <a:ln w="12700">
            <a:solidFill>
              <a:srgbClr val="B57BF6"/>
            </a:solidFill>
            <a:prstDash val="solid"/>
          </a:ln>
        </p:spPr>
      </p:sp>
      <p:sp>
        <p:nvSpPr>
          <p:cNvPr id="20" name="Shape 17"/>
          <p:cNvSpPr/>
          <p:nvPr/>
        </p:nvSpPr>
        <p:spPr>
          <a:xfrm>
            <a:off x="365760" y="3547872"/>
            <a:ext cx="64008" cy="1371600"/>
          </a:xfrm>
          <a:prstGeom prst="rect">
            <a:avLst/>
          </a:prstGeom>
          <a:solidFill>
            <a:srgbClr val="B57BF6"/>
          </a:solidFill>
          <a:ln w="12700">
            <a:solidFill>
              <a:srgbClr val="B57BF6"/>
            </a:solidFill>
            <a:prstDash val="solid"/>
          </a:ln>
        </p:spPr>
      </p:sp>
      <p:sp>
        <p:nvSpPr>
          <p:cNvPr id="21" name="Text 18"/>
          <p:cNvSpPr/>
          <p:nvPr/>
        </p:nvSpPr>
        <p:spPr>
          <a:xfrm>
            <a:off x="548640" y="3621024"/>
            <a:ext cx="2743200" cy="274320"/>
          </a:xfrm>
          <a:prstGeom prst="rect">
            <a:avLst/>
          </a:prstGeom>
          <a:noFill/>
        </p:spPr>
        <p:txBody>
          <a:bodyPr wrap="square" lIns="0" tIns="0" rIns="0" bIns="0" rtlCol="0" anchor="ctr"/>
          <a:lstStyle/>
          <a:p>
            <a:pPr marL="0" indent="0">
              <a:buNone/>
            </a:pPr>
            <a:r>
              <a:rPr lang="en-US" sz="1400" b="1" dirty="0">
                <a:solidFill>
                  <a:srgbClr val="B57BF6"/>
                </a:solidFill>
                <a:latin typeface="Calibri" panose="020F0502020204030204" pitchFamily="34" charset="0"/>
                <a:ea typeface="Calibri" panose="020F0502020204030204" pitchFamily="34" charset="-122"/>
                <a:cs typeface="Calibri" panose="020F0502020204030204" pitchFamily="34" charset="-120"/>
              </a:rPr>
              <a:t>ClassList API</a:t>
            </a:r>
            <a:endParaRPr lang="en-US" sz="1400" dirty="0"/>
          </a:p>
        </p:txBody>
      </p:sp>
      <p:sp>
        <p:nvSpPr>
          <p:cNvPr id="22" name="Text 19"/>
          <p:cNvSpPr/>
          <p:nvPr/>
        </p:nvSpPr>
        <p:spPr>
          <a:xfrm>
            <a:off x="548640" y="3959352"/>
            <a:ext cx="8046720" cy="228600"/>
          </a:xfrm>
          <a:prstGeom prst="rect">
            <a:avLst/>
          </a:prstGeom>
          <a:noFill/>
        </p:spPr>
        <p:txBody>
          <a:bodyPr wrap="square" lIns="0" tIns="0" rIns="0" bIns="0" rtlCol="0" anchor="ctr"/>
          <a:lstStyle/>
          <a:p>
            <a:pPr marL="0" indent="0">
              <a:buNone/>
            </a:pPr>
            <a:r>
              <a:rPr lang="en-US" sz="1150" dirty="0">
                <a:solidFill>
                  <a:srgbClr val="F8FAFC"/>
                </a:solidFill>
                <a:latin typeface="Calibri" panose="020F0502020204030204" pitchFamily="34" charset="0"/>
                <a:ea typeface="Calibri" panose="020F0502020204030204" pitchFamily="34" charset="-122"/>
                <a:cs typeface="Calibri" panose="020F0502020204030204" pitchFamily="34" charset="-120"/>
              </a:rPr>
              <a:t>add() / remove()  —  safely add or remove one or more classes</a:t>
            </a:r>
            <a:endParaRPr lang="en-US" sz="1150" dirty="0"/>
          </a:p>
        </p:txBody>
      </p:sp>
      <p:sp>
        <p:nvSpPr>
          <p:cNvPr id="23" name="Text 20"/>
          <p:cNvSpPr/>
          <p:nvPr/>
        </p:nvSpPr>
        <p:spPr>
          <a:xfrm>
            <a:off x="548640" y="4206240"/>
            <a:ext cx="8046720" cy="228600"/>
          </a:xfrm>
          <a:prstGeom prst="rect">
            <a:avLst/>
          </a:prstGeom>
          <a:noFill/>
        </p:spPr>
        <p:txBody>
          <a:bodyPr wrap="square" lIns="0" tIns="0" rIns="0" bIns="0" rtlCol="0" anchor="ctr"/>
          <a:lstStyle/>
          <a:p>
            <a:pPr marL="0" indent="0">
              <a:buNone/>
            </a:pPr>
            <a:r>
              <a:rPr lang="en-US" sz="1150" dirty="0">
                <a:solidFill>
                  <a:srgbClr val="F8FAFC"/>
                </a:solidFill>
                <a:latin typeface="Calibri" panose="020F0502020204030204" pitchFamily="34" charset="0"/>
                <a:ea typeface="Calibri" panose="020F0502020204030204" pitchFamily="34" charset="-122"/>
                <a:cs typeface="Calibri" panose="020F0502020204030204" pitchFamily="34" charset="-120"/>
              </a:rPr>
              <a:t>toggle()  —  switch a class on and off (with optional force param)</a:t>
            </a:r>
            <a:endParaRPr lang="en-US" sz="1150" dirty="0"/>
          </a:p>
        </p:txBody>
      </p:sp>
      <p:sp>
        <p:nvSpPr>
          <p:cNvPr id="24" name="Text 21"/>
          <p:cNvSpPr/>
          <p:nvPr/>
        </p:nvSpPr>
        <p:spPr>
          <a:xfrm>
            <a:off x="548640" y="4453128"/>
            <a:ext cx="8046720" cy="228600"/>
          </a:xfrm>
          <a:prstGeom prst="rect">
            <a:avLst/>
          </a:prstGeom>
          <a:noFill/>
        </p:spPr>
        <p:txBody>
          <a:bodyPr wrap="square" lIns="0" tIns="0" rIns="0" bIns="0" rtlCol="0" anchor="ctr"/>
          <a:lstStyle/>
          <a:p>
            <a:pPr marL="0" indent="0">
              <a:buNone/>
            </a:pPr>
            <a:r>
              <a:rPr lang="en-US" sz="1150" dirty="0">
                <a:solidFill>
                  <a:srgbClr val="F8FAFC"/>
                </a:solidFill>
                <a:latin typeface="Calibri" panose="020F0502020204030204" pitchFamily="34" charset="0"/>
                <a:ea typeface="Calibri" panose="020F0502020204030204" pitchFamily="34" charset="-122"/>
                <a:cs typeface="Calibri" panose="020F0502020204030204" pitchFamily="34" charset="-120"/>
              </a:rPr>
              <a:t>contains()  —  check if a class exists — returns true/false</a:t>
            </a:r>
            <a:endParaRPr lang="en-US" sz="1150" dirty="0"/>
          </a:p>
        </p:txBody>
      </p:sp>
      <p:sp>
        <p:nvSpPr>
          <p:cNvPr id="25" name="Text 22"/>
          <p:cNvSpPr/>
          <p:nvPr/>
        </p:nvSpPr>
        <p:spPr>
          <a:xfrm>
            <a:off x="548640" y="4700016"/>
            <a:ext cx="8046720" cy="228600"/>
          </a:xfrm>
          <a:prstGeom prst="rect">
            <a:avLst/>
          </a:prstGeom>
          <a:noFill/>
        </p:spPr>
        <p:txBody>
          <a:bodyPr wrap="square" lIns="0" tIns="0" rIns="0" bIns="0" rtlCol="0" anchor="ctr"/>
          <a:lstStyle/>
          <a:p>
            <a:pPr marL="0" indent="0">
              <a:buNone/>
            </a:pPr>
            <a:r>
              <a:rPr lang="en-US" sz="1150" dirty="0">
                <a:solidFill>
                  <a:srgbClr val="F8FAFC"/>
                </a:solidFill>
                <a:latin typeface="Calibri" panose="020F0502020204030204" pitchFamily="34" charset="0"/>
                <a:ea typeface="Calibri" panose="020F0502020204030204" pitchFamily="34" charset="-122"/>
                <a:cs typeface="Calibri" panose="020F0502020204030204" pitchFamily="34" charset="-120"/>
              </a:rPr>
              <a:t>replace(old, new)  —  swap one class for another in one step</a:t>
            </a:r>
            <a:endParaRPr lang="en-US" sz="1150" dirty="0"/>
          </a:p>
        </p:txBody>
      </p:sp>
      <p:sp>
        <p:nvSpPr>
          <p:cNvPr id="26" name="Shape 23"/>
          <p:cNvSpPr/>
          <p:nvPr/>
        </p:nvSpPr>
        <p:spPr>
          <a:xfrm>
            <a:off x="0" y="5029200"/>
            <a:ext cx="9144000" cy="114300"/>
          </a:xfrm>
          <a:prstGeom prst="rect">
            <a:avLst/>
          </a:prstGeom>
          <a:solidFill>
            <a:srgbClr val="3B82F6"/>
          </a:solidFill>
          <a:ln w="12700">
            <a:solidFill>
              <a:srgbClr val="3B82F6"/>
            </a:solidFill>
            <a:prstDash val="solid"/>
          </a:ln>
        </p:spPr>
      </p:sp>
      <p:sp>
        <p:nvSpPr>
          <p:cNvPr id="27" name="Text 24"/>
          <p:cNvSpPr/>
          <p:nvPr/>
        </p:nvSpPr>
        <p:spPr>
          <a:xfrm>
            <a:off x="365760" y="5047488"/>
            <a:ext cx="8412480" cy="109728"/>
          </a:xfrm>
          <a:prstGeom prst="rect">
            <a:avLst/>
          </a:prstGeom>
          <a:noFill/>
        </p:spPr>
        <p:txBody>
          <a:bodyPr wrap="square" lIns="0" tIns="0" rIns="0" bIns="0" rtlCol="0" anchor="ctr"/>
          <a:lstStyle/>
          <a:p>
            <a:pPr marL="0" indent="0" algn="ctr">
              <a:buNone/>
            </a:pPr>
            <a:r>
              <a:rPr lang="en-US" sz="900" dirty="0">
                <a:solidFill>
                  <a:srgbClr val="F8FAFC"/>
                </a:solidFill>
                <a:latin typeface="Calibri" panose="020F0502020204030204" pitchFamily="34" charset="0"/>
                <a:ea typeface="Calibri" panose="020F0502020204030204" pitchFamily="34" charset="-122"/>
                <a:cs typeface="Calibri" panose="020F0502020204030204" pitchFamily="34" charset="-120"/>
              </a:rPr>
              <a:t>JavaScript DOM — Selection · Manipulation · ClassList  |  Complete Training Guide</a:t>
            </a:r>
            <a:endParaRPr lang="en-US" sz="900" dirty="0"/>
          </a:p>
        </p:txBody>
      </p:sp>
    </p:spTree>
  </p:cSld>
  <p:clrMapOvr>
    <a:masterClrMapping/>
  </p:clrMapOvr>
</p:sld>
</file>

<file path=ppt/tags/tag1.xml><?xml version="1.0" encoding="utf-8"?>
<p:tagLst xmlns:p="http://schemas.openxmlformats.org/presentationml/2006/main">
  <p:tag name="KSO_WM_DIAGRAM_VIRTUALLY_FRAME" val="{&quot;height&quot;:180,&quot;left&quot;:28.8,&quot;top&quot;:144,&quot;width&quot;:662.4}"/>
</p:tagLst>
</file>

<file path=ppt/tags/tag2.xml><?xml version="1.0" encoding="utf-8"?>
<p:tagLst xmlns:p="http://schemas.openxmlformats.org/presentationml/2006/main">
  <p:tag name="KSO_WM_DIAGRAM_VIRTUALLY_FRAME" val="{&quot;height&quot;:180,&quot;left&quot;:28.8,&quot;top&quot;:144,&quot;width&quot;:662.4}"/>
</p:tagLst>
</file>

<file path=ppt/tags/tag3.xml><?xml version="1.0" encoding="utf-8"?>
<p:tagLst xmlns:p="http://schemas.openxmlformats.org/presentationml/2006/main">
  <p:tag name="KSO_WM_DIAGRAM_VIRTUALLY_FRAME" val="{&quot;height&quot;:180,&quot;left&quot;:28.8,&quot;top&quot;:144,&quot;width&quot;:662.4}"/>
</p:tagLst>
</file>

<file path=ppt/tags/tag4.xml><?xml version="1.0" encoding="utf-8"?>
<p:tagLst xmlns:p="http://schemas.openxmlformats.org/presentationml/2006/main">
  <p:tag name="KSO_WM_DIAGRAM_VIRTUALLY_FRAME" val="{&quot;height&quot;:180,&quot;left&quot;:28.8,&quot;top&quot;:144,&quot;width&quot;:662.4}"/>
</p:tagLst>
</file>

<file path=ppt/tags/tag5.xml><?xml version="1.0" encoding="utf-8"?>
<p:tagLst xmlns:p="http://schemas.openxmlformats.org/presentationml/2006/main">
  <p:tag name="KSO_WM_DIAGRAM_VIRTUALLY_FRAME" val="{&quot;height&quot;:180,&quot;left&quot;:28.8,&quot;top&quot;:144,&quot;width&quot;:662.4}"/>
</p:tagLst>
</file>

<file path=ppt/tags/tag6.xml><?xml version="1.0" encoding="utf-8"?>
<p:tagLst xmlns:p="http://schemas.openxmlformats.org/presentationml/2006/main">
  <p:tag name="KSO_WM_DIAGRAM_VIRTUALLY_FRAME" val="{&quot;height&quot;:180,&quot;left&quot;:28.8,&quot;top&quot;:144,&quot;width&quot;:662.4}"/>
</p:tagLst>
</file>

<file path=ppt/tags/tag7.xml><?xml version="1.0" encoding="utf-8"?>
<p:tagLst xmlns:p="http://schemas.openxmlformats.org/presentationml/2006/main">
  <p:tag name="KSO_WM_DIAGRAM_VIRTUALLY_FRAME" val="{&quot;height&quot;:180,&quot;left&quot;:28.8,&quot;top&quot;:144,&quot;width&quot;:662.4}"/>
</p:tagLst>
</file>

<file path=ppt/tags/tag8.xml><?xml version="1.0" encoding="utf-8"?>
<p:tagLst xmlns:p="http://schemas.openxmlformats.org/presentationml/2006/main">
  <p:tag name="KSO_WM_DIAGRAM_VIRTUALLY_FRAME" val="{&quot;height&quot;:180,&quot;left&quot;:28.8,&quot;top&quot;:144,&quot;width&quot;:662.4}"/>
</p:tagLst>
</file>

<file path=ppt/tags/tag9.xml><?xml version="1.0" encoding="utf-8"?>
<p:tagLst xmlns:p="http://schemas.openxmlformats.org/presentationml/2006/main">
  <p:tag name="KSO_WM_DIAGRAM_VIRTUALLY_FRAME" val="{&quot;height&quot;:180,&quot;left&quot;:28.8,&quot;top&quot;:144,&quot;width&quot;:662.4}"/>
</p:tagLst>
</file>

<file path=ppt/tags/tag10.xml><?xml version="1.0" encoding="utf-8"?>
<p:tagLst xmlns:p="http://schemas.openxmlformats.org/presentationml/2006/main">
  <p:tag name="KSO_WM_DIAGRAM_VIRTUALLY_FRAME" val="{&quot;height&quot;:180,&quot;left&quot;:28.8,&quot;top&quot;:144,&quot;width&quot;:662.4}"/>
</p:tagLst>
</file>

<file path=ppt/tags/tag11.xml><?xml version="1.0" encoding="utf-8"?>
<p:tagLst xmlns:p="http://schemas.openxmlformats.org/presentationml/2006/main">
  <p:tag name="KSO_WM_DIAGRAM_VIRTUALLY_FRAME" val="{&quot;height&quot;:180,&quot;left&quot;:28.8,&quot;top&quot;:144,&quot;width&quot;:662.4}"/>
</p:tagLst>
</file>

<file path=ppt/tags/tag12.xml><?xml version="1.0" encoding="utf-8"?>
<p:tagLst xmlns:p="http://schemas.openxmlformats.org/presentationml/2006/main">
  <p:tag name="KSO_WM_DIAGRAM_VIRTUALLY_FRAME" val="{&quot;height&quot;:180,&quot;left&quot;:28.8,&quot;top&quot;:144,&quot;width&quot;:662.4}"/>
</p:tagLst>
</file>

<file path=ppt/tags/tag13.xml><?xml version="1.0" encoding="utf-8"?>
<p:tagLst xmlns:p="http://schemas.openxmlformats.org/presentationml/2006/main">
  <p:tag name="KSO_WM_DIAGRAM_VIRTUALLY_FRAME" val="{&quot;height&quot;:180,&quot;left&quot;:28.8,&quot;top&quot;:144,&quot;width&quot;:662.4}"/>
</p:tagLst>
</file>

<file path=ppt/tags/tag14.xml><?xml version="1.0" encoding="utf-8"?>
<p:tagLst xmlns:p="http://schemas.openxmlformats.org/presentationml/2006/main">
  <p:tag name="KSO_WM_DIAGRAM_VIRTUALLY_FRAME" val="{&quot;height&quot;:180,&quot;left&quot;:28.8,&quot;top&quot;:144,&quot;width&quot;:662.4}"/>
</p:tagLst>
</file>

<file path=ppt/tags/tag15.xml><?xml version="1.0" encoding="utf-8"?>
<p:tagLst xmlns:p="http://schemas.openxmlformats.org/presentationml/2006/main">
  <p:tag name="KSO_WM_DIAGRAM_VIRTUALLY_FRAME" val="{&quot;height&quot;:180,&quot;left&quot;:28.8,&quot;top&quot;:144,&quot;width&quot;:662.4}"/>
</p:tagLst>
</file>

<file path=ppt/tags/tag16.xml><?xml version="1.0" encoding="utf-8"?>
<p:tagLst xmlns:p="http://schemas.openxmlformats.org/presentationml/2006/main">
  <p:tag name="KSO_WM_DIAGRAM_VIRTUALLY_FRAME" val="{&quot;height&quot;:180,&quot;left&quot;:28.8,&quot;top&quot;:144,&quot;width&quot;:662.4}"/>
</p:tagLst>
</file>

<file path=ppt/tags/tag17.xml><?xml version="1.0" encoding="utf-8"?>
<p:tagLst xmlns:p="http://schemas.openxmlformats.org/presentationml/2006/main">
  <p:tag name="KSO_WM_DIAGRAM_VIRTUALLY_FRAME" val="{&quot;height&quot;:180,&quot;left&quot;:28.8,&quot;top&quot;:144,&quot;width&quot;:662.4}"/>
</p:tagLst>
</file>

<file path=ppt/tags/tag18.xml><?xml version="1.0" encoding="utf-8"?>
<p:tagLst xmlns:p="http://schemas.openxmlformats.org/presentationml/2006/main">
  <p:tag name="KSO_WM_DIAGRAM_VIRTUALLY_FRAME" val="{&quot;height&quot;:180,&quot;left&quot;:28.8,&quot;top&quot;:144,&quot;width&quot;:662.4}"/>
</p:tagLst>
</file>

<file path=ppt/tags/tag19.xml><?xml version="1.0" encoding="utf-8"?>
<p:tagLst xmlns:p="http://schemas.openxmlformats.org/presentationml/2006/main">
  <p:tag name="KSO_WM_DIAGRAM_VIRTUALLY_FRAME" val="{&quot;height&quot;:180,&quot;left&quot;:28.8,&quot;top&quot;:144,&quot;width&quot;:662.4}"/>
</p:tagLst>
</file>

<file path=ppt/tags/tag20.xml><?xml version="1.0" encoding="utf-8"?>
<p:tagLst xmlns:p="http://schemas.openxmlformats.org/presentationml/2006/main">
  <p:tag name="KSO_WM_DIAGRAM_VIRTUALLY_FRAME" val="{&quot;height&quot;:180,&quot;left&quot;:28.8,&quot;top&quot;:144,&quot;width&quot;:662.4}"/>
</p:tagLst>
</file>

<file path=ppt/tags/tag21.xml><?xml version="1.0" encoding="utf-8"?>
<p:tagLst xmlns:p="http://schemas.openxmlformats.org/presentationml/2006/main">
  <p:tag name="KSO_WM_DIAGRAM_VIRTUALLY_FRAME" val="{&quot;height&quot;:180,&quot;left&quot;:28.8,&quot;top&quot;:144,&quot;width&quot;:662.4}"/>
</p:tagLst>
</file>

<file path=ppt/tags/tag22.xml><?xml version="1.0" encoding="utf-8"?>
<p:tagLst xmlns:p="http://schemas.openxmlformats.org/presentationml/2006/main">
  <p:tag name="KSO_WM_DIAGRAM_VIRTUALLY_FRAME" val="{&quot;height&quot;:180,&quot;left&quot;:28.8,&quot;top&quot;:144,&quot;width&quot;:662.4}"/>
</p:tagLst>
</file>

<file path=ppt/tags/tag23.xml><?xml version="1.0" encoding="utf-8"?>
<p:tagLst xmlns:p="http://schemas.openxmlformats.org/presentationml/2006/main">
  <p:tag name="KSO_WM_DIAGRAM_VIRTUALLY_FRAME" val="{&quot;height&quot;:180,&quot;left&quot;:28.8,&quot;top&quot;:144,&quot;width&quot;:662.4}"/>
</p:tagLst>
</file>

<file path=ppt/tags/tag24.xml><?xml version="1.0" encoding="utf-8"?>
<p:tagLst xmlns:p="http://schemas.openxmlformats.org/presentationml/2006/main">
  <p:tag name="KSO_WM_DIAGRAM_VIRTUALLY_FRAME" val="{&quot;height&quot;:180,&quot;left&quot;:28.8,&quot;top&quot;:144,&quot;width&quot;:662.4}"/>
</p:tagLst>
</file>

<file path=ppt/tags/tag25.xml><?xml version="1.0" encoding="utf-8"?>
<p:tagLst xmlns:p="http://schemas.openxmlformats.org/presentationml/2006/main">
  <p:tag name="KSO_WM_DIAGRAM_VIRTUALLY_FRAME" val="{&quot;height&quot;:345.6,&quot;left&quot;:21.6,&quot;top&quot;:54,&quot;width&quot;:691.2}"/>
</p:tagLst>
</file>

<file path=ppt/tags/tag26.xml><?xml version="1.0" encoding="utf-8"?>
<p:tagLst xmlns:p="http://schemas.openxmlformats.org/presentationml/2006/main">
  <p:tag name="KSO_WM_DIAGRAM_VIRTUALLY_FRAME" val="{&quot;height&quot;:345.6,&quot;left&quot;:21.6,&quot;top&quot;:54,&quot;width&quot;:691.2}"/>
</p:tagLst>
</file>

<file path=ppt/tags/tag27.xml><?xml version="1.0" encoding="utf-8"?>
<p:tagLst xmlns:p="http://schemas.openxmlformats.org/presentationml/2006/main">
  <p:tag name="KSO_WM_DIAGRAM_VIRTUALLY_FRAME" val="{&quot;height&quot;:345.6,&quot;left&quot;:21.6,&quot;top&quot;:54,&quot;width&quot;:691.2}"/>
</p:tagLst>
</file>

<file path=ppt/tags/tag28.xml><?xml version="1.0" encoding="utf-8"?>
<p:tagLst xmlns:p="http://schemas.openxmlformats.org/presentationml/2006/main">
  <p:tag name="KSO_WM_DIAGRAM_VIRTUALLY_FRAME" val="{&quot;height&quot;:345.6,&quot;left&quot;:21.6,&quot;top&quot;:54,&quot;width&quot;:691.2}"/>
</p:tagLst>
</file>

<file path=ppt/tags/tag29.xml><?xml version="1.0" encoding="utf-8"?>
<p:tagLst xmlns:p="http://schemas.openxmlformats.org/presentationml/2006/main">
  <p:tag name="KSO_WM_DIAGRAM_VIRTUALLY_FRAME" val="{&quot;height&quot;:345.6,&quot;left&quot;:21.6,&quot;top&quot;:54,&quot;width&quot;:691.2}"/>
</p:tagLst>
</file>

<file path=ppt/tags/tag30.xml><?xml version="1.0" encoding="utf-8"?>
<p:tagLst xmlns:p="http://schemas.openxmlformats.org/presentationml/2006/main">
  <p:tag name="KSO_WM_DIAGRAM_VIRTUALLY_FRAME" val="{&quot;height&quot;:345.6,&quot;left&quot;:21.6,&quot;top&quot;:54,&quot;width&quot;:691.2}"/>
</p:tagLst>
</file>

<file path=ppt/tags/tag31.xml><?xml version="1.0" encoding="utf-8"?>
<p:tagLst xmlns:p="http://schemas.openxmlformats.org/presentationml/2006/main">
  <p:tag name="KSO_WM_DIAGRAM_VIRTUALLY_FRAME" val="{&quot;height&quot;:345.6,&quot;left&quot;:21.6,&quot;top&quot;:54,&quot;width&quot;:691.2}"/>
</p:tagLst>
</file>

<file path=ppt/tags/tag32.xml><?xml version="1.0" encoding="utf-8"?>
<p:tagLst xmlns:p="http://schemas.openxmlformats.org/presentationml/2006/main">
  <p:tag name="KSO_WM_DIAGRAM_VIRTUALLY_FRAME" val="{&quot;height&quot;:345.6,&quot;left&quot;:21.6,&quot;top&quot;:54,&quot;width&quot;:691.2}"/>
</p:tagLst>
</file>

<file path=ppt/tags/tag33.xml><?xml version="1.0" encoding="utf-8"?>
<p:tagLst xmlns:p="http://schemas.openxmlformats.org/presentationml/2006/main">
  <p:tag name="KSO_WM_DIAGRAM_VIRTUALLY_FRAME" val="{&quot;height&quot;:345.6,&quot;left&quot;:21.6,&quot;top&quot;:54,&quot;width&quot;:691.2}"/>
</p:tagLst>
</file>

<file path=ppt/tags/tag34.xml><?xml version="1.0" encoding="utf-8"?>
<p:tagLst xmlns:p="http://schemas.openxmlformats.org/presentationml/2006/main">
  <p:tag name="KSO_WM_DIAGRAM_VIRTUALLY_FRAME" val="{&quot;height&quot;:345.6,&quot;left&quot;:21.6,&quot;top&quot;:54,&quot;width&quot;:691.2}"/>
</p:tagLst>
</file>

<file path=ppt/tags/tag35.xml><?xml version="1.0" encoding="utf-8"?>
<p:tagLst xmlns:p="http://schemas.openxmlformats.org/presentationml/2006/main">
  <p:tag name="KSO_WM_DIAGRAM_VIRTUALLY_FRAME" val="{&quot;height&quot;:345.6,&quot;left&quot;:21.6,&quot;top&quot;:54,&quot;width&quot;:691.2}"/>
</p:tagLst>
</file>

<file path=ppt/tags/tag36.xml><?xml version="1.0" encoding="utf-8"?>
<p:tagLst xmlns:p="http://schemas.openxmlformats.org/presentationml/2006/main">
  <p:tag name="KSO_WM_DIAGRAM_VIRTUALLY_FRAME" val="{&quot;height&quot;:345.6,&quot;left&quot;:21.6,&quot;top&quot;:54,&quot;width&quot;:691.2}"/>
</p:tagLst>
</file>

<file path=ppt/tags/tag37.xml><?xml version="1.0" encoding="utf-8"?>
<p:tagLst xmlns:p="http://schemas.openxmlformats.org/presentationml/2006/main">
  <p:tag name="KSO_WM_DIAGRAM_VIRTUALLY_FRAME" val="{&quot;height&quot;:345.6,&quot;left&quot;:21.6,&quot;top&quot;:54,&quot;width&quot;:691.2}"/>
</p:tagLst>
</file>

<file path=ppt/tags/tag38.xml><?xml version="1.0" encoding="utf-8"?>
<p:tagLst xmlns:p="http://schemas.openxmlformats.org/presentationml/2006/main">
  <p:tag name="KSO_WM_DIAGRAM_VIRTUALLY_FRAME" val="{&quot;height&quot;:345.6,&quot;left&quot;:21.6,&quot;top&quot;:54,&quot;width&quot;:691.2}"/>
</p:tagLst>
</file>

<file path=ppt/tags/tag39.xml><?xml version="1.0" encoding="utf-8"?>
<p:tagLst xmlns:p="http://schemas.openxmlformats.org/presentationml/2006/main">
  <p:tag name="KSO_WM_DIAGRAM_VIRTUALLY_FRAME" val="{&quot;height&quot;:345.6,&quot;left&quot;:21.6,&quot;top&quot;:54,&quot;width&quot;:691.2}"/>
</p:tagLst>
</file>

<file path=ppt/tags/tag40.xml><?xml version="1.0" encoding="utf-8"?>
<p:tagLst xmlns:p="http://schemas.openxmlformats.org/presentationml/2006/main">
  <p:tag name="KSO_WM_DIAGRAM_VIRTUALLY_FRAME" val="{&quot;height&quot;:345.6,&quot;left&quot;:21.6,&quot;top&quot;:54,&quot;width&quot;:691.2}"/>
</p:tagLst>
</file>

<file path=ppt/tags/tag41.xml><?xml version="1.0" encoding="utf-8"?>
<p:tagLst xmlns:p="http://schemas.openxmlformats.org/presentationml/2006/main">
  <p:tag name="KSO_WM_DIAGRAM_VIRTUALLY_FRAME" val="{&quot;height&quot;:345.6,&quot;left&quot;:21.6,&quot;top&quot;:54,&quot;width&quot;:691.2}"/>
</p:tagLst>
</file>

<file path=ppt/tags/tag42.xml><?xml version="1.0" encoding="utf-8"?>
<p:tagLst xmlns:p="http://schemas.openxmlformats.org/presentationml/2006/main">
  <p:tag name="KSO_WM_DIAGRAM_VIRTUALLY_FRAME" val="{&quot;height&quot;:345.6,&quot;left&quot;:21.6,&quot;top&quot;:54,&quot;width&quot;:691.2}"/>
</p:tagLst>
</file>

<file path=ppt/tags/tag43.xml><?xml version="1.0" encoding="utf-8"?>
<p:tagLst xmlns:p="http://schemas.openxmlformats.org/presentationml/2006/main">
  <p:tag name="KSO_WM_DIAGRAM_VIRTUALLY_FRAME" val="{&quot;height&quot;:345.6,&quot;left&quot;:21.6,&quot;top&quot;:54,&quot;width&quot;:691.2}"/>
</p:tagLst>
</file>

<file path=ppt/tags/tag44.xml><?xml version="1.0" encoding="utf-8"?>
<p:tagLst xmlns:p="http://schemas.openxmlformats.org/presentationml/2006/main">
  <p:tag name="KSO_WM_DIAGRAM_VIRTUALLY_FRAME" val="{&quot;height&quot;:345.6,&quot;left&quot;:21.6,&quot;top&quot;:54,&quot;width&quot;:691.2}"/>
</p:tagLst>
</file>

<file path=ppt/tags/tag45.xml><?xml version="1.0" encoding="utf-8"?>
<p:tagLst xmlns:p="http://schemas.openxmlformats.org/presentationml/2006/main">
  <p:tag name="KSO_WM_DIAGRAM_VIRTUALLY_FRAME" val="{&quot;height&quot;:345.6,&quot;left&quot;:21.6,&quot;top&quot;:54,&quot;width&quot;:691.2}"/>
</p:tagLst>
</file>

<file path=ppt/tags/tag46.xml><?xml version="1.0" encoding="utf-8"?>
<p:tagLst xmlns:p="http://schemas.openxmlformats.org/presentationml/2006/main">
  <p:tag name="KSO_WM_DIAGRAM_VIRTUALLY_FRAME" val="{&quot;height&quot;:345.6,&quot;left&quot;:21.6,&quot;top&quot;:54,&quot;width&quot;:691.2}"/>
</p:tagLst>
</file>

<file path=ppt/tags/tag47.xml><?xml version="1.0" encoding="utf-8"?>
<p:tagLst xmlns:p="http://schemas.openxmlformats.org/presentationml/2006/main">
  <p:tag name="KSO_WM_DIAGRAM_VIRTUALLY_FRAME" val="{&quot;height&quot;:345.6,&quot;left&quot;:21.6,&quot;top&quot;:54,&quot;width&quot;:691.2}"/>
</p:tagLst>
</file>

<file path=ppt/tags/tag48.xml><?xml version="1.0" encoding="utf-8"?>
<p:tagLst xmlns:p="http://schemas.openxmlformats.org/presentationml/2006/main">
  <p:tag name="KSO_WM_DIAGRAM_VIRTUALLY_FRAME" val="{&quot;height&quot;:345.6,&quot;left&quot;:21.6,&quot;top&quot;:54,&quot;width&quot;:691.2}"/>
</p:tagLst>
</file>

<file path=ppt/tags/tag49.xml><?xml version="1.0" encoding="utf-8"?>
<p:tagLst xmlns:p="http://schemas.openxmlformats.org/presentationml/2006/main">
  <p:tag name="KSO_WM_DIAGRAM_VIRTUALLY_FRAME" val="{&quot;height&quot;:277.2,&quot;left&quot;:28.8,&quot;top&quot;:108,&quot;width&quot;:676.8}"/>
</p:tagLst>
</file>

<file path=ppt/tags/tag50.xml><?xml version="1.0" encoding="utf-8"?>
<p:tagLst xmlns:p="http://schemas.openxmlformats.org/presentationml/2006/main">
  <p:tag name="KSO_WM_DIAGRAM_VIRTUALLY_FRAME" val="{&quot;height&quot;:277.2,&quot;left&quot;:28.8,&quot;top&quot;:108,&quot;width&quot;:676.8}"/>
</p:tagLst>
</file>

<file path=ppt/tags/tag51.xml><?xml version="1.0" encoding="utf-8"?>
<p:tagLst xmlns:p="http://schemas.openxmlformats.org/presentationml/2006/main">
  <p:tag name="KSO_WM_DIAGRAM_VIRTUALLY_FRAME" val="{&quot;height&quot;:277.2,&quot;left&quot;:28.8,&quot;top&quot;:108,&quot;width&quot;:676.8}"/>
</p:tagLst>
</file>

<file path=ppt/tags/tag52.xml><?xml version="1.0" encoding="utf-8"?>
<p:tagLst xmlns:p="http://schemas.openxmlformats.org/presentationml/2006/main">
  <p:tag name="KSO_WM_DIAGRAM_VIRTUALLY_FRAME" val="{&quot;height&quot;:277.2,&quot;left&quot;:28.8,&quot;top&quot;:108,&quot;width&quot;:676.8}"/>
</p:tagLst>
</file>

<file path=ppt/tags/tag53.xml><?xml version="1.0" encoding="utf-8"?>
<p:tagLst xmlns:p="http://schemas.openxmlformats.org/presentationml/2006/main">
  <p:tag name="KSO_WM_DIAGRAM_VIRTUALLY_FRAME" val="{&quot;height&quot;:277.2,&quot;left&quot;:28.8,&quot;top&quot;:108,&quot;width&quot;:676.8}"/>
</p:tagLst>
</file>

<file path=ppt/tags/tag54.xml><?xml version="1.0" encoding="utf-8"?>
<p:tagLst xmlns:p="http://schemas.openxmlformats.org/presentationml/2006/main">
  <p:tag name="KSO_WM_DIAGRAM_VIRTUALLY_FRAME" val="{&quot;height&quot;:277.2,&quot;left&quot;:28.8,&quot;top&quot;:108,&quot;width&quot;:676.8}"/>
</p:tagLst>
</file>

<file path=ppt/tags/tag55.xml><?xml version="1.0" encoding="utf-8"?>
<p:tagLst xmlns:p="http://schemas.openxmlformats.org/presentationml/2006/main">
  <p:tag name="KSO_WM_DIAGRAM_VIRTUALLY_FRAME" val="{&quot;height&quot;:277.2,&quot;left&quot;:28.8,&quot;top&quot;:108,&quot;width&quot;:676.8}"/>
</p:tagLst>
</file>

<file path=ppt/tags/tag56.xml><?xml version="1.0" encoding="utf-8"?>
<p:tagLst xmlns:p="http://schemas.openxmlformats.org/presentationml/2006/main">
  <p:tag name="KSO_WM_DIAGRAM_VIRTUALLY_FRAME" val="{&quot;height&quot;:277.2,&quot;left&quot;:28.8,&quot;top&quot;:108,&quot;width&quot;:676.8}"/>
</p:tagLst>
</file>

<file path=ppt/tags/tag57.xml><?xml version="1.0" encoding="utf-8"?>
<p:tagLst xmlns:p="http://schemas.openxmlformats.org/presentationml/2006/main">
  <p:tag name="KSO_WM_DIAGRAM_VIRTUALLY_FRAME" val="{&quot;height&quot;:277.2,&quot;left&quot;:28.8,&quot;top&quot;:108,&quot;width&quot;:676.8}"/>
</p:tagLst>
</file>

<file path=ppt/tags/tag58.xml><?xml version="1.0" encoding="utf-8"?>
<p:tagLst xmlns:p="http://schemas.openxmlformats.org/presentationml/2006/main">
  <p:tag name="KSO_WM_DIAGRAM_VIRTUALLY_FRAME" val="{&quot;height&quot;:277.2,&quot;left&quot;:28.8,&quot;top&quot;:108,&quot;width&quot;:676.8}"/>
</p:tagLst>
</file>

<file path=ppt/tags/tag59.xml><?xml version="1.0" encoding="utf-8"?>
<p:tagLst xmlns:p="http://schemas.openxmlformats.org/presentationml/2006/main">
  <p:tag name="KSO_WM_DIAGRAM_VIRTUALLY_FRAME" val="{&quot;height&quot;:277.2,&quot;left&quot;:28.8,&quot;top&quot;:108,&quot;width&quot;:676.8}"/>
</p:tagLst>
</file>

<file path=ppt/tags/tag60.xml><?xml version="1.0" encoding="utf-8"?>
<p:tagLst xmlns:p="http://schemas.openxmlformats.org/presentationml/2006/main">
  <p:tag name="KSO_WM_DIAGRAM_VIRTUALLY_FRAME" val="{&quot;height&quot;:277.2,&quot;left&quot;:28.8,&quot;top&quot;:108,&quot;width&quot;:676.8}"/>
</p:tagLst>
</file>

<file path=ppt/tags/tag61.xml><?xml version="1.0" encoding="utf-8"?>
<p:tagLst xmlns:p="http://schemas.openxmlformats.org/presentationml/2006/main">
  <p:tag name="KSO_WM_DIAGRAM_VIRTUALLY_FRAME" val="{&quot;height&quot;:277.2,&quot;left&quot;:28.8,&quot;top&quot;:108,&quot;width&quot;:676.8}"/>
</p:tagLst>
</file>

<file path=ppt/tags/tag62.xml><?xml version="1.0" encoding="utf-8"?>
<p:tagLst xmlns:p="http://schemas.openxmlformats.org/presentationml/2006/main">
  <p:tag name="KSO_WM_DIAGRAM_VIRTUALLY_FRAME" val="{&quot;height&quot;:277.2,&quot;left&quot;:28.8,&quot;top&quot;:108,&quot;width&quot;:676.8}"/>
</p:tagLst>
</file>

<file path=ppt/tags/tag63.xml><?xml version="1.0" encoding="utf-8"?>
<p:tagLst xmlns:p="http://schemas.openxmlformats.org/presentationml/2006/main">
  <p:tag name="KSO_WM_DIAGRAM_VIRTUALLY_FRAME" val="{&quot;height&quot;:277.2,&quot;left&quot;:28.8,&quot;top&quot;:108,&quot;width&quot;:676.8}"/>
</p:tagLst>
</file>

<file path=ppt/tags/tag64.xml><?xml version="1.0" encoding="utf-8"?>
<p:tagLst xmlns:p="http://schemas.openxmlformats.org/presentationml/2006/main">
  <p:tag name="KSO_WM_DIAGRAM_VIRTUALLY_FRAME" val="{&quot;height&quot;:277.2,&quot;left&quot;:28.8,&quot;top&quot;:108,&quot;width&quot;:676.8}"/>
</p:tagLst>
</file>

<file path=ppt/tags/tag65.xml><?xml version="1.0" encoding="utf-8"?>
<p:tagLst xmlns:p="http://schemas.openxmlformats.org/presentationml/2006/main">
  <p:tag name="KSO_WM_DIAGRAM_VIRTUALLY_FRAME" val="{&quot;height&quot;:277.2,&quot;left&quot;:28.8,&quot;top&quot;:108,&quot;width&quot;:676.8}"/>
</p:tagLst>
</file>

<file path=ppt/tags/tag66.xml><?xml version="1.0" encoding="utf-8"?>
<p:tagLst xmlns:p="http://schemas.openxmlformats.org/presentationml/2006/main">
  <p:tag name="KSO_WM_DIAGRAM_VIRTUALLY_FRAME" val="{&quot;height&quot;:277.2,&quot;left&quot;:28.8,&quot;top&quot;:108,&quot;width&quot;:676.8}"/>
</p:tagLst>
</file>

<file path=ppt/tags/tag67.xml><?xml version="1.0" encoding="utf-8"?>
<p:tagLst xmlns:p="http://schemas.openxmlformats.org/presentationml/2006/main">
  <p:tag name="KSO_WM_DIAGRAM_VIRTUALLY_FRAME" val="{&quot;height&quot;:277.2,&quot;left&quot;:28.8,&quot;top&quot;:108,&quot;width&quot;:676.8}"/>
</p:tagLst>
</file>

<file path=ppt/tags/tag68.xml><?xml version="1.0" encoding="utf-8"?>
<p:tagLst xmlns:p="http://schemas.openxmlformats.org/presentationml/2006/main">
  <p:tag name="KSO_WM_DIAGRAM_VIRTUALLY_FRAME" val="{&quot;height&quot;:277.2,&quot;left&quot;:28.8,&quot;top&quot;:108,&quot;width&quot;:676.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17540</Words>
  <Application>WPS Presentation</Application>
  <PresentationFormat>On-screen Show (16:9)</PresentationFormat>
  <Paragraphs>905</Paragraphs>
  <Slides>22</Slides>
  <Notes>22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22</vt:i4>
      </vt:variant>
    </vt:vector>
  </HeadingPairs>
  <TitlesOfParts>
    <vt:vector size="34" baseType="lpstr">
      <vt:lpstr>Arial</vt:lpstr>
      <vt:lpstr>SimSun</vt:lpstr>
      <vt:lpstr>Wingdings</vt:lpstr>
      <vt:lpstr>Calibri</vt:lpstr>
      <vt:lpstr>Calibri</vt:lpstr>
      <vt:lpstr>Calibri</vt:lpstr>
      <vt:lpstr>Consolas</vt:lpstr>
      <vt:lpstr>Consolas</vt:lpstr>
      <vt:lpstr>Consolas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JavaScript DOM – Selection, Manipulation &amp; ClassList</dc:title>
  <dc:creator>PptxGenJS</dc:creator>
  <dc:subject>PptxGenJS Presentation</dc:subject>
  <cp:lastModifiedBy>Tabinda Noor</cp:lastModifiedBy>
  <cp:revision>2</cp:revision>
  <dcterms:created xsi:type="dcterms:W3CDTF">2026-06-03T18:51:00Z</dcterms:created>
  <dcterms:modified xsi:type="dcterms:W3CDTF">2026-06-04T04:56:31Z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9345329A360D423FB6A57E0291BF3983_12</vt:lpwstr>
  </property>
  <property fmtid="{D5CDD505-2E9C-101B-9397-08002B2CF9AE}" pid="3" name="KSOProductBuildVer">
    <vt:lpwstr>2057-12.2.0.23202</vt:lpwstr>
  </property>
</Properties>
</file>