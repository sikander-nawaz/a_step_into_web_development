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notesSlide" Target="../notesSlides/notesSlide4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0" Type="http://schemas.openxmlformats.org/officeDocument/2006/relationships/notesSlide" Target="../notesSlides/notesSlide10.xml"/><Relationship Id="rId2" Type="http://schemas.openxmlformats.org/officeDocument/2006/relationships/tags" Target="../tags/tag10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26.xml"/><Relationship Id="rId17" Type="http://schemas.openxmlformats.org/officeDocument/2006/relationships/tags" Target="../tags/tag25.xml"/><Relationship Id="rId16" Type="http://schemas.openxmlformats.org/officeDocument/2006/relationships/tags" Target="../tags/tag24.xml"/><Relationship Id="rId15" Type="http://schemas.openxmlformats.org/officeDocument/2006/relationships/tags" Target="../tags/tag23.xml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4" Type="http://schemas.openxmlformats.org/officeDocument/2006/relationships/notesSlide" Target="../notesSlides/notesSlide16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tags" Target="../tags/tag2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6" Type="http://schemas.openxmlformats.org/officeDocument/2006/relationships/notesSlide" Target="../notesSlides/notesSlide27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62.xml"/><Relationship Id="rId23" Type="http://schemas.openxmlformats.org/officeDocument/2006/relationships/tags" Target="../tags/tag61.xml"/><Relationship Id="rId22" Type="http://schemas.openxmlformats.org/officeDocument/2006/relationships/tags" Target="../tags/tag60.xml"/><Relationship Id="rId21" Type="http://schemas.openxmlformats.org/officeDocument/2006/relationships/tags" Target="../tags/tag59.xml"/><Relationship Id="rId20" Type="http://schemas.openxmlformats.org/officeDocument/2006/relationships/tags" Target="../tags/tag58.xml"/><Relationship Id="rId2" Type="http://schemas.openxmlformats.org/officeDocument/2006/relationships/tags" Target="../tags/tag40.xml"/><Relationship Id="rId19" Type="http://schemas.openxmlformats.org/officeDocument/2006/relationships/tags" Target="../tags/tag57.xml"/><Relationship Id="rId18" Type="http://schemas.openxmlformats.org/officeDocument/2006/relationships/tags" Target="../tags/tag56.xml"/><Relationship Id="rId17" Type="http://schemas.openxmlformats.org/officeDocument/2006/relationships/tags" Target="../tags/tag55.xml"/><Relationship Id="rId16" Type="http://schemas.openxmlformats.org/officeDocument/2006/relationships/tags" Target="../tags/tag54.xml"/><Relationship Id="rId15" Type="http://schemas.openxmlformats.org/officeDocument/2006/relationships/tags" Target="../tags/tag53.xml"/><Relationship Id="rId14" Type="http://schemas.openxmlformats.org/officeDocument/2006/relationships/tags" Target="../tags/tag52.xml"/><Relationship Id="rId13" Type="http://schemas.openxmlformats.org/officeDocument/2006/relationships/tags" Target="../tags/tag51.xml"/><Relationship Id="rId12" Type="http://schemas.openxmlformats.org/officeDocument/2006/relationships/tags" Target="../tags/tag50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tags" Target="../tags/tag3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3" name="Text 1"/>
          <p:cNvSpPr/>
          <p:nvPr/>
        </p:nvSpPr>
        <p:spPr>
          <a:xfrm>
            <a:off x="640080" y="1280160"/>
            <a:ext cx="78638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JavaScript Async Programming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6858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Promises · Async / Await · Error Handling · Real-World Use Cases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JavaScript Async Programming — Full Course Deck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Will Cover Today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EA5E9"/>
          </a:solidFill>
        </p:spPr>
      </p:sp>
      <p:sp>
        <p:nvSpPr>
          <p:cNvPr id="5" name="Text 3"/>
          <p:cNvSpPr/>
          <p:nvPr/>
        </p:nvSpPr>
        <p:spPr>
          <a:xfrm>
            <a:off x="457200" y="10058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05156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 — Synchronous vs Asynchronous JS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EA5E9"/>
          </a:solidFill>
        </p:spPr>
      </p:sp>
      <p:sp>
        <p:nvSpPr>
          <p:cNvPr id="8" name="Text 6"/>
          <p:cNvSpPr/>
          <p:nvPr/>
        </p:nvSpPr>
        <p:spPr>
          <a:xfrm>
            <a:off x="457200" y="17373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78308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Callbacks — The Old Way &amp; Callback Hell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EA5E9"/>
          </a:solidFill>
        </p:spPr>
      </p:sp>
      <p:sp>
        <p:nvSpPr>
          <p:cNvPr id="11" name="Text 9"/>
          <p:cNvSpPr/>
          <p:nvPr/>
        </p:nvSpPr>
        <p:spPr>
          <a:xfrm>
            <a:off x="457200" y="24688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51460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Promises — Definition, States &amp; Lifecycle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EA5E9"/>
          </a:solidFill>
        </p:spPr>
      </p:sp>
      <p:sp>
        <p:nvSpPr>
          <p:cNvPr id="14" name="Text 12"/>
          <p:cNvSpPr/>
          <p:nvPr/>
        </p:nvSpPr>
        <p:spPr>
          <a:xfrm>
            <a:off x="457200" y="32004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24612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Promise Methods — .then() .catch() .finally()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EA5E9"/>
          </a:solidFill>
        </p:spPr>
      </p:sp>
      <p:sp>
        <p:nvSpPr>
          <p:cNvPr id="17" name="Text 15"/>
          <p:cNvSpPr/>
          <p:nvPr/>
        </p:nvSpPr>
        <p:spPr>
          <a:xfrm>
            <a:off x="457200" y="393192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397764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Promise Combinators — all, race, allSettled, any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10058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EA5E9"/>
          </a:solidFill>
        </p:spPr>
      </p:sp>
      <p:sp>
        <p:nvSpPr>
          <p:cNvPr id="20" name="Text 18"/>
          <p:cNvSpPr/>
          <p:nvPr/>
        </p:nvSpPr>
        <p:spPr>
          <a:xfrm>
            <a:off x="4800600" y="10058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0" y="105156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Async / Await — Syntax &amp; Deep Dive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00600" y="17373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EA5E9"/>
          </a:solidFill>
        </p:spPr>
      </p:sp>
      <p:sp>
        <p:nvSpPr>
          <p:cNvPr id="23" name="Text 21"/>
          <p:cNvSpPr/>
          <p:nvPr/>
        </p:nvSpPr>
        <p:spPr>
          <a:xfrm>
            <a:off x="4800600" y="17373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0" y="178308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 Handling in Async Code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00600" y="24688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EA5E9"/>
          </a:solidFill>
        </p:spPr>
      </p:sp>
      <p:sp>
        <p:nvSpPr>
          <p:cNvPr id="26" name="Text 24"/>
          <p:cNvSpPr/>
          <p:nvPr/>
        </p:nvSpPr>
        <p:spPr>
          <a:xfrm>
            <a:off x="4800600" y="24688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0" y="251460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Promises vs Async/Await — Full Comparison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00600" y="32004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EA5E9"/>
          </a:solidFill>
        </p:spPr>
      </p:sp>
      <p:sp>
        <p:nvSpPr>
          <p:cNvPr id="29" name="Text 27"/>
          <p:cNvSpPr/>
          <p:nvPr/>
        </p:nvSpPr>
        <p:spPr>
          <a:xfrm>
            <a:off x="4800600" y="32004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03520" y="324612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Use Cases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00600" y="39319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EA5E9"/>
          </a:solidFill>
        </p:spPr>
      </p:sp>
      <p:sp>
        <p:nvSpPr>
          <p:cNvPr id="32" name="Text 30"/>
          <p:cNvSpPr/>
          <p:nvPr/>
        </p:nvSpPr>
        <p:spPr>
          <a:xfrm>
            <a:off x="4800600" y="393192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397764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Practices &amp; Common Mistakes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3" name="Text 1"/>
          <p:cNvSpPr/>
          <p:nvPr/>
        </p:nvSpPr>
        <p:spPr>
          <a:xfrm>
            <a:off x="731520" y="1463040"/>
            <a:ext cx="768096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 1: The Problem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do we need asynchronous programming?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Synchronous vs Asynchronous JavaScript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365760" y="960120"/>
            <a:ext cx="3931920" cy="3566160"/>
          </a:xfrm>
          <a:prstGeom prst="roundRect">
            <a:avLst>
              <a:gd name="adj" fmla="val 2564"/>
            </a:avLst>
          </a:prstGeom>
          <a:solidFill>
            <a:srgbClr val="FFF1F2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🔴  SYNCHRONOUS</a:t>
            </a:r>
            <a:endParaRPr lang="en-US" sz="1400" dirty="0"/>
          </a:p>
        </p:txBody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548640" y="1508760"/>
            <a:ext cx="356616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Code runs line by line, top to bottom
</a:t>
            </a:r>
            <a:r>
              <a:rPr lang="en-US" sz="12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Each line WAITS for the previous to finish
</a:t>
            </a:r>
            <a:r>
              <a:rPr lang="en-US" sz="12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If one task is slow (e.g., fetching data), the
  entire program FREEZES
</a:t>
            </a:r>
            <a:r>
              <a:rPr lang="en-US" sz="12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Browser becomes unresponsive
</a:t>
            </a:r>
            <a:r>
              <a:rPr lang="en-US" sz="12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User sees a 'frozen' page — terrible UX</a:t>
            </a:r>
            <a:endParaRPr lang="en-US" sz="1250" dirty="0"/>
          </a:p>
        </p:txBody>
      </p:sp>
      <p:sp>
        <p:nvSpPr>
          <p:cNvPr id="7" name="Shape 5"/>
          <p:cNvSpPr/>
          <p:nvPr>
            <p:custDataLst>
              <p:tags r:id="rId3"/>
            </p:custDataLst>
          </p:nvPr>
        </p:nvSpPr>
        <p:spPr>
          <a:xfrm>
            <a:off x="457200" y="3291840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594360" y="3410712"/>
            <a:ext cx="3474720" cy="5394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console.log("Start");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slowTask(); // Blocks here!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console.log("End"); // Waits!</a:t>
            </a:r>
            <a:endParaRPr lang="en-US" sz="1050" dirty="0"/>
          </a:p>
        </p:txBody>
      </p:sp>
      <p:sp>
        <p:nvSpPr>
          <p:cNvPr id="9" name="Shape 7"/>
          <p:cNvSpPr/>
          <p:nvPr>
            <p:custDataLst>
              <p:tags r:id="rId5"/>
            </p:custDataLst>
          </p:nvPr>
        </p:nvSpPr>
        <p:spPr>
          <a:xfrm>
            <a:off x="4754880" y="96012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0FDF4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0515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🟢  ASYNCHRONOUS</a:t>
            </a:r>
            <a:endParaRPr lang="en-US" sz="1400" dirty="0"/>
          </a:p>
        </p:txBody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4892040" y="1508760"/>
            <a:ext cx="356616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Code does NOT wait for slow tasks
</a:t>
            </a:r>
            <a:r>
              <a:rPr lang="en-US" sz="12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Slow tasks (API, file I/O) run in background
</a:t>
            </a:r>
            <a:r>
              <a:rPr lang="en-US" sz="12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Program continues running other code
</a:t>
            </a:r>
            <a:r>
              <a:rPr lang="en-US" sz="12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When the task finishes, a callback/promise
  resolves with the result
</a:t>
            </a:r>
            <a:r>
              <a:rPr lang="en-US" sz="12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Browser stays responsive — great UX</a:t>
            </a:r>
            <a:endParaRPr lang="en-US" sz="1250" dirty="0"/>
          </a:p>
        </p:txBody>
      </p:sp>
      <p:sp>
        <p:nvSpPr>
          <p:cNvPr id="12" name="Shape 10"/>
          <p:cNvSpPr/>
          <p:nvPr>
            <p:custDataLst>
              <p:tags r:id="rId7"/>
            </p:custDataLst>
          </p:nvPr>
        </p:nvSpPr>
        <p:spPr>
          <a:xfrm>
            <a:off x="4800600" y="3200400"/>
            <a:ext cx="3749040" cy="932688"/>
          </a:xfrm>
          <a:prstGeom prst="roundRect">
            <a:avLst>
              <a:gd name="adj" fmla="val 7843"/>
            </a:avLst>
          </a:prstGeom>
          <a:solidFill>
            <a:srgbClr val="1E293B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4937760" y="3319272"/>
            <a:ext cx="3474720" cy="6949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console.log("Start");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fetch(url).then(res =&gt; { // Non-blocking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console.log(res);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console.log("End"); // Runs immediately!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3" name="Text 1"/>
          <p:cNvSpPr/>
          <p:nvPr/>
        </p:nvSpPr>
        <p:spPr>
          <a:xfrm>
            <a:off x="731520" y="1463040"/>
            <a:ext cx="768096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 2: Callbacks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old way — and why it got painful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Callbacks &amp; Callback Hell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callback is a function passed as an argument to another function, to be executed later.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32890"/>
            <a:ext cx="5029200" cy="3337560"/>
          </a:xfrm>
          <a:prstGeom prst="roundRect">
            <a:avLst>
              <a:gd name="adj" fmla="val 2192"/>
            </a:avLst>
          </a:prstGeom>
          <a:solidFill>
            <a:srgbClr val="1E293B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627632"/>
            <a:ext cx="4754880" cy="309981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Simple callback — fine for one level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getData(function(result)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console.log(result);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});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Callback Hell — deeply nested, hard to read/debug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getData(function(a)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getMoreData(a, function(b)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getEvenMore(b, function(c)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getEvenMoreData(c, function(d)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    // We are now 4 levels deep — "Pyramid of Doom" 😱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    doSomething(d);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});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});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});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0" y="1508760"/>
            <a:ext cx="3017520" cy="3337560"/>
          </a:xfrm>
          <a:prstGeom prst="roundRect">
            <a:avLst>
              <a:gd name="adj" fmla="val 3030"/>
            </a:avLst>
          </a:prstGeom>
          <a:solidFill>
            <a:srgbClr val="FFF7ED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06440" y="1645920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Problems with Callbacks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06440" y="2075688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 Hard to read &amp; follow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06440" y="2459736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 Error handling is messy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806440" y="2843784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 Each level needs its own error catch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06440" y="3227832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 Difficult to maintain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06440" y="3611880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 Cannot use return or throw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06440" y="3995928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 Race conditions are hard to handle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806440" y="4379976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Promises were invented to fix ALL of this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3" name="Text 1"/>
          <p:cNvSpPr/>
          <p:nvPr/>
        </p:nvSpPr>
        <p:spPr>
          <a:xfrm>
            <a:off x="731520" y="1463040"/>
            <a:ext cx="768096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 3: Promises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better way to handle async operations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a Promise?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87552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Promise is an object that represents the eventual completion (or failure) of an asynchronous operation and its resulting value.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analogy: You order food at a restaurant. The waiter gives you a receipt (the Promise). You don't stand and wait — you sit down. When your food is ready (resolved) you get it. If the kitchen runs out (rejected) you get notified.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0F9FF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514600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⏳  PENDING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971800"/>
            <a:ext cx="2331720" cy="1508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Initial state. Operation has not completed yet. Waiting for the async task.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237744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0F9FF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2514600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FULFILLED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971800"/>
            <a:ext cx="2331720" cy="1508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Operation completed successfully. The promise has a resolved value.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37744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0F9FF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2514600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 REJECTED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55080" y="2971800"/>
            <a:ext cx="2331720" cy="1508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Operation failed. The promise has a reason (error) for failure.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0" y="3538728"/>
            <a:ext cx="10972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51960" y="3538728"/>
            <a:ext cx="109728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3355848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resolve()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14600" y="365760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reject()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Creating a Promise — Syntax &amp; Example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5120640" cy="3950208"/>
          </a:xfrm>
          <a:prstGeom prst="roundRect">
            <a:avLst>
              <a:gd name="adj" fmla="val 1852"/>
            </a:avLst>
          </a:prstGeom>
          <a:solidFill>
            <a:srgbClr val="1E293B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78992"/>
            <a:ext cx="4846320" cy="37124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Syntax: new Promise((resolve, reject) =&gt; { ... })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 myPromise = new Promise((resolve, reject) =&gt;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// Simulate an async operation (e.g., fetching data)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setTimeout(() =&gt;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const success = true; // change to false to see rejection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if (success)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resolve("✅ Data fetched successfully!");  // Fulfills the promise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} else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reject(new Error("❌ Network error occurred!")); // Rejects the promise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}, 2000);  // Wait 2 seconds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});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Consuming the Promise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myPromise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.then(result =&gt; console.log(result))  // Called if resolved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.catch(error =&gt; console.error(error)) // Called if rejected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.finally(() =&gt; console.log("Done!")); // Always called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760720" y="960120"/>
            <a:ext cx="2926080" cy="3950208"/>
          </a:xfrm>
          <a:prstGeom prst="roundRect">
            <a:avLst>
              <a:gd name="adj" fmla="val 3125"/>
            </a:avLst>
          </a:prstGeom>
          <a:solidFill>
            <a:srgbClr val="F0F9FF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0" y="109728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Points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1536192"/>
            <a:ext cx="260604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resolve() → moves promise to FULFILLED state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0" y="2057400"/>
            <a:ext cx="260604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reject() → moves promise to REJECTED state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0" y="2578608"/>
            <a:ext cx="260604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.then() → handles successful result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0" y="3099816"/>
            <a:ext cx="260604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.catch() → handles errors/rejection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0" y="3621024"/>
            <a:ext cx="260604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.finally() → runs regardless of outcome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0" y="4142232"/>
            <a:ext cx="260604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Promises can only settle ONCE — they are immutable once resolved or rejected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Promise Methods: .then() · .catch() · .finally()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365760" y="960120"/>
            <a:ext cx="8412480" cy="1261872"/>
          </a:xfrm>
          <a:prstGeom prst="roundRect">
            <a:avLst>
              <a:gd name="adj" fmla="val 5797"/>
            </a:avLst>
          </a:prstGeom>
          <a:solidFill>
            <a:srgbClr val="F0F9FF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365760" y="960120"/>
            <a:ext cx="8412480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548640" y="1051560"/>
            <a:ext cx="3200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B98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.then(onFulfilled, onRejected)</a:t>
            </a:r>
            <a:endParaRPr lang="en-US" sz="125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548640" y="1417320"/>
            <a:ext cx="4572000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Called when the promise is fulfilled. Takes up to 2 args: success handler and optional error handler. Always returns a NEW promise — enabling chaining.</a:t>
            </a:r>
            <a:endParaRPr lang="en-US" sz="1150" dirty="0"/>
          </a:p>
        </p:txBody>
      </p:sp>
      <p:sp>
        <p:nvSpPr>
          <p:cNvPr id="8" name="Shape 6"/>
          <p:cNvSpPr/>
          <p:nvPr>
            <p:custDataLst>
              <p:tags r:id="rId5"/>
            </p:custDataLst>
          </p:nvPr>
        </p:nvSpPr>
        <p:spPr>
          <a:xfrm>
            <a:off x="5349240" y="105156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5486400" y="1170432"/>
            <a:ext cx="2971800" cy="81381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promise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.then(data =&gt; data.json())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.then(json =&gt; console.log(json));</a:t>
            </a:r>
            <a:endParaRPr lang="en-US" sz="1050" dirty="0"/>
          </a:p>
        </p:txBody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365760" y="2331720"/>
            <a:ext cx="8412480" cy="1261872"/>
          </a:xfrm>
          <a:prstGeom prst="roundRect">
            <a:avLst>
              <a:gd name="adj" fmla="val 5797"/>
            </a:avLst>
          </a:prstGeom>
          <a:solidFill>
            <a:srgbClr val="F0F9FF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>
            <p:custDataLst>
              <p:tags r:id="rId8"/>
            </p:custDataLst>
          </p:nvPr>
        </p:nvSpPr>
        <p:spPr>
          <a:xfrm>
            <a:off x="365760" y="2331720"/>
            <a:ext cx="8412480" cy="54864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548640" y="2423160"/>
            <a:ext cx="3200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F444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.catch(onRejected)</a:t>
            </a:r>
            <a:endParaRPr lang="en-US" sz="1250" dirty="0"/>
          </a:p>
        </p:txBody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548640" y="2788920"/>
            <a:ext cx="4572000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Called when the promise is rejected or an error is thrown inside .then(). It is shorthand for .then(undefined, onRejected). Always place at the end of a chain.</a:t>
            </a:r>
            <a:endParaRPr lang="en-US" sz="1150" dirty="0"/>
          </a:p>
        </p:txBody>
      </p:sp>
      <p:sp>
        <p:nvSpPr>
          <p:cNvPr id="14" name="Shape 12"/>
          <p:cNvSpPr/>
          <p:nvPr>
            <p:custDataLst>
              <p:tags r:id="rId11"/>
            </p:custDataLst>
          </p:nvPr>
        </p:nvSpPr>
        <p:spPr>
          <a:xfrm>
            <a:off x="5349240" y="242316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5486400" y="2542032"/>
            <a:ext cx="2971800" cy="81381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promise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.then(data =&gt; process(data))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.catch(err =&gt; handleError(err));</a:t>
            </a:r>
            <a:endParaRPr lang="en-US" sz="1050" dirty="0"/>
          </a:p>
        </p:txBody>
      </p:sp>
      <p:sp>
        <p:nvSpPr>
          <p:cNvPr id="16" name="Shape 14"/>
          <p:cNvSpPr/>
          <p:nvPr>
            <p:custDataLst>
              <p:tags r:id="rId13"/>
            </p:custDataLst>
          </p:nvPr>
        </p:nvSpPr>
        <p:spPr>
          <a:xfrm>
            <a:off x="365760" y="3703320"/>
            <a:ext cx="8412480" cy="1261872"/>
          </a:xfrm>
          <a:prstGeom prst="roundRect">
            <a:avLst>
              <a:gd name="adj" fmla="val 5797"/>
            </a:avLst>
          </a:prstGeom>
          <a:solidFill>
            <a:srgbClr val="F0F9FF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>
            <p:custDataLst>
              <p:tags r:id="rId14"/>
            </p:custDataLst>
          </p:nvPr>
        </p:nvSpPr>
        <p:spPr>
          <a:xfrm>
            <a:off x="365760" y="3703320"/>
            <a:ext cx="8412480" cy="5486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548640" y="3794760"/>
            <a:ext cx="3200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.finally(onFinally)</a:t>
            </a:r>
            <a:endParaRPr lang="en-US" sz="1250" dirty="0"/>
          </a:p>
        </p:txBody>
      </p:sp>
      <p:sp>
        <p:nvSpPr>
          <p:cNvPr id="19" name="Text 17"/>
          <p:cNvSpPr/>
          <p:nvPr>
            <p:custDataLst>
              <p:tags r:id="rId16"/>
            </p:custDataLst>
          </p:nvPr>
        </p:nvSpPr>
        <p:spPr>
          <a:xfrm>
            <a:off x="548640" y="4160520"/>
            <a:ext cx="4572000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Always runs whether the promise resolved or rejected. Use it for cleanup tasks like hiding loading spinners, closing DB connections. Does NOT receive the value.</a:t>
            </a:r>
            <a:endParaRPr lang="en-US" sz="1150" dirty="0"/>
          </a:p>
        </p:txBody>
      </p:sp>
      <p:sp>
        <p:nvSpPr>
          <p:cNvPr id="20" name="Shape 18"/>
          <p:cNvSpPr/>
          <p:nvPr>
            <p:custDataLst>
              <p:tags r:id="rId17"/>
            </p:custDataLst>
          </p:nvPr>
        </p:nvSpPr>
        <p:spPr>
          <a:xfrm>
            <a:off x="5349240" y="379476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>
            <p:custDataLst>
              <p:tags r:id="rId18"/>
            </p:custDataLst>
          </p:nvPr>
        </p:nvSpPr>
        <p:spPr>
          <a:xfrm>
            <a:off x="5486400" y="3913632"/>
            <a:ext cx="2971800" cy="81381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showSpinner();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promise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.then(d =&gt; render(d))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.catch(e =&gt; showError(e))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.finally(() =&gt; hideSpinner());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Promise Chaining — Running Async Steps in Sequence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.then() returns a NEW promise, so you can chain operations one after another without nesting.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5303520" cy="3474720"/>
          </a:xfrm>
          <a:prstGeom prst="roundRect">
            <a:avLst>
              <a:gd name="adj" fmla="val 2105"/>
            </a:avLst>
          </a:prstGeom>
          <a:solidFill>
            <a:srgbClr val="1E293B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581912"/>
            <a:ext cx="5029200" cy="32369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fetch("https://api.example.com/users/1")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.then(response =&gt;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if (!response.ok) throw new Error("HTTP Error: " + response.status);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return response.json();        // Returns a new Promise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.then(user =&gt;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console.log("User:", user.name);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return fetch("https://api.example.com/posts?userId=" + user.id);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.then(response =&gt; response.json()) // Another chained step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.then(posts =&gt;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console.log("Posts count:", posts.length);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.catch(error =&gt;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// ONE catch handles errors from ANY step above ✅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console.error("Something went wrong:", error.message);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.finally(() =&gt; console.log("Request complete."));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852160" y="1463040"/>
            <a:ext cx="2834640" cy="3474720"/>
          </a:xfrm>
          <a:prstGeom prst="roundRect">
            <a:avLst>
              <a:gd name="adj" fmla="val 3226"/>
            </a:avLst>
          </a:prstGeom>
          <a:solidFill>
            <a:srgbClr val="F0FDF4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89320" y="160020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Chain?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89320" y="2029968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Avoids callback hell / nesting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89320" y="2596896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Flat, readable code flow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89320" y="3163824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Single .catch() for the entire chain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89320" y="3730752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Each step transforms the data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89320" y="429768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Can return plain values too — they auto-wrap in a resolved promise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3" name="Text 1"/>
          <p:cNvSpPr/>
          <p:nvPr/>
        </p:nvSpPr>
        <p:spPr>
          <a:xfrm>
            <a:off x="731520" y="1463040"/>
            <a:ext cx="768096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 4: Promise Combinators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Running multiple promises together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Promise Combinators — All 4 Methods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0233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023360" cy="54864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6" name="Text 4"/>
          <p:cNvSpPr/>
          <p:nvPr/>
        </p:nvSpPr>
        <p:spPr>
          <a:xfrm>
            <a:off x="530352" y="10515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A5E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Promise.all([ ])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0352" y="1435608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ALL promises in parallel. Resolves when ALL resolve. Rejects immediately if ANY one rejects (fail-fast). Returns array of results.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30352" y="242316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📌 Use: Fetch multiple independent APIs at once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0233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4023360" cy="5486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1" name="Text 9"/>
          <p:cNvSpPr/>
          <p:nvPr/>
        </p:nvSpPr>
        <p:spPr>
          <a:xfrm>
            <a:off x="4919472" y="10515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9E0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Promise.race([ ])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19472" y="1435608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Resolves or rejects as soon as the FIRST promise settles (wins the race). The other promises are ignored.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19472" y="242316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📌 Use: Timeout pattern: race a fetch against a timer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0233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17520"/>
            <a:ext cx="4023360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6" name="Text 14"/>
          <p:cNvSpPr/>
          <p:nvPr/>
        </p:nvSpPr>
        <p:spPr>
          <a:xfrm>
            <a:off x="530352" y="31089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Promise.allSettled([ ])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30352" y="3493008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Waits for ALL promises to settle (resolve or reject). Never rejects. Returns array of {status, value/reason} objects.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30352" y="448056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📌 Use: When you need all results even if some fail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40233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017520"/>
            <a:ext cx="4023360" cy="54864"/>
          </a:xfrm>
          <a:prstGeom prst="rect">
            <a:avLst/>
          </a:prstGeom>
          <a:solidFill>
            <a:srgbClr val="A855F7"/>
          </a:solidFill>
        </p:spPr>
      </p:sp>
      <p:sp>
        <p:nvSpPr>
          <p:cNvPr id="21" name="Text 19"/>
          <p:cNvSpPr/>
          <p:nvPr/>
        </p:nvSpPr>
        <p:spPr>
          <a:xfrm>
            <a:off x="4919472" y="31089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855F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Promise.any([ ])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919472" y="3493008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Resolves as soon as ANY ONE promise fulfills. Rejects only if ALL promises reject (AggregateError).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19472" y="448056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📌 Use: Try multiple CDN sources, use whichever responds first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Promise Combinators — Code Examples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5120640" cy="2743200"/>
          </a:xfrm>
          <a:prstGeom prst="roundRect">
            <a:avLst>
              <a:gd name="adj" fmla="val 2667"/>
            </a:avLst>
          </a:prstGeom>
          <a:solidFill>
            <a:srgbClr val="1E293B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78992"/>
            <a:ext cx="4846320" cy="25054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Promise.all — fail-fast, parallel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 [users, posts, comments] = await Promise.all([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fetch('/api/users').then(r =&gt; r.json()),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fetch('/api/posts').then(r =&gt; r.json()),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fetch('/api/comments').then(r =&gt; r.json())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]);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console.log(users, posts, comments); // All available at once ✅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Promise.race — timeout pattern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 result = await Promise.race([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fetch('/api/data').then(r =&gt; r.json()),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new Promise((_, reject) =&gt;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setTimeout(() =&gt; reject(new Error("Timeout!")), 5000)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]);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3776472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3895344"/>
            <a:ext cx="4846320" cy="9966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Promise.allSettled — never fails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 results = await Promise.allSettled([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fetch('/api/user/1').then(r =&gt; r.json()),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fetch('/api/user/2').then(r =&gt; r.json()), // might fail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fetch('/api/user/3').then(r =&gt; r.json()),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]);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results.forEach(r =&gt;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if (r.status === 'fulfilled') console.log(r.value);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else console.error(r.reason); // gracefully handle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});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Promise.any — first successful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 data = await Promise.any([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fetch('https://cdn1.example.com/data.json'),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fetch('https://cdn2.example.com/data.json'),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fetch('https://cdn3.example.com/data.json'),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]); // Uses whichever CDN responds first ✅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0" y="960120"/>
            <a:ext cx="3017520" cy="4050792"/>
          </a:xfrm>
          <a:prstGeom prst="roundRect">
            <a:avLst>
              <a:gd name="adj" fmla="val 3030"/>
            </a:avLst>
          </a:prstGeom>
          <a:solidFill>
            <a:srgbClr val="F0F9FF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33872" y="1069848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 Compare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0" y="1463040"/>
            <a:ext cx="3017520" cy="621792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11" name="Text 9"/>
          <p:cNvSpPr/>
          <p:nvPr/>
        </p:nvSpPr>
        <p:spPr>
          <a:xfrm>
            <a:off x="5705856" y="1536192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47104" y="153619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Resolves When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662672" y="1536192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Rejects When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0" y="2121408"/>
            <a:ext cx="3017520" cy="62179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" name="Text 13"/>
          <p:cNvSpPr/>
          <p:nvPr/>
        </p:nvSpPr>
        <p:spPr>
          <a:xfrm>
            <a:off x="5705856" y="219456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.all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47104" y="219456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fulfill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662672" y="219456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rejects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2779776"/>
            <a:ext cx="3017520" cy="621792"/>
          </a:xfrm>
          <a:prstGeom prst="rect">
            <a:avLst/>
          </a:prstGeom>
          <a:solidFill>
            <a:srgbClr val="EFF6FF"/>
          </a:solidFill>
        </p:spPr>
      </p:sp>
      <p:sp>
        <p:nvSpPr>
          <p:cNvPr id="19" name="Text 17"/>
          <p:cNvSpPr/>
          <p:nvPr/>
        </p:nvSpPr>
        <p:spPr>
          <a:xfrm>
            <a:off x="5705856" y="2852928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.race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47104" y="2852928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 settles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662672" y="2852928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 rejects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0" y="3438144"/>
            <a:ext cx="3017520" cy="62179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" name="Text 21"/>
          <p:cNvSpPr/>
          <p:nvPr/>
        </p:nvSpPr>
        <p:spPr>
          <a:xfrm>
            <a:off x="5705856" y="3511296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.allSettled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47104" y="3511296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settle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62672" y="3511296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Never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0" y="4096512"/>
            <a:ext cx="3017520" cy="621792"/>
          </a:xfrm>
          <a:prstGeom prst="rect">
            <a:avLst/>
          </a:prstGeom>
          <a:solidFill>
            <a:srgbClr val="EFF6FF"/>
          </a:solidFill>
        </p:spPr>
      </p:sp>
      <p:sp>
        <p:nvSpPr>
          <p:cNvPr id="27" name="Text 25"/>
          <p:cNvSpPr/>
          <p:nvPr/>
        </p:nvSpPr>
        <p:spPr>
          <a:xfrm>
            <a:off x="5705856" y="4169664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.any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47104" y="4169664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fulfills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62672" y="4169664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reject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3" name="Text 1"/>
          <p:cNvSpPr/>
          <p:nvPr/>
        </p:nvSpPr>
        <p:spPr>
          <a:xfrm>
            <a:off x="731520" y="1463040"/>
            <a:ext cx="768096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 5: Async / Await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Promises, but written like synchronous code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Async / Await?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async/await is syntactic sugar built ON TOP of Promises. It does NOT replace Promises — it makes them easier to write and read by allowing async code to look and behave like synchronous code.</a:t>
            </a:r>
            <a:endParaRPr lang="en-US" sz="14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365760" y="1737360"/>
            <a:ext cx="2743200" cy="31089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365760" y="1737360"/>
            <a:ext cx="2743200" cy="64008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502920" y="1847088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async keyword</a:t>
            </a:r>
            <a:endParaRPr lang="en-US" sz="135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502920" y="2267712"/>
            <a:ext cx="2468880" cy="2487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Place before a function declaration. It makes the function ALWAYS return a Promise, even if you return a plain value.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async function greet()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return "Hello!"; // wraps in Promise.resolve()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>
            <p:custDataLst>
              <p:tags r:id="rId5"/>
            </p:custDataLst>
          </p:nvPr>
        </p:nvSpPr>
        <p:spPr>
          <a:xfrm>
            <a:off x="3291840" y="1737360"/>
            <a:ext cx="2743200" cy="31089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>
            <p:custDataLst>
              <p:tags r:id="rId6"/>
            </p:custDataLst>
          </p:nvPr>
        </p:nvSpPr>
        <p:spPr>
          <a:xfrm>
            <a:off x="3291840" y="1737360"/>
            <a:ext cx="2743200" cy="64008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1" name="Text 9"/>
          <p:cNvSpPr/>
          <p:nvPr>
            <p:custDataLst>
              <p:tags r:id="rId7"/>
            </p:custDataLst>
          </p:nvPr>
        </p:nvSpPr>
        <p:spPr>
          <a:xfrm>
            <a:off x="3429000" y="1847088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await keyword</a:t>
            </a:r>
            <a:endParaRPr lang="en-US" sz="1350" dirty="0"/>
          </a:p>
        </p:txBody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3429000" y="2267712"/>
            <a:ext cx="2468880" cy="2487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Can ONLY be used inside an async function. It PAUSES execution of the async function until the Promise resolves, then returns the resolved value.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 data = await fetchData();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Waits here — but doesn't block the browser</a:t>
            </a:r>
            <a:endParaRPr lang="en-US" sz="1100" dirty="0"/>
          </a:p>
        </p:txBody>
      </p:sp>
      <p:sp>
        <p:nvSpPr>
          <p:cNvPr id="13" name="Shape 11"/>
          <p:cNvSpPr/>
          <p:nvPr>
            <p:custDataLst>
              <p:tags r:id="rId9"/>
            </p:custDataLst>
          </p:nvPr>
        </p:nvSpPr>
        <p:spPr>
          <a:xfrm>
            <a:off x="6217920" y="1737360"/>
            <a:ext cx="2743200" cy="31089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>
            <p:custDataLst>
              <p:tags r:id="rId10"/>
            </p:custDataLst>
          </p:nvPr>
        </p:nvSpPr>
        <p:spPr>
          <a:xfrm>
            <a:off x="6217920" y="1737360"/>
            <a:ext cx="2743200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6355080" y="1847088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Top-Level await</a:t>
            </a:r>
            <a:endParaRPr lang="en-US" sz="1350" dirty="0"/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6355080" y="2267712"/>
            <a:ext cx="2468880" cy="2487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 modern JS (ES2022+) modules, you can use await at the top level without wrapping in async function.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In a .mjs module or with type='module'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 data = await fetch('/api/data');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Async/Await — Full Syntax &amp; Behaviour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5212080" cy="4069080"/>
          </a:xfrm>
          <a:prstGeom prst="roundRect">
            <a:avLst>
              <a:gd name="adj" fmla="val 1798"/>
            </a:avLst>
          </a:prstGeom>
          <a:solidFill>
            <a:srgbClr val="1E293B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78992"/>
            <a:ext cx="4937760" cy="38313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── Basic async function ────────────────────────────────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async function fetchUser(id)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const response = await fetch(`/api/users/${id}`);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const user     = await response.json();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 user; // automatically wrapped in Promise.resolve()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── Calling an async function ────────────────────────────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 user = await fetchUser(1);    // inside another async fn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fetchUser(1).then(u =&gt; console.log(u)); // or use .then()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── Arrow function syntax ─────────────────────────────────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 getPost = async (id) =&gt;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const res = await fetch(`/api/posts/${id}`);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 res.json();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── Parallel execution (DON'T use sequential awaits!) ────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❌ SLOW — sequential, 3 × delay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 a = await fetchA();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 b = await fetchB();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✅ FAST — parallel with Promise.all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 [a, b] = await Promise.all([fetchA(), fetchB()]);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760720" y="960120"/>
            <a:ext cx="2926080" cy="4069080"/>
          </a:xfrm>
          <a:prstGeom prst="roundRect">
            <a:avLst>
              <a:gd name="adj" fmla="val 3125"/>
            </a:avLst>
          </a:prstGeom>
          <a:solidFill>
            <a:srgbClr val="F0F9FF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25312" y="1078992"/>
            <a:ext cx="2606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Rules to Remember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25312" y="1508760"/>
            <a:ext cx="2606040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async functions always return a Promise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25312" y="2075688"/>
            <a:ext cx="2606040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await can only be used inside async functions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25312" y="2642616"/>
            <a:ext cx="2606040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await pauses only its own function — not the whole program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25312" y="3209544"/>
            <a:ext cx="2606040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You can await any Promise, not just fetch()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25312" y="3776472"/>
            <a:ext cx="2606040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await unwraps the Promise value for you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25312" y="4343400"/>
            <a:ext cx="2606040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Avoid sequential awaits when tasks are independent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3" name="Text 1"/>
          <p:cNvSpPr/>
          <p:nvPr/>
        </p:nvSpPr>
        <p:spPr>
          <a:xfrm>
            <a:off x="731520" y="1463040"/>
            <a:ext cx="768096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 6: Error Handling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try/catch, propagation, and best practices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 Handling in Async/Await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5074920" cy="4069080"/>
          </a:xfrm>
          <a:prstGeom prst="roundRect">
            <a:avLst>
              <a:gd name="adj" fmla="val 1798"/>
            </a:avLst>
          </a:prstGeom>
          <a:solidFill>
            <a:srgbClr val="1E293B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78992"/>
            <a:ext cx="4800600" cy="38313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── try/catch for error handling ────────────────────────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async function getUser(id)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try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const response = await fetch(`/api/users/${id}`);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if (!response.ok)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// HTTP errors don't auto-reject — check manually!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throw new Error(`HTTP ${response.status}: ${response.statusText}`);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}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const user = await response.json();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return user;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 catch (error)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// Catches: network errors, thrown errors, JSON parse errors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console.error("Failed to fetch user:", error.message);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throw error; // Re-throw so the caller can handle it too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 finally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// Runs always — great for cleanup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console.log("fetch attempt complete");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── Handling at call site ────────────────────────────────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async function loadPage()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try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const user = await getUser(1);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renderUser(user);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 catch (error)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showErrorBanner(error.message);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23560" y="960120"/>
            <a:ext cx="3063240" cy="1920240"/>
          </a:xfrm>
          <a:prstGeom prst="roundRect">
            <a:avLst>
              <a:gd name="adj" fmla="val 4762"/>
            </a:avLst>
          </a:prstGeom>
          <a:solidFill>
            <a:srgbClr val="FFF1F2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79008" y="1078992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  Common Mistakes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79008" y="148132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 Forgetting to check response.ok for HTTP errors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779008" y="181051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 Swallowing errors with empty catch { 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79008" y="2139696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 Not re-throwing when callers need to know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79008" y="246888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 Missing try/catch in async functions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23560" y="2971800"/>
            <a:ext cx="3063240" cy="2057400"/>
          </a:xfrm>
          <a:prstGeom prst="roundRect">
            <a:avLst>
              <a:gd name="adj" fmla="val 4444"/>
            </a:avLst>
          </a:prstGeom>
          <a:solidFill>
            <a:srgbClr val="F0FDF4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79008" y="3090672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Best Practices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79008" y="349300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Always wrap await in try/catch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79008" y="380390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Check response.ok before .json()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779008" y="4114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Use finally for cleanup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779008" y="442569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Create custom Error classes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779008" y="47365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Log errors with context info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 Handling — Promise .catch() vs try/catch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8412480" cy="2423160"/>
          </a:xfrm>
          <a:prstGeom prst="roundRect">
            <a:avLst>
              <a:gd name="adj" fmla="val 3019"/>
            </a:avLst>
          </a:prstGeom>
          <a:solidFill>
            <a:srgbClr val="1E293B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78992"/>
            <a:ext cx="8138160" cy="218541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── Promises: .catch() ───────────────────────────────────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fetch('/api/data')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.then(res =&gt; res.json())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.then(data =&gt; process(data))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.catch(err =&gt; console.error("Promise error:", err));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// Catches errors from ALL .then() steps above ✅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── async/await: try/catch ────────────────────────────────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async function loadData()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try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const res  = await fetch('/api/data');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const data = await res.json();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process(data);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 catch (err)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console.error("Async error:", err); // Same effect ✅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3474720"/>
            <a:ext cx="841248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3593592"/>
            <a:ext cx="8138160" cy="13167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── Handling different error types ───────────────────────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async function robustFetch(url)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try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const res = await fetch(url);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if (!res.ok) throw new Error(`HTTP ${res.status}`);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return await res.json();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 catch (err)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if (err instanceof TypeError)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// Network error (no internet, CORS, etc.)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throw new Error("Network problem: " + err.message);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if (err.message.startsWith("HTTP"))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// Server returned 4xx or 5xx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throw new Error("Server error: " + err.message);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// JSON parse error or something else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throw new Error("Unexpected error: " + err.message);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3" name="Text 1"/>
          <p:cNvSpPr/>
          <p:nvPr/>
        </p:nvSpPr>
        <p:spPr>
          <a:xfrm>
            <a:off x="731520" y="1463040"/>
            <a:ext cx="768096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 7: Comparison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Promises vs Async/Await — side by side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Promises vs Async/Await — Same Code, Two Styles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297680" cy="2606040"/>
          </a:xfrm>
          <a:prstGeom prst="roundRect">
            <a:avLst>
              <a:gd name="adj" fmla="val 2807"/>
            </a:avLst>
          </a:prstGeom>
          <a:solidFill>
            <a:srgbClr val="1E293B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78992"/>
            <a:ext cx="4023360" cy="23682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─────────── PROMISES ──────────────────────────────────────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function getUserAndPosts(userId)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 fetch(`/api/users/${userId}`)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.then(res =&gt;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if (!res.ok) throw new Error("User fetch failed");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return res.json();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})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.then(user =&gt;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return fetch(`/api/posts?user=${user.id}`)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    .then(res =&gt; res.json())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    .then(posts =&gt; ({ user, posts })); // nest to share 'user'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})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.catch(err =&gt; console.error(err));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754880" y="960120"/>
            <a:ext cx="3977640" cy="2606040"/>
          </a:xfrm>
          <a:prstGeom prst="roundRect">
            <a:avLst>
              <a:gd name="adj" fmla="val 2807"/>
            </a:avLst>
          </a:prstGeom>
          <a:solidFill>
            <a:srgbClr val="1E293B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92040" y="1078992"/>
            <a:ext cx="3703320" cy="23682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─────────── ASYNC / AWAIT ─────────────────────────────────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async function getUserAndPosts(userId)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try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const userRes = await fetch(`/api/users/${userId}`);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if (!userRes.ok) throw new Error("User fetch failed");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const user = await userRes.json();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const postsRes = await fetch(`/api/posts?user=${user.id}`);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const posts    = await postsRes.json();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return { user, posts }; // Both variables in same scope ✅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 catch (err)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console.error(err);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3657600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F0F9FF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3685032"/>
            <a:ext cx="1280160" cy="201168"/>
          </a:xfrm>
          <a:prstGeom prst="rect">
            <a:avLst/>
          </a:prstGeom>
          <a:solidFill>
            <a:srgbClr val="0EA5E9"/>
          </a:solidFill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Aspect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09928" y="3685032"/>
            <a:ext cx="3474720" cy="201168"/>
          </a:xfrm>
          <a:prstGeom prst="rect">
            <a:avLst/>
          </a:prstGeom>
          <a:solidFill>
            <a:srgbClr val="0EA5E9"/>
          </a:solidFill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Promises (.then/.catch)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12080" y="3685032"/>
            <a:ext cx="3474720" cy="201168"/>
          </a:xfrm>
          <a:prstGeom prst="rect">
            <a:avLst/>
          </a:prstGeom>
          <a:solidFill>
            <a:srgbClr val="0EA5E9"/>
          </a:solidFill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Async/Await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895344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Readability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09928" y="3895344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get nested for complex flows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212080" y="3895344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Reads like sync code — very clean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410565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 Handling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709928" y="4105656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.catch() at end of chain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212080" y="4105656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try/catch — familiar pattern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431596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Debugging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709928" y="4315968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Stack traces can be confusing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212080" y="4315968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Cleaner stack traces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452628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Parallel tasks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709928" y="4526280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Promise.all() naturally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212080" y="4526280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await Promise.all() — explicit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473659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Compatibility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709928" y="47365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ES6+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212080" y="473659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ES2017+ (transpile for older)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657600"/>
            <a:ext cx="8412480" cy="219456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28" name="Text 26"/>
          <p:cNvSpPr/>
          <p:nvPr/>
        </p:nvSpPr>
        <p:spPr>
          <a:xfrm>
            <a:off x="411480" y="3685032"/>
            <a:ext cx="12801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Aspect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709928" y="3685032"/>
            <a:ext cx="347472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Promises (.then/.catch)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12080" y="3685032"/>
            <a:ext cx="347472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Async/Await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904488"/>
            <a:ext cx="8412480" cy="201168"/>
          </a:xfrm>
          <a:prstGeom prst="rect">
            <a:avLst/>
          </a:prstGeom>
          <a:solidFill>
            <a:srgbClr val="EFF6FF"/>
          </a:solidFill>
        </p:spPr>
      </p:sp>
      <p:sp>
        <p:nvSpPr>
          <p:cNvPr id="32" name="Text 30"/>
          <p:cNvSpPr/>
          <p:nvPr/>
        </p:nvSpPr>
        <p:spPr>
          <a:xfrm>
            <a:off x="411480" y="3913632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Readability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709928" y="3913632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get nested for complex flows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212080" y="3913632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Reads like sync code — very clean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4114800"/>
            <a:ext cx="8412480" cy="20116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6" name="Text 34"/>
          <p:cNvSpPr/>
          <p:nvPr/>
        </p:nvSpPr>
        <p:spPr>
          <a:xfrm>
            <a:off x="411480" y="4123944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 Handling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709928" y="4123944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.catch() at end of chain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212080" y="4123944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try/catch — familiar pattern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4325112"/>
            <a:ext cx="8412480" cy="201168"/>
          </a:xfrm>
          <a:prstGeom prst="rect">
            <a:avLst/>
          </a:prstGeom>
          <a:solidFill>
            <a:srgbClr val="EFF6FF"/>
          </a:solidFill>
        </p:spPr>
      </p:sp>
      <p:sp>
        <p:nvSpPr>
          <p:cNvPr id="40" name="Text 38"/>
          <p:cNvSpPr/>
          <p:nvPr/>
        </p:nvSpPr>
        <p:spPr>
          <a:xfrm>
            <a:off x="411480" y="4334256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Debugging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709928" y="4334256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Stack traces can be confusing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212080" y="4334256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Cleaner stack traces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65760" y="4535424"/>
            <a:ext cx="8412480" cy="20116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4" name="Text 42"/>
          <p:cNvSpPr/>
          <p:nvPr/>
        </p:nvSpPr>
        <p:spPr>
          <a:xfrm>
            <a:off x="411480" y="4544568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Parallel tasks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709928" y="4544568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Promise.all() naturally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212080" y="4544568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await Promise.all() — explicit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5760" y="4745736"/>
            <a:ext cx="8412480" cy="201168"/>
          </a:xfrm>
          <a:prstGeom prst="rect">
            <a:avLst/>
          </a:prstGeom>
          <a:solidFill>
            <a:srgbClr val="EFF6FF"/>
          </a:solidFill>
        </p:spPr>
      </p:sp>
      <p:sp>
        <p:nvSpPr>
          <p:cNvPr id="48" name="Text 46"/>
          <p:cNvSpPr/>
          <p:nvPr/>
        </p:nvSpPr>
        <p:spPr>
          <a:xfrm>
            <a:off x="411480" y="4754880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Compatibility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709928" y="475488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ES6+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212080" y="475488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ES2017+ (transpile for older)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3" name="Text 1"/>
          <p:cNvSpPr/>
          <p:nvPr/>
        </p:nvSpPr>
        <p:spPr>
          <a:xfrm>
            <a:off x="731520" y="1463040"/>
            <a:ext cx="768096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 8: Real-World Use Cases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you'll use async every day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Use Cases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60120"/>
            <a:ext cx="2697480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960120"/>
            <a:ext cx="2697480" cy="54864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6" name="Text 4"/>
          <p:cNvSpPr/>
          <p:nvPr/>
        </p:nvSpPr>
        <p:spPr>
          <a:xfrm>
            <a:off x="484632" y="1069848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🌐  API / HTTP Requests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84632" y="1490472"/>
            <a:ext cx="2423160" cy="12070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Fetching data from REST APIs, GraphQL endpoints, or any web service. The most common use case in frontend development.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97480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60120"/>
            <a:ext cx="2697480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0" name="Text 8"/>
          <p:cNvSpPr/>
          <p:nvPr/>
        </p:nvSpPr>
        <p:spPr>
          <a:xfrm>
            <a:off x="3337560" y="1069848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🗄️  Database Operations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337560" y="1490472"/>
            <a:ext cx="2423160" cy="12070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Reading and writing to databases in Node.js (MongoDB, PostgreSQL, MySQL). All DB drivers return Promises.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53328" y="960120"/>
            <a:ext cx="2697480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53328" y="960120"/>
            <a:ext cx="2697480" cy="5486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4" name="Text 12"/>
          <p:cNvSpPr/>
          <p:nvPr/>
        </p:nvSpPr>
        <p:spPr>
          <a:xfrm>
            <a:off x="6190488" y="1069848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📁  File System I/O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90488" y="1490472"/>
            <a:ext cx="2423160" cy="12070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Reading/writing files in Node.js using fs.promises. Essential for build tools, CLIs, and server-side apps.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2971800"/>
            <a:ext cx="2697480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2971800"/>
            <a:ext cx="2697480" cy="54864"/>
          </a:xfrm>
          <a:prstGeom prst="rect">
            <a:avLst/>
          </a:prstGeom>
          <a:solidFill>
            <a:srgbClr val="A855F7"/>
          </a:solidFill>
        </p:spPr>
      </p:sp>
      <p:sp>
        <p:nvSpPr>
          <p:cNvPr id="18" name="Text 16"/>
          <p:cNvSpPr/>
          <p:nvPr/>
        </p:nvSpPr>
        <p:spPr>
          <a:xfrm>
            <a:off x="484632" y="3081528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855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⏱️  Timers &amp; Delays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4632" y="3502152"/>
            <a:ext cx="2423160" cy="12070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Creating delays with promisified setTimeout. Used in animations, retry logic, and rate limiting.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971800"/>
            <a:ext cx="2697480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971800"/>
            <a:ext cx="2697480" cy="54864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22" name="Text 20"/>
          <p:cNvSpPr/>
          <p:nvPr/>
        </p:nvSpPr>
        <p:spPr>
          <a:xfrm>
            <a:off x="3337560" y="3081528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📡  WebSockets / Streaming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337560" y="3502152"/>
            <a:ext cx="2423160" cy="12070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Handling real-time data streams, chat applications, live feeds, and server-sent events.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53328" y="2971800"/>
            <a:ext cx="2697480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53328" y="2971800"/>
            <a:ext cx="2697480" cy="54864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26" name="Text 24"/>
          <p:cNvSpPr/>
          <p:nvPr/>
        </p:nvSpPr>
        <p:spPr>
          <a:xfrm>
            <a:off x="6190488" y="3081528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🔐  Auth &amp; Session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190488" y="3502152"/>
            <a:ext cx="2423160" cy="12070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login, token refresh, OAuth flows. All authentication operations are async by nature.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Code — API + File + Timer Examples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297680" cy="1691640"/>
          </a:xfrm>
          <a:prstGeom prst="roundRect">
            <a:avLst>
              <a:gd name="adj" fmla="val 4324"/>
            </a:avLst>
          </a:prstGeom>
          <a:solidFill>
            <a:srgbClr val="1E293B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78992"/>
            <a:ext cx="4023360" cy="14538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🌐 API Request with Auth Header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async function getSecureData(token)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const res = await fetch('/api/secure',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headers: { 'Authorization': `Bearer ${token}`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if (!res.ok) throw new Error(`${res.status} ${res.statusText}`);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 res.json();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2743200"/>
            <a:ext cx="4297680" cy="1691640"/>
          </a:xfrm>
          <a:prstGeom prst="roundRect">
            <a:avLst>
              <a:gd name="adj" fmla="val 4324"/>
            </a:avLst>
          </a:prstGeom>
          <a:solidFill>
            <a:srgbClr val="1E293B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862072"/>
            <a:ext cx="4023360" cy="14538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🗄️ Node.js Database Query (with pg library)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 { Pool } = require('pg');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 pool = new Pool({ connectionString: process.env.DB_URL });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async function getUsers()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const { rows } = await pool.query('SELECT * FROM users');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 rows;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96012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078992"/>
            <a:ext cx="3657600" cy="11795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📁 File System (Node.js fs.promises)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 fs = require('fs').promises;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async function readConfig()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const raw  = await fs.readFile('./config.json', 'utf-8');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 JSON.parse(raw);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2468880"/>
            <a:ext cx="3931920" cy="196596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2587752"/>
            <a:ext cx="3657600" cy="172821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⏱️ Promisified delay / retry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 delay = ms =&gt; new Promise(res =&gt; setTimeout(res, ms));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async function retryFetch(url, retries = 3)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for (let i = 0; i &lt; retries; i++)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try { return await fetch(url).then(r =&gt; r.json());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catch (e)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if (i === retries - 1) throw e;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await delay(1000 * (i + 1)); // exponential backoff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3" name="Text 1"/>
          <p:cNvSpPr/>
          <p:nvPr/>
        </p:nvSpPr>
        <p:spPr>
          <a:xfrm>
            <a:off x="731520" y="1463040"/>
            <a:ext cx="768096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 9: Best Practices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async code that's clean, fast, and reliable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Async/Await Best Practices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365760" y="96012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365760" y="960120"/>
            <a:ext cx="4023360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502920" y="1069848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Always use try/catch</a:t>
            </a:r>
            <a:endParaRPr lang="en-US" sz="13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502920" y="1463040"/>
            <a:ext cx="3749040" cy="6949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async function that awaits a Promise should be wrapped in try/catch. Don't let unhandled rejections crash your app.</a:t>
            </a:r>
            <a:endParaRPr lang="en-US" sz="1150" dirty="0"/>
          </a:p>
        </p:txBody>
      </p:sp>
      <p:sp>
        <p:nvSpPr>
          <p:cNvPr id="8" name="Shape 6"/>
          <p:cNvSpPr/>
          <p:nvPr>
            <p:custDataLst>
              <p:tags r:id="rId5"/>
            </p:custDataLst>
          </p:nvPr>
        </p:nvSpPr>
        <p:spPr>
          <a:xfrm>
            <a:off x="4754880" y="96012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4754880" y="960120"/>
            <a:ext cx="4023360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4892040" y="1069848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Parallelize independent tasks</a:t>
            </a:r>
            <a:endParaRPr lang="en-US" sz="1300" dirty="0"/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4892040" y="1463040"/>
            <a:ext cx="3749040" cy="6949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Promise.all() for tasks that don't depend on each other. Sequential awaits multiply your total wait time unnecessarily.</a:t>
            </a:r>
            <a:endParaRPr lang="en-US" sz="1150" dirty="0"/>
          </a:p>
        </p:txBody>
      </p:sp>
      <p:sp>
        <p:nvSpPr>
          <p:cNvPr id="12" name="Shape 10"/>
          <p:cNvSpPr/>
          <p:nvPr>
            <p:custDataLst>
              <p:tags r:id="rId9"/>
            </p:custDataLst>
          </p:nvPr>
        </p:nvSpPr>
        <p:spPr>
          <a:xfrm>
            <a:off x="365760" y="237744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p>
            <a:endParaRPr lang="en-GB" altLang="en-US"/>
          </a:p>
        </p:txBody>
      </p:sp>
      <p:sp>
        <p:nvSpPr>
          <p:cNvPr id="13" name="Shape 11"/>
          <p:cNvSpPr/>
          <p:nvPr>
            <p:custDataLst>
              <p:tags r:id="rId10"/>
            </p:custDataLst>
          </p:nvPr>
        </p:nvSpPr>
        <p:spPr>
          <a:xfrm>
            <a:off x="365760" y="2377440"/>
            <a:ext cx="4023360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502920" y="2487168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Check response.ok</a:t>
            </a:r>
            <a:endParaRPr lang="en-US" sz="1300" dirty="0"/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502920" y="2880360"/>
            <a:ext cx="3749040" cy="6949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fetch() only rejects on network failure. A 404 or 500 is still 'resolved'. Always check response.ok before calling .json().</a:t>
            </a:r>
            <a:endParaRPr lang="en-US" sz="1150" dirty="0"/>
          </a:p>
        </p:txBody>
      </p:sp>
      <p:sp>
        <p:nvSpPr>
          <p:cNvPr id="16" name="Shape 14"/>
          <p:cNvSpPr/>
          <p:nvPr>
            <p:custDataLst>
              <p:tags r:id="rId13"/>
            </p:custDataLst>
          </p:nvPr>
        </p:nvSpPr>
        <p:spPr>
          <a:xfrm>
            <a:off x="4754880" y="237744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>
            <p:custDataLst>
              <p:tags r:id="rId14"/>
            </p:custDataLst>
          </p:nvPr>
        </p:nvSpPr>
        <p:spPr>
          <a:xfrm>
            <a:off x="4754880" y="2377440"/>
            <a:ext cx="4023360" cy="5486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4892040" y="2487168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  Avoid async in array .forEach()</a:t>
            </a:r>
            <a:endParaRPr lang="en-US" sz="1300" dirty="0"/>
          </a:p>
        </p:txBody>
      </p:sp>
      <p:sp>
        <p:nvSpPr>
          <p:cNvPr id="19" name="Text 17"/>
          <p:cNvSpPr/>
          <p:nvPr>
            <p:custDataLst>
              <p:tags r:id="rId16"/>
            </p:custDataLst>
          </p:nvPr>
        </p:nvSpPr>
        <p:spPr>
          <a:xfrm>
            <a:off x="4892040" y="2880360"/>
            <a:ext cx="3749040" cy="6949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forEach doesn't await async callbacks. Use for...of loop or Promise.all(array.map(async item =&gt; ...)) instead.</a:t>
            </a:r>
            <a:endParaRPr lang="en-US" sz="1150" dirty="0"/>
          </a:p>
        </p:txBody>
      </p:sp>
      <p:sp>
        <p:nvSpPr>
          <p:cNvPr id="20" name="Shape 18"/>
          <p:cNvSpPr/>
          <p:nvPr>
            <p:custDataLst>
              <p:tags r:id="rId17"/>
            </p:custDataLst>
          </p:nvPr>
        </p:nvSpPr>
        <p:spPr>
          <a:xfrm>
            <a:off x="365760" y="379476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>
            <p:custDataLst>
              <p:tags r:id="rId18"/>
            </p:custDataLst>
          </p:nvPr>
        </p:nvSpPr>
        <p:spPr>
          <a:xfrm>
            <a:off x="365760" y="3794760"/>
            <a:ext cx="4023360" cy="5486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2" name="Text 20"/>
          <p:cNvSpPr/>
          <p:nvPr>
            <p:custDataLst>
              <p:tags r:id="rId19"/>
            </p:custDataLst>
          </p:nvPr>
        </p:nvSpPr>
        <p:spPr>
          <a:xfrm>
            <a:off x="502920" y="3904488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  Don't create unnecessary Promises</a:t>
            </a:r>
            <a:endParaRPr lang="en-US" sz="1300" dirty="0"/>
          </a:p>
        </p:txBody>
      </p:sp>
      <p:sp>
        <p:nvSpPr>
          <p:cNvPr id="23" name="Text 21"/>
          <p:cNvSpPr/>
          <p:nvPr>
            <p:custDataLst>
              <p:tags r:id="rId20"/>
            </p:custDataLst>
          </p:nvPr>
        </p:nvSpPr>
        <p:spPr>
          <a:xfrm>
            <a:off x="502920" y="4297680"/>
            <a:ext cx="3749040" cy="6949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a function already returns a Promise, don't wrap it in new Promise(). This is the 'Promise constructor anti-pattern'.</a:t>
            </a:r>
            <a:endParaRPr lang="en-US" sz="1150" dirty="0"/>
          </a:p>
        </p:txBody>
      </p:sp>
      <p:sp>
        <p:nvSpPr>
          <p:cNvPr id="24" name="Shape 22"/>
          <p:cNvSpPr/>
          <p:nvPr>
            <p:custDataLst>
              <p:tags r:id="rId21"/>
            </p:custDataLst>
          </p:nvPr>
        </p:nvSpPr>
        <p:spPr>
          <a:xfrm>
            <a:off x="4754880" y="379476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>
            <p:custDataLst>
              <p:tags r:id="rId22"/>
            </p:custDataLst>
          </p:nvPr>
        </p:nvSpPr>
        <p:spPr>
          <a:xfrm>
            <a:off x="4754880" y="3794760"/>
            <a:ext cx="4023360" cy="54864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26" name="Text 24"/>
          <p:cNvSpPr/>
          <p:nvPr>
            <p:custDataLst>
              <p:tags r:id="rId23"/>
            </p:custDataLst>
          </p:nvPr>
        </p:nvSpPr>
        <p:spPr>
          <a:xfrm>
            <a:off x="4892040" y="3904488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 Never use .catch() as a silent sink</a:t>
            </a:r>
            <a:endParaRPr lang="en-US" sz="1300" dirty="0"/>
          </a:p>
        </p:txBody>
      </p:sp>
      <p:sp>
        <p:nvSpPr>
          <p:cNvPr id="27" name="Text 25"/>
          <p:cNvSpPr/>
          <p:nvPr>
            <p:custDataLst>
              <p:tags r:id="rId24"/>
            </p:custDataLst>
          </p:nvPr>
        </p:nvSpPr>
        <p:spPr>
          <a:xfrm>
            <a:off x="4892040" y="4297680"/>
            <a:ext cx="3749040" cy="6949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catch(err =&gt; {}) swallows errors and makes debugging very hard. Always log or re-throw.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Common Mistakes &amp; How to Fix Them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983480" cy="3749040"/>
          </a:xfrm>
          <a:prstGeom prst="roundRect">
            <a:avLst>
              <a:gd name="adj" fmla="val 1951"/>
            </a:avLst>
          </a:prstGeom>
          <a:solidFill>
            <a:srgbClr val="1E293B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78992"/>
            <a:ext cx="4709160" cy="35112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❌ MISTAKE 1: Sequential awaits for independent tasks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 user  = await getUser(1);  // 500ms wait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 posts = await getPosts(1); // 500ms wait — total 1000ms!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✅ FIX: Parallel execution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 [user, posts] = await Promise.all([getUser(1), getPosts(1)]);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Total: ~500ms ✅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❌ MISTAKE 2: async in forEach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users.forEach(async (user) =&gt;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await saveUser(user); // NOT awaited by forEach!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});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✅ FIX: Use for...of or Promise.all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for (const user of users)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await saveUser(user); // Properly awaited ✅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OR for parallel: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await Promise.all(users.map(async (user) =&gt; saveUser(user)));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40680" y="960120"/>
            <a:ext cx="3291840" cy="374904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577840" y="1078992"/>
            <a:ext cx="3017520" cy="35112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❌ MISTAKE 3: Promise constructor anti-pattern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async function getDataBAD()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 new Promise(async (resolve, reject) =&gt;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try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const data = await fetch('/api/data');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resolve(data); // Unnecessary wrapping!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} catch(e) { reject(e);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✅ FIX: async function already returns a promise!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async function getDataGOOD()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 fetch('/api/data'); // Clean ✅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❌ MISTAKE 4: Missing await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async function save(item)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saveToDb(item);  // Promise ignored! No await!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 "saved";  // Returns before DB operation completes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Async Works — The JavaScript Event Loop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JavaScript is single-threaded. The Event Loop is what makes async behaviour possible without multiple threads.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2011680" cy="54864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7" name="Text 5"/>
          <p:cNvSpPr/>
          <p:nvPr/>
        </p:nvSpPr>
        <p:spPr>
          <a:xfrm>
            <a:off x="548640" y="16002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 Stack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1984248"/>
            <a:ext cx="18288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Executes synchronous code. Only one task at a time.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17520" y="1508760"/>
            <a:ext cx="21945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17520" y="1508760"/>
            <a:ext cx="2194560" cy="5486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1" name="Text 9"/>
          <p:cNvSpPr/>
          <p:nvPr/>
        </p:nvSpPr>
        <p:spPr>
          <a:xfrm>
            <a:off x="3108960" y="16002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APIs / Node APIs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108960" y="1984248"/>
            <a:ext cx="20116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Handles async tasks: fetch, setTimeout, fs, etc.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60720" y="150876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60720" y="1508760"/>
            <a:ext cx="2011680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5" name="Text 13"/>
          <p:cNvSpPr/>
          <p:nvPr/>
        </p:nvSpPr>
        <p:spPr>
          <a:xfrm>
            <a:off x="5852160" y="16002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Microtask Queue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852160" y="1984248"/>
            <a:ext cx="18288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Promise callbacks (.then, async/await resumes). HIGH priority.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200400"/>
            <a:ext cx="2011680" cy="54864"/>
          </a:xfrm>
          <a:prstGeom prst="rect">
            <a:avLst/>
          </a:prstGeom>
          <a:solidFill>
            <a:srgbClr val="A855F7"/>
          </a:solidFill>
        </p:spPr>
      </p:sp>
      <p:sp>
        <p:nvSpPr>
          <p:cNvPr id="19" name="Text 17"/>
          <p:cNvSpPr/>
          <p:nvPr/>
        </p:nvSpPr>
        <p:spPr>
          <a:xfrm>
            <a:off x="548640" y="32918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55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Queue (Macro)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3675888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setTimeout, setInterval callbacks. Lower priority.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017520" y="3200400"/>
            <a:ext cx="21945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017520" y="3200400"/>
            <a:ext cx="2194560" cy="54864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23" name="Text 21"/>
          <p:cNvSpPr/>
          <p:nvPr/>
        </p:nvSpPr>
        <p:spPr>
          <a:xfrm>
            <a:off x="3108960" y="329184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Event Loop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108960" y="3675888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Continuously checks: is Call Stack empty? If yes, moves tasks from queues into it.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760720" y="320040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FF7ED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897880" y="329184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Execution Priority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897880" y="3675888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Call Stack (sync)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Microtasks (Promises)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Macrotasks (timers)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514600" y="214884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57800" y="214884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Real-World Example — User Dashboard Loader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8412480" cy="4069080"/>
          </a:xfrm>
          <a:prstGeom prst="roundRect">
            <a:avLst>
              <a:gd name="adj" fmla="val 1798"/>
            </a:avLst>
          </a:prstGeom>
          <a:solidFill>
            <a:srgbClr val="1E293B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78992"/>
            <a:ext cx="8138160" cy="38313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async function loadDashboard(userId)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// Show loading state to user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showSpinner();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try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// ─── Step 1: Fetch user profile ────────────────────────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const userRes = await fetch(`/api/users/${userId}`);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if (!userRes.ok) throw new Error("Failed to load user");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const user = await userRes.json();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// ─── Step 2: Fetch posts AND notifications in PARALLEL ──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const [posts, notifications] = await Promise.all([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fetch(`/api/posts?userId=${userId}`).then(r =&gt; r.json()),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fetch(`/api/notifications?userId=${userId}`).then(r =&gt; r.json()),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]);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// ─── Step 3: Fetch comments for each post ──────────────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const postsWithComments = await Promise.allSettled(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posts.map(post =&gt;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    fetch(`/api/comments?postId=${post.id}`)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        .then(r =&gt; r.json())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        .then(comments =&gt; ({ ...post, comments }))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);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// ─── Step 4: Render everything ─────────────────────────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renderUser(user);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renderPosts(postsWithComments.filter(r =&gt; r.status === 'fulfilled'));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renderNotifications(notifications);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 catch (error)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showErrorMessage(`Dashboard failed: ${error.message}`);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console.error("[loadDashboard] Error:", error);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 finally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hideSpinner(); // Always hide spinner ✅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 Reference Cheat Sheet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87552"/>
            <a:ext cx="4983480" cy="3977640"/>
          </a:xfrm>
          <a:prstGeom prst="roundRect">
            <a:avLst>
              <a:gd name="adj" fmla="val 1839"/>
            </a:avLst>
          </a:prstGeom>
          <a:solidFill>
            <a:srgbClr val="1E293B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06424"/>
            <a:ext cx="4709160" cy="37398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── Creating a Promise ──────────────────────────────────────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 p = new Promise((resolve, reject) =&gt; { ... });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── Consuming a Promise ─────────────────────────────────────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p.then(val =&gt; ...).catch(err =&gt; ...).finally(() =&gt; ...);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── Async / Await ───────────────────────────────────────────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async function fn()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try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const val = await somePromise;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 catch(e) { ... } finally { ...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── Parallel ────────────────────────────────────────────────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 [a, b] = await Promise.all([p1, p2]);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── Combinators ─────────────────────────────────────────────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Promise.all([...])         // All succeed, or fail fast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Promise.race([...])        // First to settle wins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Promise.allSettled([...])  // All settle, never rejects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Promise.any([...])         // First to succeed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── Promisify a callback ─────────────────────────────────────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 delay = ms =&gt; new Promise(res =&gt; setTimeout(res, ms));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577840" y="987552"/>
            <a:ext cx="3108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577840" y="987552"/>
            <a:ext cx="3108960" cy="54864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8" name="Text 6"/>
          <p:cNvSpPr/>
          <p:nvPr/>
        </p:nvSpPr>
        <p:spPr>
          <a:xfrm>
            <a:off x="5742432" y="1078992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Promise States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42432" y="1463040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pending → initial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42432" y="1737360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fulfilled → resolve() called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42432" y="2011680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rejected → reject() called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42432" y="2286000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settled = fulfilled OR rejected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42432" y="2560320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Immutable once settled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3090672"/>
            <a:ext cx="3108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77840" y="3090672"/>
            <a:ext cx="3108960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6" name="Text 14"/>
          <p:cNvSpPr/>
          <p:nvPr/>
        </p:nvSpPr>
        <p:spPr>
          <a:xfrm>
            <a:off x="5742432" y="3182112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to Use What?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42432" y="3566160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Single async op → async/await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42432" y="3840480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Chaining transforms → .then()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42432" y="4114800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Parallel ops → Promise.all()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42432" y="4389120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One of many needed → Promise.any()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42432" y="4663440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Report all outcomes → allSettled()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7863840" cy="420624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53896"/>
            <a:ext cx="7498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📌  Async programming prevents blocking — keeps UI responsive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892808"/>
            <a:ext cx="7863840" cy="420624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929384"/>
            <a:ext cx="7498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📌  Promises represent a future value with 3 states: pending, fulfilled, rejected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368296"/>
            <a:ext cx="7863840" cy="420624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404872"/>
            <a:ext cx="7498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📌  .then() .catch() .finally() are the core Promise methods for consumption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843784"/>
            <a:ext cx="7863840" cy="420624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2880360"/>
            <a:ext cx="7498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📌  async/await is syntactic sugar over Promises — same power, cleaner syntax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319272"/>
            <a:ext cx="7863840" cy="420624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355848"/>
            <a:ext cx="7498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📌  Always handle errors: try/catch for async/await, .catch() for Promise chains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7863840" cy="420624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3831336"/>
            <a:ext cx="7498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📌  Use Promise.all() for parallel operations — don't await sequentially when not needed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270248"/>
            <a:ext cx="7863840" cy="420624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306824"/>
            <a:ext cx="7498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📌  The Event Loop is what makes JavaScript async despite being single-threaded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4754880"/>
            <a:ext cx="7680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Happy Coding! 🚀</a:t>
            </a:r>
            <a:endParaRPr lang="en-US" sz="16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0.8,&quot;left&quot;:28.8,&quot;top&quot;:75.6,&quot;width&quot;:655.2}"/>
</p:tagLst>
</file>

<file path=ppt/tags/tag2.xml><?xml version="1.0" encoding="utf-8"?>
<p:tagLst xmlns:p="http://schemas.openxmlformats.org/presentationml/2006/main">
  <p:tag name="KSO_WM_DIAGRAM_VIRTUALLY_FRAME" val="{&quot;height&quot;:280.8,&quot;left&quot;:28.8,&quot;top&quot;:75.6,&quot;width&quot;:655.2}"/>
</p:tagLst>
</file>

<file path=ppt/tags/tag3.xml><?xml version="1.0" encoding="utf-8"?>
<p:tagLst xmlns:p="http://schemas.openxmlformats.org/presentationml/2006/main">
  <p:tag name="KSO_WM_DIAGRAM_VIRTUALLY_FRAME" val="{&quot;height&quot;:280.8,&quot;left&quot;:28.8,&quot;top&quot;:75.6,&quot;width&quot;:655.2}"/>
</p:tagLst>
</file>

<file path=ppt/tags/tag4.xml><?xml version="1.0" encoding="utf-8"?>
<p:tagLst xmlns:p="http://schemas.openxmlformats.org/presentationml/2006/main">
  <p:tag name="KSO_WM_DIAGRAM_VIRTUALLY_FRAME" val="{&quot;height&quot;:280.8,&quot;left&quot;:28.8,&quot;top&quot;:75.6,&quot;width&quot;:655.2}"/>
</p:tagLst>
</file>

<file path=ppt/tags/tag5.xml><?xml version="1.0" encoding="utf-8"?>
<p:tagLst xmlns:p="http://schemas.openxmlformats.org/presentationml/2006/main">
  <p:tag name="KSO_WM_DIAGRAM_VIRTUALLY_FRAME" val="{&quot;height&quot;:280.8,&quot;left&quot;:28.8,&quot;top&quot;:75.6,&quot;width&quot;:655.2}"/>
</p:tagLst>
</file>

<file path=ppt/tags/tag6.xml><?xml version="1.0" encoding="utf-8"?>
<p:tagLst xmlns:p="http://schemas.openxmlformats.org/presentationml/2006/main">
  <p:tag name="KSO_WM_DIAGRAM_VIRTUALLY_FRAME" val="{&quot;height&quot;:280.8,&quot;left&quot;:28.8,&quot;top&quot;:75.6,&quot;width&quot;:655.2}"/>
</p:tagLst>
</file>

<file path=ppt/tags/tag7.xml><?xml version="1.0" encoding="utf-8"?>
<p:tagLst xmlns:p="http://schemas.openxmlformats.org/presentationml/2006/main">
  <p:tag name="KSO_WM_DIAGRAM_VIRTUALLY_FRAME" val="{&quot;height&quot;:280.8,&quot;left&quot;:28.8,&quot;top&quot;:75.6,&quot;width&quot;:655.2}"/>
</p:tagLst>
</file>

<file path=ppt/tags/tag8.xml><?xml version="1.0" encoding="utf-8"?>
<p:tagLst xmlns:p="http://schemas.openxmlformats.org/presentationml/2006/main">
  <p:tag name="KSO_WM_DIAGRAM_VIRTUALLY_FRAME" val="{&quot;height&quot;:280.8,&quot;left&quot;:28.8,&quot;top&quot;:75.6,&quot;width&quot;:655.2}"/>
</p:tagLst>
</file>

<file path=ppt/tags/tag9.xml><?xml version="1.0" encoding="utf-8"?>
<p:tagLst xmlns:p="http://schemas.openxmlformats.org/presentationml/2006/main">
  <p:tag name="KSO_WM_DIAGRAM_VIRTUALLY_FRAME" val="{&quot;height&quot;:315.36,&quot;left&quot;:28.8,&quot;top&quot;:75.6,&quot;width&quot;:662.4}"/>
</p:tagLst>
</file>

<file path=ppt/tags/tag10.xml><?xml version="1.0" encoding="utf-8"?>
<p:tagLst xmlns:p="http://schemas.openxmlformats.org/presentationml/2006/main">
  <p:tag name="KSO_WM_DIAGRAM_VIRTUALLY_FRAME" val="{&quot;height&quot;:315.36,&quot;left&quot;:28.8,&quot;top&quot;:75.6,&quot;width&quot;:662.4}"/>
</p:tagLst>
</file>

<file path=ppt/tags/tag11.xml><?xml version="1.0" encoding="utf-8"?>
<p:tagLst xmlns:p="http://schemas.openxmlformats.org/presentationml/2006/main">
  <p:tag name="KSO_WM_DIAGRAM_VIRTUALLY_FRAME" val="{&quot;height&quot;:315.36,&quot;left&quot;:28.8,&quot;top&quot;:75.6,&quot;width&quot;:662.4}"/>
</p:tagLst>
</file>

<file path=ppt/tags/tag12.xml><?xml version="1.0" encoding="utf-8"?>
<p:tagLst xmlns:p="http://schemas.openxmlformats.org/presentationml/2006/main">
  <p:tag name="KSO_WM_DIAGRAM_VIRTUALLY_FRAME" val="{&quot;height&quot;:315.36,&quot;left&quot;:28.8,&quot;top&quot;:75.6,&quot;width&quot;:662.4}"/>
</p:tagLst>
</file>

<file path=ppt/tags/tag13.xml><?xml version="1.0" encoding="utf-8"?>
<p:tagLst xmlns:p="http://schemas.openxmlformats.org/presentationml/2006/main">
  <p:tag name="KSO_WM_DIAGRAM_VIRTUALLY_FRAME" val="{&quot;height&quot;:315.36,&quot;left&quot;:28.8,&quot;top&quot;:75.6,&quot;width&quot;:662.4}"/>
</p:tagLst>
</file>

<file path=ppt/tags/tag14.xml><?xml version="1.0" encoding="utf-8"?>
<p:tagLst xmlns:p="http://schemas.openxmlformats.org/presentationml/2006/main">
  <p:tag name="KSO_WM_DIAGRAM_VIRTUALLY_FRAME" val="{&quot;height&quot;:315.36,&quot;left&quot;:28.8,&quot;top&quot;:75.6,&quot;width&quot;:662.4}"/>
</p:tagLst>
</file>

<file path=ppt/tags/tag15.xml><?xml version="1.0" encoding="utf-8"?>
<p:tagLst xmlns:p="http://schemas.openxmlformats.org/presentationml/2006/main">
  <p:tag name="KSO_WM_DIAGRAM_VIRTUALLY_FRAME" val="{&quot;height&quot;:315.36,&quot;left&quot;:28.8,&quot;top&quot;:75.6,&quot;width&quot;:662.4}"/>
</p:tagLst>
</file>

<file path=ppt/tags/tag16.xml><?xml version="1.0" encoding="utf-8"?>
<p:tagLst xmlns:p="http://schemas.openxmlformats.org/presentationml/2006/main">
  <p:tag name="KSO_WM_DIAGRAM_VIRTUALLY_FRAME" val="{&quot;height&quot;:315.36,&quot;left&quot;:28.8,&quot;top&quot;:75.6,&quot;width&quot;:662.4}"/>
</p:tagLst>
</file>

<file path=ppt/tags/tag17.xml><?xml version="1.0" encoding="utf-8"?>
<p:tagLst xmlns:p="http://schemas.openxmlformats.org/presentationml/2006/main">
  <p:tag name="KSO_WM_DIAGRAM_VIRTUALLY_FRAME" val="{&quot;height&quot;:315.36,&quot;left&quot;:28.8,&quot;top&quot;:75.6,&quot;width&quot;:662.4}"/>
</p:tagLst>
</file>

<file path=ppt/tags/tag18.xml><?xml version="1.0" encoding="utf-8"?>
<p:tagLst xmlns:p="http://schemas.openxmlformats.org/presentationml/2006/main">
  <p:tag name="KSO_WM_DIAGRAM_VIRTUALLY_FRAME" val="{&quot;height&quot;:315.36,&quot;left&quot;:28.8,&quot;top&quot;:75.6,&quot;width&quot;:662.4}"/>
</p:tagLst>
</file>

<file path=ppt/tags/tag19.xml><?xml version="1.0" encoding="utf-8"?>
<p:tagLst xmlns:p="http://schemas.openxmlformats.org/presentationml/2006/main">
  <p:tag name="KSO_WM_DIAGRAM_VIRTUALLY_FRAME" val="{&quot;height&quot;:315.36,&quot;left&quot;:28.8,&quot;top&quot;:75.6,&quot;width&quot;:662.4}"/>
</p:tagLst>
</file>

<file path=ppt/tags/tag20.xml><?xml version="1.0" encoding="utf-8"?>
<p:tagLst xmlns:p="http://schemas.openxmlformats.org/presentationml/2006/main">
  <p:tag name="KSO_WM_DIAGRAM_VIRTUALLY_FRAME" val="{&quot;height&quot;:315.36,&quot;left&quot;:28.8,&quot;top&quot;:75.6,&quot;width&quot;:662.4}"/>
</p:tagLst>
</file>

<file path=ppt/tags/tag21.xml><?xml version="1.0" encoding="utf-8"?>
<p:tagLst xmlns:p="http://schemas.openxmlformats.org/presentationml/2006/main">
  <p:tag name="KSO_WM_DIAGRAM_VIRTUALLY_FRAME" val="{&quot;height&quot;:315.36,&quot;left&quot;:28.8,&quot;top&quot;:75.6,&quot;width&quot;:662.4}"/>
</p:tagLst>
</file>

<file path=ppt/tags/tag22.xml><?xml version="1.0" encoding="utf-8"?>
<p:tagLst xmlns:p="http://schemas.openxmlformats.org/presentationml/2006/main">
  <p:tag name="KSO_WM_DIAGRAM_VIRTUALLY_FRAME" val="{&quot;height&quot;:315.36,&quot;left&quot;:28.8,&quot;top&quot;:75.6,&quot;width&quot;:662.4}"/>
</p:tagLst>
</file>

<file path=ppt/tags/tag23.xml><?xml version="1.0" encoding="utf-8"?>
<p:tagLst xmlns:p="http://schemas.openxmlformats.org/presentationml/2006/main">
  <p:tag name="KSO_WM_DIAGRAM_VIRTUALLY_FRAME" val="{&quot;height&quot;:315.36,&quot;left&quot;:28.8,&quot;top&quot;:75.6,&quot;width&quot;:662.4}"/>
</p:tagLst>
</file>

<file path=ppt/tags/tag24.xml><?xml version="1.0" encoding="utf-8"?>
<p:tagLst xmlns:p="http://schemas.openxmlformats.org/presentationml/2006/main">
  <p:tag name="KSO_WM_DIAGRAM_VIRTUALLY_FRAME" val="{&quot;height&quot;:315.36,&quot;left&quot;:28.8,&quot;top&quot;:75.6,&quot;width&quot;:662.4}"/>
</p:tagLst>
</file>

<file path=ppt/tags/tag25.xml><?xml version="1.0" encoding="utf-8"?>
<p:tagLst xmlns:p="http://schemas.openxmlformats.org/presentationml/2006/main">
  <p:tag name="KSO_WM_DIAGRAM_VIRTUALLY_FRAME" val="{&quot;height&quot;:315.36,&quot;left&quot;:28.8,&quot;top&quot;:75.6,&quot;width&quot;:662.4}"/>
</p:tagLst>
</file>

<file path=ppt/tags/tag26.xml><?xml version="1.0" encoding="utf-8"?>
<p:tagLst xmlns:p="http://schemas.openxmlformats.org/presentationml/2006/main">
  <p:tag name="KSO_WM_DIAGRAM_VIRTUALLY_FRAME" val="{&quot;height&quot;:315.36,&quot;left&quot;:28.8,&quot;top&quot;:75.6,&quot;width&quot;:662.4}"/>
</p:tagLst>
</file>

<file path=ppt/tags/tag27.xml><?xml version="1.0" encoding="utf-8"?>
<p:tagLst xmlns:p="http://schemas.openxmlformats.org/presentationml/2006/main">
  <p:tag name="KSO_WM_DIAGRAM_VIRTUALLY_FRAME" val="{&quot;height&quot;:244.8,&quot;left&quot;:28.8,&quot;top&quot;:136.8,&quot;width&quot;:676.8}"/>
</p:tagLst>
</file>

<file path=ppt/tags/tag28.xml><?xml version="1.0" encoding="utf-8"?>
<p:tagLst xmlns:p="http://schemas.openxmlformats.org/presentationml/2006/main">
  <p:tag name="KSO_WM_DIAGRAM_VIRTUALLY_FRAME" val="{&quot;height&quot;:244.8,&quot;left&quot;:28.8,&quot;top&quot;:136.8,&quot;width&quot;:676.8}"/>
</p:tagLst>
</file>

<file path=ppt/tags/tag29.xml><?xml version="1.0" encoding="utf-8"?>
<p:tagLst xmlns:p="http://schemas.openxmlformats.org/presentationml/2006/main">
  <p:tag name="KSO_WM_DIAGRAM_VIRTUALLY_FRAME" val="{&quot;height&quot;:244.8,&quot;left&quot;:28.8,&quot;top&quot;:136.8,&quot;width&quot;:676.8}"/>
</p:tagLst>
</file>

<file path=ppt/tags/tag30.xml><?xml version="1.0" encoding="utf-8"?>
<p:tagLst xmlns:p="http://schemas.openxmlformats.org/presentationml/2006/main">
  <p:tag name="KSO_WM_DIAGRAM_VIRTUALLY_FRAME" val="{&quot;height&quot;:244.8,&quot;left&quot;:28.8,&quot;top&quot;:136.8,&quot;width&quot;:676.8}"/>
</p:tagLst>
</file>

<file path=ppt/tags/tag31.xml><?xml version="1.0" encoding="utf-8"?>
<p:tagLst xmlns:p="http://schemas.openxmlformats.org/presentationml/2006/main">
  <p:tag name="KSO_WM_DIAGRAM_VIRTUALLY_FRAME" val="{&quot;height&quot;:244.8,&quot;left&quot;:28.8,&quot;top&quot;:136.8,&quot;width&quot;:676.8}"/>
</p:tagLst>
</file>

<file path=ppt/tags/tag32.xml><?xml version="1.0" encoding="utf-8"?>
<p:tagLst xmlns:p="http://schemas.openxmlformats.org/presentationml/2006/main">
  <p:tag name="KSO_WM_DIAGRAM_VIRTUALLY_FRAME" val="{&quot;height&quot;:244.8,&quot;left&quot;:28.8,&quot;top&quot;:136.8,&quot;width&quot;:676.8}"/>
</p:tagLst>
</file>

<file path=ppt/tags/tag33.xml><?xml version="1.0" encoding="utf-8"?>
<p:tagLst xmlns:p="http://schemas.openxmlformats.org/presentationml/2006/main">
  <p:tag name="KSO_WM_DIAGRAM_VIRTUALLY_FRAME" val="{&quot;height&quot;:244.8,&quot;left&quot;:28.8,&quot;top&quot;:136.8,&quot;width&quot;:676.8}"/>
</p:tagLst>
</file>

<file path=ppt/tags/tag34.xml><?xml version="1.0" encoding="utf-8"?>
<p:tagLst xmlns:p="http://schemas.openxmlformats.org/presentationml/2006/main">
  <p:tag name="KSO_WM_DIAGRAM_VIRTUALLY_FRAME" val="{&quot;height&quot;:244.8,&quot;left&quot;:28.8,&quot;top&quot;:136.8,&quot;width&quot;:676.8}"/>
</p:tagLst>
</file>

<file path=ppt/tags/tag35.xml><?xml version="1.0" encoding="utf-8"?>
<p:tagLst xmlns:p="http://schemas.openxmlformats.org/presentationml/2006/main">
  <p:tag name="KSO_WM_DIAGRAM_VIRTUALLY_FRAME" val="{&quot;height&quot;:244.8,&quot;left&quot;:28.8,&quot;top&quot;:136.8,&quot;width&quot;:676.8}"/>
</p:tagLst>
</file>

<file path=ppt/tags/tag36.xml><?xml version="1.0" encoding="utf-8"?>
<p:tagLst xmlns:p="http://schemas.openxmlformats.org/presentationml/2006/main">
  <p:tag name="KSO_WM_DIAGRAM_VIRTUALLY_FRAME" val="{&quot;height&quot;:244.8,&quot;left&quot;:28.8,&quot;top&quot;:136.8,&quot;width&quot;:676.8}"/>
</p:tagLst>
</file>

<file path=ppt/tags/tag37.xml><?xml version="1.0" encoding="utf-8"?>
<p:tagLst xmlns:p="http://schemas.openxmlformats.org/presentationml/2006/main">
  <p:tag name="KSO_WM_DIAGRAM_VIRTUALLY_FRAME" val="{&quot;height&quot;:244.8,&quot;left&quot;:28.8,&quot;top&quot;:136.8,&quot;width&quot;:676.8}"/>
</p:tagLst>
</file>

<file path=ppt/tags/tag38.xml><?xml version="1.0" encoding="utf-8"?>
<p:tagLst xmlns:p="http://schemas.openxmlformats.org/presentationml/2006/main">
  <p:tag name="KSO_WM_DIAGRAM_VIRTUALLY_FRAME" val="{&quot;height&quot;:244.8,&quot;left&quot;:28.8,&quot;top&quot;:136.8,&quot;width&quot;:676.8}"/>
</p:tagLst>
</file>

<file path=ppt/tags/tag39.xml><?xml version="1.0" encoding="utf-8"?>
<p:tagLst xmlns:p="http://schemas.openxmlformats.org/presentationml/2006/main">
  <p:tag name="KSO_WM_DIAGRAM_VIRTUALLY_FRAME" val="{&quot;height&quot;:324,&quot;left&quot;:28.8,&quot;top&quot;:75.6,&quot;width&quot;:662.4}"/>
</p:tagLst>
</file>

<file path=ppt/tags/tag40.xml><?xml version="1.0" encoding="utf-8"?>
<p:tagLst xmlns:p="http://schemas.openxmlformats.org/presentationml/2006/main">
  <p:tag name="KSO_WM_DIAGRAM_VIRTUALLY_FRAME" val="{&quot;height&quot;:324,&quot;left&quot;:28.8,&quot;top&quot;:75.6,&quot;width&quot;:662.4}"/>
</p:tagLst>
</file>

<file path=ppt/tags/tag41.xml><?xml version="1.0" encoding="utf-8"?>
<p:tagLst xmlns:p="http://schemas.openxmlformats.org/presentationml/2006/main">
  <p:tag name="KSO_WM_DIAGRAM_VIRTUALLY_FRAME" val="{&quot;height&quot;:324,&quot;left&quot;:28.8,&quot;top&quot;:75.6,&quot;width&quot;:662.4}"/>
</p:tagLst>
</file>

<file path=ppt/tags/tag42.xml><?xml version="1.0" encoding="utf-8"?>
<p:tagLst xmlns:p="http://schemas.openxmlformats.org/presentationml/2006/main">
  <p:tag name="KSO_WM_DIAGRAM_VIRTUALLY_FRAME" val="{&quot;height&quot;:324,&quot;left&quot;:28.8,&quot;top&quot;:75.6,&quot;width&quot;:662.4}"/>
</p:tagLst>
</file>

<file path=ppt/tags/tag43.xml><?xml version="1.0" encoding="utf-8"?>
<p:tagLst xmlns:p="http://schemas.openxmlformats.org/presentationml/2006/main">
  <p:tag name="KSO_WM_DIAGRAM_VIRTUALLY_FRAME" val="{&quot;height&quot;:324,&quot;left&quot;:28.8,&quot;top&quot;:75.6,&quot;width&quot;:662.4}"/>
</p:tagLst>
</file>

<file path=ppt/tags/tag44.xml><?xml version="1.0" encoding="utf-8"?>
<p:tagLst xmlns:p="http://schemas.openxmlformats.org/presentationml/2006/main">
  <p:tag name="KSO_WM_DIAGRAM_VIRTUALLY_FRAME" val="{&quot;height&quot;:324,&quot;left&quot;:28.8,&quot;top&quot;:75.6,&quot;width&quot;:662.4}"/>
</p:tagLst>
</file>

<file path=ppt/tags/tag45.xml><?xml version="1.0" encoding="utf-8"?>
<p:tagLst xmlns:p="http://schemas.openxmlformats.org/presentationml/2006/main">
  <p:tag name="KSO_WM_DIAGRAM_VIRTUALLY_FRAME" val="{&quot;height&quot;:324,&quot;left&quot;:28.8,&quot;top&quot;:75.6,&quot;width&quot;:662.4}"/>
</p:tagLst>
</file>

<file path=ppt/tags/tag46.xml><?xml version="1.0" encoding="utf-8"?>
<p:tagLst xmlns:p="http://schemas.openxmlformats.org/presentationml/2006/main">
  <p:tag name="KSO_WM_DIAGRAM_VIRTUALLY_FRAME" val="{&quot;height&quot;:324,&quot;left&quot;:28.8,&quot;top&quot;:75.6,&quot;width&quot;:662.4}"/>
</p:tagLst>
</file>

<file path=ppt/tags/tag47.xml><?xml version="1.0" encoding="utf-8"?>
<p:tagLst xmlns:p="http://schemas.openxmlformats.org/presentationml/2006/main">
  <p:tag name="KSO_WM_DIAGRAM_VIRTUALLY_FRAME" val="{&quot;height&quot;:324,&quot;left&quot;:28.8,&quot;top&quot;:75.6,&quot;width&quot;:662.4}"/>
</p:tagLst>
</file>

<file path=ppt/tags/tag48.xml><?xml version="1.0" encoding="utf-8"?>
<p:tagLst xmlns:p="http://schemas.openxmlformats.org/presentationml/2006/main">
  <p:tag name="KSO_WM_DIAGRAM_VIRTUALLY_FRAME" val="{&quot;height&quot;:324,&quot;left&quot;:28.8,&quot;top&quot;:75.6,&quot;width&quot;:662.4}"/>
</p:tagLst>
</file>

<file path=ppt/tags/tag49.xml><?xml version="1.0" encoding="utf-8"?>
<p:tagLst xmlns:p="http://schemas.openxmlformats.org/presentationml/2006/main">
  <p:tag name="KSO_WM_DIAGRAM_VIRTUALLY_FRAME" val="{&quot;height&quot;:324,&quot;left&quot;:28.8,&quot;top&quot;:75.6,&quot;width&quot;:662.4}"/>
</p:tagLst>
</file>

<file path=ppt/tags/tag50.xml><?xml version="1.0" encoding="utf-8"?>
<p:tagLst xmlns:p="http://schemas.openxmlformats.org/presentationml/2006/main">
  <p:tag name="KSO_WM_DIAGRAM_VIRTUALLY_FRAME" val="{&quot;height&quot;:324,&quot;left&quot;:28.8,&quot;top&quot;:75.6,&quot;width&quot;:662.4}"/>
</p:tagLst>
</file>

<file path=ppt/tags/tag51.xml><?xml version="1.0" encoding="utf-8"?>
<p:tagLst xmlns:p="http://schemas.openxmlformats.org/presentationml/2006/main">
  <p:tag name="KSO_WM_DIAGRAM_VIRTUALLY_FRAME" val="{&quot;height&quot;:324,&quot;left&quot;:28.8,&quot;top&quot;:75.6,&quot;width&quot;:662.4}"/>
</p:tagLst>
</file>

<file path=ppt/tags/tag52.xml><?xml version="1.0" encoding="utf-8"?>
<p:tagLst xmlns:p="http://schemas.openxmlformats.org/presentationml/2006/main">
  <p:tag name="KSO_WM_DIAGRAM_VIRTUALLY_FRAME" val="{&quot;height&quot;:324,&quot;left&quot;:28.8,&quot;top&quot;:75.6,&quot;width&quot;:662.4}"/>
</p:tagLst>
</file>

<file path=ppt/tags/tag53.xml><?xml version="1.0" encoding="utf-8"?>
<p:tagLst xmlns:p="http://schemas.openxmlformats.org/presentationml/2006/main">
  <p:tag name="KSO_WM_DIAGRAM_VIRTUALLY_FRAME" val="{&quot;height&quot;:324,&quot;left&quot;:28.8,&quot;top&quot;:75.6,&quot;width&quot;:662.4}"/>
</p:tagLst>
</file>

<file path=ppt/tags/tag54.xml><?xml version="1.0" encoding="utf-8"?>
<p:tagLst xmlns:p="http://schemas.openxmlformats.org/presentationml/2006/main">
  <p:tag name="KSO_WM_DIAGRAM_VIRTUALLY_FRAME" val="{&quot;height&quot;:324,&quot;left&quot;:28.8,&quot;top&quot;:75.6,&quot;width&quot;:662.4}"/>
</p:tagLst>
</file>

<file path=ppt/tags/tag55.xml><?xml version="1.0" encoding="utf-8"?>
<p:tagLst xmlns:p="http://schemas.openxmlformats.org/presentationml/2006/main">
  <p:tag name="KSO_WM_DIAGRAM_VIRTUALLY_FRAME" val="{&quot;height&quot;:324,&quot;left&quot;:28.8,&quot;top&quot;:75.6,&quot;width&quot;:662.4}"/>
</p:tagLst>
</file>

<file path=ppt/tags/tag56.xml><?xml version="1.0" encoding="utf-8"?>
<p:tagLst xmlns:p="http://schemas.openxmlformats.org/presentationml/2006/main">
  <p:tag name="KSO_WM_DIAGRAM_VIRTUALLY_FRAME" val="{&quot;height&quot;:324,&quot;left&quot;:28.8,&quot;top&quot;:75.6,&quot;width&quot;:662.4}"/>
</p:tagLst>
</file>

<file path=ppt/tags/tag57.xml><?xml version="1.0" encoding="utf-8"?>
<p:tagLst xmlns:p="http://schemas.openxmlformats.org/presentationml/2006/main">
  <p:tag name="KSO_WM_DIAGRAM_VIRTUALLY_FRAME" val="{&quot;height&quot;:324,&quot;left&quot;:28.8,&quot;top&quot;:75.6,&quot;width&quot;:662.4}"/>
</p:tagLst>
</file>

<file path=ppt/tags/tag58.xml><?xml version="1.0" encoding="utf-8"?>
<p:tagLst xmlns:p="http://schemas.openxmlformats.org/presentationml/2006/main">
  <p:tag name="KSO_WM_DIAGRAM_VIRTUALLY_FRAME" val="{&quot;height&quot;:324,&quot;left&quot;:28.8,&quot;top&quot;:75.6,&quot;width&quot;:662.4}"/>
</p:tagLst>
</file>

<file path=ppt/tags/tag59.xml><?xml version="1.0" encoding="utf-8"?>
<p:tagLst xmlns:p="http://schemas.openxmlformats.org/presentationml/2006/main">
  <p:tag name="KSO_WM_DIAGRAM_VIRTUALLY_FRAME" val="{&quot;height&quot;:324,&quot;left&quot;:28.8,&quot;top&quot;:75.6,&quot;width&quot;:662.4}"/>
</p:tagLst>
</file>

<file path=ppt/tags/tag60.xml><?xml version="1.0" encoding="utf-8"?>
<p:tagLst xmlns:p="http://schemas.openxmlformats.org/presentationml/2006/main">
  <p:tag name="KSO_WM_DIAGRAM_VIRTUALLY_FRAME" val="{&quot;height&quot;:324,&quot;left&quot;:28.8,&quot;top&quot;:75.6,&quot;width&quot;:662.4}"/>
</p:tagLst>
</file>

<file path=ppt/tags/tag61.xml><?xml version="1.0" encoding="utf-8"?>
<p:tagLst xmlns:p="http://schemas.openxmlformats.org/presentationml/2006/main">
  <p:tag name="KSO_WM_DIAGRAM_VIRTUALLY_FRAME" val="{&quot;height&quot;:324,&quot;left&quot;:28.8,&quot;top&quot;:75.6,&quot;width&quot;:662.4}"/>
</p:tagLst>
</file>

<file path=ppt/tags/tag62.xml><?xml version="1.0" encoding="utf-8"?>
<p:tagLst xmlns:p="http://schemas.openxmlformats.org/presentationml/2006/main">
  <p:tag name="KSO_WM_DIAGRAM_VIRTUALLY_FRAME" val="{&quot;height&quot;:324,&quot;left&quot;:28.8,&quot;top&quot;:75.6,&quot;width&quot;:662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22422</Words>
  <Application>WPS Presentation</Application>
  <PresentationFormat>On-screen Show (16:9)</PresentationFormat>
  <Paragraphs>902</Paragraphs>
  <Slides>32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4" baseType="lpstr">
      <vt:lpstr>Arial</vt:lpstr>
      <vt:lpstr>SimSun</vt:lpstr>
      <vt:lpstr>Wingdings</vt:lpstr>
      <vt:lpstr>Calibri</vt:lpstr>
      <vt:lpstr>Calibri</vt:lpstr>
      <vt:lpstr>Calibri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Async/Await &amp; Promises</dc:title>
  <dc:creator>Tech Trainer</dc:creator>
  <dc:subject>PptxGenJS Presentation</dc:subject>
  <cp:lastModifiedBy>Tabinda Noor</cp:lastModifiedBy>
  <cp:revision>3</cp:revision>
  <dcterms:created xsi:type="dcterms:W3CDTF">2026-06-09T17:55:00Z</dcterms:created>
  <dcterms:modified xsi:type="dcterms:W3CDTF">2026-06-11T05:46:18Z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0C3670563D60416BBF9D13CB4421EF09_12</vt:lpwstr>
  </property>
  <property fmtid="{D5CDD505-2E9C-101B-9397-08002B2CF9AE}" pid="3" name="KSOProductBuildVer">
    <vt:lpwstr>2057-12.2.0.23202</vt:lpwstr>
  </property>
</Properties>
</file>