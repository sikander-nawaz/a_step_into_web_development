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7" Type="http://schemas.openxmlformats.org/officeDocument/2006/relationships/notesSlide" Target="../notesSlides/notesSlide2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65376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98064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30752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440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96128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28816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61504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!=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94192" y="4572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!==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0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65376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98064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30752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96128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28816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61504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&lt;=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94192" y="14630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0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2688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**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865376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??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98064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30752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63440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96128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28816" y="24688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delete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11480" y="731520"/>
            <a:ext cx="5669280" cy="3520440"/>
          </a:xfrm>
          <a:prstGeom prst="rect">
            <a:avLst/>
          </a:prstGeom>
          <a:solidFill>
            <a:srgbClr val="0D1526"/>
          </a:solidFill>
          <a:ln w="25400">
            <a:solidFill>
              <a:srgbClr val="E8501A"/>
            </a:solidFill>
            <a:prstDash val="solid"/>
          </a:ln>
          <a:effectLst>
            <a:outerShdw blurRad="317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896112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0080" y="132588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Operators</a:t>
            </a:r>
            <a:endParaRPr lang="en-US" sz="6800" dirty="0"/>
          </a:p>
        </p:txBody>
      </p:sp>
      <p:sp>
        <p:nvSpPr>
          <p:cNvPr id="34" name="Text 32"/>
          <p:cNvSpPr/>
          <p:nvPr/>
        </p:nvSpPr>
        <p:spPr>
          <a:xfrm>
            <a:off x="640080" y="278892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tools that make your code DO things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40080" y="324612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Duration: </a:t>
            </a: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 Minutes   </a:t>
            </a:r>
            <a:r>
              <a:rPr lang="en-US" sz="13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👥 Level: </a:t>
            </a: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Beginner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492240" y="731520"/>
            <a:ext cx="2377440" cy="3520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8229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CC3D0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 }</a:t>
            </a:r>
            <a:endParaRPr lang="en-US" sz="5800" dirty="0"/>
          </a:p>
        </p:txBody>
      </p:sp>
      <p:sp>
        <p:nvSpPr>
          <p:cNvPr id="38" name="Text 36"/>
          <p:cNvSpPr/>
          <p:nvPr/>
        </p:nvSpPr>
        <p:spPr>
          <a:xfrm>
            <a:off x="6492240" y="20116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Web Dev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Series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92240" y="28803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0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✓  CSS 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D0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 — Operators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E3E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Module  •  Session 03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Session Agenda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822960"/>
            <a:ext cx="8229600" cy="52120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822960"/>
            <a:ext cx="502920" cy="5212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90525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078992" y="9326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0:00–0:08</a:t>
            </a:r>
            <a:endParaRPr lang="en-US" sz="105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2487168" y="914400"/>
            <a:ext cx="6035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Are Operators? Types Overview</a:t>
            </a:r>
            <a:endParaRPr lang="en-US" sz="135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57200" y="1435608"/>
            <a:ext cx="822960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57200" y="1435608"/>
            <a:ext cx="502920" cy="5212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7200" y="151790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1078992" y="154533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0:08–0:18</a:t>
            </a:r>
            <a:endParaRPr lang="en-US" sz="105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2487168" y="1527048"/>
            <a:ext cx="6035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 Operators  (+, -, *, /, %, **, ++, --)</a:t>
            </a:r>
            <a:endParaRPr lang="en-US" sz="135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457200" y="2048256"/>
            <a:ext cx="8229600" cy="52120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457200" y="2048256"/>
            <a:ext cx="502920" cy="5212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457200" y="2130552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078992" y="215798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0:18–0:26</a:t>
            </a:r>
            <a:endParaRPr lang="en-US" sz="105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2487168" y="2139696"/>
            <a:ext cx="6035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Assignment Operators  (=, +=, -=, *=, /=, %=, **=)</a:t>
            </a:r>
            <a:endParaRPr lang="en-US" sz="135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457200" y="2660904"/>
            <a:ext cx="822960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57200" y="2660904"/>
            <a:ext cx="502920" cy="5212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457200" y="27432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1078992" y="277063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0:26–0:36</a:t>
            </a:r>
            <a:endParaRPr lang="en-US" sz="105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2487168" y="2752344"/>
            <a:ext cx="6035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Operators  (==, ===, !=, !==, &gt;, &lt;, &gt;=, &lt;=)</a:t>
            </a:r>
            <a:endParaRPr lang="en-US" sz="135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457200" y="3273552"/>
            <a:ext cx="8229600" cy="52120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457200" y="3273552"/>
            <a:ext cx="502920" cy="5212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457200" y="335584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1078992" y="338328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0:36–0:45</a:t>
            </a:r>
            <a:endParaRPr lang="en-US" sz="105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2487168" y="3364992"/>
            <a:ext cx="6035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 + Nullish Operators  (&amp;&amp;, ||, !, ??)</a:t>
            </a:r>
            <a:endParaRPr lang="en-US" sz="1350" dirty="0"/>
          </a:p>
        </p:txBody>
      </p:sp>
      <p:sp>
        <p:nvSpPr>
          <p:cNvPr id="29" name="Shape 27"/>
          <p:cNvSpPr/>
          <p:nvPr>
            <p:custDataLst>
              <p:tags r:id="rId26"/>
            </p:custDataLst>
          </p:nvPr>
        </p:nvSpPr>
        <p:spPr>
          <a:xfrm>
            <a:off x="457200" y="3886200"/>
            <a:ext cx="822960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>
            <p:custDataLst>
              <p:tags r:id="rId27"/>
            </p:custDataLst>
          </p:nvPr>
        </p:nvSpPr>
        <p:spPr>
          <a:xfrm>
            <a:off x="457200" y="3886200"/>
            <a:ext cx="502920" cy="5212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457200" y="396849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>
            <p:custDataLst>
              <p:tags r:id="rId29"/>
            </p:custDataLst>
          </p:nvPr>
        </p:nvSpPr>
        <p:spPr>
          <a:xfrm>
            <a:off x="1078992" y="399592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0:45–0:50</a:t>
            </a:r>
            <a:endParaRPr lang="en-US" sz="1050" dirty="0"/>
          </a:p>
        </p:txBody>
      </p:sp>
      <p:sp>
        <p:nvSpPr>
          <p:cNvPr id="33" name="Text 31"/>
          <p:cNvSpPr/>
          <p:nvPr>
            <p:custDataLst>
              <p:tags r:id="rId30"/>
            </p:custDataLst>
          </p:nvPr>
        </p:nvSpPr>
        <p:spPr>
          <a:xfrm>
            <a:off x="2487168" y="3977640"/>
            <a:ext cx="6035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String, Ternary &amp; Special Operators</a:t>
            </a:r>
            <a:endParaRPr lang="en-US" sz="1350" dirty="0"/>
          </a:p>
        </p:txBody>
      </p:sp>
      <p:sp>
        <p:nvSpPr>
          <p:cNvPr id="34" name="Shape 32"/>
          <p:cNvSpPr/>
          <p:nvPr>
            <p:custDataLst>
              <p:tags r:id="rId31"/>
            </p:custDataLst>
          </p:nvPr>
        </p:nvSpPr>
        <p:spPr>
          <a:xfrm>
            <a:off x="457200" y="4498848"/>
            <a:ext cx="8229600" cy="52120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>
            <p:custDataLst>
              <p:tags r:id="rId32"/>
            </p:custDataLst>
          </p:nvPr>
        </p:nvSpPr>
        <p:spPr>
          <a:xfrm>
            <a:off x="457200" y="4498848"/>
            <a:ext cx="502920" cy="5212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6" name="Text 34"/>
          <p:cNvSpPr/>
          <p:nvPr>
            <p:custDataLst>
              <p:tags r:id="rId33"/>
            </p:custDataLst>
          </p:nvPr>
        </p:nvSpPr>
        <p:spPr>
          <a:xfrm>
            <a:off x="457200" y="458114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>
            <p:custDataLst>
              <p:tags r:id="rId34"/>
            </p:custDataLst>
          </p:nvPr>
        </p:nvSpPr>
        <p:spPr>
          <a:xfrm>
            <a:off x="1078992" y="460857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0:50–0:60</a:t>
            </a:r>
            <a:endParaRPr lang="en-US" sz="1050" dirty="0"/>
          </a:p>
        </p:txBody>
      </p:sp>
      <p:sp>
        <p:nvSpPr>
          <p:cNvPr id="38" name="Text 36"/>
          <p:cNvSpPr/>
          <p:nvPr>
            <p:custDataLst>
              <p:tags r:id="rId35"/>
            </p:custDataLst>
          </p:nvPr>
        </p:nvSpPr>
        <p:spPr>
          <a:xfrm>
            <a:off x="2487168" y="4590288"/>
            <a:ext cx="6035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Activities: Guess Output, Fix Bug + Mini Project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200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Are Operators?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building blocks of JavaScript logic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A3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276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8833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803904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6617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Are Operators?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Symbols that perform operations on values (called operands)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960120"/>
          </a:xfrm>
          <a:prstGeom prst="rect">
            <a:avLst/>
          </a:prstGeom>
          <a:solidFill>
            <a:srgbClr val="FFF3E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4241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0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📖 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335024"/>
            <a:ext cx="8046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operator is a special symbol used to perform an operation on one or more values. The values it works on are called operands.  Example:  5 + 3  →  + is the operator,  5 and 3 are the operands,  8 is the result.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1993392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939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➕  Arithmetic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- * / % **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7168" y="205740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2057400"/>
            <a:ext cx="1993392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20939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🔖  Assignment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78608" y="249631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+= -= *=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08576" y="205740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2057400"/>
            <a:ext cx="1993392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0939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⚖️  Comparison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0016" y="249631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 === != &gt;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9984" y="205740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2057400"/>
            <a:ext cx="1993392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20939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🧠  Logical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21424" y="249631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 || !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74720"/>
            <a:ext cx="1993392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112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🔗  String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1363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template``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87168" y="347472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87168" y="3474720"/>
            <a:ext cx="1993392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35112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❓  Ternary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78608" y="391363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 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08576" y="347472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8576" y="3474720"/>
            <a:ext cx="1993392" cy="34747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35112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🔍  typeof / 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0016" y="391363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delete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29984" y="3474720"/>
            <a:ext cx="1993392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9984" y="3474720"/>
            <a:ext cx="1993392" cy="34747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35112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💎  Nullish / ??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21424" y="391363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?? ??= ?.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200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Arithmetic Operators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math operators — do calculations on numbers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A3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276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8833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803904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6617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Arithmetic Operators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 mathematical calculations on numbers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987552"/>
          <a:ext cx="4846320" cy="3566160"/>
        </p:xfrm>
        <a:graphic>
          <a:graphicData uri="http://schemas.openxmlformats.org/drawingml/2006/table">
            <a:tbl>
              <a:tblPr/>
              <a:tblGrid>
                <a:gridCol w="658368"/>
                <a:gridCol w="1901952"/>
                <a:gridCol w="1188720"/>
                <a:gridCol w="109728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Operator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Name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Example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Result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 +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Addition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 + 3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13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 −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Subtraction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10 - 3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 *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Multiplication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 * 3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30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 /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Division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 / 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2.5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 %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Modulus (Remainder)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10 % 3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**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Exponentiation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 ** 8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256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394960" y="987552"/>
            <a:ext cx="3429000" cy="356616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32120" y="10789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33288" y="10789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34456" y="10789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04688" y="1280160"/>
            <a:ext cx="3209544" cy="3182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Arithmetic in action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a = 20, b = 6;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console.log(a + b);   // 26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console.log(a - b);   // 14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console.log(a * b);   // 120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console.log(a / b);   // 3.333...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console.log(a % b);   // 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console.log(a ** 2);  // 400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 strings — watch out!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console.log("10" + 5);  // "105" ⚠️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console.log("10" - 5);  // 5   ✅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Modulus (%) and Exponent (**)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operators beginners often forget — but use constantly!</a:t>
            </a:r>
            <a:endParaRPr lang="en-US" sz="12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365760" y="987552"/>
            <a:ext cx="4160520" cy="1920240"/>
          </a:xfrm>
          <a:prstGeom prst="rect">
            <a:avLst/>
          </a:prstGeom>
          <a:solidFill>
            <a:srgbClr val="FFF3E0"/>
          </a:solidFill>
          <a:ln w="19050">
            <a:solidFill>
              <a:srgbClr val="E8501A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0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➗  Modulus ( % ) — Remainder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548640" y="1444752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Gives you the LEFT-OVER after division.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 of it like sharing equally.</a:t>
            </a:r>
            <a:endParaRPr lang="en-US" sz="125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365760" y="2450592"/>
            <a:ext cx="4160520" cy="138988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502920" y="25420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704088" y="254203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905256" y="25420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75488" y="2743200"/>
            <a:ext cx="394106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17 % 5  → 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17 ÷ 5 = 3 remainder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10 % 2  →  0  // even number!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  % 2  →  1  // odd number!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709160" y="987552"/>
            <a:ext cx="4114800" cy="192024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892040" y="10515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⚡  Exponent ( ** ) — Power of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892040" y="1444752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Multiplies a number by itself N times.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as Math.pow() but cleaner.</a:t>
            </a:r>
            <a:endParaRPr lang="en-US" sz="1250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709160" y="2450592"/>
            <a:ext cx="4114800" cy="138988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4846320" y="25420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5047488" y="254203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5248656" y="25420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4818888" y="2743200"/>
            <a:ext cx="389534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** 3  →  8    // 2×2×2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** 4  →  81   // 3×3×3×3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Math.pow(2,3) → 8 // same thing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** 0 →  1    // any^0 =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50208"/>
            <a:ext cx="8458200" cy="96012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233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🌍  Real-World Uses: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58200" cy="59436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3891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38912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" y="43891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590288"/>
            <a:ext cx="82387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(age % 2 === 0) { /* even age */ }   |   const area = side ** 2;   |   const tax = price * (1.17 ** 1);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Increment ( ++ ) &amp; Decrement ( −− 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Shorthand for adding or subtracting 1 — used in loops constantly!</a:t>
            </a:r>
            <a:endParaRPr lang="en-US" sz="12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365760" y="987552"/>
            <a:ext cx="4133088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30352" y="102412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Pre-increment / Pre-decrement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337820" y="1389888"/>
            <a:ext cx="4133088" cy="283464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502920" y="1572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704088" y="157276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905256" y="157276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75488" y="1773936"/>
            <a:ext cx="3913632" cy="2450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x = 5;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y = ++x;  // increment FIRST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x is now 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y is 6 (gets new value)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a = 5;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b = --a;  // decrement FIRST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 is now 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b is 4 (gets new value)</a:t>
            </a:r>
            <a:endParaRPr lang="en-US" sz="1250" dirty="0"/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4663440" y="987552"/>
            <a:ext cx="4133088" cy="4572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4828032" y="102412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Post-increment / Post-decrement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4663440" y="1481328"/>
            <a:ext cx="4133088" cy="283464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4800600" y="1572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5001768" y="157276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5202936" y="157276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773168" y="1773936"/>
            <a:ext cx="3913632" cy="2450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x = 5;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y = x++;  // use THEN increment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y is 5 (gets old value)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x is now 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a = 5;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b = a--;  // use THEN decrement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b is 5 (gets old value)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 is now 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407408"/>
            <a:ext cx="8430768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4805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 Memory Trick: 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 ( ++x ) → change BEFORE using.  Post ( x++ ) → change AFTER using.  In simple statements like </a:t>
            </a:r>
            <a:r>
              <a:rPr lang="en-US" sz="1250" dirty="0">
                <a:solidFill>
                  <a:srgbClr val="E850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i++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a for loop, both behave the same.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200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Assignment Operators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Storing and updating values in variables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A3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276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8833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803904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6617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Assignment Operators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assigns. +=, -=, *=, /=, %= are shortcuts for update-and-assign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65760" y="987552"/>
          <a:ext cx="4434840" cy="4041648"/>
        </p:xfrm>
        <a:graphic>
          <a:graphicData uri="http://schemas.openxmlformats.org/drawingml/2006/table">
            <a:tbl>
              <a:tblPr/>
              <a:tblGrid>
                <a:gridCol w="658368"/>
                <a:gridCol w="1719072"/>
                <a:gridCol w="205740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Op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Meaning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Same As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+=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Add &amp;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+ 5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-=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Subtract &amp;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- 5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*=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Multiply &amp;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*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/=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Divide &amp;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/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%=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Modulus &amp;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%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**=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Power &amp;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**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&amp;&amp;=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AND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&amp;&amp;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||=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OR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||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 ??=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Nullish Assign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x = x ?? 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56048" y="987552"/>
            <a:ext cx="3858768" cy="404164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93208" y="10789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94376" y="10789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95544" y="10789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8"/>
          <p:cNvSpPr/>
          <p:nvPr/>
        </p:nvSpPr>
        <p:spPr>
          <a:xfrm>
            <a:off x="5065776" y="1280160"/>
            <a:ext cx="363931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Assignment operators in action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score = 100;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+= 50;   // score = 150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-= 30;   // score = 120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*= 2;    // score = 240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/= 4;    // score = 60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%= 7;    // score = 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**= 2;   // score = 16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||= — assign only if falsy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username = "";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username ||= "Guest";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username → "Guest"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??= — assign only if null/undefined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config = null;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 ??= { theme: "dark" };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200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Comparison Operators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values — always returns true or false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A3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276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8833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803904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6617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Comparison Operators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values — result is always a Boolean: true or false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1828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8813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10881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Loose Equal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4996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"5" == 5  →  true  ⚠️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84248"/>
            <a:ext cx="18288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4825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44752" y="20482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Strict Equal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4597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"5" === 5  →  false 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44368"/>
            <a:ext cx="1828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0837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!=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4752" y="30083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Loose Not Equal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34198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"5" != 5  →  false ⚠️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0448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04488"/>
            <a:ext cx="18288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6849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!==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44752" y="39684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Strict Not Equal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3799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"5" !== 5  →  true  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02412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024128"/>
            <a:ext cx="1828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08813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42432" y="10881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Greater Than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37760" y="14996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&gt; 5  →  true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198424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984248"/>
            <a:ext cx="1828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04825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42432" y="20482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Less Than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37760" y="24597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&lt; 5  →  false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294436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944368"/>
            <a:ext cx="1828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00837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742432" y="30083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Greater Than or Equal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937760" y="34198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&gt;= 5  →  true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3904488"/>
            <a:ext cx="406908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904488"/>
            <a:ext cx="1828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96849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&lt;=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742432" y="39684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Less Than or Equal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937760" y="43799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&lt;= 5  →  true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== vs === : The Critical Difference!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use === in professional JavaScript — here's why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133088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3327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  == Loose Equality (Type Coercion)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499616"/>
            <a:ext cx="4133088" cy="276148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910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59105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159105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92224"/>
            <a:ext cx="3913632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== converts types first, THEN compares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  == false   // true  ⚠️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  == ""      // true  ⚠️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  == false   // true  ⚠️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"1" == 1       // true  ⚠️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[]  == false   // true  ⚠️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 == undefined // true ⚠️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NaN == NaN     // false ⚠️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Can lead to VERY confusing bugs!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3308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03327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  === Strict Equality (Use This!)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663440" y="1499616"/>
            <a:ext cx="4133088" cy="276148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5910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59105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02936" y="159105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792224"/>
            <a:ext cx="3913632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=== checks VALUE AND TYPE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  === false   // false 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  === ""      // false 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  === false   // false 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"1" === 1       // false 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[]  === false   // false 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 === undefined // false 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   === 1       // true  ✅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Predictable, no surprises!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370832"/>
            <a:ext cx="8430768" cy="658368"/>
          </a:xfrm>
          <a:prstGeom prst="rect">
            <a:avLst/>
          </a:prstGeom>
          <a:solidFill>
            <a:srgbClr val="FFF8E1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Golden Rule:  ALWAYS use === (strict) and !== (strict not-equal). Only use == when you specifically WANT type coercion — which is almost never.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200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Logical Operators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conditions and make decisions in your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A3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276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8833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803904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6617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Logical Operators: &amp;&amp; || 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boolean expressions — essential for if/else conditions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263347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23957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&amp;&amp;  AND  — Both must be true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633472" cy="321868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544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5544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15544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55648"/>
            <a:ext cx="2414016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 &amp;&amp; true 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 &amp;&amp; false  //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 &amp;&amp; true   //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 &amp;&amp; false  // false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Real example: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age = 20;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hasID = true;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(age &gt;= 18 &amp;&amp; hasID)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console.log("Can enter");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55264" y="987552"/>
            <a:ext cx="263347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024128"/>
            <a:ext cx="23957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||  OR  — At least one true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55264" y="1463040"/>
            <a:ext cx="2633472" cy="321868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92424" y="15544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15544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5544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755648"/>
            <a:ext cx="2414016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 || true 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 || false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 || true 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 || false  // false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Real example: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isAdmin = false;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isMod = true;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(isAdmin || isMod)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console.log("Has access");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44768" y="987552"/>
            <a:ext cx="2633472" cy="438912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024128"/>
            <a:ext cx="23957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!  NOT  — Flips the value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44768" y="1463040"/>
            <a:ext cx="2633472" cy="321868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81928" y="15544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83096" y="15544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84264" y="15544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755648"/>
            <a:ext cx="2414016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!true   //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!false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!0    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!1      // false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Real example: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loggedIn = false;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(!loggedIn)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console.log("Please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login first!");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Short-Circuit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stops evaluating as soon as the result is determined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133088" cy="1993392"/>
          </a:xfrm>
          <a:prstGeom prst="rect">
            <a:avLst/>
          </a:prstGeom>
          <a:solidFill>
            <a:srgbClr val="F0FF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&amp;&amp;  returns FIRST FALSY or last value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4133088" cy="233172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361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5361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15361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37360"/>
            <a:ext cx="3913632" cy="1947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 &amp;&amp; "hello"   // false  (stops)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    &amp;&amp; "hello"   // 0      (stops)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 &amp;&amp; "hello"   // "hello"(returns last)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"hi"  &amp;&amp; "there"   // "there"(both truthy)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Guard pattern — run only if safe: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&amp;&amp; showProfile(user);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33088" cy="1993392"/>
          </a:xfrm>
          <a:prstGeom prst="rect">
            <a:avLst/>
          </a:prstGeom>
          <a:solidFill>
            <a:srgbClr val="EF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||  returns FIRST TRUTHY or last value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444752"/>
            <a:ext cx="4133088" cy="233172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5361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5361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02936" y="15361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737360"/>
            <a:ext cx="3913632" cy="1947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"hello" || "world"  // "hello" (first truthy)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    || "world"  // "world" (first truthy)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   || 0        // 0       (last value)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      || "Guest"  // "Guest"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Default value pattern: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name = input || "Anonymous";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8430768" cy="1536192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11880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??  Nullish Coalescing — only checks null/undefined (NOT all falsy!)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30768" cy="1078992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0690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40690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" y="40690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270248"/>
            <a:ext cx="8211312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      ?? "default"   // "default"  (null triggers ??)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undefined ?? "default"   // "default"  (undefined triggers ??)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        ?? "default"   // 0          ⚠️ 0 does NOT trigger ??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        ?? "default"   // ""         ⚠️ empty string is kept!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 ?? when 0 and "" are VALID values you want to keep.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200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String &amp; Special Operators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Concatenation, ternary, typeof and modern JS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A3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276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8833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803904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6617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String Operators &amp; Template Literals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Joining strings — the old way and the modern way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133088" cy="438912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24128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Old Way: + Concatenation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33088" cy="320040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544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5544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15544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55648"/>
            <a:ext cx="3913632" cy="2816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name = "Ali";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age  = 22;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city = "Karachi";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String + Operator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msg = "Hello, " + name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"! Age: " + age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", City: " + city;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Result: "Hello, Ali! Age: 22, City: Karachi"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Problems: messy, easy 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forget spaces, hard to read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33088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24128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Modern Way: Template Literals ` `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133088" cy="320040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5544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5544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02936" y="15544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755648"/>
            <a:ext cx="3913632" cy="2816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name = "Ali";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age  = 22;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city = "Karachi";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Template Literal (backtick ``)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msg = `Hello, ${name}!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Age: ${age}, City: ${city}`;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Expressions inside ${}: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total = `${5 + 3} items`;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→ "8 items"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Multi-line — no \n needed!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html = `&lt;h1&gt;${name}&lt;/h1&gt;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&lt;p&gt;Age: ${age}&lt;/p&gt;`;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773168"/>
            <a:ext cx="84307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09744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Prefer template literals for any string that includes a variable. Cleaner, readable, and supports multi-line!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Ternary Operator  ( ? : 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compact if-else in a single line — used everywhere in modern JS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30768" cy="1298448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789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0789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0789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98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23160" y="129844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88920" y="129844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valueIfTrue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129844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2984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valueIfFalse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❓ Check this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16276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 return this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6276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otherwise this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5074920" cy="2633472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4688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24688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" y="24688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670048"/>
            <a:ext cx="4855464" cy="2249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Example 1: Simple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age = 20;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status = age &gt;= 18 ? "Adult" : "Minor";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status → "Adult"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Example 2: In a template literal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score = 75;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result = `You ${score &gt;= 50 ? "passed" : "failed"}!`;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result → "You passed!"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Example 3: Nested ternary (use carefully!)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marks = 85;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grade = marks &gt;= 90 ? "A" : marks &gt;= 70 ? "B" : "C";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grade → "B"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23560" y="2377440"/>
            <a:ext cx="3172968" cy="2633472"/>
          </a:xfrm>
          <a:prstGeom prst="rect">
            <a:avLst/>
          </a:prstGeom>
          <a:solidFill>
            <a:srgbClr val="FFF8E1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24505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Ternary vs if-else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23560" y="2788920"/>
            <a:ext cx="3172968" cy="219456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0" y="28803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28803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88036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3081528"/>
            <a:ext cx="2953512" cy="1810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if-else version: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label;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(score &gt;= 50)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label = "Pass";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label = "Fail";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Ternary version: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label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score &gt;= 50 ? "Pass"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: "Fail";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Special Operators: typeof · in · instanceof · delete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Inspecting and manipulating values and objects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956048" cy="4005072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789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0789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0789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80160"/>
            <a:ext cx="4736592" cy="3621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typeof ─────────────────────────────────────────────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"hello"       // "string"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42            // "number"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true          // "boolean"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undefined     // "undefined"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null          // "object"  ← historic JS bug!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{}            // "object"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[]            // "object"  ← use Array.isArray()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function(){}  // "function"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in  ────────────────────────────────────────────────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user = { name: "Ali", age: 22 };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"name" in user     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"email" in user      // false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instanceof ─────────────────────────────────────────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[] instanceof Array        //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new Date() instanceof Date // true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38928" y="987552"/>
            <a:ext cx="3675888" cy="4005072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76088" y="10789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7256" y="10789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78424" y="10789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1280160"/>
            <a:ext cx="3456432" cy="3621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delete ─────────────────────────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obj = { a: 1, b: 2, c: 3 };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delete obj.b;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obj → { a: 1, c: 3 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void ───────────────────────────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0          // undefined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expression // always undefined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comma ─────────────────────────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x = (1, 2, 3);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x → 3 (returns last)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typeof guard pattern ───────────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greet(name)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(typeof name !== "string")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throw new Error('Need string');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`Hi, ${name}!`;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Spread ( ... ) &amp; Rest ( ... ) Operators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ES6+ operators — same syntax, opposite purposes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13308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24128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🌊  Spread — Expands an iterable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4133088" cy="347472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72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57276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157276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73936"/>
            <a:ext cx="3913632" cy="3090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Spread array into elements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nums = [1, 2, 3];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more = [...nums, 4, 5];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more → [1, 2, 3, 4, 5]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Spread in function call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Math.max(...nums);   // 3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Copy an array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copy = [...nums];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Merge objects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a = { x: 1 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b = { y: 2 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merged = { ...a, ...b 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{ x: 1, y: 2 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3308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24128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📦  Rest — Collects into array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663440" y="1481328"/>
            <a:ext cx="4133088" cy="347472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572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57276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02936" y="157276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773936"/>
            <a:ext cx="3913632" cy="3090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Rest in function params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sum(...numbers)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numbers.reduce(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(acc, n) =&gt; acc + n,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sum(1, 2, 3, 4);  // 10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Rest in destructuring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[first, ...rest] = [1,2,3,4];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first →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rest  → [2, 3, 4]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{ a, ...others } = obj;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 gets its value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others gets everything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Operator Precedence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operator runs first? Just like BODMAS/PEMDAS in math!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84048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078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04241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Parentheses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298448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 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0"/>
            <a:ext cx="384048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170078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Exponentiation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1956816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** (right-to-left)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04288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04288"/>
            <a:ext cx="384048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3957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35915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Unary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2615184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++  --  !  typeof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62656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62656"/>
            <a:ext cx="384048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30540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30175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Multiply / Divide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273552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  /  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21024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21024"/>
            <a:ext cx="384048" cy="5669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" y="37124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367588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Add / Subtract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" y="3931920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 -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79392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79392"/>
            <a:ext cx="384048" cy="5669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4370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" y="43342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Relational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4590288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  &lt;=  &gt;  &gt;=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987552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987552"/>
            <a:ext cx="384048" cy="56692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1078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38928" y="104241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Equality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38928" y="1298448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  ===  !=  !==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1645920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1645920"/>
            <a:ext cx="384048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38928" y="170078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Logical AND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38928" y="1956816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2304288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2304288"/>
            <a:ext cx="384048" cy="56692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72584" y="23957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38928" y="235915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Logical OR / Nullish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38928" y="2615184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  ??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2962656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2962656"/>
            <a:ext cx="384048" cy="566928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2584" y="30540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138928" y="30175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A5A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Ternary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38928" y="3273552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?: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3621024"/>
            <a:ext cx="40690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3621024"/>
            <a:ext cx="384048" cy="56692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2584" y="37124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138928" y="367588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38928" y="3931920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 +=  -=  *=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200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Activities &amp; Mini Project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 your knowledge to work — let's code!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A3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276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8833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803904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66176" y="2286000"/>
            <a:ext cx="10058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2D4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3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⚡  Activity 1: Guess the Output!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6 minutes  |  Work with a partner  |  No DevTools yet!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console.log(10 % 3);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99616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9384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console.log(2 ** 10);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49424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7919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267004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console.log(5 + 3 + '2');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999232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2900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console.log('5' - '2');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7880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416966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console.log(true + true + 1);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498848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1115568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79576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66360" y="117043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console.log(0 || 'hello');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1499616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1865376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29384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66360" y="192024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console.log(null ?? 'default');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249424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2615184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7919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66360" y="267004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console.log(20 &gt;= 20 &amp;&amp; 5 &lt; 3);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2999232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3364992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2900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Q9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66360" y="3419856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console.log(!!'');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3749040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663440" y="4114800"/>
            <a:ext cx="40690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17880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Q10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66360" y="416966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console.log(5 !== '5');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4498848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___________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  Activity 1: Answers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console.log(10 % 3);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24358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1       — 10 ÷ 3 = 3 remainder 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console.log(2 ** 10);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1024    — 2 to the power 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console.log(5 + 3 + '2');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"82"    — 5+3=8, then 8+"2"="82"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015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console.log('5' - '2');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76732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3       — - forces Number conversion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187952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428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console.log(true + true + 1);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60857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3       — true=1, so 1+1+1=3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87782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console.log(0 || "hello");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124358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"hello" — 0 is falsy, so returns "hello"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664208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71907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console.log(null ?? "default");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208483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"default"— null triggers ??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505456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5603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console.log(20 &gt;= 20 &amp;&amp; 5 &lt; 3);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92608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false   — 20&gt;=20 is true, but 5&lt;3 is false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346704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015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console.log(!!'');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376732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false   — '' is falsy, !'' is true, !!'' is false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4187952"/>
            <a:ext cx="4069080" cy="749808"/>
          </a:xfrm>
          <a:prstGeom prst="rect">
            <a:avLst/>
          </a:prstGeom>
          <a:solidFill>
            <a:srgbClr val="05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2428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console.log(5 !== '5');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0600" y="460857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true    — strict: different types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50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🐛  Activity 2: Fix the Bug!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8 minutes  |  Find all operator bugs in this student grade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7772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BUGGY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5230368" cy="365760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48132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" y="148132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82496"/>
            <a:ext cx="5010912" cy="3273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gradeReport(name, marks, maxMarks)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Bug 1: marks from input is a string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percentage = marks / maxMarks * 100;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Bug 2: wrong operator — should check if ALL conditions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passed = percentage &gt;= 50 || percentage &lt;= 100;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Bug 3: wrong comparison type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(percentage == 100)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console.log("Perfect score!");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Bug 4: ternary is backwards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label = percentage &gt;= 80 ? "Needs Work" : "Excellent";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Bug 5: should only show grade if passed, but shows always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msg = `${name}: ${percentage}% — ${label}`;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console.log(msg);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gradeReport("Sara", "85", 100);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60720" y="1078992"/>
            <a:ext cx="3063240" cy="3968496"/>
          </a:xfrm>
          <a:prstGeom prst="rect">
            <a:avLst/>
          </a:prstGeom>
          <a:solidFill>
            <a:srgbClr val="1A0A02"/>
          </a:solidFill>
          <a:ln w="19050">
            <a:solidFill>
              <a:srgbClr val="E85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7024" y="11521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0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🔑  Hints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07024" y="1481328"/>
            <a:ext cx="2788920" cy="3456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 1:</a:t>
            </a:r>
            <a:r>
              <a:rPr lang="en-US" sz="11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  Form inputs return strings.
  "85"/100 → 0.85? Actually works here — but still bad practice. Use Number().
</a:t>
            </a: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 2:</a:t>
            </a:r>
            <a:r>
              <a:rPr lang="en-US" sz="11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  || means OR. If percentage is 200, this is still true! Use &amp;&amp; for both conditions.
</a:t>
            </a: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 3:</a:t>
            </a:r>
            <a:r>
              <a:rPr lang="en-US" sz="11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  Use === not == for comparison.
</a:t>
            </a: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 4:</a:t>
            </a:r>
            <a:r>
              <a:rPr lang="en-US" sz="11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  Ternary values are swapped. &gt;= 80 should return Excellent.
</a:t>
            </a: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 5: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Use &amp;&amp; or if block to only show grade when passed.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  Activity 2: Fixed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7772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FIXED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30768" cy="397764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704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17043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1704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0"/>
            <a:ext cx="8211312" cy="3593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gradeReport(name, marks, maxMarks)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Fix 1: Convert marks to number first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percentage = Number(marks) / maxMarks * 100;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                ^^^^^^^^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Fix 2: Use &amp;&amp; — BOTH conditions must be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passed = percentage &gt;= 50 &amp;&amp; percentage &lt;= 100;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                             ^^^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Fix 3: Use strict equality ===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(percentage === 100)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console.log("Perfect score!");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Fix 4: Ternary values corrected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label = percentage &gt;= 80 ? "Excellent" : "Needs Work";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                               ^^^^^^^^^     ^^^^^^^^^^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Fix 5: Only show message if passed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(passed)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const msg = `${name}: ${percentage}% — ${label}`;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console.log(msg);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🚀  Mini Project: Smart Calculator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ALL operators — 15 minutes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5074920" cy="2148840"/>
          </a:xfrm>
          <a:prstGeom prst="rect">
            <a:avLst/>
          </a:prstGeom>
          <a:solidFill>
            <a:srgbClr val="EF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📋  What to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4663440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JS calculator that:
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Takes two numbers (from prompt or inputs)
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Asks for an operation (+, -, *, /, %, **)
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Uses ternary to validate (not dividing by 0)
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Shows result with a template literal
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Shows 'Even' or 'Odd' if result is integer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182112"/>
            <a:ext cx="5074920" cy="182880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27355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27355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327355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474720"/>
            <a:ext cx="4855464" cy="1444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Starter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calculate(num1, num2, op)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TODO 1: Convert inputs to numbers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TODO 2: Use switch or if-else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  for each operator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TODO 3: Ternary for div by zero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  num2 === 0 ? 'Error' : n1/n2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TODO 4: Template literal result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  `${n1} ${op} ${n2} = ${result}`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TODO 5: % 2 to check even/odd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96128" y="987552"/>
            <a:ext cx="3218688" cy="4023360"/>
          </a:xfrm>
          <a:prstGeom prst="rect">
            <a:avLst/>
          </a:prstGeom>
          <a:solidFill>
            <a:srgbClr val="FDF4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05156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⭐  Bonus Challenges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42432" y="1417320"/>
            <a:ext cx="2944368" cy="3474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7F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🥉  Bronze:
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running total
using +=
</a:t>
            </a:r>
            <a:r>
              <a:rPr lang="en-US" sz="1200" b="1" dirty="0">
                <a:solidFill>
                  <a:srgbClr val="A8A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🥈  Silver:
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percentage (%):
what % is num1 of num2?
Use Number() conversion
</a:t>
            </a:r>
            <a:r>
              <a:rPr lang="en-US" sz="1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🥇  Gold:
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 multiple
operations using &amp;&amp;
and || for smart
default handling
</a:t>
            </a: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💎  Diamond:
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HTML UI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buttons &amp; input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with DOM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listeners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💡  Mini Project: Sample Solution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30768" cy="4251960"/>
          </a:xfrm>
          <a:prstGeom prst="rect">
            <a:avLst/>
          </a:prstGeom>
          <a:solidFill>
            <a:srgbClr val="0F1E3D"/>
          </a:solidFill>
          <a:ln w="12700">
            <a:solidFill>
              <a:srgbClr val="1E3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89611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89611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89611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97280"/>
            <a:ext cx="8211312" cy="3867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calculate(a, b, op)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n1 = Number(a);     // Fix: string to number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n2 = Number(b);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let result;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(op === '+') result = n1 + n2;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if (op === '-') result = n1 - n2;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if (op === '*') result = n1 * n2;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if (op === '/') result = n2 !== 0 ? n1 / n2 : 'Cannot divide by 0';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if (op === '%') result = n1 % n2;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if (op === '**') result = n1 ** n2;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return 'Unknown operator';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Template literal result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output = `${n1} ${op} ${n2} = ${result}`;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Check even/odd using modulus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isInteger = typeof result === 'number' &amp;&amp; result % 1 === 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evenOdd = isInteger ? (result % 2 === 0 ? 'Even' : 'Odd') : '';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AA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Nullish coalescing for empty string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output + (evenOdd ? `  (${evenOdd})` : '');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console.log(calculate('10', '3', '%'));   // 10 % 3 = 1  (Odd)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console.log(calculate('2', '8', '**'));   // 2 ** 8 = 256  (Even)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console.log(calculate('10', '0', '/'));   // 10 / 0 = Cannot divide by 0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JavaScript Operators — Cheat Sheet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quick reference card for all operator types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1993392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➕  Arithmetic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- * / % ** ++ --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02412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024128"/>
            <a:ext cx="1993392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069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🔖  Assignment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8608" y="1499616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+= -= *= /= %= **= ||= ??=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02412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024128"/>
            <a:ext cx="1993392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69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⚖️  Comparison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1499616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 !== &gt; &lt; &gt;= &lt;=  (avoid ==)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9984" y="102412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1024128"/>
            <a:ext cx="1993392" cy="3840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1069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🧠  Logical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21424" y="1499616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 (AND)  || (OR)  ! (NOT)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560320"/>
            <a:ext cx="1993392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060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💬  String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035808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(concat)  `` template literals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87168" y="256032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7168" y="2560320"/>
            <a:ext cx="1993392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6060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❓  Ternary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78608" y="3035808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 ? ifTrue : ifFalse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08576" y="256032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8576" y="2560320"/>
            <a:ext cx="1993392" cy="38404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26060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🔍  Special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0016" y="3035808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 in  instanceof  delete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9984" y="256032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9984" y="2560320"/>
            <a:ext cx="1993392" cy="38404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26060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💎  Modern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21424" y="3035808"/>
            <a:ext cx="18105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??  ??=  ?.  ...spread  ...rest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133088"/>
            <a:ext cx="843076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23367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Top 3 rules: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Always use </a:t>
            </a:r>
            <a:r>
              <a:rPr lang="en-US" sz="12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not </a:t>
            </a:r>
            <a:r>
              <a:rPr lang="en-US" sz="12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② Use </a:t>
            </a:r>
            <a:r>
              <a:rPr lang="en-US" sz="12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??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instead of </a:t>
            </a:r>
            <a:r>
              <a:rPr lang="en-US" sz="12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when 0/''/false are valid values   ③ Parentheses first — when in doubt, </a:t>
            </a:r>
            <a:r>
              <a:rPr lang="en-US" sz="1200" dirty="0">
                <a:solidFill>
                  <a:srgbClr val="F5A6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 )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for clarity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We Covered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tour of JavaScript operators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30768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438912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9848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078992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Arithmetic  — 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95728" y="1078992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- * / % ** ++/-- — all math operations, modulus for odd/even, exponent for powers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17904"/>
            <a:ext cx="438912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00200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1609344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Assignment  — 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95728" y="1609344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stores values; +=, -=, *= are shortcuts; ||= and ??= for smart defaults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048256"/>
            <a:ext cx="8430768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48256"/>
            <a:ext cx="438912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139696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AE6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Comparison  —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95728" y="2139696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=== and !== are strict (ALWAYS use these!). &gt; &lt; &gt;= &lt;= for ordering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78608"/>
            <a:ext cx="438912" cy="457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60904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2670048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Logical  — 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95728" y="2670048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&amp;&amp; requires BOTH true; || needs ONE true; ! flips; ?? only checks null/undefined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8430768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108960"/>
            <a:ext cx="438912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91256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320040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9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String  — 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395728" y="320040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concatenates; template literals `` are cleaner with ${variable}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639312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639312"/>
            <a:ext cx="438912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21608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112" y="3730752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C9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Ternary  — 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395728" y="3730752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? yes : no — one-line if-else for assignments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169664"/>
            <a:ext cx="8430768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69664"/>
            <a:ext cx="438912" cy="45720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51960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96112" y="4261104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1E6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Special  — 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395728" y="4261104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typeof checks type; in checks object key; instanceof checks constructor; delete removes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700016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700016"/>
            <a:ext cx="438912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782312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96112" y="4791456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7D8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Spread/Rest  — 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2395728" y="4791456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...spread expands arrays/objects; ...rest collects remaining params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📝  Homework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1207008"/>
          </a:xfrm>
          <a:prstGeom prst="rect">
            <a:avLst/>
          </a:prstGeom>
          <a:solidFill>
            <a:srgbClr val="051A0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🟢 Easy  —  Operator Exploration Page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37160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 HTML page. Write 5 examples for each: arithmetic, comparison, and logical operators. Print results with console.log. Must show at least one example of short-circuit evaluation.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21992"/>
            <a:ext cx="8229600" cy="1207008"/>
          </a:xfrm>
          <a:prstGeom prst="rect">
            <a:avLst/>
          </a:prstGeom>
          <a:solidFill>
            <a:srgbClr val="1A120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1343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🟡 Medium  —  Electricity Bill Calculator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69748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calculator that: takes units consumed (string from prompt), converts to number, calculates bill (first 100 units = PKR 5/unit, next 200 = PKR 10, rest = PKR 15). Show bill with ternary for even/odd number of units.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547872"/>
            <a:ext cx="8229600" cy="1207008"/>
          </a:xfrm>
          <a:prstGeom prst="rect">
            <a:avLst/>
          </a:prstGeom>
          <a:solidFill>
            <a:srgbClr val="1A050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63931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🔴 Hard  —  Student Report Card Generator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402336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 5 subject marks (strings from inputs). Convert all with Number(). Calculate average using arithmetic operators. Use logical operators (&amp;&amp;, ||) to determine: pass/fail (each &gt;= 33 &amp;&amp; avg &gt;= 40). Display grade using nested ternary (A/B/C/D/F). Show result in DOM using template literal.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37160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1A203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755648" y="182880"/>
            <a:ext cx="137160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1A203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236976" y="182880"/>
            <a:ext cx="137160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1A203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718304" y="182880"/>
            <a:ext cx="137160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1A203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6199632" y="182880"/>
            <a:ext cx="137160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1A203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7680960" y="182880"/>
            <a:ext cx="137160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1A203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**</a:t>
            </a:r>
            <a:endParaRPr lang="en-US" sz="10000" dirty="0"/>
          </a:p>
        </p:txBody>
      </p:sp>
      <p:sp>
        <p:nvSpPr>
          <p:cNvPr id="9" name="Shape 7"/>
          <p:cNvSpPr/>
          <p:nvPr/>
        </p:nvSpPr>
        <p:spPr>
          <a:xfrm>
            <a:off x="1828800" y="594360"/>
            <a:ext cx="5486400" cy="301752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  <a:effectLst>
            <a:outerShdw blurRad="381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594360"/>
            <a:ext cx="548640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CC3D0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?</a:t>
            </a:r>
            <a:endParaRPr lang="en-US" sz="200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operators and you've mastered the logic of JavaScript.</a:t>
            </a:r>
            <a:endParaRPr lang="en-US" sz="14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4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5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6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7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8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9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0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1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2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3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4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5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6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7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8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19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0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1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2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3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4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5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6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7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8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29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0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1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2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3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4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5.xml><?xml version="1.0" encoding="utf-8"?>
<p:tagLst xmlns:p="http://schemas.openxmlformats.org/presentationml/2006/main">
  <p:tag name="KSO_WM_DIAGRAM_VIRTUALLY_FRAME" val="{&quot;height&quot;:330.48,&quot;left&quot;:36,&quot;top&quot;:64.8,&quot;width&quot;:648}"/>
</p:tagLst>
</file>

<file path=ppt/tags/tag36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37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38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39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0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1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2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3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4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5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6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7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8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49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50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51.xml><?xml version="1.0" encoding="utf-8"?>
<p:tagLst xmlns:p="http://schemas.openxmlformats.org/presentationml/2006/main">
  <p:tag name="KSO_WM_DIAGRAM_VIRTUALLY_FRAME" val="{&quot;height&quot;:224.64000000000001,&quot;left&quot;:28.8,&quot;top&quot;:77.76,&quot;width&quot;:666}"/>
</p:tagLst>
</file>

<file path=ppt/tags/tag52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53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54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55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56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57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58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59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60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61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62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63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64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ags/tag65.xml><?xml version="1.0" encoding="utf-8"?>
<p:tagLst xmlns:p="http://schemas.openxmlformats.org/presentationml/2006/main">
  <p:tag name="KSO_WM_DIAGRAM_VIRTUALLY_FRAME" val="{&quot;height&quot;:262.08000000000004,&quot;left&quot;:26.6,&quot;top&quot;:77.76,&quot;width&quot;:666.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18079</Words>
  <Application>WPS Presentation</Application>
  <PresentationFormat>On-screen Show (16:9)</PresentationFormat>
  <Paragraphs>1292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Calibri</vt:lpstr>
      <vt:lpstr>Calibri</vt:lpstr>
      <vt:lpstr>Arial Black</vt:lpstr>
      <vt:lpstr>Arial Black</vt:lpstr>
      <vt:lpstr>Arial Black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Operators</dc:title>
  <dc:creator>Tech Trainer</dc:creator>
  <dc:subject>PptxGenJS Presentation</dc:subject>
  <cp:lastModifiedBy>Tabinda Noor</cp:lastModifiedBy>
  <cp:revision>2</cp:revision>
  <dcterms:created xsi:type="dcterms:W3CDTF">2026-05-19T03:07:00Z</dcterms:created>
  <dcterms:modified xsi:type="dcterms:W3CDTF">2026-05-19T04:58:18Z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B7074462E2824AD1A16C4E7D243653C0_12</vt:lpwstr>
  </property>
  <property fmtid="{D5CDD505-2E9C-101B-9397-08002B2CF9AE}" pid="3" name="KSOProductBuildVer">
    <vt:lpwstr>2057-12.2.0.23202</vt:lpwstr>
  </property>
</Properties>
</file>