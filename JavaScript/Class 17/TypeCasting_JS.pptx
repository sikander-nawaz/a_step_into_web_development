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548640"/>
            <a:ext cx="2286000" cy="22860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0" y="6400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Casting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data between types — the right way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3063240"/>
            <a:ext cx="9144000" cy="182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Duration: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 </a:t>
            </a:r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👥 Level: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</a:t>
            </a:r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📚 Pre-req: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 Basics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D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Series  •  JavaScript Module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" cy="5669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914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Review + What is Type Casting?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8229600" cy="566928"/>
          </a:xfrm>
          <a:prstGeom prst="rect">
            <a:avLst/>
          </a:prstGeom>
          <a:solidFill>
            <a:srgbClr val="0A1A2E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90472"/>
            <a:ext cx="502920" cy="5669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6362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581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0:10–0:22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5819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Type Coercion (auto-conversion)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57984"/>
            <a:ext cx="82296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57984"/>
            <a:ext cx="502920" cy="5669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3113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249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0:22–0:35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2494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Type Conversion (String, Number, Boolean)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25496"/>
            <a:ext cx="8229600" cy="566928"/>
          </a:xfrm>
          <a:prstGeom prst="rect">
            <a:avLst/>
          </a:prstGeom>
          <a:solidFill>
            <a:srgbClr val="0A1A2E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25496"/>
            <a:ext cx="502920" cy="5669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9864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916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0:35–0:42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29169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 &amp; Falsy + typeof Operator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93008"/>
            <a:ext cx="502920" cy="5669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661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584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0:42–0:50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3584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Gotchas &amp; Pitfalls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solidFill>
            <a:srgbClr val="0A1A2E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60520"/>
            <a:ext cx="502920" cy="5669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336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251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0:50–1:00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4251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+ Mini Project: Form Validator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Types Review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cast, we need to know WHAT we're casting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Data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primitive types + Objects — you've already met most of them!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82880" cy="8412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969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335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 'World'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182880" cy="84124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3.14  -7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26080"/>
            <a:ext cx="182880" cy="8412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Boolean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346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false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31920"/>
            <a:ext cx="182880" cy="8412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43525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x; // x is undefined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914400"/>
            <a:ext cx="182880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969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02352" y="1335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 = null;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92024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920240"/>
            <a:ext cx="182880" cy="8412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BigInt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9007199254740991n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92608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926080"/>
            <a:ext cx="182880" cy="84124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Symbol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02352" y="3346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Symbol('id')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931920"/>
            <a:ext cx="4206240" cy="841248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931920"/>
            <a:ext cx="182880" cy="841248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986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02352" y="43525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  []  function(){}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Type Casting?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88720"/>
          </a:xfrm>
          <a:prstGeom prst="rect">
            <a:avLst/>
          </a:prstGeom>
          <a:solidFill>
            <a:srgbClr val="FEF9E7"/>
          </a:solidFill>
          <a:ln w="25400">
            <a:solidFill>
              <a:srgbClr val="F7DF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 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(also called Type Conversion) is the process of converting a value from one data type to another. In JavaScript, this happens constantly — sometimes automatically, sometimes when we force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8412480" cy="1097280"/>
          </a:xfrm>
          <a:prstGeom prst="rect">
            <a:avLst/>
          </a:prstGeom>
          <a:solidFill>
            <a:srgbClr val="EAF2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042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Real-world Analogy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currency exchange counter at an airport. You give PKR, you get USD. The VALUE is equivalent, but the FORM has changed. Type casting does the same — it changes the form of data while preserving its meaning (when possible).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3474720"/>
            <a:ext cx="4023360" cy="141732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Implicit Coercion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9534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does it automatically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you asking.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"5" + 2  →  "52"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54880" y="3474720"/>
            <a:ext cx="4023360" cy="1417320"/>
          </a:xfrm>
          <a:prstGeom prst="rect">
            <a:avLst/>
          </a:prstGeom>
          <a:solidFill>
            <a:srgbClr val="FDF2F8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 Explicit Conversion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89534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tell JavaScript to convert.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Number("5") + 2  →  7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Implicit Type Coercion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JavaScript converts types behind your back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A4E"/>
          </a:solidFill>
          <a:ln w="12700">
            <a:solidFill>
              <a:srgbClr val="0D7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Implicit Coercion: String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use the + operator with a string, JS converts everything to a string.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3108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Rule: String + Anything = String (concatenation)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console.log("Hello" + 42);         // "Hello42"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console.log("The answer is " + 5 + 6);  // "The answer is 56"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console.log(5 + 6 + " is the sum");      // "11 is the sum"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console.log("5" + 2);              // "52"  ⚠️ NOT 7!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console.log("5" + true);           // "5true"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console.log("" + null);            // "null"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console.log("" + undefined);       // "undefined"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23560" y="914400"/>
            <a:ext cx="3200400" cy="1371600"/>
          </a:xfrm>
          <a:prstGeom prst="rect">
            <a:avLst/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Watch Out!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325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"5" + 2 gives "52"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first. 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+ for BOTH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468880"/>
            <a:ext cx="3200400" cy="1554480"/>
          </a:xfrm>
          <a:prstGeom prst="rect">
            <a:avLst/>
          </a:prstGeom>
          <a:solidFill>
            <a:srgbClr val="EAF2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How to Fix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2880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convert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first when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doing math: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Number("5") + 2 → 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parseInt("5") + 2 → 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F9EBE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78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Memory Trick: 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453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side of + is a string, the result is ALWAYS a string. The + operator is "greedy for strings"!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Implicit Coercion: Number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(-, *, /, %) trigger numeric conversion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21208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Math operators (except +) force Number conversion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console.log("10" - 5);      // 5    ✅ string → number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console.log("10" * 2);      // 20   ✅ string → number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console.log("10" / 2);      // 5    ✅ string → number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console.log("10" % 3);      // 1    ✅ string → number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console.log("abc" - 1);     // NaN  ⚠️ Not a Number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console.log(true + 1);      // 2    (true =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console.log(false + 1);     // 1    (false =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console.log(null + 1);      // 1    (null =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console.log(undefined + 1); // NaN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063240" cy="1828800"/>
          </a:xfrm>
          <a:prstGeom prst="rect">
            <a:avLst/>
          </a:prstGeom>
          <a:solidFill>
            <a:srgbClr val="F9EBEA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987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NaN = Not a Number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371600"/>
            <a:ext cx="2743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is a special 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JS tries 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something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isn't a valid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is of TYPE number: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typeof NaN === "number"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880360"/>
            <a:ext cx="3063240" cy="18288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2953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Number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3310128"/>
            <a:ext cx="27432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→ 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→ 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 → 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   → 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   → 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   → 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"3.5" →  3.5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"abc" →  NaN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Implicit Coercion: == vs ===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"loose" equality operator == triggers type coercion. The "strict" === does NOT.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== Loose Equality (Avoid!)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 false    // true  ⚠️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 ""       // true  ⚠️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== false   // true  ⚠️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 == 1      // true  ⚠️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== undefined // true ⚠️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 == NaN    // false ⚠️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69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=== Strict Equality (Use This!)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1480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5087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=== false   // false 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=== ""      // false 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=== false  // false 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 === 1     // false 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=== undefined // false 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=== 1       // true  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F4ECF7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Golden Rule:  Always use === (strict equality). It's safer, more predictable, and avoids nasty bugs caused by coercion. Most professional JS developers never use ==.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Explicit Conversion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full control of type conversion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Converting TO String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methods: String() function and .toString() method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30352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5029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Method 1: String() ─────────────────────────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String(42)          // "42"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String(3.14)        // "3.14"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String(true)        // "true"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String(false)       // "false"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String(null)        // "null"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String(undefined)   // "undefined"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Method 2: .toString() ─────────────────────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(42).toString()     // "42"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(255).toString(16)  // "ff"  (hexadecimal!)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(8).toString(2)     // "1000" (binary!)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true.toString()     // "true"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⚠️ null.toString() → ERROR! Use String(null)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914400"/>
            <a:ext cx="2971800" cy="1463040"/>
          </a:xfrm>
          <a:prstGeom prst="rect">
            <a:avLst/>
          </a:prstGeom>
          <a:solidFill>
            <a:srgbClr val="EBF5FB"/>
          </a:solidFill>
          <a:ln w="1905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9875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String() is Safe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344168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everything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null 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undefined. Prefer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 safety.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2514600"/>
            <a:ext cx="2971800" cy="1463040"/>
          </a:xfrm>
          <a:prstGeom prst="rect">
            <a:avLst/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Use Cases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9320" y="29443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Displaying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DOM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dynamic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HTML 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Storing to localStorage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validation msgs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4114800"/>
            <a:ext cx="29718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4187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 literal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msg = `Score: ${score}`;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Converting TO Number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E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Number(), parseInt(), and parseFloat() — choose the right tool!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4160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7548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Number() ────────────────────────────────────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Number("42")        // 42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Number("3.14")      // 3.14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Number("  10  ")    // 10  (ignores spaces)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Number("")          //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Number(true)        //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Number(false)       //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Number(null)        //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Number(undefined)   // 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Number("hello")     // NaN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parseInt() — integers only ─────────────────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parseInt("42.9")    // 42   (truncates decimal)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parseInt("10px")    // 10   (stops at non-number)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parseInt("px10")    // NaN  (starts with non-number)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parseInt("1010", 2) // 10   (binary to decimal)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914400"/>
            <a:ext cx="3520440" cy="2880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1005840"/>
            <a:ext cx="3246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parseFloat() ───────────────────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parseFloat("3.14abc")  // 3.14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parseFloat("3.14")     // 3.14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parseFloat(".5")       // 0.5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Unary + Shorthand ──────────────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+"42"        // 42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+true        //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+""          //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+"hello"     // NaN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3895344"/>
            <a:ext cx="3520440" cy="1170432"/>
          </a:xfrm>
          <a:prstGeom prst="rect">
            <a:avLst/>
          </a:prstGeom>
          <a:solidFill>
            <a:srgbClr val="EAF2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39593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When to use which?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42976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Number() — clean conversions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parseInt() — CSS values like "10px"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parseFloat() — prices, decimals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E2F7C"/>
          </a:solidFill>
          <a:ln w="12700">
            <a:solidFill>
              <a:srgbClr val="6E2F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Converting TO Boolean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either truthy or falsy in JavaScript. There are only 6 falsy values!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Boolean() function ──────────────────────────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Boolean(0)          //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Boolean("")         //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Boolean(null)       //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Boolean(undefined)  //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Boolean(NaN)        // false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Boolean(1)          //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Boolean(-1)         // true  (any non-zero)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Boolean("hello")    // true  (any non-empty string)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Boolean("false")    // true  ⚠️ the STRING "false" is TRUTHY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Boolean([])         // true  (empty array is TRUTHY!)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Boolean({})         // true  (empty object is TRUTHY!)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914400"/>
            <a:ext cx="3291840" cy="242316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914400"/>
            <a:ext cx="32918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96012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The 6 Falsy Values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399032"/>
            <a:ext cx="2971800" cy="256032"/>
          </a:xfrm>
          <a:prstGeom prst="rect">
            <a:avLst/>
          </a:prstGeom>
          <a:solidFill>
            <a:srgbClr val="FDECEA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41732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15000" y="1709928"/>
            <a:ext cx="2971800" cy="256032"/>
          </a:xfrm>
          <a:prstGeom prst="rect">
            <a:avLst/>
          </a:prstGeom>
          <a:solidFill>
            <a:srgbClr val="FDEDEC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72821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15000" y="2020824"/>
            <a:ext cx="2971800" cy="256032"/>
          </a:xfrm>
          <a:prstGeom prst="rect">
            <a:avLst/>
          </a:prstGeom>
          <a:solidFill>
            <a:srgbClr val="FDECEA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0391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 (empty string)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15000" y="2331720"/>
            <a:ext cx="2971800" cy="256032"/>
          </a:xfrm>
          <a:prstGeom prst="rect">
            <a:avLst/>
          </a:prstGeom>
          <a:solidFill>
            <a:srgbClr val="FDEDEC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35000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15000" y="2642616"/>
            <a:ext cx="2971800" cy="256032"/>
          </a:xfrm>
          <a:prstGeom prst="rect">
            <a:avLst/>
          </a:prstGeom>
          <a:solidFill>
            <a:srgbClr val="FDECEA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66090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15000" y="2953512"/>
            <a:ext cx="2971800" cy="256032"/>
          </a:xfrm>
          <a:prstGeom prst="rect">
            <a:avLst/>
          </a:prstGeom>
          <a:solidFill>
            <a:srgbClr val="FDEDEC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97180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577840" y="3456432"/>
            <a:ext cx="3291840" cy="137160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3456432"/>
            <a:ext cx="32918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50215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Everything Else = Truthy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393192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-1, "hi", "false",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[], {}, function(){}, Infinity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Truthy, Falsy &amp; typeof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and using types in real code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typeof Operator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typeof to check what data type a variable holds — essential before converting!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"hello"       // "string"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42            // "number"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3.14          // "number"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true          // "boolean"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undefined     // "undefined"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null          // "object"  ⚠️ historic bug!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{}            // "object"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[]            // "object"  ⚠️ arrays are objects!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function(){}  // "function"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Symbol()      // "symbol"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NaN           // "number"  ⚠️ surprising!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914400"/>
            <a:ext cx="3246120" cy="37490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914400"/>
            <a:ext cx="32461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969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typeof in Practice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1325880"/>
            <a:ext cx="3246120" cy="3310128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417320"/>
            <a:ext cx="29718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Guard before converting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double(x)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(typeof x !== "number")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Number(x);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x * 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for arrays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Array.isArray([]) //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for 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=== null      // true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Truthy &amp; Falsy in Real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type casting meets real web development. You'll use this every day!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212080" cy="4160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9377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Checking if a form input is filled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name = document.getElementById("name").value;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(name) {  // truthy check (not empty)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console.log("Name entered:", name);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console.log("Please enter your name!");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Checking if user is logged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null; // or { name: "Ali"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(user)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console.log("Welcome,", user.name);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console.log("Please log in.");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914400"/>
            <a:ext cx="3337560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23560" y="100584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values with ||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age = input || "unknown";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Short-circuit &amp;&amp;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&amp;&amp; showProfile(user);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Nullish coalescing ??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score = data ??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?? only checks null/undefined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|| checks all falsy values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3794760"/>
            <a:ext cx="3337560" cy="1298448"/>
          </a:xfrm>
          <a:prstGeom prst="rect">
            <a:avLst/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3858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Pro Tips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416966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if(val) is a truthy check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!! converts to boolean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?? for safer defaults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Boolean(val) is explicit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Gotchas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Tricky pitfalls every JS developer falls into once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Type Casting — Gotchas!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bugs that confuse beginners (and sometimes seniors too!)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8346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"3" + 3 = "33"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2615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 + 3 → "33"   // concatenation!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+ 3 + "1" → "61" // adds first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Number("3") + 3 →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14400"/>
            <a:ext cx="28346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96012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parseInt stops early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371600"/>
            <a:ext cx="2615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parseInt("12abc") →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parseInt("abc12") → NaN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parseInt("12.9")  → 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14400"/>
            <a:ext cx="28346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96012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typeof null = "object"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1371600"/>
            <a:ext cx="2615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null === "object"  // BUG!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 check: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=== null  //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typeof val === "null"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28346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089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NaN is never equal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520440"/>
            <a:ext cx="2615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 === NaN  // false!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 == NaN   // false!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Number.isNaN(NaN) // true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isNaN("hello")    // true 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63240"/>
            <a:ext cx="28346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1089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"false" is truthy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3520440"/>
            <a:ext cx="2615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Boolean("false")  // true!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Boolean("0")      // true!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non-empty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 TRUTHY — even "false"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063240"/>
            <a:ext cx="2834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063240"/>
            <a:ext cx="283464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10896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[] == false is true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3520440"/>
            <a:ext cx="261518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 false  // true  ⚠️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=== false // false 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Boolean([])  // true!!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Arrays are truthy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but == coerces them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Conversion Cheat Sheet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1005840"/>
                <a:gridCol w="2560320"/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\ To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String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Number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A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→ Boolean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String(false) → "false"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Number(false) →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(already boolean)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String(true) → "true"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Number(true) →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(already boolean)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"0"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(already string)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Number("0") →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Boolean("0") → true ⚠️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(already string)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Number("") →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Boolean("") →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String(0) → "0"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(already number)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Boolean(0) →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String(null) → "null"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Number(null) →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Boolean(null) →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undefined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String(undefined) → "undefined"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Number(undefined) → NaN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Boolean(undefined) → false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"123"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(already string)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Number("123") → 123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Boolean("123") → true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Activities &amp; Mini Project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makes perfect — let's code together!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Activity 1: Guess the Output!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minutes  |  Work with a partner  |  No peeking at the console yet!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252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console.log(1 + "2" + 3);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09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67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console.log(+"5" + +"3");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523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90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81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console.log(Boolean("0"));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050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995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console.log(null + 1);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618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252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console.log("5" - "3");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1609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762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167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NaN);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2523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906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0815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console.log(Number(true) + "1");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41148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00507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3995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console.log(parseInt("2.9") + 1);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4352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___________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Activity 1: Answers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did you get right?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console.log(1 + "2" + 3);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"123"  (1+"2"="12", "12"+3="123")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57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console.log(+"5" + +"3");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8      (unary + converts both)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console.log(Boolean("0"));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true   ("0" is non-empty string!)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86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console.log(null + 1);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      (null → 0, then 0+1=1)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console.log("5" - "3");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16002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      (- forces Number conversion)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157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NaN);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"number"  (surprising but true!)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console.log(Number(true) + "1");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34290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"11"   (1 + "1" = "11")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4114800" cy="749808"/>
          </a:xfrm>
          <a:prstGeom prst="rect">
            <a:avLst/>
          </a:prstGeom>
          <a:solidFill>
            <a:srgbClr val="0A2A1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986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console.log(parseInt("2.9") + 1);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43434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3      (parseInt truncates to 2)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🐛  Activity 2: Fix the Bug!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minutes  |  Find and fix the type-casting bugs in this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22960" cy="3200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02920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087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calculateTotal(price, quantity, discount)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Bug 1: price and quantity come from form inputs (strings!)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total = price * quantity;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Bug 2: discount should reduce total, but something is wrong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discountAmount = total / 100 * discount;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finalPrice = total - discountAmount;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Bug 3: this comparison is always wrong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(discount == true)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console.log("Discount applied!");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"Total: " + finalPrice + " PKR";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calculateTotal("500", "3", "10");  // Should print "Total: 1350 PKR"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078992"/>
            <a:ext cx="3246120" cy="3995928"/>
          </a:xfrm>
          <a:prstGeom prst="rect">
            <a:avLst/>
          </a:prstGeom>
          <a:solidFill>
            <a:srgbClr val="1A1A1A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152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🔑  Hints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50876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1: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Form inputs return strings. You need to explicitly convert price and quantity to numbers before math.
</a:t>
            </a:r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2: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discount is coming in as a string ("10"). What happens when you do math with it? Check if it's already being converted correctly.
</a:t>
            </a:r>
            <a:pPr indent="0" marL="0">
              <a:buNone/>
            </a:pPr>
            <a:r>
              <a:rPr lang="en-US" sz="11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3: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Using == with true is dangerous. What value of discount would make this true? Use a better comparison (&gt; 0).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Activity 2: Fixed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04672" cy="3017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07008"/>
            <a:ext cx="8138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calculateTotal(price, quantity, discount)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Fix 1: Explicitly convert strings to numbers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total = Number(price) * Number(quantity);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     ^^^^^^^^        ^^^^^^^^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Fix 2: discount is also a string — convert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discountAmount = total / 100 * Number(discount);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                                ^^^^^^^^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finalPrice = total - discountAmount;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Fix 3: use proper comparison — check if discount &gt;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(Number(discount) &gt; 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console.log("Discount applied!");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"Total: " + finalPrice + " PKR";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calculateTotal("500", "3", "10");  // "Total: 1350 PKR" ✅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Mini Project: Smart Form Validator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minutes  |  Apply EVERYTHING you've learned today!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0" cy="1371600"/>
          </a:xfrm>
          <a:prstGeom prst="rect">
            <a:avLst/>
          </a:prstGeom>
          <a:solidFill>
            <a:srgbClr val="EAF2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Project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930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fields: </a:t>
            </a:r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Price, Quantity
</a:t>
            </a:r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 JS must: </a:t>
            </a:r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empty check (falsy)  ② convert age &amp; qty to int  ③ price to float  ④ show receipt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5029200" cy="242316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395728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Starter Code — fill in the TODOs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validateForm()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name  = getVal("name");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age   = getVal("age");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price = getVal("price");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qty   = getVal("qty");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TODO 1: if name is empty → alert, return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TODO 2: parseInt(age), check &gt;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TODO 3: parseFloat(price), parseInt(qty)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TODO 4: calculate &amp; display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868680"/>
            <a:ext cx="3429000" cy="4133088"/>
          </a:xfrm>
          <a:prstGeom prst="rect">
            <a:avLst/>
          </a:prstGeom>
          <a:solidFill>
            <a:srgbClr val="F4ECF7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941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⭐  Bonus Challenges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298448"/>
            <a:ext cx="3200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 Bronze:
</a:t>
            </a:r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10% discount if
quantity &gt; 5
</a:t>
            </a:r>
            <a:pPr indent="0" marL="0">
              <a:buNone/>
            </a:pPr>
            <a:r>
              <a:rPr lang="en-US" sz="12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Silver:
</a:t>
            </a:r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email contains '@'
using typeof and string
methods
</a:t>
            </a:r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Gold:
</a:t>
            </a:r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typed summary:
"1 item" vs "3 items"
Format price to 2 decimals
using Number methods
</a:t>
            </a:r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Diamond:
</a:t>
            </a:r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GST (17%) toggle,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breakdown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 conversions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in comments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Mini Project: Sample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87952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validateForm()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name  = document.getElementById("name").value;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age   = parseInt(document.getElementById("age").value);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price = parseFloat(document.getElementById("price").value);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qty   = parseInt(document.getElementById("qty").value);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Falsy check — catches empty string, 0, 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(!name) { alert("Please enter your name!"); return;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(!age || age &lt;= 0) { alert("Enter a valid age!"); return;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(isNaN(price) || price &lt;= 0) { alert("Invalid price!"); return;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(isNaN(qty)   || qty   &lt;= 0) { alert("Invalid qty!"); return;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total    = price * qty;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discount = qty &gt; 5 ? total * 0.10 :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final    = total - discount;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receipt = `Customer: ${name} (Age: ${age})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`Items: ${qty} × PKR ${price.toFixed(2)}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`Discount: PKR ${discount.toFixed(2)}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`TOTAL: PKR ${final.toFixed(2)}`;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document.getElementById("receipt").innerText = receipt;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Learned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5760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Types  —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03327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has 7 primitive types — String, Number, Boolean, null, undefined, BigInt, Symbol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41248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81912"/>
            <a:ext cx="502920" cy="5760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7335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Type Casting  — 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700784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values from one type to another — happens implicitly or explicitly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841248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249424"/>
            <a:ext cx="502920" cy="5760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Implicit Coercion  — 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368296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with strings = concatenation. -, *, /, % force numbers. Use === not ==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2916936"/>
            <a:ext cx="841248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16936"/>
            <a:ext cx="502920" cy="5760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0837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026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Explicit Conversion  — 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03580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String(), Number(), Boolean(), parseInt(), parseFloat() — you control the conversion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3584448"/>
            <a:ext cx="841248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84448"/>
            <a:ext cx="502920" cy="5760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7588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3694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Truthy &amp; Falsy  — 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34640" y="3703320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falsy values: false, 0, '', null, undefined, NaN — everything else is truthy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8412480" cy="57607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251960"/>
            <a:ext cx="502920" cy="5760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4340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" y="4361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typeof Operator  —  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834640" y="437083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typeof to check types. Watch out: typeof null === "object" is a historic JS bug!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Homework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261872"/>
          </a:xfrm>
          <a:prstGeom prst="rect">
            <a:avLst/>
          </a:prstGeom>
          <a:solidFill>
            <a:srgbClr val="0A2A0A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🟢 Easy  –  Type Conversion Table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344168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HTML page. For each of the 8 values (0, 1, '', 'hello', null, undefined, true, false), show what String(), Number(), and Boolean() return.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8229600" cy="1261872"/>
          </a:xfrm>
          <a:prstGeom prst="rect">
            <a:avLst/>
          </a:prstGeom>
          <a:solidFill>
            <a:srgbClr val="2A1E0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59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🟡 Medium  –  Temperature Converter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page that converts Celsius to Fahrenheit and vice versa. All form values come in as strings — use explicit conversion. Display results with .toFixed(2).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66744"/>
            <a:ext cx="8229600" cy="1261872"/>
          </a:xfrm>
          <a:prstGeom prst="rect">
            <a:avLst/>
          </a:prstGeom>
          <a:solidFill>
            <a:srgbClr val="2A0A0A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581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Hard  –  Shopping Cart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4142232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mini shopping cart. Users type product name &amp; price. The JS must validate input types, calculate subtotal, apply 17% GST, and show a receipt with "typeof checks" commented in the code.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  <a:effectLst>
            <a:outerShdw sx="100000" sy="100000" kx="0" ky="0" algn="bl" rotWithShape="0" blurRad="508000" dist="635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0" y="4572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Discussion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Remember: practice type casting every time you build a form.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Type Casting</dc:title>
  <dc:subject>PptxGenJS Presentation</dc:subject>
  <dc:creator>Tech Trainer</dc:creator>
  <cp:lastModifiedBy>Tech Trainer</cp:lastModifiedBy>
  <cp:revision>1</cp:revision>
  <dcterms:created xsi:type="dcterms:W3CDTF">2026-05-18T20:33:43Z</dcterms:created>
  <dcterms:modified xsi:type="dcterms:W3CDTF">2026-05-18T20:33:43Z</dcterms:modified>
</cp:coreProperties>
</file>