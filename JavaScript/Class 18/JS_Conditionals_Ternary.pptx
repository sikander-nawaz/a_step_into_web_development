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3" name="Shape 1"/>
          <p:cNvSpPr/>
          <p:nvPr/>
        </p:nvSpPr>
        <p:spPr>
          <a:xfrm>
            <a:off x="5486400" y="731520"/>
            <a:ext cx="3474720" cy="4023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05272" y="85039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5" name="Shape 3"/>
          <p:cNvSpPr/>
          <p:nvPr/>
        </p:nvSpPr>
        <p:spPr>
          <a:xfrm>
            <a:off x="5769864" y="85039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6" name="Shape 4"/>
          <p:cNvSpPr/>
          <p:nvPr/>
        </p:nvSpPr>
        <p:spPr>
          <a:xfrm>
            <a:off x="5934456" y="85039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7" name="Text 5"/>
          <p:cNvSpPr/>
          <p:nvPr/>
        </p:nvSpPr>
        <p:spPr>
          <a:xfrm>
            <a:off x="5577840" y="1078992"/>
            <a:ext cx="3291840" cy="3566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(score &gt;= 90) {
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grade =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"A+"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{
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grade =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"Try again!"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}
</a:t>
            </a:r>
            <a:r>
              <a:rPr lang="en-US" sz="130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Ternary ⚡
</a:t>
            </a: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msg = score &gt;= 90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? 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"Pass"</a:t>
            </a:r>
            <a:r>
              <a:rPr lang="en-US" sz="1300" dirty="0">
                <a:solidFill>
                  <a:srgbClr val="FFB86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: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"Fail"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594360"/>
            <a:ext cx="45720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1444752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Statements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13232" y="2029968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Ternary Operator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13232" y="2788920"/>
            <a:ext cx="2560320" cy="45720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12" name="Text 10"/>
          <p:cNvSpPr/>
          <p:nvPr/>
        </p:nvSpPr>
        <p:spPr>
          <a:xfrm>
            <a:off x="713232" y="292608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Beginner Web Development  ·  60 Minutes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" y="34290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9D9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🧑‍💻 Get ready to write your first smart code!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 Session Roadmap — 60 Minutes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365760" y="9601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097280"/>
          </a:xfrm>
          <a:prstGeom prst="rect">
            <a:avLst/>
          </a:prstGeom>
          <a:solidFill>
            <a:srgbClr val="4FC3F7"/>
          </a:solidFill>
        </p:spPr>
      </p:sp>
      <p:sp>
        <p:nvSpPr>
          <p:cNvPr id="6" name="Text 4"/>
          <p:cNvSpPr/>
          <p:nvPr/>
        </p:nvSpPr>
        <p:spPr>
          <a:xfrm>
            <a:off x="566928" y="105156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What are Conditionals?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Real-life analogies &amp;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0–5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40280"/>
            <a:ext cx="73152" cy="1097280"/>
          </a:xfrm>
          <a:prstGeom prst="rect">
            <a:avLst/>
          </a:prstGeom>
          <a:solidFill>
            <a:srgbClr val="69D98C"/>
          </a:solidFill>
        </p:spPr>
      </p:sp>
      <p:sp>
        <p:nvSpPr>
          <p:cNvPr id="11" name="Text 9"/>
          <p:cNvSpPr/>
          <p:nvPr/>
        </p:nvSpPr>
        <p:spPr>
          <a:xfrm>
            <a:off x="566928" y="233172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if / else / else if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269748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Syntax, examples, and code-along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01752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D9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5–20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20440"/>
            <a:ext cx="73152" cy="1097280"/>
          </a:xfrm>
          <a:prstGeom prst="rect">
            <a:avLst/>
          </a:prstGeom>
          <a:solidFill>
            <a:srgbClr val="BB86FC"/>
          </a:solidFill>
        </p:spPr>
      </p:sp>
      <p:sp>
        <p:nvSpPr>
          <p:cNvPr id="16" name="Text 14"/>
          <p:cNvSpPr/>
          <p:nvPr/>
        </p:nvSpPr>
        <p:spPr>
          <a:xfrm>
            <a:off x="566928" y="36118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🔀 switch Statement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39776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use switch over if-else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29768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B86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20–30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60120"/>
            <a:ext cx="73152" cy="1097280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21" name="Text 19"/>
          <p:cNvSpPr/>
          <p:nvPr/>
        </p:nvSpPr>
        <p:spPr>
          <a:xfrm>
            <a:off x="4956048" y="105156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Ternary Operator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56048" y="141732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Concise conditions in one 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173736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30–45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73152" cy="109728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26" name="Text 24"/>
          <p:cNvSpPr/>
          <p:nvPr/>
        </p:nvSpPr>
        <p:spPr>
          <a:xfrm>
            <a:off x="4956048" y="233172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Mini Project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56048" y="269748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Calculator — build it yourself!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301752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45–55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0440"/>
            <a:ext cx="73152" cy="1097280"/>
          </a:xfrm>
          <a:prstGeom prst="rect">
            <a:avLst/>
          </a:prstGeom>
          <a:solidFill>
            <a:srgbClr val="26C6DA"/>
          </a:solidFill>
        </p:spPr>
      </p:sp>
      <p:sp>
        <p:nvSpPr>
          <p:cNvPr id="31" name="Text 29"/>
          <p:cNvSpPr/>
          <p:nvPr/>
        </p:nvSpPr>
        <p:spPr>
          <a:xfrm>
            <a:off x="4956048" y="36118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🙋 Q&amp;A &amp; Recap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56048" y="39776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 &amp; your questions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429768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C6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55–60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🤔  What Are Conditional Statements?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365760" y="914400"/>
            <a:ext cx="5120640" cy="1463040"/>
          </a:xfrm>
          <a:prstGeom prst="rect">
            <a:avLst/>
          </a:prstGeom>
          <a:solidFill>
            <a:srgbClr val="1A1A2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🌧️  Real-Life Analogy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48463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"If it is raining, take an umbrella.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Otherwise, wear sunglasses."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51206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258775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9" name="Shape 7"/>
          <p:cNvSpPr/>
          <p:nvPr/>
        </p:nvSpPr>
        <p:spPr>
          <a:xfrm>
            <a:off x="649224" y="258775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0" name="Shape 8"/>
          <p:cNvSpPr/>
          <p:nvPr/>
        </p:nvSpPr>
        <p:spPr>
          <a:xfrm>
            <a:off x="813816" y="258775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1" name="Text 9"/>
          <p:cNvSpPr/>
          <p:nvPr/>
        </p:nvSpPr>
        <p:spPr>
          <a:xfrm>
            <a:off x="457200" y="2816352"/>
            <a:ext cx="493776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(isRaining) {
</a:t>
            </a:r>
            <a:r>
              <a:rPr lang="en-US" sz="14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takeUmbrella();
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r>
              <a:rPr lang="en-US" sz="14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
</a:t>
            </a:r>
            <a:r>
              <a:rPr lang="en-US" sz="14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wearSunglasses();
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Shape 10"/>
          <p:cNvSpPr/>
          <p:nvPr>
            <p:custDataLst>
              <p:tags r:id="rId1"/>
            </p:custDataLst>
          </p:nvPr>
        </p:nvSpPr>
        <p:spPr>
          <a:xfrm>
            <a:off x="5760720" y="914400"/>
            <a:ext cx="3108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2"/>
            </p:custDataLst>
          </p:nvPr>
        </p:nvSpPr>
        <p:spPr>
          <a:xfrm>
            <a:off x="5760720" y="914400"/>
            <a:ext cx="64008" cy="1143000"/>
          </a:xfrm>
          <a:prstGeom prst="rect">
            <a:avLst/>
          </a:prstGeom>
          <a:solidFill>
            <a:srgbClr val="4FC3F7"/>
          </a:solidFill>
        </p:spPr>
      </p:sp>
      <p:sp>
        <p:nvSpPr>
          <p:cNvPr id="14" name="Text 12"/>
          <p:cNvSpPr/>
          <p:nvPr/>
        </p:nvSpPr>
        <p:spPr>
          <a:xfrm>
            <a:off x="5943600" y="1005840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Decision Making</a:t>
            </a:r>
            <a:endParaRPr lang="en-US" sz="1400" dirty="0"/>
          </a:p>
        </p:txBody>
      </p:sp>
      <p:sp>
        <p:nvSpPr>
          <p:cNvPr id="15" name="Text 13"/>
          <p:cNvSpPr/>
          <p:nvPr>
            <p:custDataLst>
              <p:tags r:id="rId3"/>
            </p:custDataLst>
          </p:nvPr>
        </p:nvSpPr>
        <p:spPr>
          <a:xfrm>
            <a:off x="5943600" y="137160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that runs only when a condition is true</a:t>
            </a:r>
            <a:endParaRPr lang="en-US" sz="1200" dirty="0"/>
          </a:p>
        </p:txBody>
      </p:sp>
      <p:sp>
        <p:nvSpPr>
          <p:cNvPr id="16" name="Shape 14"/>
          <p:cNvSpPr/>
          <p:nvPr>
            <p:custDataLst>
              <p:tags r:id="rId4"/>
            </p:custDataLst>
          </p:nvPr>
        </p:nvSpPr>
        <p:spPr>
          <a:xfrm>
            <a:off x="5760720" y="2286000"/>
            <a:ext cx="3108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5"/>
            </p:custDataLst>
          </p:nvPr>
        </p:nvSpPr>
        <p:spPr>
          <a:xfrm>
            <a:off x="5760720" y="2286000"/>
            <a:ext cx="64008" cy="1143000"/>
          </a:xfrm>
          <a:prstGeom prst="rect">
            <a:avLst/>
          </a:prstGeom>
          <a:solidFill>
            <a:srgbClr val="69D98C"/>
          </a:solidFill>
        </p:spPr>
      </p:sp>
      <p:sp>
        <p:nvSpPr>
          <p:cNvPr id="18" name="Text 16"/>
          <p:cNvSpPr/>
          <p:nvPr/>
        </p:nvSpPr>
        <p:spPr>
          <a:xfrm>
            <a:off x="5943600" y="2377440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🔁 Controls Flow</a:t>
            </a:r>
            <a:endParaRPr lang="en-US" sz="1400" dirty="0"/>
          </a:p>
        </p:txBody>
      </p:sp>
      <p:sp>
        <p:nvSpPr>
          <p:cNvPr id="19" name="Text 17"/>
          <p:cNvSpPr/>
          <p:nvPr>
            <p:custDataLst>
              <p:tags r:id="rId6"/>
            </p:custDataLst>
          </p:nvPr>
        </p:nvSpPr>
        <p:spPr>
          <a:xfrm>
            <a:off x="5943600" y="274320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Programs run top-to-bottom — conditionals change that</a:t>
            </a:r>
            <a:endParaRPr lang="en-US" sz="1200" dirty="0"/>
          </a:p>
        </p:txBody>
      </p:sp>
      <p:sp>
        <p:nvSpPr>
          <p:cNvPr id="20" name="Shape 18"/>
          <p:cNvSpPr/>
          <p:nvPr>
            <p:custDataLst>
              <p:tags r:id="rId7"/>
            </p:custDataLst>
          </p:nvPr>
        </p:nvSpPr>
        <p:spPr>
          <a:xfrm>
            <a:off x="5760720" y="3657600"/>
            <a:ext cx="3108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8"/>
            </p:custDataLst>
          </p:nvPr>
        </p:nvSpPr>
        <p:spPr>
          <a:xfrm>
            <a:off x="5760720" y="3657600"/>
            <a:ext cx="64008" cy="1143000"/>
          </a:xfrm>
          <a:prstGeom prst="rect">
            <a:avLst/>
          </a:prstGeom>
          <a:solidFill>
            <a:srgbClr val="BB86FC"/>
          </a:solidFill>
        </p:spPr>
      </p:sp>
      <p:sp>
        <p:nvSpPr>
          <p:cNvPr id="22" name="Text 20"/>
          <p:cNvSpPr/>
          <p:nvPr/>
        </p:nvSpPr>
        <p:spPr>
          <a:xfrm>
            <a:off x="5943600" y="3749040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🧱 Core Building Block</a:t>
            </a:r>
            <a:endParaRPr lang="en-US" sz="1400" dirty="0"/>
          </a:p>
        </p:txBody>
      </p:sp>
      <p:sp>
        <p:nvSpPr>
          <p:cNvPr id="23" name="Text 21"/>
          <p:cNvSpPr/>
          <p:nvPr>
            <p:custDataLst>
              <p:tags r:id="rId9"/>
            </p:custDataLst>
          </p:nvPr>
        </p:nvSpPr>
        <p:spPr>
          <a:xfrm>
            <a:off x="5943600" y="411480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real app uses conditionals thousands of times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The  if 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7772400" y="164592"/>
            <a:ext cx="1463040" cy="320040"/>
          </a:xfrm>
          <a:prstGeom prst="rect">
            <a:avLst/>
          </a:prstGeom>
          <a:solidFill>
            <a:srgbClr val="F7DF1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18120" y="182880"/>
            <a:ext cx="13716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87552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7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700" i="1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condition</a:t>
            </a:r>
            <a:r>
              <a:rPr lang="en-US" sz="17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  </a:t>
            </a:r>
            <a:r>
              <a:rPr lang="en-US" sz="170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code to run if condition is TRUE</a:t>
            </a:r>
            <a:r>
              <a:rPr lang="en-US" sz="17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937760" cy="2880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" y="203911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0" name="Shape 8"/>
          <p:cNvSpPr/>
          <p:nvPr/>
        </p:nvSpPr>
        <p:spPr>
          <a:xfrm>
            <a:off x="649224" y="203911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1" name="Shape 9"/>
          <p:cNvSpPr/>
          <p:nvPr/>
        </p:nvSpPr>
        <p:spPr>
          <a:xfrm>
            <a:off x="813816" y="203911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2" name="Text 10"/>
          <p:cNvSpPr/>
          <p:nvPr/>
        </p:nvSpPr>
        <p:spPr>
          <a:xfrm>
            <a:off x="457200" y="2267712"/>
            <a:ext cx="4754880" cy="2423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 = </a:t>
            </a:r>
            <a:r>
              <a:rPr lang="en-US" sz="14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4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(age &gt;= </a:t>
            </a:r>
            <a:r>
              <a:rPr lang="en-US" sz="14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
</a:t>
            </a:r>
            <a:r>
              <a:rPr lang="en-US" sz="14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4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"You can vote! 🗳️"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age is 18, so this WILL print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92024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works:</a:t>
            </a: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1"/>
            </p:custDataLst>
          </p:nvPr>
        </p:nvSpPr>
        <p:spPr>
          <a:xfrm>
            <a:off x="5577840" y="2359152"/>
            <a:ext cx="347472" cy="347472"/>
          </a:xfrm>
          <a:prstGeom prst="ellipse">
            <a:avLst/>
          </a:prstGeom>
          <a:solidFill>
            <a:srgbClr val="4FC3F7"/>
          </a:solidFill>
        </p:spPr>
      </p:sp>
      <p:sp>
        <p:nvSpPr>
          <p:cNvPr id="15" name="Text 13"/>
          <p:cNvSpPr/>
          <p:nvPr>
            <p:custDataLst>
              <p:tags r:id="rId2"/>
            </p:custDataLst>
          </p:nvPr>
        </p:nvSpPr>
        <p:spPr>
          <a:xfrm>
            <a:off x="5577840" y="2359152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>
            <p:custDataLst>
              <p:tags r:id="rId3"/>
            </p:custDataLst>
          </p:nvPr>
        </p:nvSpPr>
        <p:spPr>
          <a:xfrm>
            <a:off x="6035040" y="237744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checks the condition inside ( )</a:t>
            </a:r>
            <a:endParaRPr lang="en-US" sz="1200" dirty="0"/>
          </a:p>
        </p:txBody>
      </p:sp>
      <p:sp>
        <p:nvSpPr>
          <p:cNvPr id="17" name="Shape 15"/>
          <p:cNvSpPr/>
          <p:nvPr>
            <p:custDataLst>
              <p:tags r:id="rId4"/>
            </p:custDataLst>
          </p:nvPr>
        </p:nvSpPr>
        <p:spPr>
          <a:xfrm>
            <a:off x="5577840" y="2999232"/>
            <a:ext cx="347472" cy="347472"/>
          </a:xfrm>
          <a:prstGeom prst="ellipse">
            <a:avLst/>
          </a:prstGeom>
          <a:solidFill>
            <a:srgbClr val="69D98C"/>
          </a:solidFill>
        </p:spPr>
      </p:sp>
      <p:sp>
        <p:nvSpPr>
          <p:cNvPr id="18" name="Text 16"/>
          <p:cNvSpPr/>
          <p:nvPr>
            <p:custDataLst>
              <p:tags r:id="rId5"/>
            </p:custDataLst>
          </p:nvPr>
        </p:nvSpPr>
        <p:spPr>
          <a:xfrm>
            <a:off x="5577840" y="2999232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>
            <p:custDataLst>
              <p:tags r:id="rId6"/>
            </p:custDataLst>
          </p:nvPr>
        </p:nvSpPr>
        <p:spPr>
          <a:xfrm>
            <a:off x="6035040" y="301752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it's TRUE → code inside { } runs</a:t>
            </a:r>
            <a:endParaRPr lang="en-US" sz="1200" dirty="0"/>
          </a:p>
        </p:txBody>
      </p:sp>
      <p:sp>
        <p:nvSpPr>
          <p:cNvPr id="20" name="Shape 18"/>
          <p:cNvSpPr/>
          <p:nvPr>
            <p:custDataLst>
              <p:tags r:id="rId7"/>
            </p:custDataLst>
          </p:nvPr>
        </p:nvSpPr>
        <p:spPr>
          <a:xfrm>
            <a:off x="5577840" y="3639312"/>
            <a:ext cx="347472" cy="3474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1" name="Text 19"/>
          <p:cNvSpPr/>
          <p:nvPr>
            <p:custDataLst>
              <p:tags r:id="rId8"/>
            </p:custDataLst>
          </p:nvPr>
        </p:nvSpPr>
        <p:spPr>
          <a:xfrm>
            <a:off x="5577840" y="3639312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>
            <p:custDataLst>
              <p:tags r:id="rId9"/>
            </p:custDataLst>
          </p:nvPr>
        </p:nvSpPr>
        <p:spPr>
          <a:xfrm>
            <a:off x="6035040" y="365760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it's FALSE → the block is skipped entirely</a:t>
            </a:r>
            <a:endParaRPr lang="en-US" sz="1200" dirty="0"/>
          </a:p>
        </p:txBody>
      </p:sp>
      <p:sp>
        <p:nvSpPr>
          <p:cNvPr id="23" name="Shape 21"/>
          <p:cNvSpPr/>
          <p:nvPr>
            <p:custDataLst>
              <p:tags r:id="rId10"/>
            </p:custDataLst>
          </p:nvPr>
        </p:nvSpPr>
        <p:spPr>
          <a:xfrm>
            <a:off x="5577840" y="4279392"/>
            <a:ext cx="347472" cy="347472"/>
          </a:xfrm>
          <a:prstGeom prst="ellipse">
            <a:avLst/>
          </a:prstGeom>
          <a:solidFill>
            <a:srgbClr val="F7DF1E"/>
          </a:solidFill>
        </p:spPr>
      </p:sp>
      <p:sp>
        <p:nvSpPr>
          <p:cNvPr id="24" name="Text 22"/>
          <p:cNvSpPr/>
          <p:nvPr>
            <p:custDataLst>
              <p:tags r:id="rId11"/>
            </p:custDataLst>
          </p:nvPr>
        </p:nvSpPr>
        <p:spPr>
          <a:xfrm>
            <a:off x="5577840" y="4279392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>
            <p:custDataLst>
              <p:tags r:id="rId12"/>
            </p:custDataLst>
          </p:nvPr>
        </p:nvSpPr>
        <p:spPr>
          <a:xfrm>
            <a:off x="6035040" y="429768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use === for comparison, not ==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The  if...else 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7772400" y="164592"/>
            <a:ext cx="1463040" cy="320040"/>
          </a:xfrm>
          <a:prstGeom prst="rect">
            <a:avLst/>
          </a:prstGeom>
          <a:solidFill>
            <a:srgbClr val="F7DF1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18120" y="182880"/>
            <a:ext cx="13716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234440"/>
          </a:xfrm>
          <a:prstGeom prst="rect">
            <a:avLst/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9264"/>
            <a:ext cx="8046720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5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(condition)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runs if TRUE
</a:t>
            </a:r>
            <a:r>
              <a:rPr lang="en-US" sz="15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r>
              <a:rPr lang="en-US" sz="15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5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runs if FALSE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93776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" y="235915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0" name="Shape 8"/>
          <p:cNvSpPr/>
          <p:nvPr/>
        </p:nvSpPr>
        <p:spPr>
          <a:xfrm>
            <a:off x="649224" y="235915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1" name="Shape 9"/>
          <p:cNvSpPr/>
          <p:nvPr/>
        </p:nvSpPr>
        <p:spPr>
          <a:xfrm>
            <a:off x="813816" y="235915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2" name="Text 10"/>
          <p:cNvSpPr/>
          <p:nvPr/>
        </p:nvSpPr>
        <p:spPr>
          <a:xfrm>
            <a:off x="457200" y="2587752"/>
            <a:ext cx="475488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temperature = </a:t>
            </a:r>
            <a:r>
              <a:rPr lang="en-US" sz="13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35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3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(temperature &gt; </a:t>
            </a:r>
            <a:r>
              <a:rPr lang="en-US" sz="13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30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
</a:t>
            </a:r>
            <a:r>
              <a:rPr lang="en-US" sz="13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"Stay indoors! 🥵"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
</a:t>
            </a:r>
            <a:r>
              <a:rPr lang="en-US" sz="13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"Go outside! 😊"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solidFill>
            <a:srgbClr val="4FC3F7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condition?</a:t>
            </a:r>
            <a:endParaRPr lang="en-US" sz="1400" dirty="0"/>
          </a:p>
        </p:txBody>
      </p:sp>
      <p:sp>
        <p:nvSpPr>
          <p:cNvPr id="15" name="Shape 13"/>
          <p:cNvSpPr/>
          <p:nvPr>
            <p:custDataLst>
              <p:tags r:id="rId1"/>
            </p:custDataLst>
          </p:nvPr>
        </p:nvSpPr>
        <p:spPr>
          <a:xfrm>
            <a:off x="5760720" y="3017520"/>
            <a:ext cx="1463040" cy="457200"/>
          </a:xfrm>
          <a:prstGeom prst="rect">
            <a:avLst/>
          </a:prstGeom>
          <a:solidFill>
            <a:srgbClr val="69D98C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>
            <p:custDataLst>
              <p:tags r:id="rId2"/>
            </p:custDataLst>
          </p:nvPr>
        </p:nvSpPr>
        <p:spPr>
          <a:xfrm>
            <a:off x="5760720" y="301752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TRUE</a:t>
            </a:r>
            <a:endParaRPr lang="en-US" sz="1300" dirty="0"/>
          </a:p>
        </p:txBody>
      </p:sp>
      <p:sp>
        <p:nvSpPr>
          <p:cNvPr id="17" name="Shape 15"/>
          <p:cNvSpPr/>
          <p:nvPr>
            <p:custDataLst>
              <p:tags r:id="rId3"/>
            </p:custDataLst>
          </p:nvPr>
        </p:nvSpPr>
        <p:spPr>
          <a:xfrm>
            <a:off x="7406640" y="3017520"/>
            <a:ext cx="1463040" cy="457200"/>
          </a:xfrm>
          <a:prstGeom prst="rect">
            <a:avLst/>
          </a:prstGeom>
          <a:solidFill>
            <a:srgbClr val="FF6B6B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>
            <p:custDataLst>
              <p:tags r:id="rId4"/>
            </p:custDataLst>
          </p:nvPr>
        </p:nvSpPr>
        <p:spPr>
          <a:xfrm>
            <a:off x="7406640" y="301752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FALSE</a:t>
            </a:r>
            <a:endParaRPr lang="en-US" sz="1300" dirty="0"/>
          </a:p>
        </p:txBody>
      </p:sp>
      <p:sp>
        <p:nvSpPr>
          <p:cNvPr id="19" name="Shape 17"/>
          <p:cNvSpPr/>
          <p:nvPr>
            <p:custDataLst>
              <p:tags r:id="rId5"/>
            </p:custDataLst>
          </p:nvPr>
        </p:nvSpPr>
        <p:spPr>
          <a:xfrm>
            <a:off x="5760720" y="3840480"/>
            <a:ext cx="1463040" cy="502920"/>
          </a:xfrm>
          <a:prstGeom prst="rect">
            <a:avLst/>
          </a:prstGeom>
          <a:solidFill>
            <a:srgbClr val="E8F5E9"/>
          </a:solidFill>
          <a:ln w="25400">
            <a:solidFill>
              <a:srgbClr val="69D98C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6"/>
            </p:custDataLst>
          </p:nvPr>
        </p:nvSpPr>
        <p:spPr>
          <a:xfrm>
            <a:off x="5760720" y="384048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 if block</a:t>
            </a:r>
            <a:endParaRPr lang="en-US" sz="1200" dirty="0"/>
          </a:p>
        </p:txBody>
      </p:sp>
      <p:sp>
        <p:nvSpPr>
          <p:cNvPr id="21" name="Shape 19"/>
          <p:cNvSpPr/>
          <p:nvPr>
            <p:custDataLst>
              <p:tags r:id="rId7"/>
            </p:custDataLst>
          </p:nvPr>
        </p:nvSpPr>
        <p:spPr>
          <a:xfrm>
            <a:off x="7406640" y="3840480"/>
            <a:ext cx="1463040" cy="502920"/>
          </a:xfrm>
          <a:prstGeom prst="rect">
            <a:avLst/>
          </a:prstGeom>
          <a:solidFill>
            <a:srgbClr val="FFEBEE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8"/>
            </p:custDataLst>
          </p:nvPr>
        </p:nvSpPr>
        <p:spPr>
          <a:xfrm>
            <a:off x="7406640" y="384048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 else block</a:t>
            </a:r>
            <a:endParaRPr lang="en-US" sz="1200" dirty="0"/>
          </a:p>
        </p:txBody>
      </p:sp>
      <p:sp>
        <p:nvSpPr>
          <p:cNvPr id="23" name="Shape 21"/>
          <p:cNvSpPr/>
          <p:nvPr>
            <p:custDataLst>
              <p:tags r:id="rId9"/>
            </p:custDataLst>
          </p:nvPr>
        </p:nvSpPr>
        <p:spPr>
          <a:xfrm>
            <a:off x="7543800" y="2560320"/>
            <a:ext cx="0" cy="45720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0"/>
            </p:custDataLst>
          </p:nvPr>
        </p:nvSpPr>
        <p:spPr>
          <a:xfrm>
            <a:off x="6492240" y="2788920"/>
            <a:ext cx="105156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25" name="Shape 23"/>
          <p:cNvSpPr/>
          <p:nvPr>
            <p:custDataLst>
              <p:tags r:id="rId11"/>
            </p:custDataLst>
          </p:nvPr>
        </p:nvSpPr>
        <p:spPr>
          <a:xfrm>
            <a:off x="7543800" y="2788920"/>
            <a:ext cx="9144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26" name="Shape 24"/>
          <p:cNvSpPr/>
          <p:nvPr>
            <p:custDataLst>
              <p:tags r:id="rId12"/>
            </p:custDataLst>
          </p:nvPr>
        </p:nvSpPr>
        <p:spPr>
          <a:xfrm>
            <a:off x="6492240" y="2788920"/>
            <a:ext cx="0" cy="22860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13"/>
            </p:custDataLst>
          </p:nvPr>
        </p:nvSpPr>
        <p:spPr>
          <a:xfrm>
            <a:off x="8458200" y="2788920"/>
            <a:ext cx="0" cy="22860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28" name="Shape 26"/>
          <p:cNvSpPr/>
          <p:nvPr>
            <p:custDataLst>
              <p:tags r:id="rId14"/>
            </p:custDataLst>
          </p:nvPr>
        </p:nvSpPr>
        <p:spPr>
          <a:xfrm>
            <a:off x="6492240" y="3474720"/>
            <a:ext cx="0" cy="36576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29" name="Shape 27"/>
          <p:cNvSpPr/>
          <p:nvPr>
            <p:custDataLst>
              <p:tags r:id="rId15"/>
            </p:custDataLst>
          </p:nvPr>
        </p:nvSpPr>
        <p:spPr>
          <a:xfrm>
            <a:off x="8458200" y="3474720"/>
            <a:ext cx="0" cy="36576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The  else if  Chain — Multiple Conditions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7772400" y="164592"/>
            <a:ext cx="1463040" cy="320040"/>
          </a:xfrm>
          <a:prstGeom prst="rect">
            <a:avLst/>
          </a:prstGeom>
          <a:solidFill>
            <a:srgbClr val="F7DF1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18120" y="182880"/>
            <a:ext cx="13716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937760" cy="4069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03327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8" name="Shape 6"/>
          <p:cNvSpPr/>
          <p:nvPr/>
        </p:nvSpPr>
        <p:spPr>
          <a:xfrm>
            <a:off x="649224" y="103327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9" name="Shape 7"/>
          <p:cNvSpPr/>
          <p:nvPr/>
        </p:nvSpPr>
        <p:spPr>
          <a:xfrm>
            <a:off x="813816" y="103327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0" name="Text 8"/>
          <p:cNvSpPr/>
          <p:nvPr/>
        </p:nvSpPr>
        <p:spPr>
          <a:xfrm>
            <a:off x="457200" y="1261872"/>
            <a:ext cx="4754880" cy="3611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</a:t>
            </a:r>
            <a:r>
              <a:rPr lang="en-US" sz="10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72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(score &gt;= </a:t>
            </a:r>
            <a:r>
              <a:rPr lang="en-US" sz="10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90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grade = 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"A"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 if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(score &gt;= </a:t>
            </a:r>
            <a:r>
              <a:rPr lang="en-US" sz="10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75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grade = 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"B"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 if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(score &gt;= </a:t>
            </a:r>
            <a:r>
              <a:rPr lang="en-US" sz="10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60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grade = 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"C"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grade = 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"F"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}
</a:t>
            </a:r>
            <a:r>
              <a:rPr lang="en-US" sz="100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score=72 → prints: 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96012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Rules: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77840" y="1444752"/>
            <a:ext cx="3337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87568" y="150876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1️⃣  JavaScript checks conditions top to bottom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2130552"/>
            <a:ext cx="3337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87568" y="219456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🛑  Stops at the FIRST condition that is true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2816352"/>
            <a:ext cx="3337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87568" y="288036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🔚  else at the end catches everything else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3502152"/>
            <a:ext cx="3337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87568" y="356616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♾️  You can chain as many else if as you need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4187952"/>
            <a:ext cx="3337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87568" y="425196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Order matters! Put the most specific condition first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Activity 1 — Guess the Output!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 at each code snippet. What does it print? Discuss with your neighbour!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35331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649224" y="135331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813816" y="135331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Text 6"/>
          <p:cNvSpPr/>
          <p:nvPr/>
        </p:nvSpPr>
        <p:spPr>
          <a:xfrm>
            <a:off x="457200" y="1581912"/>
            <a:ext cx="246888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= </a:t>
            </a:r>
            <a:r>
              <a:rPr lang="en-US" sz="115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15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(x &gt; </a:t>
            </a:r>
            <a:r>
              <a:rPr lang="en-US" sz="115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"Big"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"Small"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35331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2" name="Shape 10"/>
          <p:cNvSpPr/>
          <p:nvPr/>
        </p:nvSpPr>
        <p:spPr>
          <a:xfrm>
            <a:off x="3529584" y="135331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3" name="Shape 11"/>
          <p:cNvSpPr/>
          <p:nvPr/>
        </p:nvSpPr>
        <p:spPr>
          <a:xfrm>
            <a:off x="3694176" y="135331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4" name="Text 12"/>
          <p:cNvSpPr/>
          <p:nvPr/>
        </p:nvSpPr>
        <p:spPr>
          <a:xfrm>
            <a:off x="3337560" y="1581912"/>
            <a:ext cx="246888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 = 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"Ali"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15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(name === 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"Sara"</a:t>
            </a: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"Hello Sara!"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"Who are you?"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91840" y="1298448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5176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5352" y="135331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8" name="Shape 16"/>
          <p:cNvSpPr/>
          <p:nvPr/>
        </p:nvSpPr>
        <p:spPr>
          <a:xfrm>
            <a:off x="6409944" y="135331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9" name="Shape 17"/>
          <p:cNvSpPr/>
          <p:nvPr/>
        </p:nvSpPr>
        <p:spPr>
          <a:xfrm>
            <a:off x="6574536" y="135331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20" name="Text 18"/>
          <p:cNvSpPr/>
          <p:nvPr/>
        </p:nvSpPr>
        <p:spPr>
          <a:xfrm>
            <a:off x="6217920" y="1581912"/>
            <a:ext cx="246888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= </a:t>
            </a:r>
            <a:r>
              <a:rPr lang="en-US" sz="115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15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(n % </a:t>
            </a:r>
            <a:r>
              <a:rPr lang="en-US" sz="115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=== </a:t>
            </a:r>
            <a:r>
              <a:rPr lang="en-US" sz="115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"Even"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"Odd"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72200" y="1298448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C6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⏱️ 5 minutes  |  Answers revealed together!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🔀  The  switch 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7772400" y="164592"/>
            <a:ext cx="1463040" cy="320040"/>
          </a:xfrm>
          <a:prstGeom prst="rect">
            <a:avLst/>
          </a:prstGeom>
          <a:solidFill>
            <a:srgbClr val="F7DF1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18120" y="182880"/>
            <a:ext cx="13716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029200" cy="4069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03327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8" name="Shape 6"/>
          <p:cNvSpPr/>
          <p:nvPr/>
        </p:nvSpPr>
        <p:spPr>
          <a:xfrm>
            <a:off x="649224" y="103327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9" name="Shape 7"/>
          <p:cNvSpPr/>
          <p:nvPr/>
        </p:nvSpPr>
        <p:spPr>
          <a:xfrm>
            <a:off x="813816" y="103327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0" name="Text 8"/>
          <p:cNvSpPr/>
          <p:nvPr/>
        </p:nvSpPr>
        <p:spPr>
          <a:xfrm>
            <a:off x="457200" y="1261872"/>
            <a:ext cx="4846320" cy="3611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day = </a:t>
            </a: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"Monday"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switch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(day) {
</a:t>
            </a:r>
            <a:r>
              <a:rPr lang="en-US" sz="10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</a:t>
            </a: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"Monday"</a:t>
            </a:r>
            <a:r>
              <a:rPr lang="en-US" sz="10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"New week! 💪"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break;
</a:t>
            </a:r>
            <a:r>
              <a:rPr lang="en-US" sz="10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</a:t>
            </a: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"Friday"</a:t>
            </a:r>
            <a:r>
              <a:rPr lang="en-US" sz="10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"Weekend soon! 🎉"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break;
</a:t>
            </a:r>
            <a:r>
              <a:rPr lang="en-US" sz="10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</a:t>
            </a: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"Saturday"</a:t>
            </a:r>
            <a:r>
              <a:rPr lang="en-US" sz="10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"Sunday"</a:t>
            </a:r>
            <a:r>
              <a:rPr lang="en-US" sz="10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"Rest day! 😴"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break;
</a:t>
            </a:r>
            <a:r>
              <a:rPr lang="en-US" sz="10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default</a:t>
            </a:r>
            <a:r>
              <a:rPr lang="en-US" sz="10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0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"Midweek"</a:t>
            </a: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96012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Anatomy of switch: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0" y="1417320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417320"/>
            <a:ext cx="64008" cy="749808"/>
          </a:xfrm>
          <a:prstGeom prst="rect">
            <a:avLst/>
          </a:prstGeom>
          <a:solidFill>
            <a:srgbClr val="BB86FC"/>
          </a:solidFill>
        </p:spPr>
      </p:sp>
      <p:sp>
        <p:nvSpPr>
          <p:cNvPr id="14" name="Text 12"/>
          <p:cNvSpPr/>
          <p:nvPr/>
        </p:nvSpPr>
        <p:spPr>
          <a:xfrm>
            <a:off x="5833872" y="1472184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switch (val)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33872" y="180136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to compare against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331720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2331720"/>
            <a:ext cx="64008" cy="749808"/>
          </a:xfrm>
          <a:prstGeom prst="rect">
            <a:avLst/>
          </a:prstGeom>
          <a:solidFill>
            <a:srgbClr val="4FC3F7"/>
          </a:solidFill>
        </p:spPr>
      </p:sp>
      <p:sp>
        <p:nvSpPr>
          <p:cNvPr id="18" name="Text 16"/>
          <p:cNvSpPr/>
          <p:nvPr/>
        </p:nvSpPr>
        <p:spPr>
          <a:xfrm>
            <a:off x="5833872" y="2386584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case 'x':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33872" y="271576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possible matching value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246120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246120"/>
            <a:ext cx="64008" cy="749808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22" name="Text 20"/>
          <p:cNvSpPr/>
          <p:nvPr/>
        </p:nvSpPr>
        <p:spPr>
          <a:xfrm>
            <a:off x="5833872" y="3300984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break;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33872" y="363016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Stops the switch from falling through ⚠️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4160520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4160520"/>
            <a:ext cx="64008" cy="749808"/>
          </a:xfrm>
          <a:prstGeom prst="rect">
            <a:avLst/>
          </a:prstGeom>
          <a:solidFill>
            <a:srgbClr val="69D98C"/>
          </a:solidFill>
        </p:spPr>
      </p:sp>
      <p:sp>
        <p:nvSpPr>
          <p:cNvPr id="26" name="Text 24"/>
          <p:cNvSpPr/>
          <p:nvPr/>
        </p:nvSpPr>
        <p:spPr>
          <a:xfrm>
            <a:off x="5833872" y="4215384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default: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33872" y="454456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if no case matched (like else)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⚖️  switch  vs  if...else — When to Use Which?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502920"/>
          </a:xfrm>
          <a:prstGeom prst="rect">
            <a:avLst/>
          </a:prstGeom>
          <a:solidFill>
            <a:srgbClr val="4FC3F7"/>
          </a:solidFill>
        </p:spPr>
      </p:sp>
      <p:sp>
        <p:nvSpPr>
          <p:cNvPr id="5" name="Text 3"/>
          <p:cNvSpPr/>
          <p:nvPr/>
        </p:nvSpPr>
        <p:spPr>
          <a:xfrm>
            <a:off x="365760" y="91440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🔀  switch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023360" cy="502920"/>
          </a:xfrm>
          <a:prstGeom prst="rect">
            <a:avLst/>
          </a:prstGeom>
          <a:solidFill>
            <a:srgbClr val="69D98C"/>
          </a:solidFill>
        </p:spPr>
      </p:sp>
      <p:sp>
        <p:nvSpPr>
          <p:cNvPr id="7" name="Text 5"/>
          <p:cNvSpPr/>
          <p:nvPr/>
        </p:nvSpPr>
        <p:spPr>
          <a:xfrm>
            <a:off x="4754880" y="91440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 if...else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0233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Comparing one value to many fixed options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02336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64208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or range-based conditions (&gt;, &lt;, &gt;=)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87168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days, menu choices, error codes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37744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487168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score &gt; 90, temp &lt; 0, name.length &gt; 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0233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10128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Cleaner &amp; easier to read in those cases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02336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10128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flexible — works with any expression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33088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break; in every case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402336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133088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break needed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24528" y="1920240"/>
            <a:ext cx="685800" cy="685800"/>
          </a:xfrm>
          <a:prstGeom prst="ellipse">
            <a:avLst/>
          </a:prstGeom>
          <a:solidFill>
            <a:srgbClr val="F7DF1E"/>
          </a:solidFill>
        </p:spPr>
      </p:sp>
      <p:sp>
        <p:nvSpPr>
          <p:cNvPr id="25" name="Text 23"/>
          <p:cNvSpPr/>
          <p:nvPr/>
        </p:nvSpPr>
        <p:spPr>
          <a:xfrm>
            <a:off x="4224528" y="1920240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FFF9C4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90872"/>
            <a:ext cx="8046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Pro Tip: When in doubt, use if...else — it's more flexible and always works!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Introducing the Ternary Operator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smarter, shorter way to write a simple if...else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72768"/>
            <a:ext cx="7772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🗣️  Think of it like plain English: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"Are you hungry?  Yes → eat pizza   No → eat salad"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651760" cy="224028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74320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" y="324612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"Ternary" = 3 parts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657600"/>
            <a:ext cx="24231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  ?  value-if-true  :  value-if-false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55848" y="2651760"/>
            <a:ext cx="2651760" cy="224028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55848" y="274320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✂️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65576" y="324612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line instead of 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65576" y="3657600"/>
            <a:ext cx="24231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 for simple true/false decisions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54496" y="2651760"/>
            <a:ext cx="2651760" cy="224028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274320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64224" y="324612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a 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64224" y="3657600"/>
            <a:ext cx="24231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it anywhere you'd write a value — in variables, console.log, etc.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Ternary Operator — Syntax &amp; Anatomy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7772400" y="164592"/>
            <a:ext cx="1463040" cy="320040"/>
          </a:xfrm>
          <a:prstGeom prst="rect">
            <a:avLst/>
          </a:prstGeom>
          <a:solidFill>
            <a:srgbClr val="F7DF1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18120" y="182880"/>
            <a:ext cx="13716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1A1A2E"/>
          </a:solidFill>
          <a:ln w="25400">
            <a:solidFill>
              <a:srgbClr val="F7DF1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condition</a:t>
            </a:r>
            <a:r>
              <a:rPr lang="en-US" sz="2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?  </a:t>
            </a:r>
            <a:r>
              <a:rPr lang="en-US" sz="2400" b="1" dirty="0">
                <a:solidFill>
                  <a:srgbClr val="69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valueIfTrue</a:t>
            </a:r>
            <a:r>
              <a:rPr lang="en-US" sz="2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:  </a:t>
            </a:r>
            <a:r>
              <a:rPr lang="en-US" sz="24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valueIfFalse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E9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to check?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810512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D9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 = if TRUE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810512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= if FALSE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1 — Store result in variable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841248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" y="281635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4" name="Shape 12"/>
          <p:cNvSpPr/>
          <p:nvPr/>
        </p:nvSpPr>
        <p:spPr>
          <a:xfrm>
            <a:off x="649224" y="281635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5" name="Shape 13"/>
          <p:cNvSpPr/>
          <p:nvPr/>
        </p:nvSpPr>
        <p:spPr>
          <a:xfrm>
            <a:off x="813816" y="281635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6" name="Text 14"/>
          <p:cNvSpPr/>
          <p:nvPr/>
        </p:nvSpPr>
        <p:spPr>
          <a:xfrm>
            <a:off x="457200" y="3044952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 = </a:t>
            </a:r>
            <a:r>
              <a:rPr lang="en-US" sz="14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4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access = age &gt;= </a:t>
            </a:r>
            <a:r>
              <a:rPr lang="en-US" sz="14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</a:t>
            </a:r>
            <a:r>
              <a:rPr lang="en-US" sz="1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? </a:t>
            </a:r>
            <a:r>
              <a:rPr lang="en-US" sz="14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"Allowed ✅"</a:t>
            </a:r>
            <a:r>
              <a:rPr lang="en-US" sz="1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: </a:t>
            </a:r>
            <a:r>
              <a:rPr lang="en-US" sz="14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"Denied ❌"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access = "Allowed ✅"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04164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2 — Use directly in console.log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453128"/>
            <a:ext cx="841248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" y="4572000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20" name="Shape 18"/>
          <p:cNvSpPr/>
          <p:nvPr/>
        </p:nvSpPr>
        <p:spPr>
          <a:xfrm>
            <a:off x="649224" y="4572000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21" name="Shape 19"/>
          <p:cNvSpPr/>
          <p:nvPr/>
        </p:nvSpPr>
        <p:spPr>
          <a:xfrm>
            <a:off x="813816" y="4572000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22" name="Text 20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isRaining = </a:t>
            </a:r>
            <a:r>
              <a:rPr lang="en-US" sz="14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40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.log(isRaining ? </a:t>
            </a:r>
            <a:r>
              <a:rPr lang="en-US" sz="14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"Take umbrella ☂️"</a:t>
            </a:r>
            <a:r>
              <a:rPr lang="en-US" sz="1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: </a:t>
            </a:r>
            <a:r>
              <a:rPr lang="en-US" sz="14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"Enjoy the sun ☀️"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Ternary Operator — Real-World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7498080" y="164592"/>
            <a:ext cx="1463040" cy="320040"/>
          </a:xfrm>
          <a:prstGeom prst="rect">
            <a:avLst/>
          </a:prstGeom>
          <a:solidFill>
            <a:srgbClr val="F7DF1E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43800" y="182880"/>
            <a:ext cx="13716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🛒  Shopping Cart — Free Shipping?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841248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380744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9" name="Shape 7"/>
          <p:cNvSpPr/>
          <p:nvPr/>
        </p:nvSpPr>
        <p:spPr>
          <a:xfrm>
            <a:off x="649224" y="1380744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0" name="Shape 8"/>
          <p:cNvSpPr/>
          <p:nvPr/>
        </p:nvSpPr>
        <p:spPr>
          <a:xfrm>
            <a:off x="813816" y="1380744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1" name="Text 9"/>
          <p:cNvSpPr/>
          <p:nvPr/>
        </p:nvSpPr>
        <p:spPr>
          <a:xfrm>
            <a:off x="457200" y="1609344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 = </a:t>
            </a:r>
            <a:r>
              <a:rPr lang="en-US" sz="13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85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shipping = total &gt;= </a:t>
            </a:r>
            <a:r>
              <a:rPr lang="en-US" sz="13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</a:t>
            </a:r>
            <a:r>
              <a:rPr lang="en-US" sz="13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?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"FREE 🎁"</a:t>
            </a:r>
            <a:r>
              <a:rPr lang="en-US" sz="13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: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"$5.99"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shipping = "$5.99"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313432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🌙  Dark Mode Toggle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79192"/>
            <a:ext cx="841248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" y="2798064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5" name="Shape 13"/>
          <p:cNvSpPr/>
          <p:nvPr/>
        </p:nvSpPr>
        <p:spPr>
          <a:xfrm>
            <a:off x="649224" y="2798064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6" name="Shape 14"/>
          <p:cNvSpPr/>
          <p:nvPr/>
        </p:nvSpPr>
        <p:spPr>
          <a:xfrm>
            <a:off x="813816" y="2798064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7" name="Text 15"/>
          <p:cNvSpPr/>
          <p:nvPr/>
        </p:nvSpPr>
        <p:spPr>
          <a:xfrm>
            <a:off x="457200" y="3026664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darkMode = </a:t>
            </a: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bg = darkMode ?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"#000"</a:t>
            </a:r>
            <a:r>
              <a:rPr lang="en-US" sz="13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: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"#FFF"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bg = "#000"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730752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  User Greeting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096512"/>
            <a:ext cx="841248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" y="4215384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21" name="Shape 19"/>
          <p:cNvSpPr/>
          <p:nvPr/>
        </p:nvSpPr>
        <p:spPr>
          <a:xfrm>
            <a:off x="649224" y="4215384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22" name="Shape 20"/>
          <p:cNvSpPr/>
          <p:nvPr/>
        </p:nvSpPr>
        <p:spPr>
          <a:xfrm>
            <a:off x="813816" y="4215384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23" name="Text 21"/>
          <p:cNvSpPr/>
          <p:nvPr/>
        </p:nvSpPr>
        <p:spPr>
          <a:xfrm>
            <a:off x="457200" y="4443984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= </a:t>
            </a: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greeting = user ?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`Hi, ${user}`</a:t>
            </a:r>
            <a:r>
              <a:rPr lang="en-US" sz="13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: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"Hello Guest!"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greeting = "Hello Guest!"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Ternary  vs  if...else —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365760" y="914400"/>
            <a:ext cx="3977640" cy="4572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5" name="Text 3"/>
          <p:cNvSpPr/>
          <p:nvPr/>
        </p:nvSpPr>
        <p:spPr>
          <a:xfrm>
            <a:off x="365760" y="914400"/>
            <a:ext cx="3977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if...else (4 lines)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3977640" cy="457200"/>
          </a:xfrm>
          <a:prstGeom prst="rect">
            <a:avLst/>
          </a:prstGeom>
          <a:solidFill>
            <a:srgbClr val="69D98C"/>
          </a:solidFill>
        </p:spPr>
      </p:sp>
      <p:sp>
        <p:nvSpPr>
          <p:cNvPr id="7" name="Text 5"/>
          <p:cNvSpPr/>
          <p:nvPr/>
        </p:nvSpPr>
        <p:spPr>
          <a:xfrm>
            <a:off x="4800600" y="914400"/>
            <a:ext cx="3977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Ternary (1 line)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97764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" y="158191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0" name="Shape 8"/>
          <p:cNvSpPr/>
          <p:nvPr/>
        </p:nvSpPr>
        <p:spPr>
          <a:xfrm>
            <a:off x="649224" y="158191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1" name="Shape 9"/>
          <p:cNvSpPr/>
          <p:nvPr/>
        </p:nvSpPr>
        <p:spPr>
          <a:xfrm>
            <a:off x="813816" y="158191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2" name="Text 10"/>
          <p:cNvSpPr/>
          <p:nvPr/>
        </p:nvSpPr>
        <p:spPr>
          <a:xfrm>
            <a:off x="457200" y="1810512"/>
            <a:ext cx="37947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</a:t>
            </a:r>
            <a:r>
              <a:rPr lang="en-US" sz="13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72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result;
</a:t>
            </a:r>
            <a:r>
              <a:rPr lang="en-US" sz="13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(score &gt;= </a:t>
            </a:r>
            <a:r>
              <a:rPr lang="en-US" sz="13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60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
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result =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"Pass"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
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result =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"Fail"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463040"/>
            <a:ext cx="397764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19472" y="1581912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5" name="Shape 13"/>
          <p:cNvSpPr/>
          <p:nvPr/>
        </p:nvSpPr>
        <p:spPr>
          <a:xfrm>
            <a:off x="5084064" y="1581912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6" name="Shape 14"/>
          <p:cNvSpPr/>
          <p:nvPr/>
        </p:nvSpPr>
        <p:spPr>
          <a:xfrm>
            <a:off x="5248656" y="1581912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7" name="Text 15"/>
          <p:cNvSpPr/>
          <p:nvPr/>
        </p:nvSpPr>
        <p:spPr>
          <a:xfrm>
            <a:off x="4892040" y="1810512"/>
            <a:ext cx="37947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</a:t>
            </a:r>
            <a:r>
              <a:rPr lang="en-US" sz="13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72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3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 =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score &gt;= 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60</a:t>
            </a:r>
            <a:r>
              <a:rPr lang="en-US" sz="13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? </a:t>
            </a: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"Pass"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: 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"Fail"</a:t>
            </a:r>
            <a:r>
              <a:rPr lang="en-US" sz="13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2377440"/>
            <a:ext cx="713232" cy="713232"/>
          </a:xfrm>
          <a:prstGeom prst="ellipse">
            <a:avLst/>
          </a:prstGeom>
          <a:solidFill>
            <a:srgbClr val="F7DF1E"/>
          </a:solidFill>
        </p:spPr>
      </p:sp>
      <p:sp>
        <p:nvSpPr>
          <p:cNvPr id="19" name="Text 17"/>
          <p:cNvSpPr/>
          <p:nvPr/>
        </p:nvSpPr>
        <p:spPr>
          <a:xfrm>
            <a:off x="4206240" y="2377440"/>
            <a:ext cx="713232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65760" y="4343400"/>
            <a:ext cx="8412480" cy="713232"/>
          </a:xfrm>
          <a:prstGeom prst="rect">
            <a:avLst/>
          </a:prstGeom>
          <a:solidFill>
            <a:srgbClr val="FFF9C4"/>
          </a:solidFill>
          <a:ln w="25400">
            <a:solidFill>
              <a:srgbClr val="F7DF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07408"/>
            <a:ext cx="80467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Use ternary when: 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 is simple, result is a single value, code is easy to read at a glance.
</a:t>
            </a:r>
            <a:r>
              <a:rPr lang="en-US" sz="125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⛔ Avoid ternary when: </a:t>
            </a: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 is complex, you need multiple lines, or it's hard to read — use if...else instead!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Activity 2 — Rewrite with Ternary!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9552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each if...else block below into a single ternary expression.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261872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C6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1: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4114800" cy="2240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746504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7" name="Shape 5"/>
          <p:cNvSpPr/>
          <p:nvPr/>
        </p:nvSpPr>
        <p:spPr>
          <a:xfrm>
            <a:off x="649224" y="1746504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8" name="Shape 6"/>
          <p:cNvSpPr/>
          <p:nvPr/>
        </p:nvSpPr>
        <p:spPr>
          <a:xfrm>
            <a:off x="813816" y="1746504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9" name="Text 7"/>
          <p:cNvSpPr/>
          <p:nvPr/>
        </p:nvSpPr>
        <p:spPr>
          <a:xfrm>
            <a:off x="457200" y="1975104"/>
            <a:ext cx="3931920" cy="1783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 = </a:t>
            </a:r>
            <a:r>
              <a:rPr lang="en-US" sz="12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2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(num &gt; </a:t>
            </a:r>
            <a:r>
              <a:rPr lang="en-US" sz="12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type =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"positive"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type =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"negative"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977640"/>
            <a:ext cx="41148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2336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Your ternary answer here ✍️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261872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B86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2: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627632"/>
            <a:ext cx="4114800" cy="2240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82312" y="1746504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5" name="Shape 13"/>
          <p:cNvSpPr/>
          <p:nvPr/>
        </p:nvSpPr>
        <p:spPr>
          <a:xfrm>
            <a:off x="4946904" y="1746504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16" name="Shape 14"/>
          <p:cNvSpPr/>
          <p:nvPr/>
        </p:nvSpPr>
        <p:spPr>
          <a:xfrm>
            <a:off x="5111496" y="1746504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7" name="Text 15"/>
          <p:cNvSpPr/>
          <p:nvPr/>
        </p:nvSpPr>
        <p:spPr>
          <a:xfrm>
            <a:off x="4754880" y="1975104"/>
            <a:ext cx="3931920" cy="1783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speed = </a:t>
            </a:r>
            <a:r>
              <a:rPr lang="en-US" sz="12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130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2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(speed &gt; </a:t>
            </a:r>
            <a:r>
              <a:rPr lang="en-US" sz="120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120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status =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"Speeding 🚨"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status =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"OK 👍"</a:t>
            </a: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977640"/>
            <a:ext cx="41148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02336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Your ternary answer here ✍️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9D9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⏱️ 5 minutes  |  Then we review together!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 Mini Project — Smart Grade Calculator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C6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⏱️ 10 minutes  |  Use conditionals + ternary together!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486400" cy="3794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325880"/>
            <a:ext cx="109728" cy="109728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8" name="Shape 6"/>
          <p:cNvSpPr/>
          <p:nvPr/>
        </p:nvSpPr>
        <p:spPr>
          <a:xfrm>
            <a:off x="649224" y="1325880"/>
            <a:ext cx="109728" cy="109728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9" name="Shape 7"/>
          <p:cNvSpPr/>
          <p:nvPr/>
        </p:nvSpPr>
        <p:spPr>
          <a:xfrm>
            <a:off x="813816" y="1325880"/>
            <a:ext cx="109728" cy="109728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10" name="Text 8"/>
          <p:cNvSpPr/>
          <p:nvPr/>
        </p:nvSpPr>
        <p:spPr>
          <a:xfrm>
            <a:off x="457200" y="1554480"/>
            <a:ext cx="5303520" cy="3337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🏆 Grade Calculator
</a:t>
            </a:r>
            <a:r>
              <a:rPr lang="en-US" sz="115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</a:t>
            </a:r>
            <a:r>
              <a:rPr lang="en-US" sz="115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72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// Change this number!
</a:t>
            </a:r>
            <a:r>
              <a:rPr lang="en-US" sz="115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Step 1: if-else-if chain
</a:t>
            </a:r>
            <a:r>
              <a:rPr lang="en-US" sz="115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grade;
</a:t>
            </a:r>
            <a:r>
              <a:rPr lang="en-US" sz="115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(score &gt;= </a:t>
            </a:r>
            <a:r>
              <a:rPr lang="en-US" sz="115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90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       grade = 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 🌟"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15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 if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(score &gt;= </a:t>
            </a:r>
            <a:r>
              <a:rPr lang="en-US" sz="115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75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  grade = 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"B 👍"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15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 if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(score &gt;= </a:t>
            </a:r>
            <a:r>
              <a:rPr lang="en-US" sz="115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60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  grade = 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 😐"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150" b="1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   grade = 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 ❌"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150" i="1" dirty="0">
                <a:solidFill>
                  <a:srgbClr val="6272A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Step 2: Ternary for pass/fail
</a:t>
            </a:r>
            <a:r>
              <a:rPr lang="en-US" sz="1150" dirty="0">
                <a:solidFill>
                  <a:srgbClr val="FF79C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 = score &gt;= </a:t>
            </a:r>
            <a:r>
              <a:rPr lang="en-US" sz="1150" dirty="0">
                <a:solidFill>
                  <a:srgbClr val="BD93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60</a:t>
            </a:r>
            <a:r>
              <a:rPr lang="en-US" sz="115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? 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"PASS 🎉"</a:t>
            </a:r>
            <a:r>
              <a:rPr lang="en-US" sz="115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: 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"FAIL 😢"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150" dirty="0">
                <a:solidFill>
                  <a:srgbClr val="8BE9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150" dirty="0">
                <a:solidFill>
                  <a:srgbClr val="F1F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`Score: ${score} | Grade: ${grade} | ${result}`</a:t>
            </a:r>
            <a:r>
              <a:rPr lang="en-US" sz="115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0" y="123444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Extension Tasks: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719072"/>
            <a:ext cx="2926080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883664"/>
            <a:ext cx="347472" cy="347472"/>
          </a:xfrm>
          <a:prstGeom prst="ellipse">
            <a:avLst/>
          </a:prstGeom>
          <a:solidFill>
            <a:srgbClr val="F7DF1E"/>
          </a:solidFill>
        </p:spPr>
      </p:sp>
      <p:sp>
        <p:nvSpPr>
          <p:cNvPr id="14" name="Text 12"/>
          <p:cNvSpPr/>
          <p:nvPr/>
        </p:nvSpPr>
        <p:spPr>
          <a:xfrm>
            <a:off x="6071616" y="1883664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810512"/>
            <a:ext cx="23774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prompt() to get the score from the user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523744"/>
            <a:ext cx="2926080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688336"/>
            <a:ext cx="347472" cy="347472"/>
          </a:xfrm>
          <a:prstGeom prst="ellipse">
            <a:avLst/>
          </a:prstGeom>
          <a:solidFill>
            <a:srgbClr val="F7DF1E"/>
          </a:solidFill>
        </p:spPr>
      </p:sp>
      <p:sp>
        <p:nvSpPr>
          <p:cNvPr id="18" name="Text 16"/>
          <p:cNvSpPr/>
          <p:nvPr/>
        </p:nvSpPr>
        <p:spPr>
          <a:xfrm>
            <a:off x="6071616" y="2688336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615184"/>
            <a:ext cx="23774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message like 'Almost there!' for scores 55–59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3328416"/>
            <a:ext cx="2926080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3493008"/>
            <a:ext cx="347472" cy="347472"/>
          </a:xfrm>
          <a:prstGeom prst="ellipse">
            <a:avLst/>
          </a:prstGeom>
          <a:solidFill>
            <a:srgbClr val="F7DF1E"/>
          </a:solidFill>
        </p:spPr>
      </p:sp>
      <p:sp>
        <p:nvSpPr>
          <p:cNvPr id="22" name="Text 20"/>
          <p:cNvSpPr/>
          <p:nvPr/>
        </p:nvSpPr>
        <p:spPr>
          <a:xfrm>
            <a:off x="6071616" y="3493008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419856"/>
            <a:ext cx="23774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ternary to print 'Honours' if score &gt; 95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4133088"/>
            <a:ext cx="2926080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4297680"/>
            <a:ext cx="347472" cy="347472"/>
          </a:xfrm>
          <a:prstGeom prst="ellipse">
            <a:avLst/>
          </a:prstGeom>
          <a:solidFill>
            <a:srgbClr val="F7DF1E"/>
          </a:solidFill>
        </p:spPr>
      </p:sp>
      <p:sp>
        <p:nvSpPr>
          <p:cNvPr id="26" name="Text 24"/>
          <p:cNvSpPr/>
          <p:nvPr/>
        </p:nvSpPr>
        <p:spPr>
          <a:xfrm>
            <a:off x="6071616" y="429768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4224528"/>
            <a:ext cx="23774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a different emoji for each grade using switch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365760" y="9144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188720"/>
          </a:xfrm>
          <a:prstGeom prst="rect">
            <a:avLst/>
          </a:prstGeom>
          <a:solidFill>
            <a:srgbClr val="4FC3F7"/>
          </a:solidFill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if statement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code only when a condition is true. The else block is optional.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64008" cy="1188720"/>
          </a:xfrm>
          <a:prstGeom prst="rect">
            <a:avLst/>
          </a:prstGeom>
          <a:solidFill>
            <a:srgbClr val="69D98C"/>
          </a:solidFill>
        </p:spPr>
      </p:sp>
      <p:sp>
        <p:nvSpPr>
          <p:cNvPr id="10" name="Text 8"/>
          <p:cNvSpPr/>
          <p:nvPr/>
        </p:nvSpPr>
        <p:spPr>
          <a:xfrm>
            <a:off x="548640" y="237744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if...else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paths — one for true, one for false. Every condition is covered.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657600"/>
            <a:ext cx="64008" cy="1188720"/>
          </a:xfrm>
          <a:prstGeom prst="rect">
            <a:avLst/>
          </a:prstGeom>
          <a:solidFill>
            <a:srgbClr val="BB86FC"/>
          </a:solidFill>
        </p:spPr>
      </p:sp>
      <p:sp>
        <p:nvSpPr>
          <p:cNvPr id="14" name="Text 12"/>
          <p:cNvSpPr/>
          <p:nvPr/>
        </p:nvSpPr>
        <p:spPr>
          <a:xfrm>
            <a:off x="548640" y="374904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else if chain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multiple conditions. JavaScript stops at the first true 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14400"/>
            <a:ext cx="64008" cy="118872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18" name="Text 16"/>
          <p:cNvSpPr/>
          <p:nvPr/>
        </p:nvSpPr>
        <p:spPr>
          <a:xfrm>
            <a:off x="4937760" y="100584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🔀  switch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1417320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 for comparing one value against many fixed options. Always use break!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64008" cy="1188720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22" name="Text 20"/>
          <p:cNvSpPr/>
          <p:nvPr/>
        </p:nvSpPr>
        <p:spPr>
          <a:xfrm>
            <a:off x="4937760" y="237744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Ternary operator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2788920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One-line if/else. Use it for simple conditions that return a value.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57600"/>
            <a:ext cx="64008" cy="1188720"/>
          </a:xfrm>
          <a:prstGeom prst="rect">
            <a:avLst/>
          </a:prstGeom>
          <a:solidFill>
            <a:srgbClr val="26C6DA"/>
          </a:solidFill>
        </p:spPr>
      </p:sp>
      <p:sp>
        <p:nvSpPr>
          <p:cNvPr id="26" name="Text 24"/>
          <p:cNvSpPr/>
          <p:nvPr/>
        </p:nvSpPr>
        <p:spPr>
          <a:xfrm>
            <a:off x="4937760" y="374904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Golden rule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0" y="4160520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it's hard to read with ternary, use if...else. Readability wins!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🙋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7D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Questions?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743200" y="2148840"/>
            <a:ext cx="3657600" cy="45720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7" name="Text 5"/>
          <p:cNvSpPr/>
          <p:nvPr/>
        </p:nvSpPr>
        <p:spPr>
          <a:xfrm>
            <a:off x="914400" y="22860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 work today! 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170432" cy="438912"/>
          </a:xfrm>
          <a:prstGeom prst="rect">
            <a:avLst/>
          </a:prstGeom>
          <a:solidFill>
            <a:srgbClr val="0F1B2D"/>
          </a:solidFill>
          <a:ln w="12700">
            <a:solidFill>
              <a:srgbClr val="F7DF1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926080"/>
            <a:ext cx="117043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21408" y="2926080"/>
            <a:ext cx="1170432" cy="438912"/>
          </a:xfrm>
          <a:prstGeom prst="rect">
            <a:avLst/>
          </a:prstGeom>
          <a:solidFill>
            <a:srgbClr val="0F1B2D"/>
          </a:solidFill>
          <a:ln w="12700">
            <a:solidFill>
              <a:srgbClr val="F7DF1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21408" y="2926080"/>
            <a:ext cx="117043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if...else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19856" y="2926080"/>
            <a:ext cx="1170432" cy="438912"/>
          </a:xfrm>
          <a:prstGeom prst="rect">
            <a:avLst/>
          </a:prstGeom>
          <a:solidFill>
            <a:srgbClr val="0F1B2D"/>
          </a:solidFill>
          <a:ln w="12700">
            <a:solidFill>
              <a:srgbClr val="F7DF1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19856" y="2926080"/>
            <a:ext cx="117043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 if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18304" y="2926080"/>
            <a:ext cx="1170432" cy="438912"/>
          </a:xfrm>
          <a:prstGeom prst="rect">
            <a:avLst/>
          </a:prstGeom>
          <a:solidFill>
            <a:srgbClr val="0F1B2D"/>
          </a:solidFill>
          <a:ln w="12700">
            <a:solidFill>
              <a:srgbClr val="F7DF1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18304" y="2926080"/>
            <a:ext cx="117043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switch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16752" y="2926080"/>
            <a:ext cx="1170432" cy="438912"/>
          </a:xfrm>
          <a:prstGeom prst="rect">
            <a:avLst/>
          </a:prstGeom>
          <a:solidFill>
            <a:srgbClr val="0F1B2D"/>
          </a:solidFill>
          <a:ln w="12700">
            <a:solidFill>
              <a:srgbClr val="F7DF1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16752" y="2926080"/>
            <a:ext cx="117043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? 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0" y="2926080"/>
            <a:ext cx="1170432" cy="438912"/>
          </a:xfrm>
          <a:prstGeom prst="rect">
            <a:avLst/>
          </a:prstGeom>
          <a:solidFill>
            <a:srgbClr val="0F1B2D"/>
          </a:solidFill>
          <a:ln w="12700">
            <a:solidFill>
              <a:srgbClr val="F7DF1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0" y="2926080"/>
            <a:ext cx="117043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Ternary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1188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Resources: MDN Web Docs · javascript.info · freeCodeCamp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 every day — even 15 minutes makes a huge difference! 💪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6,&quot;left&quot;:453.6,&quot;top&quot;:72,&quot;width&quot;:244.8}"/>
</p:tagLst>
</file>

<file path=ppt/tags/tag2.xml><?xml version="1.0" encoding="utf-8"?>
<p:tagLst xmlns:p="http://schemas.openxmlformats.org/presentationml/2006/main">
  <p:tag name="KSO_WM_DIAGRAM_VIRTUALLY_FRAME" val="{&quot;height&quot;:306,&quot;left&quot;:453.6,&quot;top&quot;:72,&quot;width&quot;:244.8}"/>
</p:tagLst>
</file>

<file path=ppt/tags/tag3.xml><?xml version="1.0" encoding="utf-8"?>
<p:tagLst xmlns:p="http://schemas.openxmlformats.org/presentationml/2006/main">
  <p:tag name="KSO_WM_DIAGRAM_VIRTUALLY_FRAME" val="{&quot;height&quot;:306,&quot;left&quot;:453.6,&quot;top&quot;:72,&quot;width&quot;:244.8}"/>
</p:tagLst>
</file>

<file path=ppt/tags/tag4.xml><?xml version="1.0" encoding="utf-8"?>
<p:tagLst xmlns:p="http://schemas.openxmlformats.org/presentationml/2006/main">
  <p:tag name="KSO_WM_DIAGRAM_VIRTUALLY_FRAME" val="{&quot;height&quot;:306,&quot;left&quot;:453.6,&quot;top&quot;:72,&quot;width&quot;:244.8}"/>
</p:tagLst>
</file>

<file path=ppt/tags/tag5.xml><?xml version="1.0" encoding="utf-8"?>
<p:tagLst xmlns:p="http://schemas.openxmlformats.org/presentationml/2006/main">
  <p:tag name="KSO_WM_DIAGRAM_VIRTUALLY_FRAME" val="{&quot;height&quot;:306,&quot;left&quot;:453.6,&quot;top&quot;:72,&quot;width&quot;:244.8}"/>
</p:tagLst>
</file>

<file path=ppt/tags/tag6.xml><?xml version="1.0" encoding="utf-8"?>
<p:tagLst xmlns:p="http://schemas.openxmlformats.org/presentationml/2006/main">
  <p:tag name="KSO_WM_DIAGRAM_VIRTUALLY_FRAME" val="{&quot;height&quot;:306,&quot;left&quot;:453.6,&quot;top&quot;:72,&quot;width&quot;:244.8}"/>
</p:tagLst>
</file>

<file path=ppt/tags/tag7.xml><?xml version="1.0" encoding="utf-8"?>
<p:tagLst xmlns:p="http://schemas.openxmlformats.org/presentationml/2006/main">
  <p:tag name="KSO_WM_DIAGRAM_VIRTUALLY_FRAME" val="{&quot;height&quot;:306,&quot;left&quot;:453.6,&quot;top&quot;:72,&quot;width&quot;:244.8}"/>
</p:tagLst>
</file>

<file path=ppt/tags/tag8.xml><?xml version="1.0" encoding="utf-8"?>
<p:tagLst xmlns:p="http://schemas.openxmlformats.org/presentationml/2006/main">
  <p:tag name="KSO_WM_DIAGRAM_VIRTUALLY_FRAME" val="{&quot;height&quot;:306,&quot;left&quot;:453.6,&quot;top&quot;:72,&quot;width&quot;:244.8}"/>
</p:tagLst>
</file>

<file path=ppt/tags/tag9.xml><?xml version="1.0" encoding="utf-8"?>
<p:tagLst xmlns:p="http://schemas.openxmlformats.org/presentationml/2006/main">
  <p:tag name="KSO_WM_DIAGRAM_VIRTUALLY_FRAME" val="{&quot;height&quot;:306,&quot;left&quot;:453.6,&quot;top&quot;:72,&quot;width&quot;:244.8}"/>
</p:tagLst>
</file>

<file path=ppt/tags/tag10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11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12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13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14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15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16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17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18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19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20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21.xml><?xml version="1.0" encoding="utf-8"?>
<p:tagLst xmlns:p="http://schemas.openxmlformats.org/presentationml/2006/main">
  <p:tag name="KSO_WM_DIAGRAM_VIRTUALLY_FRAME" val="{&quot;height&quot;:178.56,&quot;left&quot;:439.2,&quot;top&quot;:185.76,&quot;width&quot;:266.4}"/>
</p:tagLst>
</file>

<file path=ppt/tags/tag22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23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24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25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26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27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28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29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30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31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32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33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34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35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ags/tag36.xml><?xml version="1.0" encoding="utf-8"?>
<p:tagLst xmlns:p="http://schemas.openxmlformats.org/presentationml/2006/main">
  <p:tag name="KSO_WM_DIAGRAM_VIRTUALLY_FRAME" val="{&quot;height&quot;:104.4,&quot;left&quot;:453.6,&quot;top&quot;:237.6,&quot;width&quot;:244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6871</Words>
  <Application>WPS Presentation</Application>
  <PresentationFormat>On-screen Show (16:9)</PresentationFormat>
  <Paragraphs>452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Consolas</vt:lpstr>
      <vt:lpstr>Consolas</vt:lpstr>
      <vt:lpstr>Consolas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Conditional Statements &amp; Ternary Operator</dc:title>
  <dc:creator>PptxGenJS</dc:creator>
  <dc:subject>PptxGenJS Presentation</dc:subject>
  <cp:lastModifiedBy>Tabinda Noor</cp:lastModifiedBy>
  <cp:revision>5</cp:revision>
  <dcterms:created xsi:type="dcterms:W3CDTF">2026-05-20T02:32:00Z</dcterms:created>
  <dcterms:modified xsi:type="dcterms:W3CDTF">2026-05-21T04:30:44Z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E6436014762B49EDA176C3D14706A3A5_12</vt:lpwstr>
  </property>
  <property fmtid="{D5CDD505-2E9C-101B-9397-08002B2CF9AE}" pid="3" name="KSOProductBuildVer">
    <vt:lpwstr>2057-12.2.0.23202</vt:lpwstr>
  </property>
</Properties>
</file>