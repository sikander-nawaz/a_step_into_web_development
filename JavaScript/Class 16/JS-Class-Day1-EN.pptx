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7" Type="http://schemas.openxmlformats.org/officeDocument/2006/relationships/notesSlide" Target="../notesSlides/notesSlide12.xml"/><Relationship Id="rId76" Type="http://schemas.openxmlformats.org/officeDocument/2006/relationships/slideLayout" Target="../slideLayouts/slideLayout1.xml"/><Relationship Id="rId75" Type="http://schemas.openxmlformats.org/officeDocument/2006/relationships/tags" Target="../tags/tag85.xml"/><Relationship Id="rId74" Type="http://schemas.openxmlformats.org/officeDocument/2006/relationships/tags" Target="../tags/tag84.xml"/><Relationship Id="rId73" Type="http://schemas.openxmlformats.org/officeDocument/2006/relationships/tags" Target="../tags/tag83.xml"/><Relationship Id="rId72" Type="http://schemas.openxmlformats.org/officeDocument/2006/relationships/tags" Target="../tags/tag82.xml"/><Relationship Id="rId71" Type="http://schemas.openxmlformats.org/officeDocument/2006/relationships/tags" Target="../tags/tag81.xml"/><Relationship Id="rId70" Type="http://schemas.openxmlformats.org/officeDocument/2006/relationships/tags" Target="../tags/tag80.xml"/><Relationship Id="rId7" Type="http://schemas.openxmlformats.org/officeDocument/2006/relationships/tags" Target="../tags/tag17.xml"/><Relationship Id="rId69" Type="http://schemas.openxmlformats.org/officeDocument/2006/relationships/tags" Target="../tags/tag79.xml"/><Relationship Id="rId68" Type="http://schemas.openxmlformats.org/officeDocument/2006/relationships/tags" Target="../tags/tag78.xml"/><Relationship Id="rId67" Type="http://schemas.openxmlformats.org/officeDocument/2006/relationships/tags" Target="../tags/tag77.xml"/><Relationship Id="rId66" Type="http://schemas.openxmlformats.org/officeDocument/2006/relationships/tags" Target="../tags/tag76.xml"/><Relationship Id="rId65" Type="http://schemas.openxmlformats.org/officeDocument/2006/relationships/tags" Target="../tags/tag75.xml"/><Relationship Id="rId64" Type="http://schemas.openxmlformats.org/officeDocument/2006/relationships/tags" Target="../tags/tag74.xml"/><Relationship Id="rId63" Type="http://schemas.openxmlformats.org/officeDocument/2006/relationships/tags" Target="../tags/tag73.xml"/><Relationship Id="rId62" Type="http://schemas.openxmlformats.org/officeDocument/2006/relationships/tags" Target="../tags/tag72.xml"/><Relationship Id="rId61" Type="http://schemas.openxmlformats.org/officeDocument/2006/relationships/tags" Target="../tags/tag71.xml"/><Relationship Id="rId60" Type="http://schemas.openxmlformats.org/officeDocument/2006/relationships/tags" Target="../tags/tag70.xml"/><Relationship Id="rId6" Type="http://schemas.openxmlformats.org/officeDocument/2006/relationships/tags" Target="../tags/tag16.xml"/><Relationship Id="rId59" Type="http://schemas.openxmlformats.org/officeDocument/2006/relationships/tags" Target="../tags/tag69.xml"/><Relationship Id="rId58" Type="http://schemas.openxmlformats.org/officeDocument/2006/relationships/tags" Target="../tags/tag68.xml"/><Relationship Id="rId57" Type="http://schemas.openxmlformats.org/officeDocument/2006/relationships/tags" Target="../tags/tag67.xml"/><Relationship Id="rId56" Type="http://schemas.openxmlformats.org/officeDocument/2006/relationships/tags" Target="../tags/tag66.xml"/><Relationship Id="rId55" Type="http://schemas.openxmlformats.org/officeDocument/2006/relationships/tags" Target="../tags/tag65.xml"/><Relationship Id="rId54" Type="http://schemas.openxmlformats.org/officeDocument/2006/relationships/tags" Target="../tags/tag64.xml"/><Relationship Id="rId53" Type="http://schemas.openxmlformats.org/officeDocument/2006/relationships/tags" Target="../tags/tag63.xml"/><Relationship Id="rId52" Type="http://schemas.openxmlformats.org/officeDocument/2006/relationships/tags" Target="../tags/tag62.xml"/><Relationship Id="rId51" Type="http://schemas.openxmlformats.org/officeDocument/2006/relationships/tags" Target="../tags/tag61.xml"/><Relationship Id="rId50" Type="http://schemas.openxmlformats.org/officeDocument/2006/relationships/tags" Target="../tags/tag60.xml"/><Relationship Id="rId5" Type="http://schemas.openxmlformats.org/officeDocument/2006/relationships/tags" Target="../tags/tag15.xml"/><Relationship Id="rId49" Type="http://schemas.openxmlformats.org/officeDocument/2006/relationships/tags" Target="../tags/tag59.xml"/><Relationship Id="rId48" Type="http://schemas.openxmlformats.org/officeDocument/2006/relationships/tags" Target="../tags/tag58.xml"/><Relationship Id="rId47" Type="http://schemas.openxmlformats.org/officeDocument/2006/relationships/tags" Target="../tags/tag57.xml"/><Relationship Id="rId46" Type="http://schemas.openxmlformats.org/officeDocument/2006/relationships/tags" Target="../tags/tag56.xml"/><Relationship Id="rId45" Type="http://schemas.openxmlformats.org/officeDocument/2006/relationships/tags" Target="../tags/tag55.xml"/><Relationship Id="rId44" Type="http://schemas.openxmlformats.org/officeDocument/2006/relationships/tags" Target="../tags/tag54.xml"/><Relationship Id="rId43" Type="http://schemas.openxmlformats.org/officeDocument/2006/relationships/tags" Target="../tags/tag53.xml"/><Relationship Id="rId42" Type="http://schemas.openxmlformats.org/officeDocument/2006/relationships/tags" Target="../tags/tag52.xml"/><Relationship Id="rId41" Type="http://schemas.openxmlformats.org/officeDocument/2006/relationships/tags" Target="../tags/tag51.xml"/><Relationship Id="rId40" Type="http://schemas.openxmlformats.org/officeDocument/2006/relationships/tags" Target="../tags/tag50.xml"/><Relationship Id="rId4" Type="http://schemas.openxmlformats.org/officeDocument/2006/relationships/tags" Target="../tags/tag14.xml"/><Relationship Id="rId39" Type="http://schemas.openxmlformats.org/officeDocument/2006/relationships/tags" Target="../tags/tag49.xml"/><Relationship Id="rId38" Type="http://schemas.openxmlformats.org/officeDocument/2006/relationships/tags" Target="../tags/tag48.xml"/><Relationship Id="rId37" Type="http://schemas.openxmlformats.org/officeDocument/2006/relationships/tags" Target="../tags/tag47.xml"/><Relationship Id="rId36" Type="http://schemas.openxmlformats.org/officeDocument/2006/relationships/tags" Target="../tags/tag46.xml"/><Relationship Id="rId35" Type="http://schemas.openxmlformats.org/officeDocument/2006/relationships/tags" Target="../tags/tag45.xml"/><Relationship Id="rId34" Type="http://schemas.openxmlformats.org/officeDocument/2006/relationships/tags" Target="../tags/tag44.xml"/><Relationship Id="rId33" Type="http://schemas.openxmlformats.org/officeDocument/2006/relationships/tags" Target="../tags/tag43.xml"/><Relationship Id="rId32" Type="http://schemas.openxmlformats.org/officeDocument/2006/relationships/tags" Target="../tags/tag42.xml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tags" Target="../tags/tag13.xml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6544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24912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1648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0016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752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0224" y="4572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24912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488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70408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08176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66544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58384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33488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50224" y="136245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08176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66544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24912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41648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8384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16752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33488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91856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50224" y="2020824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08176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66544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24912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41648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58384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6752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33488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91856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50224" y="2679192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9808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08176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66544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4912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1648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00016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58384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6752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33488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91856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0224" y="3337560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08176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66544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24912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41648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0016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58384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6752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488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91856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650224" y="3995928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440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8176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66544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24912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83280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41648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00016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58384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16752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33488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91856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50224" y="4654296"/>
            <a:ext cx="36576" cy="36576"/>
          </a:xfrm>
          <a:prstGeom prst="ellipse">
            <a:avLst/>
          </a:prstGeom>
          <a:solidFill>
            <a:srgbClr val="F7C948">
              <a:alpha val="12000"/>
            </a:srgbClr>
          </a:solidFill>
          <a:ln w="12700">
            <a:solidFill>
              <a:srgbClr val="F7C948">
                <a:alpha val="1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8640" y="86868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F7C948"/>
          </a:solidFill>
        </p:spPr>
      </p:sp>
      <p:sp>
        <p:nvSpPr>
          <p:cNvPr id="115" name="Text 113"/>
          <p:cNvSpPr/>
          <p:nvPr/>
        </p:nvSpPr>
        <p:spPr>
          <a:xfrm>
            <a:off x="548640" y="86868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</a:rPr>
              <a:t>JS</a:t>
            </a:r>
            <a:endParaRPr lang="en-US" sz="5200" dirty="0"/>
          </a:p>
        </p:txBody>
      </p:sp>
      <p:sp>
        <p:nvSpPr>
          <p:cNvPr id="116" name="Text 114"/>
          <p:cNvSpPr/>
          <p:nvPr/>
        </p:nvSpPr>
        <p:spPr>
          <a:xfrm>
            <a:off x="2377440" y="9144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4800" dirty="0"/>
          </a:p>
        </p:txBody>
      </p:sp>
      <p:sp>
        <p:nvSpPr>
          <p:cNvPr id="117" name="Text 115"/>
          <p:cNvSpPr/>
          <p:nvPr/>
        </p:nvSpPr>
        <p:spPr>
          <a:xfrm>
            <a:off x="2377440" y="17373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7C9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 ·  Variables  ·  Data Types</a:t>
            </a:r>
            <a:endParaRPr lang="en-US" sz="1700" dirty="0"/>
          </a:p>
        </p:txBody>
      </p:sp>
      <p:sp>
        <p:nvSpPr>
          <p:cNvPr id="118" name="Text 116"/>
          <p:cNvSpPr/>
          <p:nvPr/>
        </p:nvSpPr>
        <p:spPr>
          <a:xfrm>
            <a:off x="2377440" y="2286000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Lesson 3  —  Building Dynamic Web Pages with JavaScript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2377440" y="281635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F7C948">
              <a:alpha val="15000"/>
            </a:srgbClr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377440" y="281635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948"/>
                </a:solidFill>
              </a:rPr>
              <a:t>60 Minutes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3611880" y="281635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F7C948">
              <a:alpha val="15000"/>
            </a:srgbClr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11880" y="281635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948"/>
                </a:solidFill>
              </a:rPr>
              <a:t>Lesson 3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4572000" y="281635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F7C948">
              <a:alpha val="15000"/>
            </a:srgbClr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572000" y="281635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948"/>
                </a:solidFill>
              </a:rPr>
              <a:t>Beginner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0" y="4023360"/>
            <a:ext cx="9144000" cy="1115568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1480" y="42245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01  What is JavaScript?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2606040" y="42245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02  Variables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4800600" y="42245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03  Data Types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6995160" y="42245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04  Practical Examples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JavaScript?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2788920"/>
          </a:xfrm>
          <a:prstGeom prst="rect">
            <a:avLst/>
          </a:prstGeom>
          <a:solidFill>
            <a:srgbClr val="141824"/>
          </a:solidFill>
          <a:ln w="25400">
            <a:solidFill>
              <a:srgbClr val="FF7B72"/>
            </a:solidFill>
            <a:prstDash val="solid"/>
          </a:ln>
          <a:effectLst>
            <a:outerShdw blurRad="1270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7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Structure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(Skeleton)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2331720" cy="64008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432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&lt;button&gt;Click&lt;/button&gt;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9232" y="2103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099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06040" cy="2788920"/>
          </a:xfrm>
          <a:prstGeom prst="rect">
            <a:avLst/>
          </a:prstGeom>
          <a:solidFill>
            <a:srgbClr val="141824"/>
          </a:solidFill>
          <a:ln w="25400">
            <a:solidFill>
              <a:srgbClr val="79C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06040" cy="5486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1556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1682496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9C0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291840" y="210312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Presentation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(Styling)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743200"/>
            <a:ext cx="2331720" cy="64008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7432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color: blue;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33872" y="2103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099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06040" cy="2788920"/>
          </a:xfrm>
          <a:prstGeom prst="rect">
            <a:avLst/>
          </a:prstGeom>
          <a:solidFill>
            <a:srgbClr val="141824"/>
          </a:solidFill>
          <a:ln w="25400">
            <a:solidFill>
              <a:srgbClr val="F7C948"/>
            </a:solidFill>
            <a:prstDash val="solid"/>
          </a:ln>
          <a:effectLst>
            <a:outerShdw blurRad="1270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2606040" cy="5486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11556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1682496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7C9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126480" y="210312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Behaviour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(Logic)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743200"/>
            <a:ext cx="2331720" cy="64008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7432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onclick = handler()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868680"/>
          </a:xfrm>
          <a:prstGeom prst="rect">
            <a:avLst/>
          </a:prstGeom>
          <a:solidFill>
            <a:srgbClr val="14182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33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C948"/>
                </a:solidFill>
              </a:rPr>
              <a:t>Real-world Usage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Form validation  ·  Image sliders  ·  Real-time chat  ·  Dark mode toggle  ·  Interactive maps  ·  Calculators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JavaScript Program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212080" cy="32461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324612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21208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2412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02412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024128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926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script.js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132588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 to the browser console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57276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console.log("Hello, JavaScript!");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819656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066544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Display a browser popup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1343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alert("My first program!");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256032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80720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Write text directly to the page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054096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document.write("JS is running!");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914400"/>
            <a:ext cx="2834640" cy="1005840"/>
          </a:xfrm>
          <a:prstGeom prst="rect">
            <a:avLst/>
          </a:prstGeom>
          <a:solidFill>
            <a:srgbClr val="141824"/>
          </a:solidFill>
          <a:ln w="12700">
            <a:solidFill>
              <a:srgbClr val="4ECDC4"/>
            </a:solidFill>
            <a:prstDash val="solid"/>
          </a:ln>
          <a:effectLst>
            <a:outerShdw blurRad="762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16752" y="10058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97840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0528" y="1261872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Outputs to the browser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developer console.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Press F12 to open 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029968"/>
            <a:ext cx="2834640" cy="1005840"/>
          </a:xfrm>
          <a:prstGeom prst="rect">
            <a:avLst/>
          </a:prstGeom>
          <a:solidFill>
            <a:srgbClr val="141824"/>
          </a:solidFill>
          <a:ln w="12700">
            <a:solidFill>
              <a:srgbClr val="F7C948"/>
            </a:solidFill>
            <a:prstDash val="solid"/>
          </a:ln>
          <a:effectLst>
            <a:outerShdw blurRad="762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16752" y="212140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0528" y="2093976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0528" y="23774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Displays a popup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dialog in the browser.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145536"/>
            <a:ext cx="2834640" cy="1005840"/>
          </a:xfrm>
          <a:prstGeom prst="rect">
            <a:avLst/>
          </a:prstGeom>
          <a:solidFill>
            <a:srgbClr val="141824"/>
          </a:solidFill>
          <a:ln w="12700">
            <a:solidFill>
              <a:srgbClr val="A78BFA"/>
            </a:solidFill>
            <a:prstDash val="solid"/>
          </a:ln>
          <a:effectLst>
            <a:outerShdw blurRad="762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16752" y="323697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10528" y="3209544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document.write()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3493008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Writes content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directly onto the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web page.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315968"/>
            <a:ext cx="8321040" cy="475488"/>
          </a:xfrm>
          <a:prstGeom prst="rect">
            <a:avLst/>
          </a:prstGeom>
          <a:solidFill>
            <a:srgbClr val="0A1A18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15968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DC4"/>
                </a:solidFill>
              </a:rPr>
              <a:t>💡  Pro Tip:  Open the browser Console (F12 → Console tab) and type JavaScript directly — instant feedback!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— Storing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 variable is a named container that holds a value in memory.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280160"/>
          </a:xfrm>
          <a:prstGeom prst="rect">
            <a:avLst/>
          </a:prstGeom>
          <a:solidFill>
            <a:srgbClr val="141824"/>
          </a:solidFill>
          <a:ln w="25400">
            <a:solidFill>
              <a:srgbClr val="A5D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188720"/>
            <a:ext cx="1417320" cy="274320"/>
          </a:xfrm>
          <a:prstGeom prst="rect">
            <a:avLst/>
          </a:prstGeom>
          <a:solidFill>
            <a:srgbClr val="06080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188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"Ahmed"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2542032"/>
            <a:ext cx="1417320" cy="237744"/>
          </a:xfrm>
          <a:prstGeom prst="rect">
            <a:avLst/>
          </a:prstGeom>
          <a:solidFill>
            <a:srgbClr val="06080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4203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D6FF"/>
                </a:solidFill>
              </a:rPr>
              <a:t>String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1280160"/>
          </a:xfrm>
          <a:prstGeom prst="rect">
            <a:avLst/>
          </a:prstGeom>
          <a:solidFill>
            <a:srgbClr val="141824"/>
          </a:solidFill>
          <a:ln w="25400">
            <a:solidFill>
              <a:srgbClr val="79C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188720"/>
            <a:ext cx="1417320" cy="274320"/>
          </a:xfrm>
          <a:prstGeom prst="rect">
            <a:avLst/>
          </a:prstGeom>
          <a:solidFill>
            <a:srgbClr val="06080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188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2588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86200" y="2542032"/>
            <a:ext cx="1417320" cy="237744"/>
          </a:xfrm>
          <a:prstGeom prst="rect">
            <a:avLst/>
          </a:prstGeom>
          <a:solidFill>
            <a:srgbClr val="06080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54203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9C0FF"/>
                </a:solidFill>
              </a:rPr>
              <a:t>Number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06040" cy="1280160"/>
          </a:xfrm>
          <a:prstGeom prst="rect">
            <a:avLst/>
          </a:prstGeom>
          <a:solidFill>
            <a:srgbClr val="141824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188720"/>
            <a:ext cx="1417320" cy="274320"/>
          </a:xfrm>
          <a:prstGeom prst="rect">
            <a:avLst/>
          </a:prstGeom>
          <a:solidFill>
            <a:srgbClr val="06080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188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isStudent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32588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20840" y="2542032"/>
            <a:ext cx="1417320" cy="237744"/>
          </a:xfrm>
          <a:prstGeom prst="rect">
            <a:avLst/>
          </a:prstGeom>
          <a:solidFill>
            <a:srgbClr val="06080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54203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Boolean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321040" cy="160020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45720" cy="16002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0632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</a:t>
            </a:r>
            <a:r>
              <a:rPr lang="en-US" sz="1300" dirty="0">
                <a:solidFill>
                  <a:srgbClr val="C0C8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3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"Ahmed"</a:t>
            </a:r>
            <a:r>
              <a:rPr lang="en-US" sz="1300" dirty="0">
                <a:solidFill>
                  <a:srgbClr val="C0C8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   </a:t>
            </a:r>
            <a:r>
              <a:rPr lang="en-US" sz="130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Stores a name (String)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35021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3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</a:t>
            </a:r>
            <a:r>
              <a:rPr lang="en-US" sz="1300" dirty="0">
                <a:solidFill>
                  <a:srgbClr val="C0C8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3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r>
              <a:rPr lang="en-US" sz="1300" dirty="0">
                <a:solidFill>
                  <a:srgbClr val="C0C8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      </a:t>
            </a:r>
            <a:r>
              <a:rPr lang="en-US" sz="130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Stores a number (Number)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3941064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3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isStudent</a:t>
            </a:r>
            <a:r>
              <a:rPr lang="en-US" sz="1300" dirty="0">
                <a:solidFill>
                  <a:srgbClr val="C0C8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3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r>
              <a:rPr lang="en-US" sz="1300" dirty="0">
                <a:solidFill>
                  <a:srgbClr val="C0C8D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  </a:t>
            </a:r>
            <a:r>
              <a:rPr lang="en-US" sz="130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Stores yes/no (Boolean)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 ·  let  ·  const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520440"/>
          </a:xfrm>
          <a:prstGeom prst="rect">
            <a:avLst/>
          </a:prstGeom>
          <a:solidFill>
            <a:srgbClr val="141824"/>
          </a:solidFill>
          <a:ln w="25400">
            <a:solidFill>
              <a:srgbClr val="8B94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2103120" cy="256032"/>
          </a:xfrm>
          <a:prstGeom prst="rect">
            <a:avLst/>
          </a:prstGeom>
          <a:solidFill>
            <a:srgbClr val="FF7B72">
              <a:alpha val="18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B72"/>
                </a:solidFill>
              </a:rPr>
              <a:t>AVOID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Legacy Keyword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23113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Reassignable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0545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Function-scoped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77977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099"/>
                </a:solidFill>
              </a:rPr>
              <a:t>— Hoisting issues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05409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099"/>
                </a:solidFill>
              </a:rPr>
              <a:t>— Pre-ES6 (2015)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2560320" cy="658368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401568"/>
            <a:ext cx="24505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score = 10;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20;  // 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914400"/>
            <a:ext cx="2743200" cy="3520440"/>
          </a:xfrm>
          <a:prstGeom prst="rect">
            <a:avLst/>
          </a:prstGeom>
          <a:solidFill>
            <a:srgbClr val="141824"/>
          </a:solidFill>
          <a:ln w="25400">
            <a:solidFill>
              <a:srgbClr val="4ECDC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914400"/>
            <a:ext cx="27432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058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3611880" y="1572768"/>
            <a:ext cx="2103120" cy="256032"/>
          </a:xfrm>
          <a:prstGeom prst="rect">
            <a:avLst/>
          </a:prstGeom>
          <a:solidFill>
            <a:srgbClr val="39D353">
              <a:alpha val="18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5727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D353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18836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Flexible Variable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23113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Reassignable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56432" y="250545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Block-scoped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56432" y="277977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Modern ES6+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56432" y="305409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Use when value changes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364992"/>
            <a:ext cx="2560320" cy="658368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8144" y="3401568"/>
            <a:ext cx="24505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score = 0;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50;  // 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914400"/>
            <a:ext cx="2743200" cy="3520440"/>
          </a:xfrm>
          <a:prstGeom prst="rect">
            <a:avLst/>
          </a:prstGeom>
          <a:solidFill>
            <a:srgbClr val="141824"/>
          </a:solidFill>
          <a:ln w="25400">
            <a:solidFill>
              <a:srgbClr val="F7C94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0058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6537960" y="1572768"/>
            <a:ext cx="2103120" cy="256032"/>
          </a:xfrm>
          <a:prstGeom prst="rect">
            <a:avLst/>
          </a:prstGeom>
          <a:solidFill>
            <a:srgbClr val="F7C948">
              <a:alpha val="18000"/>
            </a:srgbClr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57276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948"/>
                </a:solidFill>
              </a:rPr>
              <a:t>DEFAULT CHOICE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8836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Constant Variable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223113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Not reassignable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82512" y="250545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Block-scoped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82512" y="277977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Modern ES6+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82512" y="305409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C8DC"/>
                </a:solidFill>
              </a:rPr>
              <a:t>— Use most of the 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364992"/>
            <a:ext cx="2560320" cy="658368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401568"/>
            <a:ext cx="24505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PI = 3.14;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 = 3;  // ERROR 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solidFill>
            <a:srgbClr val="14120A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Golden Rule:  Default to  const  —  switch to  let  only when the value must change  —  never use  var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Naming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3291840"/>
          </a:xfrm>
          <a:prstGeom prst="rect">
            <a:avLst/>
          </a:prstGeom>
          <a:solidFill>
            <a:srgbClr val="141824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6908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</a:rPr>
              <a:t>✅  Valid Names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43560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camelCase — preferred standard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1109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91109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Digits allowed (not at start)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_private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386584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Underscore prefix is valid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6207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86207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UPPER_CASE for constants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isLoggedIn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33756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is / has prefix for booleans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14400"/>
            <a:ext cx="4069080" cy="3291840"/>
          </a:xfrm>
          <a:prstGeom prst="rect">
            <a:avLst/>
          </a:prstGeom>
          <a:solidFill>
            <a:srgbClr val="141824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914400"/>
            <a:ext cx="406908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B72"/>
                </a:solidFill>
              </a:rPr>
              <a:t>❌  Invalid Names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43560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143560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Cannot start with a digit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1109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my-name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911096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Hyphens are not allowed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38658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386584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Reserved keywords forbidden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8620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 name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86207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Spaces are not permitted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33756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نام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33756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Non-ASCII characters: avoid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14120A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7083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C948"/>
                </a:solidFill>
              </a:rPr>
              <a:t>🐪  camelCase Convention:  first word lowercase, each subsequent word starts with a capital letter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C948"/>
                </a:solidFill>
              </a:rPr>
              <a:t>       e.g.  firstName  ·  totalScore  ·  isUserLoggedIn  ·  numberOfItems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Data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965960" cy="45720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Text &amp; Characters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3776" y="1993392"/>
            <a:ext cx="1709928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993392"/>
            <a:ext cx="1709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 World"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914400"/>
            <a:ext cx="196596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914400"/>
            <a:ext cx="1965960" cy="457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00584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1444752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Number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7168" y="173736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Integers &amp; Decimals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15184" y="1993392"/>
            <a:ext cx="1709928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1993392"/>
            <a:ext cx="1709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  /  3.14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914400"/>
            <a:ext cx="196596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914400"/>
            <a:ext cx="19659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00584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08576" y="1444752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Boolean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173736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Logical True or False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1993392"/>
            <a:ext cx="1709928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993392"/>
            <a:ext cx="1709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/  false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9984" y="914400"/>
            <a:ext cx="196596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7A80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9984" y="914400"/>
            <a:ext cx="1965960" cy="45720"/>
          </a:xfrm>
          <a:prstGeom prst="rect">
            <a:avLst/>
          </a:prstGeom>
          <a:solidFill>
            <a:srgbClr val="7A8099"/>
          </a:solidFill>
          <a:ln w="12700">
            <a:solidFill>
              <a:srgbClr val="7A80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1005840"/>
            <a:ext cx="1965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9984" y="1444752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9984" y="173736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Intentionally Empty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1993392"/>
            <a:ext cx="1709928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993392"/>
            <a:ext cx="17099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2697480"/>
            <a:ext cx="224028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2697480"/>
            <a:ext cx="2240280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2960" y="322783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352044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No Value Assigned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05840" y="3776472"/>
            <a:ext cx="1874520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3776472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undefined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2697480"/>
            <a:ext cx="224028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F7C9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2697480"/>
            <a:ext cx="2240280" cy="4572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337560" y="322783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Object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337560" y="352044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Key-Value Collection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20440" y="3776472"/>
            <a:ext cx="1874520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3776472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key: value 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52160" y="2697480"/>
            <a:ext cx="2240280" cy="1645920"/>
          </a:xfrm>
          <a:prstGeom prst="rect">
            <a:avLst/>
          </a:prstGeom>
          <a:solidFill>
            <a:srgbClr val="141824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2160" y="2697480"/>
            <a:ext cx="224028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852160" y="322783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Array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852160" y="352044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099"/>
                </a:solidFill>
              </a:rPr>
              <a:t>Ordered List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035040" y="3776472"/>
            <a:ext cx="1874520" cy="237744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776472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 2, 3]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099"/>
                </a:solidFill>
              </a:rPr>
              <a:t>Use the  typeof  operator to check any value's type at runtime  —  e.g.  typeof "Hello"  returns  "string"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&amp; Number — In Depth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A5D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60520" cy="54864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FF"/>
                </a:solidFill>
              </a:rPr>
              <a:t>📝  String  —  Text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</a:rPr>
              <a:t>Wrap text in quotes. Single, double, or backtick.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886200" cy="2999232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name = "Ahmed";       // Double quotes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city = 'Lahore';      // Single quotes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msg = `Hello ${name}`;// Template literal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79776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127248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Useful string methods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console.log(name.length);     // 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console.log(name.toUpperCase()); // "AHMED"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169664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console.log(name + " " + city);  // "Ahmed Lahore"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914400"/>
            <a:ext cx="4160520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79C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914400"/>
            <a:ext cx="4160520" cy="5486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9C0FF"/>
                </a:solidFill>
              </a:rPr>
              <a:t>🔢  Number  —  Numeric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3716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</a:rPr>
              <a:t>Integers and decimals share the same type in JS.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664208"/>
            <a:ext cx="3886200" cy="2999232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3736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age  = 20;             // Integer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08483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cgpa = 3.85;           // Decimal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432304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temp = -5;             // Negative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779776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127248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Arithmetic &amp; Math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console.log(age + 5);          // 25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3822192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console.log(cgpa * 10);        // 38.5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4169664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console.log(Math.round(cgpa)); // 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Boolean  ·  Null  ·  Undefined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24912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72491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7249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Boolean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25420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Represents only two states: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true or false.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2542032" cy="23317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450592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isLoggedIn = true;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isPaid     = false;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(isLoggedIn)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console.log('Welcome!');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console.log(5 &gt; 3);  // true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914400"/>
            <a:ext cx="2724912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7A80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914400"/>
            <a:ext cx="2724912" cy="54864"/>
          </a:xfrm>
          <a:prstGeom prst="rect">
            <a:avLst/>
          </a:prstGeom>
          <a:solidFill>
            <a:srgbClr val="7A8099"/>
          </a:solidFill>
          <a:ln w="12700">
            <a:solidFill>
              <a:srgbClr val="7A80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05840"/>
            <a:ext cx="27249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🕳️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1481328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01568" y="1856232"/>
            <a:ext cx="25420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Explicitly set to 'no value'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by the developer.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01568" y="2395728"/>
            <a:ext cx="2542032" cy="23317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450592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selectedItem = null;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Nothing selected yet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selectedItem = 'Laptop';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Now it has a value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console.log(typeof null);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'object' — a known JS quirk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54496" y="914400"/>
            <a:ext cx="2724912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914400"/>
            <a:ext cx="2724912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005840"/>
            <a:ext cx="272491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54496" y="1481328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Undefined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45936" y="1856232"/>
            <a:ext cx="25420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Variable declared but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C8DC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no value has been assigned.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45936" y="2395728"/>
            <a:ext cx="2542032" cy="233172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50592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x;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console.log(x);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undefined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obj = { name: 'Ali' };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console.log(obj.age);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undefined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solidFill>
            <a:srgbClr val="0E1117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7316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099"/>
                </a:solidFill>
              </a:rPr>
              <a:t>null  =  intentionally empty (developer's choice)    |    undefined  =  never assigned  —  they are not interchangeable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&amp; Array — Complex Types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914400"/>
            <a:ext cx="4160520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F7C948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914400"/>
            <a:ext cx="4160520" cy="5486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C948"/>
                </a:solidFill>
              </a:rPr>
              <a:t>📦  Object  —  Key / Value Pairs</a:t>
            </a:r>
            <a:endParaRPr lang="en-US" sz="13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02920" y="13716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</a:rPr>
              <a:t>Groups related data into a single structure.</a:t>
            </a:r>
            <a:endParaRPr lang="en-US" sz="10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502920" y="1664208"/>
            <a:ext cx="3886200" cy="2999232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594360" y="1719072"/>
            <a:ext cx="3703320" cy="2907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student =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 "Fatima",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age:   21,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city:  "Karachi",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pass:  true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Property access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console.log(student.name);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"Fatima"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console.log(student["age"]);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21</a:t>
            </a:r>
            <a:endParaRPr lang="en-US" sz="105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709160" y="914400"/>
            <a:ext cx="4160520" cy="3977640"/>
          </a:xfrm>
          <a:prstGeom prst="rect">
            <a:avLst/>
          </a:prstGeom>
          <a:solidFill>
            <a:srgbClr val="141824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709160" y="914400"/>
            <a:ext cx="416052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</a:rPr>
              <a:t>📋  Array  —  Ordered List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846320" y="13716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</a:rPr>
              <a:t>Holds multiple values. Index starts at 0.</a:t>
            </a:r>
            <a:endParaRPr lang="en-US" sz="10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846320" y="1664208"/>
            <a:ext cx="3886200" cy="2999232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937760" y="1719072"/>
            <a:ext cx="3703320" cy="2907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subjects = 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"Math", "CS", "English"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 by index (starts at 0)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console.log(subjects[0]);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"Math"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console.log(subjects.length);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3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Add a new item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subjects.push("Physics");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20116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C948"/>
                </a:solidFill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77640"/>
          </a:xfrm>
          <a:prstGeom prst="rect">
            <a:avLst/>
          </a:prstGeom>
          <a:solidFill>
            <a:srgbClr val="080C14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397764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12064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00584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005840"/>
            <a:ext cx="109728" cy="109728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96926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student.js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" y="1298448"/>
            <a:ext cx="4828032" cy="3538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Modeling a student record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student =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    "Fatima",           // String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age:      21,                // Number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cgpa:     3.85,              // Number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enrolled: true,              // Boolean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city:     "Karachi",         // String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subjects: ["Math", "CS"],    // Array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guardian: null               // Null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console.log(student.name);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"Fatima"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console.log(student.subjects[0]);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"Math"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console.log(typeof student.cgpa);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DD9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"number"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00584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C948"/>
                </a:solidFill>
              </a:rPr>
              <a:t>Type Breakdown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06324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4630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146304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099"/>
                </a:solidFill>
              </a:rPr>
              <a:t>String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947672"/>
            <a:ext cx="306324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99339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199339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099"/>
                </a:solidFill>
              </a:rPr>
              <a:t>Number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478024"/>
            <a:ext cx="306324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523744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cgpa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2523744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099"/>
                </a:solidFill>
              </a:rPr>
              <a:t>Number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008376"/>
            <a:ext cx="306324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0448" y="305409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enrolled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305409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099"/>
                </a:solidFill>
              </a:rPr>
              <a:t>Boolean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538728"/>
            <a:ext cx="306324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358444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subjects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584448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099"/>
                </a:solidFill>
              </a:rPr>
              <a:t>Array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4069080"/>
            <a:ext cx="306324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7A8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0448" y="41148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0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guardian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1148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099"/>
                </a:solidFill>
              </a:rPr>
              <a:t>Null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10058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2"/>
            </p:custDataLst>
          </p:nvPr>
        </p:nvSpPr>
        <p:spPr>
          <a:xfrm>
            <a:off x="19202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3"/>
            </p:custDataLst>
          </p:nvPr>
        </p:nvSpPr>
        <p:spPr>
          <a:xfrm>
            <a:off x="28346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4"/>
            </p:custDataLst>
          </p:nvPr>
        </p:nvSpPr>
        <p:spPr>
          <a:xfrm>
            <a:off x="37490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5"/>
            </p:custDataLst>
          </p:nvPr>
        </p:nvSpPr>
        <p:spPr>
          <a:xfrm>
            <a:off x="46634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6"/>
            </p:custDataLst>
          </p:nvPr>
        </p:nvSpPr>
        <p:spPr>
          <a:xfrm>
            <a:off x="55778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7"/>
            </p:custDataLst>
          </p:nvPr>
        </p:nvSpPr>
        <p:spPr>
          <a:xfrm>
            <a:off x="64922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8"/>
            </p:custDataLst>
          </p:nvPr>
        </p:nvSpPr>
        <p:spPr>
          <a:xfrm>
            <a:off x="74066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9"/>
            </p:custDataLst>
          </p:nvPr>
        </p:nvSpPr>
        <p:spPr>
          <a:xfrm>
            <a:off x="8321040" y="91440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10"/>
            </p:custDataLst>
          </p:nvPr>
        </p:nvSpPr>
        <p:spPr>
          <a:xfrm>
            <a:off x="10058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1"/>
            </p:custDataLst>
          </p:nvPr>
        </p:nvSpPr>
        <p:spPr>
          <a:xfrm>
            <a:off x="19202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12"/>
            </p:custDataLst>
          </p:nvPr>
        </p:nvSpPr>
        <p:spPr>
          <a:xfrm>
            <a:off x="28346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13"/>
            </p:custDataLst>
          </p:nvPr>
        </p:nvSpPr>
        <p:spPr>
          <a:xfrm>
            <a:off x="37490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14"/>
            </p:custDataLst>
          </p:nvPr>
        </p:nvSpPr>
        <p:spPr>
          <a:xfrm>
            <a:off x="46634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>
            <p:custDataLst>
              <p:tags r:id="rId15"/>
            </p:custDataLst>
          </p:nvPr>
        </p:nvSpPr>
        <p:spPr>
          <a:xfrm>
            <a:off x="55778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16"/>
            </p:custDataLst>
          </p:nvPr>
        </p:nvSpPr>
        <p:spPr>
          <a:xfrm>
            <a:off x="64922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>
            <p:custDataLst>
              <p:tags r:id="rId17"/>
            </p:custDataLst>
          </p:nvPr>
        </p:nvSpPr>
        <p:spPr>
          <a:xfrm>
            <a:off x="74066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>
            <p:custDataLst>
              <p:tags r:id="rId18"/>
            </p:custDataLst>
          </p:nvPr>
        </p:nvSpPr>
        <p:spPr>
          <a:xfrm>
            <a:off x="8321040" y="173736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>
            <p:custDataLst>
              <p:tags r:id="rId19"/>
            </p:custDataLst>
          </p:nvPr>
        </p:nvSpPr>
        <p:spPr>
          <a:xfrm>
            <a:off x="10058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0"/>
            </p:custDataLst>
          </p:nvPr>
        </p:nvSpPr>
        <p:spPr>
          <a:xfrm>
            <a:off x="19202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>
            <p:custDataLst>
              <p:tags r:id="rId21"/>
            </p:custDataLst>
          </p:nvPr>
        </p:nvSpPr>
        <p:spPr>
          <a:xfrm>
            <a:off x="28346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>
            <p:custDataLst>
              <p:tags r:id="rId22"/>
            </p:custDataLst>
          </p:nvPr>
        </p:nvSpPr>
        <p:spPr>
          <a:xfrm>
            <a:off x="37490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>
            <p:custDataLst>
              <p:tags r:id="rId23"/>
            </p:custDataLst>
          </p:nvPr>
        </p:nvSpPr>
        <p:spPr>
          <a:xfrm>
            <a:off x="46634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>
            <p:custDataLst>
              <p:tags r:id="rId24"/>
            </p:custDataLst>
          </p:nvPr>
        </p:nvSpPr>
        <p:spPr>
          <a:xfrm>
            <a:off x="55778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>
            <p:custDataLst>
              <p:tags r:id="rId25"/>
            </p:custDataLst>
          </p:nvPr>
        </p:nvSpPr>
        <p:spPr>
          <a:xfrm>
            <a:off x="64922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>
            <p:custDataLst>
              <p:tags r:id="rId26"/>
            </p:custDataLst>
          </p:nvPr>
        </p:nvSpPr>
        <p:spPr>
          <a:xfrm>
            <a:off x="74066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>
            <p:custDataLst>
              <p:tags r:id="rId27"/>
            </p:custDataLst>
          </p:nvPr>
        </p:nvSpPr>
        <p:spPr>
          <a:xfrm>
            <a:off x="8321040" y="256032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>
            <p:custDataLst>
              <p:tags r:id="rId28"/>
            </p:custDataLst>
          </p:nvPr>
        </p:nvSpPr>
        <p:spPr>
          <a:xfrm>
            <a:off x="10058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>
            <p:custDataLst>
              <p:tags r:id="rId29"/>
            </p:custDataLst>
          </p:nvPr>
        </p:nvSpPr>
        <p:spPr>
          <a:xfrm>
            <a:off x="19202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5" name="Shape 43"/>
          <p:cNvSpPr/>
          <p:nvPr>
            <p:custDataLst>
              <p:tags r:id="rId30"/>
            </p:custDataLst>
          </p:nvPr>
        </p:nvSpPr>
        <p:spPr>
          <a:xfrm>
            <a:off x="28346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6" name="Shape 44"/>
          <p:cNvSpPr/>
          <p:nvPr>
            <p:custDataLst>
              <p:tags r:id="rId31"/>
            </p:custDataLst>
          </p:nvPr>
        </p:nvSpPr>
        <p:spPr>
          <a:xfrm>
            <a:off x="37490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>
            <p:custDataLst>
              <p:tags r:id="rId32"/>
            </p:custDataLst>
          </p:nvPr>
        </p:nvSpPr>
        <p:spPr>
          <a:xfrm>
            <a:off x="46634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8" name="Shape 46"/>
          <p:cNvSpPr/>
          <p:nvPr>
            <p:custDataLst>
              <p:tags r:id="rId33"/>
            </p:custDataLst>
          </p:nvPr>
        </p:nvSpPr>
        <p:spPr>
          <a:xfrm>
            <a:off x="55778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49" name="Shape 47"/>
          <p:cNvSpPr/>
          <p:nvPr>
            <p:custDataLst>
              <p:tags r:id="rId34"/>
            </p:custDataLst>
          </p:nvPr>
        </p:nvSpPr>
        <p:spPr>
          <a:xfrm>
            <a:off x="64922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0" name="Shape 48"/>
          <p:cNvSpPr/>
          <p:nvPr>
            <p:custDataLst>
              <p:tags r:id="rId35"/>
            </p:custDataLst>
          </p:nvPr>
        </p:nvSpPr>
        <p:spPr>
          <a:xfrm>
            <a:off x="74066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>
            <p:custDataLst>
              <p:tags r:id="rId36"/>
            </p:custDataLst>
          </p:nvPr>
        </p:nvSpPr>
        <p:spPr>
          <a:xfrm>
            <a:off x="8321040" y="338328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3" name="Shape 51"/>
          <p:cNvSpPr/>
          <p:nvPr>
            <p:custDataLst>
              <p:tags r:id="rId37"/>
            </p:custDataLst>
          </p:nvPr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4" name="Shape 52"/>
          <p:cNvSpPr/>
          <p:nvPr>
            <p:custDataLst>
              <p:tags r:id="rId38"/>
            </p:custDataLst>
          </p:nvPr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5" name="Shape 53"/>
          <p:cNvSpPr/>
          <p:nvPr>
            <p:custDataLst>
              <p:tags r:id="rId39"/>
            </p:custDataLst>
          </p:nvPr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6" name="Shape 54"/>
          <p:cNvSpPr/>
          <p:nvPr>
            <p:custDataLst>
              <p:tags r:id="rId40"/>
            </p:custDataLst>
          </p:nvPr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7" name="Shape 55"/>
          <p:cNvSpPr/>
          <p:nvPr>
            <p:custDataLst>
              <p:tags r:id="rId41"/>
            </p:custDataLst>
          </p:nvPr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8" name="Shape 56"/>
          <p:cNvSpPr/>
          <p:nvPr>
            <p:custDataLst>
              <p:tags r:id="rId42"/>
            </p:custDataLst>
          </p:nvPr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59" name="Shape 57"/>
          <p:cNvSpPr/>
          <p:nvPr>
            <p:custDataLst>
              <p:tags r:id="rId43"/>
            </p:custDataLst>
          </p:nvPr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60" name="Shape 58"/>
          <p:cNvSpPr/>
          <p:nvPr>
            <p:custDataLst>
              <p:tags r:id="rId44"/>
            </p:custDataLst>
          </p:nvPr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61" name="Shape 59"/>
          <p:cNvSpPr/>
          <p:nvPr>
            <p:custDataLst>
              <p:tags r:id="rId45"/>
            </p:custDataLst>
          </p:nvPr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F7C948">
              <a:alpha val="10000"/>
            </a:srgbClr>
          </a:solidFill>
          <a:ln w="12700">
            <a:solidFill>
              <a:srgbClr val="F7C948">
                <a:alpha val="1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 Summary</a:t>
            </a:r>
            <a:endParaRPr lang="en-US" sz="3400" dirty="0"/>
          </a:p>
        </p:txBody>
      </p:sp>
      <p:sp>
        <p:nvSpPr>
          <p:cNvPr id="63" name="Shape 61"/>
          <p:cNvSpPr/>
          <p:nvPr>
            <p:custDataLst>
              <p:tags r:id="rId46"/>
            </p:custDataLst>
          </p:nvPr>
        </p:nvSpPr>
        <p:spPr>
          <a:xfrm>
            <a:off x="365760" y="914400"/>
            <a:ext cx="4160520" cy="1078992"/>
          </a:xfrm>
          <a:prstGeom prst="rect">
            <a:avLst/>
          </a:prstGeom>
          <a:solidFill>
            <a:srgbClr val="141824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64" name="Shape 62"/>
          <p:cNvSpPr/>
          <p:nvPr>
            <p:custDataLst>
              <p:tags r:id="rId47"/>
            </p:custDataLst>
          </p:nvPr>
        </p:nvSpPr>
        <p:spPr>
          <a:xfrm>
            <a:off x="365760" y="914400"/>
            <a:ext cx="54864" cy="10789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>
            <p:custDataLst>
              <p:tags r:id="rId48"/>
            </p:custDataLst>
          </p:nvPr>
        </p:nvSpPr>
        <p:spPr>
          <a:xfrm>
            <a:off x="512064" y="10058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66" name="Text 64"/>
          <p:cNvSpPr/>
          <p:nvPr>
            <p:custDataLst>
              <p:tags r:id="rId49"/>
            </p:custDataLst>
          </p:nvPr>
        </p:nvSpPr>
        <p:spPr>
          <a:xfrm>
            <a:off x="987552" y="10058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JavaScript?</a:t>
            </a:r>
            <a:endParaRPr lang="en-US" sz="1300" dirty="0"/>
          </a:p>
        </p:txBody>
      </p:sp>
      <p:sp>
        <p:nvSpPr>
          <p:cNvPr id="67" name="Text 65"/>
          <p:cNvSpPr/>
          <p:nvPr>
            <p:custDataLst>
              <p:tags r:id="rId50"/>
            </p:custDataLst>
          </p:nvPr>
        </p:nvSpPr>
        <p:spPr>
          <a:xfrm>
            <a:off x="512064" y="1353312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HTML = structure  ·  CSS = presentation  ·  JS = behaviour and logic</a:t>
            </a:r>
            <a:endParaRPr lang="en-US" sz="1000" dirty="0"/>
          </a:p>
        </p:txBody>
      </p:sp>
      <p:sp>
        <p:nvSpPr>
          <p:cNvPr id="68" name="Shape 66"/>
          <p:cNvSpPr/>
          <p:nvPr>
            <p:custDataLst>
              <p:tags r:id="rId51"/>
            </p:custDataLst>
          </p:nvPr>
        </p:nvSpPr>
        <p:spPr>
          <a:xfrm>
            <a:off x="4709160" y="914400"/>
            <a:ext cx="4160520" cy="1078992"/>
          </a:xfrm>
          <a:prstGeom prst="rect">
            <a:avLst/>
          </a:prstGeom>
          <a:solidFill>
            <a:srgbClr val="14182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9" name="Shape 67"/>
          <p:cNvSpPr/>
          <p:nvPr>
            <p:custDataLst>
              <p:tags r:id="rId52"/>
            </p:custDataLst>
          </p:nvPr>
        </p:nvSpPr>
        <p:spPr>
          <a:xfrm>
            <a:off x="4709160" y="914400"/>
            <a:ext cx="54864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0" name="Text 68"/>
          <p:cNvSpPr/>
          <p:nvPr>
            <p:custDataLst>
              <p:tags r:id="rId53"/>
            </p:custDataLst>
          </p:nvPr>
        </p:nvSpPr>
        <p:spPr>
          <a:xfrm>
            <a:off x="4855464" y="10058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71" name="Text 69"/>
          <p:cNvSpPr/>
          <p:nvPr>
            <p:custDataLst>
              <p:tags r:id="rId54"/>
            </p:custDataLst>
          </p:nvPr>
        </p:nvSpPr>
        <p:spPr>
          <a:xfrm>
            <a:off x="5330952" y="10058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console.log()</a:t>
            </a:r>
            <a:endParaRPr lang="en-US" sz="1300" dirty="0"/>
          </a:p>
        </p:txBody>
      </p:sp>
      <p:sp>
        <p:nvSpPr>
          <p:cNvPr id="72" name="Text 70"/>
          <p:cNvSpPr/>
          <p:nvPr>
            <p:custDataLst>
              <p:tags r:id="rId55"/>
            </p:custDataLst>
          </p:nvPr>
        </p:nvSpPr>
        <p:spPr>
          <a:xfrm>
            <a:off x="4855464" y="1353312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Primary debugging tool. Open DevTools (F12) → Console to run JS interactively.</a:t>
            </a:r>
            <a:endParaRPr lang="en-US" sz="1000" dirty="0"/>
          </a:p>
        </p:txBody>
      </p:sp>
      <p:sp>
        <p:nvSpPr>
          <p:cNvPr id="73" name="Shape 71"/>
          <p:cNvSpPr/>
          <p:nvPr>
            <p:custDataLst>
              <p:tags r:id="rId56"/>
            </p:custDataLst>
          </p:nvPr>
        </p:nvSpPr>
        <p:spPr>
          <a:xfrm>
            <a:off x="365760" y="2121408"/>
            <a:ext cx="4160520" cy="1078992"/>
          </a:xfrm>
          <a:prstGeom prst="rect">
            <a:avLst/>
          </a:prstGeom>
          <a:solidFill>
            <a:srgbClr val="141824"/>
          </a:solidFill>
          <a:ln w="19050">
            <a:solidFill>
              <a:srgbClr val="F7C948"/>
            </a:solidFill>
            <a:prstDash val="solid"/>
          </a:ln>
        </p:spPr>
      </p:sp>
      <p:sp>
        <p:nvSpPr>
          <p:cNvPr id="74" name="Shape 72"/>
          <p:cNvSpPr/>
          <p:nvPr>
            <p:custDataLst>
              <p:tags r:id="rId57"/>
            </p:custDataLst>
          </p:nvPr>
        </p:nvSpPr>
        <p:spPr>
          <a:xfrm>
            <a:off x="365760" y="2121408"/>
            <a:ext cx="54864" cy="107899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75" name="Text 73"/>
          <p:cNvSpPr/>
          <p:nvPr>
            <p:custDataLst>
              <p:tags r:id="rId58"/>
            </p:custDataLst>
          </p:nvPr>
        </p:nvSpPr>
        <p:spPr>
          <a:xfrm>
            <a:off x="512064" y="221284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C94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76" name="Text 74"/>
          <p:cNvSpPr/>
          <p:nvPr>
            <p:custDataLst>
              <p:tags r:id="rId59"/>
            </p:custDataLst>
          </p:nvPr>
        </p:nvSpPr>
        <p:spPr>
          <a:xfrm>
            <a:off x="987552" y="221284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 / let / var</a:t>
            </a:r>
            <a:endParaRPr lang="en-US" sz="1300" dirty="0"/>
          </a:p>
        </p:txBody>
      </p:sp>
      <p:sp>
        <p:nvSpPr>
          <p:cNvPr id="77" name="Text 75"/>
          <p:cNvSpPr/>
          <p:nvPr>
            <p:custDataLst>
              <p:tags r:id="rId60"/>
            </p:custDataLst>
          </p:nvPr>
        </p:nvSpPr>
        <p:spPr>
          <a:xfrm>
            <a:off x="512064" y="2560320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Default to const. Use let when reassignment is needed. Never use var.</a:t>
            </a:r>
            <a:endParaRPr lang="en-US" sz="1000" dirty="0"/>
          </a:p>
        </p:txBody>
      </p:sp>
      <p:sp>
        <p:nvSpPr>
          <p:cNvPr id="78" name="Shape 76"/>
          <p:cNvSpPr/>
          <p:nvPr>
            <p:custDataLst>
              <p:tags r:id="rId61"/>
            </p:custDataLst>
          </p:nvPr>
        </p:nvSpPr>
        <p:spPr>
          <a:xfrm>
            <a:off x="4709160" y="2121408"/>
            <a:ext cx="4160520" cy="1078992"/>
          </a:xfrm>
          <a:prstGeom prst="rect">
            <a:avLst/>
          </a:prstGeom>
          <a:solidFill>
            <a:srgbClr val="141824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79" name="Shape 77"/>
          <p:cNvSpPr/>
          <p:nvPr>
            <p:custDataLst>
              <p:tags r:id="rId62"/>
            </p:custDataLst>
          </p:nvPr>
        </p:nvSpPr>
        <p:spPr>
          <a:xfrm>
            <a:off x="4709160" y="2121408"/>
            <a:ext cx="54864" cy="10789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0" name="Text 78"/>
          <p:cNvSpPr/>
          <p:nvPr>
            <p:custDataLst>
              <p:tags r:id="rId63"/>
            </p:custDataLst>
          </p:nvPr>
        </p:nvSpPr>
        <p:spPr>
          <a:xfrm>
            <a:off x="4855464" y="221284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81" name="Text 79"/>
          <p:cNvSpPr/>
          <p:nvPr>
            <p:custDataLst>
              <p:tags r:id="rId64"/>
            </p:custDataLst>
          </p:nvPr>
        </p:nvSpPr>
        <p:spPr>
          <a:xfrm>
            <a:off x="5330952" y="221284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Data Types</a:t>
            </a:r>
            <a:endParaRPr lang="en-US" sz="1300" dirty="0"/>
          </a:p>
        </p:txBody>
      </p:sp>
      <p:sp>
        <p:nvSpPr>
          <p:cNvPr id="82" name="Text 80"/>
          <p:cNvSpPr/>
          <p:nvPr>
            <p:custDataLst>
              <p:tags r:id="rId65"/>
            </p:custDataLst>
          </p:nvPr>
        </p:nvSpPr>
        <p:spPr>
          <a:xfrm>
            <a:off x="4855464" y="2560320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String · Number · Boolean · Null · Undefined · Object · Array</a:t>
            </a:r>
            <a:endParaRPr lang="en-US" sz="1000" dirty="0"/>
          </a:p>
        </p:txBody>
      </p:sp>
      <p:sp>
        <p:nvSpPr>
          <p:cNvPr id="83" name="Shape 81"/>
          <p:cNvSpPr/>
          <p:nvPr>
            <p:custDataLst>
              <p:tags r:id="rId66"/>
            </p:custDataLst>
          </p:nvPr>
        </p:nvSpPr>
        <p:spPr>
          <a:xfrm>
            <a:off x="365760" y="3328416"/>
            <a:ext cx="4160520" cy="1078992"/>
          </a:xfrm>
          <a:prstGeom prst="rect">
            <a:avLst/>
          </a:prstGeom>
          <a:solidFill>
            <a:srgbClr val="141824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84" name="Shape 82"/>
          <p:cNvSpPr/>
          <p:nvPr>
            <p:custDataLst>
              <p:tags r:id="rId67"/>
            </p:custDataLst>
          </p:nvPr>
        </p:nvSpPr>
        <p:spPr>
          <a:xfrm>
            <a:off x="365760" y="3328416"/>
            <a:ext cx="54864" cy="10789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5" name="Text 83"/>
          <p:cNvSpPr/>
          <p:nvPr>
            <p:custDataLst>
              <p:tags r:id="rId68"/>
            </p:custDataLst>
          </p:nvPr>
        </p:nvSpPr>
        <p:spPr>
          <a:xfrm>
            <a:off x="512064" y="341985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86" name="Text 84"/>
          <p:cNvSpPr/>
          <p:nvPr>
            <p:custDataLst>
              <p:tags r:id="rId69"/>
            </p:custDataLst>
          </p:nvPr>
        </p:nvSpPr>
        <p:spPr>
          <a:xfrm>
            <a:off x="987552" y="341985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typeof operator</a:t>
            </a:r>
            <a:endParaRPr lang="en-US" sz="1300" dirty="0"/>
          </a:p>
        </p:txBody>
      </p:sp>
      <p:sp>
        <p:nvSpPr>
          <p:cNvPr id="87" name="Text 85"/>
          <p:cNvSpPr/>
          <p:nvPr>
            <p:custDataLst>
              <p:tags r:id="rId70"/>
            </p:custDataLst>
          </p:nvPr>
        </p:nvSpPr>
        <p:spPr>
          <a:xfrm>
            <a:off x="512064" y="376732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Inspect any value's type at runtime:  typeof 42  →  "number"</a:t>
            </a:r>
            <a:endParaRPr lang="en-US" sz="1000" dirty="0"/>
          </a:p>
        </p:txBody>
      </p:sp>
      <p:sp>
        <p:nvSpPr>
          <p:cNvPr id="88" name="Shape 86"/>
          <p:cNvSpPr/>
          <p:nvPr>
            <p:custDataLst>
              <p:tags r:id="rId71"/>
            </p:custDataLst>
          </p:nvPr>
        </p:nvSpPr>
        <p:spPr>
          <a:xfrm>
            <a:off x="4716780" y="3328416"/>
            <a:ext cx="4160520" cy="1078992"/>
          </a:xfrm>
          <a:prstGeom prst="rect">
            <a:avLst/>
          </a:prstGeom>
          <a:solidFill>
            <a:srgbClr val="141824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89" name="Shape 87"/>
          <p:cNvSpPr/>
          <p:nvPr>
            <p:custDataLst>
              <p:tags r:id="rId72"/>
            </p:custDataLst>
          </p:nvPr>
        </p:nvSpPr>
        <p:spPr>
          <a:xfrm>
            <a:off x="4709160" y="3328416"/>
            <a:ext cx="54864" cy="1078992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90" name="Text 88"/>
          <p:cNvSpPr/>
          <p:nvPr>
            <p:custDataLst>
              <p:tags r:id="rId73"/>
            </p:custDataLst>
          </p:nvPr>
        </p:nvSpPr>
        <p:spPr>
          <a:xfrm>
            <a:off x="4855464" y="341985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91" name="Text 89"/>
          <p:cNvSpPr/>
          <p:nvPr>
            <p:custDataLst>
              <p:tags r:id="rId74"/>
            </p:custDataLst>
          </p:nvPr>
        </p:nvSpPr>
        <p:spPr>
          <a:xfrm>
            <a:off x="5330952" y="341985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camelCase convention</a:t>
            </a:r>
            <a:endParaRPr lang="en-US" sz="1300" dirty="0"/>
          </a:p>
        </p:txBody>
      </p:sp>
      <p:sp>
        <p:nvSpPr>
          <p:cNvPr id="92" name="Text 90"/>
          <p:cNvSpPr/>
          <p:nvPr>
            <p:custDataLst>
              <p:tags r:id="rId75"/>
            </p:custDataLst>
          </p:nvPr>
        </p:nvSpPr>
        <p:spPr>
          <a:xfrm>
            <a:off x="4855464" y="376732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099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studentName · isLoggedIn · totalScore  —  consistent naming matters.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65760" y="4544568"/>
            <a:ext cx="8412480" cy="402336"/>
          </a:xfrm>
          <a:prstGeom prst="rect">
            <a:avLst/>
          </a:prstGeom>
          <a:solidFill>
            <a:srgbClr val="14100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2920" y="4544568"/>
            <a:ext cx="8229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Next Lesson:  Operators  ·  Conditionals (if / else)  ·  Loops  —  Practice in the Console between sessions.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2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3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4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5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6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7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8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9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10.xml><?xml version="1.0" encoding="utf-8"?>
<p:tagLst xmlns:p="http://schemas.openxmlformats.org/presentationml/2006/main">
  <p:tag name="KSO_WM_DIAGRAM_VIRTUALLY_FRAME" val="{&quot;height&quot;:313.2,&quot;left&quot;:28.8,&quot;top&quot;:72,&quot;width&quot;:669.6}"/>
</p:tagLst>
</file>

<file path=ppt/tags/tag1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1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2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3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4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5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6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6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7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8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79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80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81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82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83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84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ags/tag85.xml><?xml version="1.0" encoding="utf-8"?>
<p:tagLst xmlns:p="http://schemas.openxmlformats.org/presentationml/2006/main">
  <p:tag name="KSO_WM_DIAGRAM_VIRTUALLY_FRAME" val="{&quot;height&quot;:275.04,&quot;left&quot;:28.8,&quot;top&quot;:72,&quot;width&quot;:670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5824</Words>
  <Application>WPS Presentation</Application>
  <PresentationFormat>On-screen Show (16:9)</PresentationFormat>
  <Paragraphs>529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Calibri Light</vt:lpstr>
      <vt:lpstr>Calibri Light</vt:lpstr>
      <vt:lpstr>Calibri Light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— Introduction, Variables &amp; Data Types</dc:title>
  <dc:creator>PptxGenJS</dc:creator>
  <dc:subject>PptxGenJS Presentation</dc:subject>
  <cp:lastModifiedBy>Tabinda Noor</cp:lastModifiedBy>
  <cp:revision>3</cp:revision>
  <dcterms:created xsi:type="dcterms:W3CDTF">2026-05-18T04:03:00Z</dcterms:created>
  <dcterms:modified xsi:type="dcterms:W3CDTF">2026-05-19T04:26:58Z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DB029F9A9A7F4B80A64309548E59EF76_12</vt:lpwstr>
  </property>
  <property fmtid="{D5CDD505-2E9C-101B-9397-08002B2CF9AE}" pid="3" name="KSOProductBuildVer">
    <vt:lpwstr>2057-12.2.0.23202</vt:lpwstr>
  </property>
</Properties>
</file>