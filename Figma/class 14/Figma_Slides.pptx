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3.png"/><Relationship Id="rId4" Type="http://schemas.openxmlformats.org/officeDocument/2006/relationships/image" Target="../media/image25.png"/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5" name="Text 3"/>
          <p:cNvSpPr/>
          <p:nvPr/>
        </p:nvSpPr>
        <p:spPr>
          <a:xfrm rot="10800000" flipV="1">
            <a:off x="78105" y="1659255"/>
            <a:ext cx="3408680" cy="15944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10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FIGMA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297680" y="8229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8BF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Introduction 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0" y="1298448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Figma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Design Fundamentals for Beginners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2907792"/>
            <a:ext cx="2011680" cy="32004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2" name="Text 10"/>
          <p:cNvSpPr/>
          <p:nvPr/>
        </p:nvSpPr>
        <p:spPr>
          <a:xfrm>
            <a:off x="4297680" y="320040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Days  ·  Hands-on Learning  ·  Beginner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38404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6B21A8"/>
          </a:solidFill>
        </p:spPr>
      </p:sp>
      <p:sp>
        <p:nvSpPr>
          <p:cNvPr id="14" name="Text 12"/>
          <p:cNvSpPr/>
          <p:nvPr/>
        </p:nvSpPr>
        <p:spPr>
          <a:xfrm>
            <a:off x="4297680" y="38404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384048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</p:spPr>
      </p:sp>
      <p:sp>
        <p:nvSpPr>
          <p:cNvPr id="16" name="Text 14"/>
          <p:cNvSpPr/>
          <p:nvPr/>
        </p:nvSpPr>
        <p:spPr>
          <a:xfrm>
            <a:off x="5715000" y="38404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46634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Instructor: [Your Name]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is Figma?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modern cloud-based design tool used by millions of professionals worldwide.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828800"/>
            <a:ext cx="1536192" cy="2633472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029968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9397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761488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Cloud-Based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3127248"/>
            <a:ext cx="14264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installation needed — design in your browser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66544" y="1828800"/>
            <a:ext cx="1536192" cy="2633472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2029968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09397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21408" y="2761488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UI/UX Design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21408" y="3127248"/>
            <a:ext cx="14264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interfaces for web and mobile apps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749040" y="1828800"/>
            <a:ext cx="1536192" cy="2633472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42816" y="2029968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093976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03904" y="2761488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Real-time Collab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803904" y="3127248"/>
            <a:ext cx="14264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designers work on one file simultaneously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31536" y="1828800"/>
            <a:ext cx="1536192" cy="2633472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25312" y="2029968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093976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761488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Auto-Save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0" y="3127248"/>
            <a:ext cx="14264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work is always saved to the cloud automatically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114032" y="1828800"/>
            <a:ext cx="1536192" cy="2633472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07808" y="2029968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2093976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68896" y="2761488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to Start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168896" y="3127248"/>
            <a:ext cx="142646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Figma's Starter plan is free — perfect for students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Figma?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517904"/>
            <a:ext cx="4041648" cy="96926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719072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7393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6276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Design Websites &amp; Apps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25296" y="195681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polished screens for any platform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81728" y="1517904"/>
            <a:ext cx="4041648" cy="969264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719072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77393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2976" y="16276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Create Wireframes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522976" y="195681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Sketch low-fidelity layouts quickly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4048" y="2633472"/>
            <a:ext cx="4041648" cy="96926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" y="2834640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8895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5296" y="274320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Prototypes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25296" y="30723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screens to simulate real user flows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81728" y="2633472"/>
            <a:ext cx="4041648" cy="969264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28032" y="2834640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88950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274320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Team Collaboration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522976" y="30723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together in real time, no conflicts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84048" y="3749040"/>
            <a:ext cx="4041648" cy="96926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30352" y="3950208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005072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25296" y="385876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Easy Sharing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225296" y="418795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a link — anyone can view or comment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681728" y="3749040"/>
            <a:ext cx="4041648" cy="969264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28032" y="3950208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4005072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22976" y="385876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Free to Use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522976" y="418795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Starter plan is 100% free for learners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Who Uses Figma?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 is used across the entire product team — not just designers.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792224"/>
            <a:ext cx="2596896" cy="1335024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9888" y="1920240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98424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25603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UI Designers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2834640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beautiful, pixel-perfect interfaces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82112" y="1792224"/>
            <a:ext cx="2596896" cy="1335024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87952" y="1920240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8424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73552" y="25603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UX Designers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73552" y="2834640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user journeys and create wireframes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80176" y="1792224"/>
            <a:ext cx="2596896" cy="1335024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86016" y="1920240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8424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71616" y="25603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Product Designers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71616" y="2834640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 the full product visual experience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84048" y="3291840"/>
            <a:ext cx="2596896" cy="1335024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389888" y="3419856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348386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5488" y="4059936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Developers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5488" y="4334256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 designs and extract CSS values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182112" y="3291840"/>
            <a:ext cx="2596896" cy="1335024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187952" y="3419856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483864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273552" y="4059936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Startups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273552" y="4334256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 fast with a shared design system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980176" y="3291840"/>
            <a:ext cx="2596896" cy="1335024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986016" y="3419856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3483864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071616" y="4059936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Students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071616" y="4334256"/>
            <a:ext cx="24140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industry-standard tools for free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Figma Interface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426464"/>
            <a:ext cx="8375904" cy="457200"/>
          </a:xfrm>
          <a:prstGeom prst="rect">
            <a:avLst/>
          </a:prstGeom>
          <a:solidFill>
            <a:srgbClr val="1E1B4B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499616"/>
            <a:ext cx="819302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Toolbar  (Top)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956816"/>
            <a:ext cx="1554480" cy="2395728"/>
          </a:xfrm>
          <a:prstGeom prst="rect">
            <a:avLst/>
          </a:prstGeom>
          <a:solidFill>
            <a:srgbClr val="EDE9FE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2029968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Layers Panel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(Left)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1956816"/>
            <a:ext cx="4992624" cy="2395728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39696" y="2029968"/>
            <a:ext cx="480974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Canvas  (Centre)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50608" y="1956816"/>
            <a:ext cx="1609344" cy="2395728"/>
          </a:xfrm>
          <a:prstGeom prst="rect">
            <a:avLst/>
          </a:prstGeom>
          <a:solidFill>
            <a:srgbClr val="EDE9FE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42048" y="2029968"/>
            <a:ext cx="14264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Properties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Panel (Right)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4443984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Toolbar: Access every tool with one click or keyboard shortcut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785616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Layers Panel: Manage stacking, hide/show, and rename layers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50608" y="3785616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Properties Panel: Inspect and edit every property of the selected element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Basic Tools in Figma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499616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6093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B21A8"/>
          </a:solidFill>
        </p:spPr>
      </p:sp>
      <p:sp>
        <p:nvSpPr>
          <p:cNvPr id="6" name="Text 4"/>
          <p:cNvSpPr/>
          <p:nvPr/>
        </p:nvSpPr>
        <p:spPr>
          <a:xfrm>
            <a:off x="512064" y="16093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6184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91056" y="155448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Frame Tool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91056" y="1828800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the main screen container — the starting point of every design.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4048" y="2176272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" y="22860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369A1"/>
          </a:solidFill>
        </p:spPr>
      </p:sp>
      <p:sp>
        <p:nvSpPr>
          <p:cNvPr id="12" name="Text 9"/>
          <p:cNvSpPr/>
          <p:nvPr/>
        </p:nvSpPr>
        <p:spPr>
          <a:xfrm>
            <a:off x="512064" y="2286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29514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91056" y="2231136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Move Tool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591056" y="2505456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Select, move, and resize any element on the canvas.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4048" y="2852928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2962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</p:spPr>
      </p:sp>
      <p:sp>
        <p:nvSpPr>
          <p:cNvPr id="18" name="Text 14"/>
          <p:cNvSpPr/>
          <p:nvPr/>
        </p:nvSpPr>
        <p:spPr>
          <a:xfrm>
            <a:off x="512064" y="2962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971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91056" y="290779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Rectangle Tool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591056" y="3182112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 boxes, cards, buttons, and layout blocks.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84048" y="3529584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12064" y="36393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45309"/>
          </a:solidFill>
        </p:spPr>
      </p:sp>
      <p:sp>
        <p:nvSpPr>
          <p:cNvPr id="24" name="Text 19"/>
          <p:cNvSpPr/>
          <p:nvPr/>
        </p:nvSpPr>
        <p:spPr>
          <a:xfrm>
            <a:off x="512064" y="3639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648456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91056" y="35844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Text Tool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591056" y="3858768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headings, labels, body text, and UI copy.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84048" y="4206240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12064" y="43159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D174D"/>
          </a:solidFill>
        </p:spPr>
      </p:sp>
      <p:sp>
        <p:nvSpPr>
          <p:cNvPr id="30" name="Text 24"/>
          <p:cNvSpPr/>
          <p:nvPr/>
        </p:nvSpPr>
        <p:spPr>
          <a:xfrm>
            <a:off x="512064" y="4315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32511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91056" y="426110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Hand Tool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591056" y="4535424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 around the canvas without accidentally selecting elements.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is a Frame?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design in Figma starts inside a Frame — think of it as your screen or browser window.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206240" cy="2651760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4206240" cy="347472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7" name="Text 5"/>
          <p:cNvSpPr/>
          <p:nvPr/>
        </p:nvSpPr>
        <p:spPr>
          <a:xfrm>
            <a:off x="548640" y="184708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Desktop Frame  (1440 × 900)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40864"/>
            <a:ext cx="3840480" cy="365760"/>
          </a:xfrm>
          <a:prstGeom prst="rect">
            <a:avLst/>
          </a:prstGeom>
          <a:solidFill>
            <a:srgbClr val="A78BFA">
              <a:alpha val="4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40080" y="2816352"/>
            <a:ext cx="2560320" cy="219456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0" name="Shape 8"/>
          <p:cNvSpPr/>
          <p:nvPr/>
        </p:nvSpPr>
        <p:spPr>
          <a:xfrm>
            <a:off x="640080" y="3127248"/>
            <a:ext cx="3200400" cy="128016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1" name="Shape 9"/>
          <p:cNvSpPr/>
          <p:nvPr/>
        </p:nvSpPr>
        <p:spPr>
          <a:xfrm>
            <a:off x="640080" y="3346704"/>
            <a:ext cx="2560320" cy="128016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2" name="Shape 10"/>
          <p:cNvSpPr/>
          <p:nvPr/>
        </p:nvSpPr>
        <p:spPr>
          <a:xfrm>
            <a:off x="640080" y="3675888"/>
            <a:ext cx="1097280" cy="310896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13" name="Text 11"/>
          <p:cNvSpPr/>
          <p:nvPr/>
        </p:nvSpPr>
        <p:spPr>
          <a:xfrm>
            <a:off x="640080" y="3675888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Button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1664208"/>
            <a:ext cx="1828800" cy="3200400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0368" y="1810512"/>
            <a:ext cx="1426464" cy="219456"/>
          </a:xfrm>
          <a:prstGeom prst="roundRect">
            <a:avLst>
              <a:gd name="adj" fmla="val 41667"/>
            </a:avLst>
          </a:prstGeom>
          <a:solidFill>
            <a:srgbClr val="1E1B4B"/>
          </a:solidFill>
        </p:spPr>
      </p:sp>
      <p:sp>
        <p:nvSpPr>
          <p:cNvPr id="16" name="Shape 14"/>
          <p:cNvSpPr/>
          <p:nvPr/>
        </p:nvSpPr>
        <p:spPr>
          <a:xfrm>
            <a:off x="5669280" y="182880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2157984"/>
            <a:ext cx="1609344" cy="292608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18" name="Shape 16"/>
          <p:cNvSpPr/>
          <p:nvPr/>
        </p:nvSpPr>
        <p:spPr>
          <a:xfrm>
            <a:off x="5138928" y="2578608"/>
            <a:ext cx="1097280" cy="18288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9" name="Shape 17"/>
          <p:cNvSpPr/>
          <p:nvPr/>
        </p:nvSpPr>
        <p:spPr>
          <a:xfrm>
            <a:off x="5138928" y="2852928"/>
            <a:ext cx="1609344" cy="109728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0" name="Shape 18"/>
          <p:cNvSpPr/>
          <p:nvPr/>
        </p:nvSpPr>
        <p:spPr>
          <a:xfrm>
            <a:off x="5138928" y="3054096"/>
            <a:ext cx="1280160" cy="109728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1" name="Shape 19"/>
          <p:cNvSpPr/>
          <p:nvPr/>
        </p:nvSpPr>
        <p:spPr>
          <a:xfrm>
            <a:off x="5230368" y="3401568"/>
            <a:ext cx="1426464" cy="274320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22" name="Text 20"/>
          <p:cNvSpPr/>
          <p:nvPr/>
        </p:nvSpPr>
        <p:spPr>
          <a:xfrm>
            <a:off x="4937760" y="484632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Frame  (390 × 844)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 Frame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1901952"/>
            <a:ext cx="237744" cy="23774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1865376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F and choose any device preset to create a frame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2724912"/>
            <a:ext cx="237744" cy="23774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2688336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elements must sit inside a frame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3547872"/>
            <a:ext cx="237744" cy="23774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3511296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file can hold multiple frames (pages)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Design Fundamentals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481328"/>
            <a:ext cx="4059936" cy="1042416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81328"/>
            <a:ext cx="640080" cy="1042416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6" name="Text 4"/>
          <p:cNvSpPr/>
          <p:nvPr/>
        </p:nvSpPr>
        <p:spPr>
          <a:xfrm>
            <a:off x="384048" y="1481328"/>
            <a:ext cx="64008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33856" y="159105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3856" y="1938528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Organise elements in a clear, logical hierarchy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0016" y="1481328"/>
            <a:ext cx="4059936" cy="1042416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0016" y="1481328"/>
            <a:ext cx="640080" cy="1042416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11" name="Text 9"/>
          <p:cNvSpPr/>
          <p:nvPr/>
        </p:nvSpPr>
        <p:spPr>
          <a:xfrm>
            <a:off x="4700016" y="1481328"/>
            <a:ext cx="64008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9824" y="159105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9824" y="1938528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element should align with another — nothing should be placed randomly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651760"/>
            <a:ext cx="4059936" cy="1042416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651760"/>
            <a:ext cx="640080" cy="104241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6" name="Text 14"/>
          <p:cNvSpPr/>
          <p:nvPr/>
        </p:nvSpPr>
        <p:spPr>
          <a:xfrm>
            <a:off x="384048" y="2651760"/>
            <a:ext cx="64008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Spacing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3108960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margins and padding create breathing room and improve readability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651760"/>
            <a:ext cx="4059936" cy="1042416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2651760"/>
            <a:ext cx="640080" cy="1042416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1" name="Text 19"/>
          <p:cNvSpPr/>
          <p:nvPr/>
        </p:nvSpPr>
        <p:spPr>
          <a:xfrm>
            <a:off x="4700016" y="2651760"/>
            <a:ext cx="64008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9824" y="276148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9824" y="3108960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Reuse the same fonts, colours, and components throughout the design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822192"/>
            <a:ext cx="4059936" cy="1042416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822192"/>
            <a:ext cx="640080" cy="1042416"/>
          </a:xfrm>
          <a:prstGeom prst="rect">
            <a:avLst/>
          </a:prstGeom>
          <a:solidFill>
            <a:srgbClr val="9D174D"/>
          </a:solidFill>
        </p:spPr>
      </p:sp>
      <p:sp>
        <p:nvSpPr>
          <p:cNvPr id="26" name="Text 24"/>
          <p:cNvSpPr/>
          <p:nvPr/>
        </p:nvSpPr>
        <p:spPr>
          <a:xfrm>
            <a:off x="384048" y="3822192"/>
            <a:ext cx="64008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33856" y="3931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Visual Balance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3856" y="427939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 visual weight evenly — no single area should feel too heavy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822192"/>
            <a:ext cx="4059936" cy="1042416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3822192"/>
            <a:ext cx="640080" cy="1042416"/>
          </a:xfrm>
          <a:prstGeom prst="rect">
            <a:avLst/>
          </a:prstGeom>
          <a:solidFill>
            <a:srgbClr val="0E7490"/>
          </a:solidFill>
        </p:spPr>
      </p:sp>
      <p:sp>
        <p:nvSpPr>
          <p:cNvPr id="31" name="Text 29"/>
          <p:cNvSpPr/>
          <p:nvPr/>
        </p:nvSpPr>
        <p:spPr>
          <a:xfrm>
            <a:off x="4700016" y="3822192"/>
            <a:ext cx="64008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9824" y="393192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Clean Layout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9824" y="4279392"/>
            <a:ext cx="3200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Simplicity is the ultimate sophistication — remove anything that doesn't serve the user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3" name="Text 1"/>
          <p:cNvSpPr/>
          <p:nvPr/>
        </p:nvSpPr>
        <p:spPr>
          <a:xfrm>
            <a:off x="502920" y="2926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1  /  TASK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Mini Practical Task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4048" y="1426464"/>
            <a:ext cx="8375904" cy="493776"/>
          </a:xfrm>
          <a:prstGeom prst="rect">
            <a:avLst/>
          </a:prstGeom>
          <a:solidFill>
            <a:srgbClr val="6B21A8"/>
          </a:solidFill>
        </p:spPr>
      </p:sp>
      <p:sp>
        <p:nvSpPr>
          <p:cNvPr id="6" name="Text 4"/>
          <p:cNvSpPr/>
          <p:nvPr/>
        </p:nvSpPr>
        <p:spPr>
          <a:xfrm>
            <a:off x="512064" y="144475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Design a Login Screen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2048256"/>
            <a:ext cx="4059936" cy="2834640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2048256"/>
            <a:ext cx="4059936" cy="40233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9" name="Text 7"/>
          <p:cNvSpPr/>
          <p:nvPr/>
        </p:nvSpPr>
        <p:spPr>
          <a:xfrm>
            <a:off x="512064" y="2066544"/>
            <a:ext cx="3803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Must Include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2578608"/>
            <a:ext cx="365760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Title / Heading 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Email input field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Password input field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Submit / Login button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36592" y="2048256"/>
            <a:ext cx="4059936" cy="2834640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2048256"/>
            <a:ext cx="4059936" cy="40233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4864608" y="2066544"/>
            <a:ext cx="3803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Apply These 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2578608"/>
            <a:ext cx="365760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Use a Desktop Frame (F)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Align elements to centre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Add equal spacing between fields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Label all elements clearly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4809744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Use Ctrl+R for rectangle, T for text, V to select. Align via the toolbar when multiple elements are selected.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21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Day 1 Recap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225296"/>
            <a:ext cx="7863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Here is what we covered today: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792224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Figma is and why it replaced older tools like Photoshop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25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2286000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use cases: websites, wireframes, prototypes, and team work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1635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0704" y="2779776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uses Figma — designers, developers, students, and startups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10128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0704" y="3273552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Figma interface: Toolbar, Canvas, Layers panel, Properties panel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03904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60704" y="3767328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essential tools: Frame (F), Move (V), Rectangle (R), Text (T), Hand (H)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97680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60704" y="4261104"/>
            <a:ext cx="7498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 Frame is and how to create one for desktop or mobile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solidFill>
            <a:srgbClr val="4C1D95"/>
          </a:solidFill>
        </p:spPr>
      </p:sp>
      <p:sp>
        <p:nvSpPr>
          <p:cNvPr id="19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you in Day 2 — Layouts &amp; Auto Layout in Figma  →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5" name="Text 3"/>
          <p:cNvSpPr/>
          <p:nvPr/>
        </p:nvSpPr>
        <p:spPr>
          <a:xfrm>
            <a:off x="274320" y="146304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DAY 2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600200" y="2377440"/>
            <a:ext cx="640080" cy="640080"/>
          </a:xfrm>
          <a:prstGeom prst="ellipse">
            <a:avLst/>
          </a:prstGeom>
          <a:solidFill>
            <a:srgbClr val="D1FAE5">
              <a:alpha val="80000"/>
            </a:srgbClr>
          </a:solidFill>
          <a:ln w="12700">
            <a:solidFill>
              <a:srgbClr val="D1FAE5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8229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D39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Layouts &amp;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128016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Auto Layout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 Figma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297680" y="2706624"/>
            <a:ext cx="2011680" cy="32004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0" name="Text 8"/>
          <p:cNvSpPr/>
          <p:nvPr/>
        </p:nvSpPr>
        <p:spPr>
          <a:xfrm>
            <a:off x="4297680" y="292608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Alignment · Spacing · Auto Layout · Card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8404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4297680" y="384048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8404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6B21A8"/>
          </a:solidFill>
        </p:spPr>
      </p:sp>
      <p:sp>
        <p:nvSpPr>
          <p:cNvPr id="14" name="Text 12"/>
          <p:cNvSpPr/>
          <p:nvPr/>
        </p:nvSpPr>
        <p:spPr>
          <a:xfrm>
            <a:off x="6309360" y="384048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 Workshop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46634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Instructor: [Your Name]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Why Layout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481328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572768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367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5453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Makes Design Clean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1828800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layout removes visual clutter instantly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" y="2176272"/>
            <a:ext cx="8375904" cy="603504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" y="226771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331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Improves Readability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2523744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 scan and understand content much faster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84048" y="2871216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2064" y="2962656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0266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293522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Creates Visual Balance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78992" y="3218688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designs feel trustworthy and professional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4048" y="3566160"/>
            <a:ext cx="8375904" cy="603504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" y="365760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7216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3630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Professional Appearance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78992" y="3913632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layout signals quality and attention to detail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84048" y="4261104"/>
            <a:ext cx="8375904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12064" y="4352544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4165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78992" y="43251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Better User Experience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78992" y="4608576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 layouts guide users to take the right actions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Alignment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two or more elements, then use the alignment toolbar to position them precisely.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719072"/>
            <a:ext cx="4059936" cy="932688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0195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96596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1051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 Left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2139696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elements snap to the leftmost edge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0016" y="1719072"/>
            <a:ext cx="4059936" cy="932688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90195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96596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96128" y="181051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 Centre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96128" y="2139696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elements share the same horizontal centre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" y="2798064"/>
            <a:ext cx="4059936" cy="932688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6928" y="2980944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04495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889504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 Right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218688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elements snap to the rightmost edge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0016" y="2798064"/>
            <a:ext cx="4059936" cy="932688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2980944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3044952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2889504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 Top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96128" y="3218688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elements snap to the topmost edge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84048" y="3877056"/>
            <a:ext cx="4059936" cy="932688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6928" y="4059936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123944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396849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Align Bottom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280160" y="4297680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elements snap to the bottommost edge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00016" y="3877056"/>
            <a:ext cx="4059936" cy="932688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82896" y="4059936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4123944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96128" y="396849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Distribute Space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96128" y="4297680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Equal gaps between all selected elements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Spacing Principles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426464"/>
            <a:ext cx="3657600" cy="3438144"/>
          </a:xfrm>
          <a:prstGeom prst="rect">
            <a:avLst/>
          </a:prstGeom>
          <a:solidFill>
            <a:srgbClr val="F5F3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4630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Spacing 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2779776" cy="2615184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2231136"/>
            <a:ext cx="4023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21A8"/>
                </a:solidFill>
              </a:rPr>
              <a:t>Margin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59669"/>
                </a:solidFill>
              </a:rPr>
              <a:t>Padding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60704" y="2249424"/>
            <a:ext cx="2286000" cy="256032"/>
          </a:xfrm>
          <a:prstGeom prst="rect">
            <a:avLst/>
          </a:prstGeom>
          <a:solidFill>
            <a:srgbClr val="A78BFA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060704" y="2651760"/>
            <a:ext cx="2286000" cy="256032"/>
          </a:xfrm>
          <a:prstGeom prst="rect">
            <a:avLst/>
          </a:prstGeom>
          <a:solidFill>
            <a:srgbClr val="A78BFA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060704" y="3054096"/>
            <a:ext cx="2286000" cy="256032"/>
          </a:xfrm>
          <a:prstGeom prst="rect">
            <a:avLst/>
          </a:prstGeom>
          <a:solidFill>
            <a:srgbClr val="A78BFA">
              <a:alpha val="6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1060704" y="2523744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2926080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517904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48132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Equal spacing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755648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consistent spacing values — 8px, 16px, 24px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2231136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194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Proper margins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246888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Leave clear space between your design and the frame edges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0832" y="2944368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9077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Proper padding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3182112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inner space inside buttons and cards for breathing room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70832" y="365760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6210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Avoid overcrowding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3895344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Whitespace is not wasted space — it improves focus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70832" y="4370832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43342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Maintain balance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36592" y="4608576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weight should feel even across the layout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is Auto Layout?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Layout is Figma's version of CSS Flexbox — elements arrange and resize themselves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719072"/>
            <a:ext cx="8375904" cy="914400"/>
          </a:xfrm>
          <a:prstGeom prst="rect">
            <a:avLst/>
          </a:prstGeom>
          <a:solidFill>
            <a:srgbClr val="059669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47088"/>
            <a:ext cx="8046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Shortcut: Select elements → press  Shift + 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2816352"/>
            <a:ext cx="4059936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91693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287121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Organises Automatically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3856" y="31455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Elements stack or flow without manual repositioning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0016" y="2816352"/>
            <a:ext cx="4059936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916936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9824" y="287121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Controls Spacing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49824" y="31455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exact pixel gaps between child elements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" y="3511296"/>
            <a:ext cx="4059936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61188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35661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Adds Padding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33856" y="38404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inner space around the container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0016" y="3511296"/>
            <a:ext cx="4059936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61188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9824" y="35661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Adjusts Size Dynamically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49824" y="38404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 grows and shrinks as content changes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542032" y="4206240"/>
            <a:ext cx="4059936" cy="60350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4306824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73552" y="426110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Creates Structured Designs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273552" y="453542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Mirrors the structure of real HTML/CSS code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Benefits of Auto Layout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481328"/>
            <a:ext cx="8375904" cy="585216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481328"/>
            <a:ext cx="56692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E7E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70432" y="1572768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367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15453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Saves Time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700784" y="181051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manual repositioning when content changes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4048" y="2157984"/>
            <a:ext cx="8375904" cy="585216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" y="2157984"/>
            <a:ext cx="56692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E7E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170432" y="2249424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134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00784" y="22219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Maintains Consistency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700784" y="2487168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Spacing and alignment stay perfect automatically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4048" y="2834640"/>
            <a:ext cx="8375904" cy="585216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75488" y="2834640"/>
            <a:ext cx="56692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E7E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170432" y="29260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99008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00784" y="28986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Easy Editing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700784" y="3163824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one element and the whole layout reflows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84048" y="3511296"/>
            <a:ext cx="8375904" cy="585216"/>
          </a:xfrm>
          <a:prstGeom prst="rect">
            <a:avLst/>
          </a:prstGeom>
          <a:solidFill>
            <a:srgbClr val="FFFF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75488" y="3511296"/>
            <a:ext cx="56692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E7E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1170432" y="3602736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66674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00784" y="35753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Professional Workflow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700784" y="3840480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Mirrors how real CSS Flexbox works in code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84048" y="4187952"/>
            <a:ext cx="8375904" cy="585216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475488" y="4187952"/>
            <a:ext cx="566928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E7E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1170432" y="427939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3434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00784" y="4251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Responsive Structure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700784" y="451713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Designs adapt as content grows or shrinks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How Auto Layout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975104"/>
            <a:ext cx="0" cy="201168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572768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7276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5270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Select Elements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828800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on a frame or select multiple items you want to group into a layout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688336"/>
            <a:ext cx="0" cy="201168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28600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8600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Apply Auto Layout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542032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Shift+A — or right-click → Add Auto Layout. A dotted border appears.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401568"/>
            <a:ext cx="0" cy="201168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999232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992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2953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Adjust Spacing (Gap)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55264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 right panel, set the Gap between items — e.g. 16 for 16px spacing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0" cy="201168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3712464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124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36667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Adjust Padding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968496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top, right, bottom, left padding inside the container — e.g. 24px all sides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" y="4425696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42569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0432" y="43799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Choose Direction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681728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Horizontal: items flow left to right. Vertical: items stack top to bottom.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Card Design 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 are one of the most common UI patterns. Here's how to build one properly in Figma.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737360"/>
            <a:ext cx="3017520" cy="3255264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737360"/>
            <a:ext cx="3017520" cy="1371600"/>
          </a:xfrm>
          <a:prstGeom prst="rect">
            <a:avLst/>
          </a:prstGeom>
          <a:solidFill>
            <a:srgbClr val="A78BFA">
              <a:alpha val="60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2121408"/>
            <a:ext cx="78638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23957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1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3255264"/>
            <a:ext cx="2194560" cy="219456"/>
          </a:xfrm>
          <a:prstGeom prst="rect">
            <a:avLst/>
          </a:prstGeom>
          <a:solidFill>
            <a:srgbClr val="1E1B4B"/>
          </a:solidFill>
        </p:spPr>
      </p:sp>
      <p:sp>
        <p:nvSpPr>
          <p:cNvPr id="10" name="Text 7"/>
          <p:cNvSpPr/>
          <p:nvPr/>
        </p:nvSpPr>
        <p:spPr>
          <a:xfrm>
            <a:off x="566928" y="327355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" y="3602736"/>
            <a:ext cx="2651760" cy="109728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2" name="Shape 9"/>
          <p:cNvSpPr/>
          <p:nvPr/>
        </p:nvSpPr>
        <p:spPr>
          <a:xfrm>
            <a:off x="566928" y="3785616"/>
            <a:ext cx="2103120" cy="109728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3" name="Text 10"/>
          <p:cNvSpPr/>
          <p:nvPr/>
        </p:nvSpPr>
        <p:spPr>
          <a:xfrm>
            <a:off x="566928" y="354787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" y="4059936"/>
            <a:ext cx="2651760" cy="658368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5" name="Text 12"/>
          <p:cNvSpPr/>
          <p:nvPr/>
        </p:nvSpPr>
        <p:spPr>
          <a:xfrm>
            <a:off x="566928" y="405993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Button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01568" y="2249424"/>
            <a:ext cx="5486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3986784" y="21762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Image Block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01568" y="3328416"/>
            <a:ext cx="5486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3986784" y="325526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Title Text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01568" y="3675888"/>
            <a:ext cx="5486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3986784" y="36027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401568" y="4133088"/>
            <a:ext cx="5486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3986784" y="40599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21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CTA Button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70448" y="1737360"/>
            <a:ext cx="2889504" cy="3255264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98464" y="1865376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Skills Applied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053328" y="2340864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86584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492240" y="230428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to contain the card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053328" y="2852928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898648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92240" y="281635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Layout for stacking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053328" y="3364992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3410712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92240" y="3328416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Alignment tools for precision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053328" y="3877056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3922776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92240" y="384048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spacing &amp; padding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053328" y="438912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4434840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492240" y="4352544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as a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" name="Text 1"/>
          <p:cNvSpPr/>
          <p:nvPr/>
        </p:nvSpPr>
        <p:spPr>
          <a:xfrm>
            <a:off x="502920" y="2926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2  /  TASK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Practical Task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4048" y="1426464"/>
            <a:ext cx="8375904" cy="4937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6" name="Text 4"/>
          <p:cNvSpPr/>
          <p:nvPr/>
        </p:nvSpPr>
        <p:spPr>
          <a:xfrm>
            <a:off x="512064" y="144475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Design a Profile Card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2048256"/>
            <a:ext cx="4059936" cy="2834640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2048256"/>
            <a:ext cx="4059936" cy="40233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9" name="Text 7"/>
          <p:cNvSpPr/>
          <p:nvPr/>
        </p:nvSpPr>
        <p:spPr>
          <a:xfrm>
            <a:off x="512064" y="2066544"/>
            <a:ext cx="3803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Must Include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2578608"/>
            <a:ext cx="365760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Profile image (circle shape)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Name — bold heading 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Short description / bio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Action button (e.g. 'Follow')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36592" y="2048256"/>
            <a:ext cx="4059936" cy="2834640"/>
          </a:xfrm>
          <a:prstGeom prst="rect">
            <a:avLst/>
          </a:prstGeom>
          <a:solidFill>
            <a:srgbClr val="F5F3FF"/>
          </a:solidFill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2048256"/>
            <a:ext cx="4059936" cy="40233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3" name="Text 11"/>
          <p:cNvSpPr/>
          <p:nvPr/>
        </p:nvSpPr>
        <p:spPr>
          <a:xfrm>
            <a:off x="4864608" y="2066544"/>
            <a:ext cx="3803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Apply These 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2578608"/>
            <a:ext cx="365760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Use Auto Layout for vertical stacking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Align everything to centre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Add 16px padding inside the card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Apply consistent spacing between items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4809744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Create the card in a Mobile Frame (390px wide). Use Shift+A to apply Auto Layout once you've arranged the elements.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Final Recap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225296"/>
            <a:ext cx="7863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you mastered in 2 days: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836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847088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 interface: Toolbar, Canvas, Layers Panel, Properties Panel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42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26771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tools: Frame (F), Move (V), Rectangle (R), Text (T), Hand (H)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249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2688336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fundamentals: Structure, Alignment, Spacing, Consistency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4553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310896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Alignment tools: Align Left / Centre / Right / Top / Bottom / Distribute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6616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4128" y="3529584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Spacing principles: Margins, Padding, Equal gaps, and avoiding clutter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86784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24128" y="3950208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Layout: Shift+A — automatic spacing, padding, and responsive sizing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407408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24128" y="437083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 Design: Image, Title, Description, Button — built with Auto Layout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28032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24128" y="4791456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UI structure: Every design decision should serve the user</a:t>
            </a:r>
            <a:endParaRPr lang="en-US" sz="1200" dirty="0"/>
          </a:p>
        </p:txBody>
      </p:sp>
      <p:sp>
        <p:nvSpPr>
          <p:cNvPr id="22" name="Shape 12"/>
          <p:cNvSpPr/>
          <p:nvPr/>
        </p:nvSpPr>
        <p:spPr>
          <a:xfrm>
            <a:off x="640080" y="4663440"/>
            <a:ext cx="7863840" cy="384048"/>
          </a:xfrm>
          <a:prstGeom prst="rect">
            <a:avLst/>
          </a:prstGeom>
          <a:solidFill>
            <a:srgbClr val="047857"/>
          </a:solidFill>
        </p:spPr>
      </p:sp>
      <p:sp>
        <p:nvSpPr>
          <p:cNvPr id="23" name="Text 13"/>
          <p:cNvSpPr/>
          <p:nvPr/>
        </p:nvSpPr>
        <p:spPr>
          <a:xfrm>
            <a:off x="640080" y="4663440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FAE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Congratulations on completing the Figma 2-Day Workshop! 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7824</Words>
  <Application>WPS Presentation</Application>
  <PresentationFormat>On-screen Show (16:9)</PresentationFormat>
  <Paragraphs>527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Figma – UI Design Basics</dc:title>
  <dc:creator>PptxGenJS</dc:creator>
  <dc:subject>PptxGenJS Presentation</dc:subject>
  <cp:lastModifiedBy>WPS_1777370619</cp:lastModifiedBy>
  <cp:revision>2</cp:revision>
  <dcterms:created xsi:type="dcterms:W3CDTF">2026-05-12T10:31:00Z</dcterms:created>
  <dcterms:modified xsi:type="dcterms:W3CDTF">2026-05-12T11:52:04Z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B09BC34C5AE745B6A9C0BDC5B6815F51_13</vt:lpwstr>
  </property>
</Properties>
</file>